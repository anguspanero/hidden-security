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libri (MS) Bold" charset="1" panose="020F0702030404030204"/>
      <p:regular r:id="rId16"/>
    </p:embeddedFont>
    <p:embeddedFont>
      <p:font typeface="Calibri (MS)" charset="1" panose="020F0502020204030204"/>
      <p:regular r:id="rId17"/>
    </p:embeddedFont>
    <p:embeddedFont>
      <p:font typeface="Calibri (MS) Italics" charset="1" panose="020F05020202040A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Esta es la carátula de la primera sección. Introducí el tema diciendo: 'Antes de hablar de qué hace un analista SOC, necesitamos entender qué es el SOC como estructura. Esto nos va a dar el contexto para ubicar el rol que vamos a aprender a desempeñar.'</a:t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Definí el SOC con claridad. Enfatizá los tres elementos clave: es un EQUIPO (no solo una herramienta), trabaja en TIEMPO REAL (24/7), y usa HERRAMIENTAS como el SIEM para correlacionar información de múltiples fuentes. Preguntá al grupo: ¿por qué creés que una empresa necesita un equipo dedicado exclusivamente a monitorear seguridad?</a:t>
            </a:r>
          </a:p>
          <a:p>
            <a:r>
              <a:rPr lang="en-US"/>
              <a:t>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Explicá que estos tres objetivos no son independientes: van en cadena. No podés detectar sin monitorear, y no podés responder sin detectar. En la práctica, el analista L1 está principalmente en las fases de monitoreo y detección inicial. La respuesta más profunda la lleva L2 y L3.</a:t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Este ejemplo integrado muestra el ciclo completo. Es un caso real y frecuente: acceso desde IP extranjera que resulta en exfiltración de datos. Recalcá cómo cada etapa activa la siguiente, y que sin monitoreo activo el ataque podría no haberse detectado a tiempo.</a:t>
            </a:r>
          </a:p>
          <a:p>
            <a:r>
              <a:rPr lang="en-US"/>
              <a:t>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Explicá los tres modelos con énfasis en cuándo aplica cada uno. Como analista SOC L1, podés trabajar en cualquiera de estos modelos: en un MSSP como proveedor de servicio, en un SOC interno de una empresa grande, o en un modelo híbrido. Esto afecta directamente tu contexto diario y las políticas que tenés que seguir.</a:t>
            </a:r>
          </a:p>
          <a:p>
            <a:r>
              <a:rPr lang="en-US"/>
              <a:t>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La tabla resume las diferencias clave. Enfatizá que el SOC no trabaja aislado: depende del NOC para acciones técnicas de red, del CSIRT para respuesta profunda, y del CERT para inteligencia externa. Como analista L1, principalmente interactuás con el SOC interno y escalás al CSIRT cuando sea necesario.</a:t>
            </a:r>
          </a:p>
          <a:p>
            <a:r>
              <a:rPr lang="en-US"/>
              <a:t>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El SOC no es un equipo aislado de tecnología: es parte de la estrategia de negocio. Cuando un analista L1 documenta un incidente, está contribuyendo al cumplimiento normativo, a la continuidad operativa y a la protección de la reputación de la organización. Esto le da contexto estratégico a tareas que pueden parecer rutinarias.</a:t>
            </a:r>
          </a:p>
          <a:p>
            <a:r>
              <a:rPr lang="en-US"/>
              <a:t>10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18.png" Type="http://schemas.openxmlformats.org/officeDocument/2006/relationships/image"/><Relationship Id="rId16" Target="../media/image19.svg" Type="http://schemas.openxmlformats.org/officeDocument/2006/relationships/image"/><Relationship Id="rId17" Target="../media/image9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15" Target="../media/image24.png" Type="http://schemas.openxmlformats.org/officeDocument/2006/relationships/image"/><Relationship Id="rId16" Target="../media/image25.svg" Type="http://schemas.openxmlformats.org/officeDocument/2006/relationships/image"/><Relationship Id="rId17" Target="../media/image26.png" Type="http://schemas.openxmlformats.org/officeDocument/2006/relationships/image"/><Relationship Id="rId18" Target="../media/image27.svg" Type="http://schemas.openxmlformats.org/officeDocument/2006/relationships/image"/><Relationship Id="rId19" Target="../media/image9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15" Target="../media/image36.png" Type="http://schemas.openxmlformats.org/officeDocument/2006/relationships/image"/><Relationship Id="rId16" Target="../media/image37.svg" Type="http://schemas.openxmlformats.org/officeDocument/2006/relationships/image"/><Relationship Id="rId17" Target="../media/image38.png" Type="http://schemas.openxmlformats.org/officeDocument/2006/relationships/image"/><Relationship Id="rId18" Target="../media/image39.svg" Type="http://schemas.openxmlformats.org/officeDocument/2006/relationships/image"/><Relationship Id="rId19" Target="../media/image40.png" Type="http://schemas.openxmlformats.org/officeDocument/2006/relationships/image"/><Relationship Id="rId2" Target="../notesSlides/notesSlide4.xml" Type="http://schemas.openxmlformats.org/officeDocument/2006/relationships/notesSlide"/><Relationship Id="rId20" Target="../media/image41.svg" Type="http://schemas.openxmlformats.org/officeDocument/2006/relationships/image"/><Relationship Id="rId21" Target="../media/image42.png" Type="http://schemas.openxmlformats.org/officeDocument/2006/relationships/image"/><Relationship Id="rId22" Target="../media/image43.svg" Type="http://schemas.openxmlformats.org/officeDocument/2006/relationships/image"/><Relationship Id="rId23" Target="../media/image9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5.jpeg" Type="http://schemas.openxmlformats.org/officeDocument/2006/relationships/image"/><Relationship Id="rId6" Target="../media/image6.jpe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44.png" Type="http://schemas.openxmlformats.org/officeDocument/2006/relationships/image"/><Relationship Id="rId12" Target="../media/image45.svg" Type="http://schemas.openxmlformats.org/officeDocument/2006/relationships/image"/><Relationship Id="rId13" Target="../media/image46.png" Type="http://schemas.openxmlformats.org/officeDocument/2006/relationships/image"/><Relationship Id="rId14" Target="../media/image47.svg" Type="http://schemas.openxmlformats.org/officeDocument/2006/relationships/image"/><Relationship Id="rId15" Target="../media/image48.png" Type="http://schemas.openxmlformats.org/officeDocument/2006/relationships/image"/><Relationship Id="rId16" Target="../media/image49.svg" Type="http://schemas.openxmlformats.org/officeDocument/2006/relationships/image"/><Relationship Id="rId17" Target="../media/image50.png" Type="http://schemas.openxmlformats.org/officeDocument/2006/relationships/image"/><Relationship Id="rId18" Target="../media/image51.svg" Type="http://schemas.openxmlformats.org/officeDocument/2006/relationships/image"/><Relationship Id="rId19" Target="../media/image9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9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52.png" Type="http://schemas.openxmlformats.org/officeDocument/2006/relationships/image"/><Relationship Id="rId12" Target="../media/image53.svg" Type="http://schemas.openxmlformats.org/officeDocument/2006/relationships/image"/><Relationship Id="rId13" Target="../media/image54.png" Type="http://schemas.openxmlformats.org/officeDocument/2006/relationships/image"/><Relationship Id="rId14" Target="../media/image55.svg" Type="http://schemas.openxmlformats.org/officeDocument/2006/relationships/image"/><Relationship Id="rId15" Target="../media/image56.png" Type="http://schemas.openxmlformats.org/officeDocument/2006/relationships/image"/><Relationship Id="rId16" Target="../media/image57.svg" Type="http://schemas.openxmlformats.org/officeDocument/2006/relationships/image"/><Relationship Id="rId17" Target="../media/image58.png" Type="http://schemas.openxmlformats.org/officeDocument/2006/relationships/image"/><Relationship Id="rId18" Target="../media/image59.svg" Type="http://schemas.openxmlformats.org/officeDocument/2006/relationships/image"/><Relationship Id="rId19" Target="../media/image60.png" Type="http://schemas.openxmlformats.org/officeDocument/2006/relationships/image"/><Relationship Id="rId2" Target="../notesSlides/notesSlide7.xml" Type="http://schemas.openxmlformats.org/officeDocument/2006/relationships/notesSlide"/><Relationship Id="rId20" Target="../media/image61.svg" Type="http://schemas.openxmlformats.org/officeDocument/2006/relationships/image"/><Relationship Id="rId21" Target="../media/image62.png" Type="http://schemas.openxmlformats.org/officeDocument/2006/relationships/image"/><Relationship Id="rId22" Target="../media/image63.svg" Type="http://schemas.openxmlformats.org/officeDocument/2006/relationships/image"/><Relationship Id="rId23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939736" cy="10312337"/>
          </a:xfrm>
          <a:custGeom>
            <a:avLst/>
            <a:gdLst/>
            <a:ahLst/>
            <a:cxnLst/>
            <a:rect r="r" b="b" t="t" l="l"/>
            <a:pathLst>
              <a:path h="10312337" w="939736">
                <a:moveTo>
                  <a:pt x="0" y="0"/>
                </a:moveTo>
                <a:lnTo>
                  <a:pt x="939737" y="0"/>
                </a:lnTo>
                <a:lnTo>
                  <a:pt x="939737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6936743"/>
            <a:ext cx="18313336" cy="3682936"/>
          </a:xfrm>
          <a:custGeom>
            <a:avLst/>
            <a:gdLst/>
            <a:ahLst/>
            <a:cxnLst/>
            <a:rect r="r" b="b" t="t" l="l"/>
            <a:pathLst>
              <a:path h="3682936" w="18313336">
                <a:moveTo>
                  <a:pt x="0" y="0"/>
                </a:moveTo>
                <a:lnTo>
                  <a:pt x="18313337" y="0"/>
                </a:lnTo>
                <a:lnTo>
                  <a:pt x="18313337" y="3682937"/>
                </a:lnTo>
                <a:lnTo>
                  <a:pt x="0" y="36829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63040" y="1828800"/>
            <a:ext cx="14630400" cy="822960"/>
            <a:chOff x="0" y="0"/>
            <a:chExt cx="195072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6159" r="0" b="-29615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63040" y="1785938"/>
            <a:ext cx="14630400" cy="865823"/>
            <a:chOff x="0" y="0"/>
            <a:chExt cx="19507200" cy="11544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07200" cy="1154430"/>
            </a:xfrm>
            <a:custGeom>
              <a:avLst/>
              <a:gdLst/>
              <a:ahLst/>
              <a:cxnLst/>
              <a:rect r="r" b="b" t="t" l="l"/>
              <a:pathLst>
                <a:path h="115443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154430"/>
                  </a:lnTo>
                  <a:lnTo>
                    <a:pt x="0" y="115443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79252" r="0" b="-27925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9507200" cy="1211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799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SECCIÓN 1.1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2743200"/>
            <a:ext cx="15544800" cy="2560320"/>
            <a:chOff x="0" y="0"/>
            <a:chExt cx="20726400" cy="3413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264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8219" r="0" b="-6821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63040" y="2636044"/>
            <a:ext cx="15544800" cy="2667476"/>
            <a:chOff x="0" y="0"/>
            <a:chExt cx="20726400" cy="35566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3556635"/>
            </a:xfrm>
            <a:custGeom>
              <a:avLst/>
              <a:gdLst/>
              <a:ahLst/>
              <a:cxnLst/>
              <a:rect r="r" b="b" t="t" l="l"/>
              <a:pathLst>
                <a:path h="3556635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3556635"/>
                  </a:lnTo>
                  <a:lnTo>
                    <a:pt x="0" y="355663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3549" r="0" b="-6354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42875"/>
              <a:ext cx="20726400" cy="3699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8"/>
                </a:lnSpc>
              </a:pPr>
              <a:r>
                <a:rPr lang="en-US" sz="6398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¿Qué es un SOC y por qué</a:t>
              </a:r>
            </a:p>
            <a:p>
              <a:pPr algn="l">
                <a:lnSpc>
                  <a:spcPts val="7678"/>
                </a:lnSpc>
              </a:pPr>
              <a:r>
                <a:rPr lang="en-US" sz="6398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 clave en Ciberseguridad?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3040" y="7040880"/>
            <a:ext cx="15544800" cy="585216"/>
            <a:chOff x="0" y="0"/>
            <a:chExt cx="2072640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2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7211" r="0" b="-46721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63040" y="7005161"/>
            <a:ext cx="15544800" cy="620935"/>
            <a:chOff x="0" y="0"/>
            <a:chExt cx="20726400" cy="8279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726400" cy="827913"/>
            </a:xfrm>
            <a:custGeom>
              <a:avLst/>
              <a:gdLst/>
              <a:ahLst/>
              <a:cxnLst/>
              <a:rect r="r" b="b" t="t" l="l"/>
              <a:pathLst>
                <a:path h="827913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827913"/>
                  </a:lnTo>
                  <a:lnTo>
                    <a:pt x="0" y="82791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37798" r="0" b="-43779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0726400" cy="875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Temas de esta sección: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63040" y="7680960"/>
            <a:ext cx="15544800" cy="2011680"/>
            <a:chOff x="0" y="0"/>
            <a:chExt cx="20726400" cy="2682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7264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0461" r="0" b="-100461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63040" y="7570343"/>
            <a:ext cx="15544800" cy="2040255"/>
            <a:chOff x="0" y="0"/>
            <a:chExt cx="20726400" cy="27203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726400" cy="2720340"/>
            </a:xfrm>
            <a:custGeom>
              <a:avLst/>
              <a:gdLst/>
              <a:ahLst/>
              <a:cxnLst/>
              <a:rect r="r" b="b" t="t" l="l"/>
              <a:pathLst>
                <a:path h="27203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720340"/>
                  </a:lnTo>
                  <a:lnTo>
                    <a:pt x="0" y="2720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726400" cy="2758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Definición de Security Operations Center (SOC)</a:t>
              </a:r>
            </a:p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Objetivos principales: monitoreo, detección, respuesta</a:t>
              </a:r>
            </a:p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Tipos de SOC: internos, externos (MSSP), híbridos</a:t>
              </a:r>
            </a:p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Diferencia entre SOC y otros equipos (NOC, CERT, CSIRT)</a:t>
              </a:r>
            </a:p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Cómo encaja el SOC en una estrategia de seguridad corporativa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076686" y="1046103"/>
            <a:ext cx="2388354" cy="2388354"/>
            <a:chOff x="0" y="0"/>
            <a:chExt cx="5852160" cy="58521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p.5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-50006"/>
            <a:ext cx="16824960" cy="1695926"/>
            <a:chOff x="0" y="0"/>
            <a:chExt cx="22433280" cy="2261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2261235"/>
            </a:xfrm>
            <a:custGeom>
              <a:avLst/>
              <a:gdLst/>
              <a:ahLst/>
              <a:cxnLst/>
              <a:rect r="r" b="b" t="t" l="l"/>
              <a:pathLst>
                <a:path h="2261235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61235"/>
                  </a:lnTo>
                  <a:lnTo>
                    <a:pt x="0" y="226123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3307" r="0" b="-1433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2243328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1.1  |  Definición de Security Operations Center (SOC)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72519" y="1907543"/>
            <a:ext cx="17142904" cy="1945576"/>
          </a:xfrm>
          <a:custGeom>
            <a:avLst/>
            <a:gdLst/>
            <a:ahLst/>
            <a:cxnLst/>
            <a:rect r="r" b="b" t="t" l="l"/>
            <a:pathLst>
              <a:path h="1945576" w="17142904">
                <a:moveTo>
                  <a:pt x="0" y="0"/>
                </a:moveTo>
                <a:lnTo>
                  <a:pt x="17142905" y="0"/>
                </a:lnTo>
                <a:lnTo>
                  <a:pt x="17142905" y="1945577"/>
                </a:lnTo>
                <a:lnTo>
                  <a:pt x="0" y="19455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005840" y="1975104"/>
            <a:ext cx="16459200" cy="1828800"/>
            <a:chOff x="0" y="0"/>
            <a:chExt cx="21945600" cy="2438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05840" y="1939385"/>
            <a:ext cx="16459200" cy="1864519"/>
            <a:chOff x="0" y="0"/>
            <a:chExt cx="21945600" cy="248602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0" cy="2486025"/>
            </a:xfrm>
            <a:custGeom>
              <a:avLst/>
              <a:gdLst/>
              <a:ahLst/>
              <a:cxnLst/>
              <a:rect r="r" b="b" t="t" l="l"/>
              <a:pathLst>
                <a:path h="248602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86025"/>
                  </a:lnTo>
                  <a:lnTo>
                    <a:pt x="0" y="248602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2005" r="0" b="-12200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1945600" cy="2533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8"/>
                </a:lnSpc>
              </a:pPr>
              <a:r>
                <a:rPr lang="en-US" sz="2499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 </a:t>
              </a:r>
              <a:r>
                <a:rPr lang="en-US" sz="2499" b="true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 Operations Center (SOC)</a:t>
              </a:r>
              <a:r>
                <a:rPr lang="en-US" sz="2499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es un equipo especializado dentro de una organización que se encarga de </a:t>
              </a:r>
              <a:r>
                <a:rPr lang="en-US" sz="2499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monitorear, detectar, analizar y responder</a:t>
              </a:r>
              <a:r>
                <a:rPr lang="en-US" sz="2499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ante posibles incidentes de seguridad que puedan afectar la información, los sistemas o las redes de una empresa.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572519" y="4193543"/>
            <a:ext cx="17142904" cy="1579816"/>
          </a:xfrm>
          <a:custGeom>
            <a:avLst/>
            <a:gdLst/>
            <a:ahLst/>
            <a:cxnLst/>
            <a:rect r="r" b="b" t="t" l="l"/>
            <a:pathLst>
              <a:path h="1579816" w="17142904">
                <a:moveTo>
                  <a:pt x="0" y="0"/>
                </a:moveTo>
                <a:lnTo>
                  <a:pt x="17142905" y="0"/>
                </a:lnTo>
                <a:lnTo>
                  <a:pt x="17142905" y="1579817"/>
                </a:lnTo>
                <a:lnTo>
                  <a:pt x="0" y="15798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72519" y="4193543"/>
            <a:ext cx="116776" cy="1579816"/>
          </a:xfrm>
          <a:custGeom>
            <a:avLst/>
            <a:gdLst/>
            <a:ahLst/>
            <a:cxnLst/>
            <a:rect r="r" b="b" t="t" l="l"/>
            <a:pathLst>
              <a:path h="1579816" w="116776">
                <a:moveTo>
                  <a:pt x="0" y="0"/>
                </a:moveTo>
                <a:lnTo>
                  <a:pt x="116777" y="0"/>
                </a:lnTo>
                <a:lnTo>
                  <a:pt x="116777" y="1579817"/>
                </a:lnTo>
                <a:lnTo>
                  <a:pt x="0" y="157981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97280" y="4360175"/>
            <a:ext cx="6217920" cy="36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8A00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🎯  Centro de comando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97280" y="4815840"/>
            <a:ext cx="16276320" cy="82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El SOC actúa como el centro de comando de la ciberseguridad. Su función es vigilar constantemente el entorno digital de la organización para identificar amenazas lo antes posible y minimizar su impacto.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572519" y="5967479"/>
            <a:ext cx="17142904" cy="1579816"/>
          </a:xfrm>
          <a:custGeom>
            <a:avLst/>
            <a:gdLst/>
            <a:ahLst/>
            <a:cxnLst/>
            <a:rect r="r" b="b" t="t" l="l"/>
            <a:pathLst>
              <a:path h="1579816" w="17142904">
                <a:moveTo>
                  <a:pt x="0" y="0"/>
                </a:moveTo>
                <a:lnTo>
                  <a:pt x="17142905" y="0"/>
                </a:lnTo>
                <a:lnTo>
                  <a:pt x="17142905" y="1579817"/>
                </a:lnTo>
                <a:lnTo>
                  <a:pt x="0" y="15798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72519" y="5967479"/>
            <a:ext cx="116776" cy="1579816"/>
          </a:xfrm>
          <a:custGeom>
            <a:avLst/>
            <a:gdLst/>
            <a:ahLst/>
            <a:cxnLst/>
            <a:rect r="r" b="b" t="t" l="l"/>
            <a:pathLst>
              <a:path h="1579816" w="116776">
                <a:moveTo>
                  <a:pt x="0" y="0"/>
                </a:moveTo>
                <a:lnTo>
                  <a:pt x="116777" y="0"/>
                </a:lnTo>
                <a:lnTo>
                  <a:pt x="116777" y="1579817"/>
                </a:lnTo>
                <a:lnTo>
                  <a:pt x="0" y="157981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097280" y="6116260"/>
            <a:ext cx="621792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8A00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⏱  Operación 24/7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97280" y="6589776"/>
            <a:ext cx="16276320" cy="82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Trabaja las 24 horas del día, los 7 días de la semana. La continuidad operativa es esencial para garantizar cobertura ante cualquier amenaza.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572519" y="7741415"/>
            <a:ext cx="17142904" cy="1579816"/>
          </a:xfrm>
          <a:custGeom>
            <a:avLst/>
            <a:gdLst/>
            <a:ahLst/>
            <a:cxnLst/>
            <a:rect r="r" b="b" t="t" l="l"/>
            <a:pathLst>
              <a:path h="1579816" w="17142904">
                <a:moveTo>
                  <a:pt x="0" y="0"/>
                </a:moveTo>
                <a:lnTo>
                  <a:pt x="17142905" y="0"/>
                </a:lnTo>
                <a:lnTo>
                  <a:pt x="17142905" y="1579817"/>
                </a:lnTo>
                <a:lnTo>
                  <a:pt x="0" y="15798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572519" y="7741415"/>
            <a:ext cx="116776" cy="1579816"/>
          </a:xfrm>
          <a:custGeom>
            <a:avLst/>
            <a:gdLst/>
            <a:ahLst/>
            <a:cxnLst/>
            <a:rect r="r" b="b" t="t" l="l"/>
            <a:pathLst>
              <a:path h="1579816" w="116776">
                <a:moveTo>
                  <a:pt x="0" y="0"/>
                </a:moveTo>
                <a:lnTo>
                  <a:pt x="116777" y="0"/>
                </a:lnTo>
                <a:lnTo>
                  <a:pt x="116777" y="1579817"/>
                </a:lnTo>
                <a:lnTo>
                  <a:pt x="0" y="157981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097280" y="7915642"/>
            <a:ext cx="621792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8A00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🛠  Herramientas especializadas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97280" y="8363712"/>
            <a:ext cx="16276320" cy="82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Utiliza sistemas como SIEM (Security Information and Event Management), que permiten ver y correlacionar miles de eventos y alertas de distintos sistemas tecnológicos en un mismo lugar.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p.6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-50006"/>
            <a:ext cx="16824960" cy="1695926"/>
            <a:chOff x="0" y="0"/>
            <a:chExt cx="22433280" cy="2261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2261235"/>
            </a:xfrm>
            <a:custGeom>
              <a:avLst/>
              <a:gdLst/>
              <a:ahLst/>
              <a:cxnLst/>
              <a:rect r="r" b="b" t="t" l="l"/>
              <a:pathLst>
                <a:path h="2261235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61235"/>
                  </a:lnTo>
                  <a:lnTo>
                    <a:pt x="0" y="226123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3307" r="0" b="-1433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2243328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1.1  |  Objetivos principales: Monitorear · Detectar · Responder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080" y="1792224"/>
            <a:ext cx="17007840" cy="822960"/>
            <a:chOff x="0" y="0"/>
            <a:chExt cx="2267712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677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52410" r="0" b="-35241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0051" y="2041034"/>
            <a:ext cx="17007840" cy="858679"/>
            <a:chOff x="0" y="0"/>
            <a:chExt cx="22677120" cy="114490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677120" cy="1144905"/>
            </a:xfrm>
            <a:custGeom>
              <a:avLst/>
              <a:gdLst/>
              <a:ahLst/>
              <a:cxnLst/>
              <a:rect r="r" b="b" t="t" l="l"/>
              <a:pathLst>
                <a:path h="1144905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5939" r="0" b="-33593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267712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SOC tiene tres objetivos operativos centrales que guían su trabajo diario. Están conectados y forman la base de cualquier operación efectiva de seguridad.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640080" y="3305208"/>
            <a:ext cx="5511736" cy="1031176"/>
          </a:xfrm>
          <a:custGeom>
            <a:avLst/>
            <a:gdLst/>
            <a:ahLst/>
            <a:cxnLst/>
            <a:rect r="r" b="b" t="t" l="l"/>
            <a:pathLst>
              <a:path h="1031176" w="5511736">
                <a:moveTo>
                  <a:pt x="0" y="0"/>
                </a:moveTo>
                <a:lnTo>
                  <a:pt x="5511737" y="0"/>
                </a:lnTo>
                <a:lnTo>
                  <a:pt x="5511737" y="1031177"/>
                </a:lnTo>
                <a:lnTo>
                  <a:pt x="0" y="10311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652777" y="3317905"/>
            <a:ext cx="5486400" cy="1005840"/>
            <a:chOff x="0" y="0"/>
            <a:chExt cx="731520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208" r="0" b="-562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52777" y="3282186"/>
            <a:ext cx="5486400" cy="1041559"/>
            <a:chOff x="0" y="0"/>
            <a:chExt cx="7315200" cy="13887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0" cy="1388745"/>
            </a:xfrm>
            <a:custGeom>
              <a:avLst/>
              <a:gdLst/>
              <a:ahLst/>
              <a:cxnLst/>
              <a:rect r="r" b="b" t="t" l="l"/>
              <a:pathLst>
                <a:path h="1388745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2637" r="0" b="-5263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731520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8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MONITOREAR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640080" y="4347624"/>
            <a:ext cx="5511736" cy="4012120"/>
          </a:xfrm>
          <a:custGeom>
            <a:avLst/>
            <a:gdLst/>
            <a:ahLst/>
            <a:cxnLst/>
            <a:rect r="r" b="b" t="t" l="l"/>
            <a:pathLst>
              <a:path h="4012120" w="5511736">
                <a:moveTo>
                  <a:pt x="0" y="0"/>
                </a:moveTo>
                <a:lnTo>
                  <a:pt x="5511737" y="0"/>
                </a:lnTo>
                <a:lnTo>
                  <a:pt x="5511737" y="4012121"/>
                </a:lnTo>
                <a:lnTo>
                  <a:pt x="0" y="401212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27097" y="4679285"/>
            <a:ext cx="4937760" cy="375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El SOC realiza monitoreo continuo (24/7) de sistemas, redes, dispositivos y aplicaciones.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Utiliza herramientas como SIEM, EDR o NDR para observar en tiempo real eventos y actividades sospechosas.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6492240" y="3305208"/>
            <a:ext cx="5511736" cy="1031176"/>
          </a:xfrm>
          <a:custGeom>
            <a:avLst/>
            <a:gdLst/>
            <a:ahLst/>
            <a:cxnLst/>
            <a:rect r="r" b="b" t="t" l="l"/>
            <a:pathLst>
              <a:path h="1031176" w="5511736">
                <a:moveTo>
                  <a:pt x="0" y="0"/>
                </a:moveTo>
                <a:lnTo>
                  <a:pt x="5511736" y="0"/>
                </a:lnTo>
                <a:lnTo>
                  <a:pt x="5511736" y="1031177"/>
                </a:lnTo>
                <a:lnTo>
                  <a:pt x="0" y="103117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6504937" y="3317905"/>
            <a:ext cx="5486400" cy="1005840"/>
            <a:chOff x="0" y="0"/>
            <a:chExt cx="7315200" cy="13411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208" r="0" b="-56208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504937" y="3282186"/>
            <a:ext cx="5486400" cy="1041559"/>
            <a:chOff x="0" y="0"/>
            <a:chExt cx="7315200" cy="13887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15200" cy="1388745"/>
            </a:xfrm>
            <a:custGeom>
              <a:avLst/>
              <a:gdLst/>
              <a:ahLst/>
              <a:cxnLst/>
              <a:rect r="r" b="b" t="t" l="l"/>
              <a:pathLst>
                <a:path h="1388745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2637" r="0" b="-5263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731520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8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DETECTAR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6492240" y="4347624"/>
            <a:ext cx="5511736" cy="4012120"/>
          </a:xfrm>
          <a:custGeom>
            <a:avLst/>
            <a:gdLst/>
            <a:ahLst/>
            <a:cxnLst/>
            <a:rect r="r" b="b" t="t" l="l"/>
            <a:pathLst>
              <a:path h="4012120" w="5511736">
                <a:moveTo>
                  <a:pt x="0" y="0"/>
                </a:moveTo>
                <a:lnTo>
                  <a:pt x="5511736" y="0"/>
                </a:lnTo>
                <a:lnTo>
                  <a:pt x="5511736" y="4012121"/>
                </a:lnTo>
                <a:lnTo>
                  <a:pt x="0" y="401212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6779228" y="4679285"/>
            <a:ext cx="4937760" cy="375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Una vez recopilada la información, el SOC analiza los datos para identificar comportamientos anómalos o amenazas reales.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Usa correlación de eventos, análisis de comportamiento (UEBA) e inteligencia de amenazas.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2344400" y="3305208"/>
            <a:ext cx="5511736" cy="1031176"/>
          </a:xfrm>
          <a:custGeom>
            <a:avLst/>
            <a:gdLst/>
            <a:ahLst/>
            <a:cxnLst/>
            <a:rect r="r" b="b" t="t" l="l"/>
            <a:pathLst>
              <a:path h="1031176" w="5511736">
                <a:moveTo>
                  <a:pt x="0" y="0"/>
                </a:moveTo>
                <a:lnTo>
                  <a:pt x="5511736" y="0"/>
                </a:lnTo>
                <a:lnTo>
                  <a:pt x="5511736" y="1031177"/>
                </a:lnTo>
                <a:lnTo>
                  <a:pt x="0" y="103117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2357097" y="3317905"/>
            <a:ext cx="5486400" cy="1005840"/>
            <a:chOff x="0" y="0"/>
            <a:chExt cx="7315200" cy="1341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208" r="0" b="-56208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357097" y="3282186"/>
            <a:ext cx="5486400" cy="1041559"/>
            <a:chOff x="0" y="0"/>
            <a:chExt cx="7315200" cy="138874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0" cy="1388745"/>
            </a:xfrm>
            <a:custGeom>
              <a:avLst/>
              <a:gdLst/>
              <a:ahLst/>
              <a:cxnLst/>
              <a:rect r="r" b="b" t="t" l="l"/>
              <a:pathLst>
                <a:path h="1388745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2637" r="0" b="-5263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731520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8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RESPONDER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2344400" y="4347624"/>
            <a:ext cx="5511736" cy="4012120"/>
          </a:xfrm>
          <a:custGeom>
            <a:avLst/>
            <a:gdLst/>
            <a:ahLst/>
            <a:cxnLst/>
            <a:rect r="r" b="b" t="t" l="l"/>
            <a:pathLst>
              <a:path h="4012120" w="5511736">
                <a:moveTo>
                  <a:pt x="0" y="0"/>
                </a:moveTo>
                <a:lnTo>
                  <a:pt x="5511736" y="0"/>
                </a:lnTo>
                <a:lnTo>
                  <a:pt x="5511736" y="4012121"/>
                </a:lnTo>
                <a:lnTo>
                  <a:pt x="0" y="401212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2632626" y="4679285"/>
            <a:ext cx="4937760" cy="375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Cuando una amenaza es confirmada, el SOC activa un proceso de respuesta a incidentes que puede incluir contención, erradicación, recuperación y comunicación interna.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p.7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31520" y="-42862"/>
            <a:ext cx="16824960" cy="1688783"/>
            <a:chOff x="0" y="0"/>
            <a:chExt cx="22433280" cy="22517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433280" cy="2251710"/>
            </a:xfrm>
            <a:custGeom>
              <a:avLst/>
              <a:gdLst/>
              <a:ahLst/>
              <a:cxnLst/>
              <a:rect r="r" b="b" t="t" l="l"/>
              <a:pathLst>
                <a:path h="225171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51710"/>
                  </a:lnTo>
                  <a:lnTo>
                    <a:pt x="0" y="225171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4125" r="0" b="-14412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243328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1.1  |  Ejemplo integrado: Monitoreo → Detección → Respuesta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48640" y="2558814"/>
            <a:ext cx="923304" cy="1823921"/>
          </a:xfrm>
          <a:custGeom>
            <a:avLst/>
            <a:gdLst/>
            <a:ahLst/>
            <a:cxnLst/>
            <a:rect r="r" b="b" t="t" l="l"/>
            <a:pathLst>
              <a:path h="1823921" w="923304">
                <a:moveTo>
                  <a:pt x="0" y="0"/>
                </a:moveTo>
                <a:lnTo>
                  <a:pt x="923304" y="0"/>
                </a:lnTo>
                <a:lnTo>
                  <a:pt x="923304" y="1823921"/>
                </a:lnTo>
                <a:lnTo>
                  <a:pt x="0" y="18239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560009" y="2570182"/>
            <a:ext cx="900618" cy="1801235"/>
            <a:chOff x="0" y="0"/>
            <a:chExt cx="1341120" cy="2682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06785" t="0" r="-206785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60009" y="2519011"/>
            <a:ext cx="900618" cy="1852407"/>
            <a:chOff x="0" y="0"/>
            <a:chExt cx="1341120" cy="2758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41120" cy="2758440"/>
            </a:xfrm>
            <a:custGeom>
              <a:avLst/>
              <a:gdLst/>
              <a:ahLst/>
              <a:cxnLst/>
              <a:rect r="r" b="b" t="t" l="l"/>
              <a:pathLst>
                <a:path h="27584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758440"/>
                  </a:lnTo>
                  <a:lnTo>
                    <a:pt x="0" y="27584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13897" t="0" r="-213897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1341120" cy="2834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482007" y="2558814"/>
            <a:ext cx="2642664" cy="1823921"/>
          </a:xfrm>
          <a:custGeom>
            <a:avLst/>
            <a:gdLst/>
            <a:ahLst/>
            <a:cxnLst/>
            <a:rect r="r" b="b" t="t" l="l"/>
            <a:pathLst>
              <a:path h="1823921" w="2642664">
                <a:moveTo>
                  <a:pt x="0" y="0"/>
                </a:moveTo>
                <a:lnTo>
                  <a:pt x="2642665" y="0"/>
                </a:lnTo>
                <a:lnTo>
                  <a:pt x="2642665" y="1823921"/>
                </a:lnTo>
                <a:lnTo>
                  <a:pt x="0" y="182392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493376" y="2570182"/>
            <a:ext cx="2619978" cy="1801235"/>
            <a:chOff x="0" y="0"/>
            <a:chExt cx="3901440" cy="2682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9014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8270" t="0" r="-38269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93376" y="2538200"/>
            <a:ext cx="2619978" cy="1833217"/>
            <a:chOff x="0" y="0"/>
            <a:chExt cx="3901440" cy="272986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901440" cy="2729865"/>
            </a:xfrm>
            <a:custGeom>
              <a:avLst/>
              <a:gdLst/>
              <a:ahLst/>
              <a:cxnLst/>
              <a:rect r="r" b="b" t="t" l="l"/>
              <a:pathLst>
                <a:path h="2729865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729865"/>
                  </a:lnTo>
                  <a:lnTo>
                    <a:pt x="0" y="27298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9774" t="0" r="-39774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3901440" cy="2777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MONITOREAR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4134735" y="2558814"/>
            <a:ext cx="11812589" cy="1823921"/>
          </a:xfrm>
          <a:custGeom>
            <a:avLst/>
            <a:gdLst/>
            <a:ahLst/>
            <a:cxnLst/>
            <a:rect r="r" b="b" t="t" l="l"/>
            <a:pathLst>
              <a:path h="1823921" w="11812589">
                <a:moveTo>
                  <a:pt x="0" y="0"/>
                </a:moveTo>
                <a:lnTo>
                  <a:pt x="11812589" y="0"/>
                </a:lnTo>
                <a:lnTo>
                  <a:pt x="11812589" y="1823921"/>
                </a:lnTo>
                <a:lnTo>
                  <a:pt x="0" y="182392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4408102" y="2570182"/>
            <a:ext cx="11298657" cy="1801235"/>
            <a:chOff x="0" y="0"/>
            <a:chExt cx="16824960" cy="2682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824961" cy="2682240"/>
            </a:xfrm>
            <a:custGeom>
              <a:avLst/>
              <a:gdLst/>
              <a:ahLst/>
              <a:cxnLst/>
              <a:rect r="r" b="b" t="t" l="l"/>
              <a:pathLst>
                <a:path h="2682240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2139" r="0" b="-72139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408102" y="2538200"/>
            <a:ext cx="11298657" cy="1833217"/>
            <a:chOff x="0" y="0"/>
            <a:chExt cx="16824960" cy="272986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824961" cy="2729865"/>
            </a:xfrm>
            <a:custGeom>
              <a:avLst/>
              <a:gdLst/>
              <a:ahLst/>
              <a:cxnLst/>
              <a:rect r="r" b="b" t="t" l="l"/>
              <a:pathLst>
                <a:path h="2729865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2729865"/>
                  </a:lnTo>
                  <a:lnTo>
                    <a:pt x="0" y="27298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092" r="0" b="-7009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6824960" cy="2777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E0E0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 detectan múltiples intentos fallidos de inicio de sesión desde una IP extranjera en el servidor de archivos de la empresa.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548640" y="4818545"/>
            <a:ext cx="923304" cy="1823921"/>
          </a:xfrm>
          <a:custGeom>
            <a:avLst/>
            <a:gdLst/>
            <a:ahLst/>
            <a:cxnLst/>
            <a:rect r="r" b="b" t="t" l="l"/>
            <a:pathLst>
              <a:path h="1823921" w="923304">
                <a:moveTo>
                  <a:pt x="0" y="0"/>
                </a:moveTo>
                <a:lnTo>
                  <a:pt x="923304" y="0"/>
                </a:lnTo>
                <a:lnTo>
                  <a:pt x="923304" y="1823921"/>
                </a:lnTo>
                <a:lnTo>
                  <a:pt x="0" y="182392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560009" y="4829914"/>
            <a:ext cx="900618" cy="1801235"/>
            <a:chOff x="0" y="0"/>
            <a:chExt cx="1341120" cy="2682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41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06785" t="0" r="-206785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60009" y="4778742"/>
            <a:ext cx="900618" cy="1852407"/>
            <a:chOff x="0" y="0"/>
            <a:chExt cx="1341120" cy="2758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41120" cy="2758440"/>
            </a:xfrm>
            <a:custGeom>
              <a:avLst/>
              <a:gdLst/>
              <a:ahLst/>
              <a:cxnLst/>
              <a:rect r="r" b="b" t="t" l="l"/>
              <a:pathLst>
                <a:path h="27584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758440"/>
                  </a:lnTo>
                  <a:lnTo>
                    <a:pt x="0" y="27584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13897" t="0" r="-213897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76200"/>
              <a:ext cx="1341120" cy="2834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482007" y="4818545"/>
            <a:ext cx="2642664" cy="1823921"/>
          </a:xfrm>
          <a:custGeom>
            <a:avLst/>
            <a:gdLst/>
            <a:ahLst/>
            <a:cxnLst/>
            <a:rect r="r" b="b" t="t" l="l"/>
            <a:pathLst>
              <a:path h="1823921" w="2642664">
                <a:moveTo>
                  <a:pt x="0" y="0"/>
                </a:moveTo>
                <a:lnTo>
                  <a:pt x="2642665" y="0"/>
                </a:lnTo>
                <a:lnTo>
                  <a:pt x="2642665" y="1823921"/>
                </a:lnTo>
                <a:lnTo>
                  <a:pt x="0" y="182392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493376" y="4829914"/>
            <a:ext cx="2619978" cy="1801235"/>
            <a:chOff x="0" y="0"/>
            <a:chExt cx="3901440" cy="26822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9014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8270" t="0" r="-38269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93376" y="4797931"/>
            <a:ext cx="2619978" cy="1833217"/>
            <a:chOff x="0" y="0"/>
            <a:chExt cx="3901440" cy="272986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901440" cy="2729865"/>
            </a:xfrm>
            <a:custGeom>
              <a:avLst/>
              <a:gdLst/>
              <a:ahLst/>
              <a:cxnLst/>
              <a:rect r="r" b="b" t="t" l="l"/>
              <a:pathLst>
                <a:path h="2729865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729865"/>
                  </a:lnTo>
                  <a:lnTo>
                    <a:pt x="0" y="27298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9774" t="0" r="-39774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3901440" cy="2777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DETECTAR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4134735" y="4818545"/>
            <a:ext cx="11812589" cy="1823921"/>
          </a:xfrm>
          <a:custGeom>
            <a:avLst/>
            <a:gdLst/>
            <a:ahLst/>
            <a:cxnLst/>
            <a:rect r="r" b="b" t="t" l="l"/>
            <a:pathLst>
              <a:path h="1823921" w="11812589">
                <a:moveTo>
                  <a:pt x="0" y="0"/>
                </a:moveTo>
                <a:lnTo>
                  <a:pt x="11812589" y="0"/>
                </a:lnTo>
                <a:lnTo>
                  <a:pt x="11812589" y="1823921"/>
                </a:lnTo>
                <a:lnTo>
                  <a:pt x="0" y="182392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4408102" y="4829914"/>
            <a:ext cx="11298657" cy="1801235"/>
            <a:chOff x="0" y="0"/>
            <a:chExt cx="16824960" cy="26822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6824961" cy="2682240"/>
            </a:xfrm>
            <a:custGeom>
              <a:avLst/>
              <a:gdLst/>
              <a:ahLst/>
              <a:cxnLst/>
              <a:rect r="r" b="b" t="t" l="l"/>
              <a:pathLst>
                <a:path h="2682240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2139" r="0" b="-72139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408102" y="4797931"/>
            <a:ext cx="11298657" cy="1833217"/>
            <a:chOff x="0" y="0"/>
            <a:chExt cx="16824960" cy="272986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6824961" cy="2729865"/>
            </a:xfrm>
            <a:custGeom>
              <a:avLst/>
              <a:gdLst/>
              <a:ahLst/>
              <a:cxnLst/>
              <a:rect r="r" b="b" t="t" l="l"/>
              <a:pathLst>
                <a:path h="2729865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2729865"/>
                  </a:lnTo>
                  <a:lnTo>
                    <a:pt x="0" y="27298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092" r="0" b="-7009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6824960" cy="2777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E0E0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sistema SIEM detecta que, luego del acceso exitoso desde esa IP, se descargaron archivos sensibles a un servidor desconocido. Se genera una alerta crítica.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548640" y="7078276"/>
            <a:ext cx="923304" cy="1823921"/>
          </a:xfrm>
          <a:custGeom>
            <a:avLst/>
            <a:gdLst/>
            <a:ahLst/>
            <a:cxnLst/>
            <a:rect r="r" b="b" t="t" l="l"/>
            <a:pathLst>
              <a:path h="1823921" w="923304">
                <a:moveTo>
                  <a:pt x="0" y="0"/>
                </a:moveTo>
                <a:lnTo>
                  <a:pt x="923304" y="0"/>
                </a:lnTo>
                <a:lnTo>
                  <a:pt x="923304" y="1823922"/>
                </a:lnTo>
                <a:lnTo>
                  <a:pt x="0" y="182392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560009" y="7089645"/>
            <a:ext cx="900618" cy="1801235"/>
            <a:chOff x="0" y="0"/>
            <a:chExt cx="1341120" cy="26822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41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06785" t="0" r="-206785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560009" y="7038474"/>
            <a:ext cx="900618" cy="1852407"/>
            <a:chOff x="0" y="0"/>
            <a:chExt cx="1341120" cy="2758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341120" cy="2758440"/>
            </a:xfrm>
            <a:custGeom>
              <a:avLst/>
              <a:gdLst/>
              <a:ahLst/>
              <a:cxnLst/>
              <a:rect r="r" b="b" t="t" l="l"/>
              <a:pathLst>
                <a:path h="27584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758440"/>
                  </a:lnTo>
                  <a:lnTo>
                    <a:pt x="0" y="27584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13897" t="0" r="-213897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76200"/>
              <a:ext cx="1341120" cy="2834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1482007" y="7078276"/>
            <a:ext cx="2642664" cy="1823921"/>
          </a:xfrm>
          <a:custGeom>
            <a:avLst/>
            <a:gdLst/>
            <a:ahLst/>
            <a:cxnLst/>
            <a:rect r="r" b="b" t="t" l="l"/>
            <a:pathLst>
              <a:path h="1823921" w="2642664">
                <a:moveTo>
                  <a:pt x="0" y="0"/>
                </a:moveTo>
                <a:lnTo>
                  <a:pt x="2642665" y="0"/>
                </a:lnTo>
                <a:lnTo>
                  <a:pt x="2642665" y="1823922"/>
                </a:lnTo>
                <a:lnTo>
                  <a:pt x="0" y="182392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493376" y="7089645"/>
            <a:ext cx="2619978" cy="1801235"/>
            <a:chOff x="0" y="0"/>
            <a:chExt cx="3901440" cy="26822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9014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8270" t="0" r="-38269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493376" y="7057663"/>
            <a:ext cx="2619978" cy="1833217"/>
            <a:chOff x="0" y="0"/>
            <a:chExt cx="3901440" cy="272986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901440" cy="2729865"/>
            </a:xfrm>
            <a:custGeom>
              <a:avLst/>
              <a:gdLst/>
              <a:ahLst/>
              <a:cxnLst/>
              <a:rect r="r" b="b" t="t" l="l"/>
              <a:pathLst>
                <a:path h="2729865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729865"/>
                  </a:lnTo>
                  <a:lnTo>
                    <a:pt x="0" y="27298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9774" t="0" r="-39774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3901440" cy="2777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RESPONDER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4134735" y="7078276"/>
            <a:ext cx="11812589" cy="1823921"/>
          </a:xfrm>
          <a:custGeom>
            <a:avLst/>
            <a:gdLst/>
            <a:ahLst/>
            <a:cxnLst/>
            <a:rect r="r" b="b" t="t" l="l"/>
            <a:pathLst>
              <a:path h="1823921" w="11812589">
                <a:moveTo>
                  <a:pt x="0" y="0"/>
                </a:moveTo>
                <a:lnTo>
                  <a:pt x="11812589" y="0"/>
                </a:lnTo>
                <a:lnTo>
                  <a:pt x="11812589" y="1823922"/>
                </a:lnTo>
                <a:lnTo>
                  <a:pt x="0" y="18239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4408102" y="7089645"/>
            <a:ext cx="11298657" cy="1801235"/>
            <a:chOff x="0" y="0"/>
            <a:chExt cx="16824960" cy="26822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6824961" cy="2682240"/>
            </a:xfrm>
            <a:custGeom>
              <a:avLst/>
              <a:gdLst/>
              <a:ahLst/>
              <a:cxnLst/>
              <a:rect r="r" b="b" t="t" l="l"/>
              <a:pathLst>
                <a:path h="2682240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2139" r="0" b="-72139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4408102" y="7057663"/>
            <a:ext cx="11298657" cy="1833217"/>
            <a:chOff x="0" y="0"/>
            <a:chExt cx="16824960" cy="272986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6824961" cy="2729865"/>
            </a:xfrm>
            <a:custGeom>
              <a:avLst/>
              <a:gdLst/>
              <a:ahLst/>
              <a:cxnLst/>
              <a:rect r="r" b="b" t="t" l="l"/>
              <a:pathLst>
                <a:path h="2729865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2729865"/>
                  </a:lnTo>
                  <a:lnTo>
                    <a:pt x="0" y="27298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092" r="0" b="-7009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16824960" cy="2777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E0E0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analista bloquea la IP maliciosa, desactiva la cuenta comprometida y documenta el incidente para escalarlo al equipo de respuesta (IR/CSIRT).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p.8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-50006"/>
            <a:ext cx="16824960" cy="1695926"/>
            <a:chOff x="0" y="0"/>
            <a:chExt cx="22433280" cy="2261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2261235"/>
            </a:xfrm>
            <a:custGeom>
              <a:avLst/>
              <a:gdLst/>
              <a:ahLst/>
              <a:cxnLst/>
              <a:rect r="r" b="b" t="t" l="l"/>
              <a:pathLst>
                <a:path h="2261235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61235"/>
                  </a:lnTo>
                  <a:lnTo>
                    <a:pt x="0" y="226123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3307" r="0" b="-1433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2243328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1.1  |  Tipos de SOC: Internos, Externos (MSSP) e Híbridos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080" y="1792224"/>
            <a:ext cx="17007840" cy="914400"/>
            <a:chOff x="0" y="0"/>
            <a:chExt cx="2267712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677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2169" r="0" b="-312169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0051" y="1794553"/>
            <a:ext cx="17007840" cy="950119"/>
            <a:chOff x="0" y="0"/>
            <a:chExt cx="22677120" cy="12668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677120" cy="1266825"/>
            </a:xfrm>
            <a:custGeom>
              <a:avLst/>
              <a:gdLst/>
              <a:ahLst/>
              <a:cxnLst/>
              <a:rect r="r" b="b" t="t" l="l"/>
              <a:pathLst>
                <a:path h="1266825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266825"/>
                  </a:lnTo>
                  <a:lnTo>
                    <a:pt x="0" y="126682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98796" r="0" b="-29879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267712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todas las organizaciones tienen el mismo tamaño, presupuesto o equipo técnico. Por eso, existen tres modelos principales de SOC: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686981" y="2901079"/>
            <a:ext cx="4968312" cy="962987"/>
          </a:xfrm>
          <a:custGeom>
            <a:avLst/>
            <a:gdLst/>
            <a:ahLst/>
            <a:cxnLst/>
            <a:rect r="r" b="b" t="t" l="l"/>
            <a:pathLst>
              <a:path h="962987" w="4968312">
                <a:moveTo>
                  <a:pt x="0" y="0"/>
                </a:moveTo>
                <a:lnTo>
                  <a:pt x="4968312" y="0"/>
                </a:lnTo>
                <a:lnTo>
                  <a:pt x="4968312" y="962988"/>
                </a:lnTo>
                <a:lnTo>
                  <a:pt x="0" y="9629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698239" y="2912338"/>
            <a:ext cx="4945846" cy="940522"/>
            <a:chOff x="0" y="0"/>
            <a:chExt cx="7437120" cy="14142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37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2393" r="0" b="-52393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98239" y="2880666"/>
            <a:ext cx="4945846" cy="972193"/>
            <a:chOff x="0" y="0"/>
            <a:chExt cx="7437120" cy="14618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37120" cy="1461897"/>
            </a:xfrm>
            <a:custGeom>
              <a:avLst/>
              <a:gdLst/>
              <a:ahLst/>
              <a:cxnLst/>
              <a:rect r="r" b="b" t="t" l="l"/>
              <a:pathLst>
                <a:path h="1461897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461897"/>
                  </a:lnTo>
                  <a:lnTo>
                    <a:pt x="0" y="14618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9126" r="0" b="-4912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7437120" cy="1509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SOC INTERNO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(In-house SOC)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686981" y="3874033"/>
            <a:ext cx="4968312" cy="4887232"/>
          </a:xfrm>
          <a:custGeom>
            <a:avLst/>
            <a:gdLst/>
            <a:ahLst/>
            <a:cxnLst/>
            <a:rect r="r" b="b" t="t" l="l"/>
            <a:pathLst>
              <a:path h="4887232" w="4968312">
                <a:moveTo>
                  <a:pt x="0" y="0"/>
                </a:moveTo>
                <a:lnTo>
                  <a:pt x="4968312" y="0"/>
                </a:lnTo>
                <a:lnTo>
                  <a:pt x="4968312" y="4887232"/>
                </a:lnTo>
                <a:lnTo>
                  <a:pt x="0" y="488723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941478" y="4205351"/>
            <a:ext cx="4459369" cy="383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0"/>
              </a:lnSpc>
            </a:pPr>
            <a:r>
              <a:rPr lang="en-US" sz="168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Totalmente gestionado por la propia organización. Equipo propio de analistas, infraestructura y herramientas.</a:t>
            </a:r>
          </a:p>
          <a:p>
            <a:pPr algn="l">
              <a:lnSpc>
                <a:spcPts val="2020"/>
              </a:lnSpc>
            </a:pPr>
          </a:p>
          <a:p>
            <a:pPr algn="l">
              <a:lnSpc>
                <a:spcPts val="2020"/>
              </a:lnSpc>
            </a:pPr>
            <a:r>
              <a:rPr lang="en-US" sz="168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✔ Control total</a:t>
            </a:r>
          </a:p>
          <a:p>
            <a:pPr algn="l">
              <a:lnSpc>
                <a:spcPts val="2020"/>
              </a:lnSpc>
            </a:pPr>
            <a:r>
              <a:rPr lang="en-US" sz="168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✔ Alineación con políticas internas</a:t>
            </a:r>
          </a:p>
          <a:p>
            <a:pPr algn="l">
              <a:lnSpc>
                <a:spcPts val="2020"/>
              </a:lnSpc>
            </a:pPr>
            <a:r>
              <a:rPr lang="en-US" sz="168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✔ Personalización de reglas</a:t>
            </a:r>
          </a:p>
          <a:p>
            <a:pPr algn="l">
              <a:lnSpc>
                <a:spcPts val="2020"/>
              </a:lnSpc>
            </a:pPr>
          </a:p>
          <a:p>
            <a:pPr algn="l">
              <a:lnSpc>
                <a:spcPts val="2020"/>
              </a:lnSpc>
            </a:pPr>
            <a:r>
              <a:rPr lang="en-US" sz="168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✘ Altos costos operativos</a:t>
            </a:r>
          </a:p>
          <a:p>
            <a:pPr algn="l">
              <a:lnSpc>
                <a:spcPts val="2020"/>
              </a:lnSpc>
            </a:pPr>
            <a:r>
              <a:rPr lang="en-US" sz="168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✘ Requiere retención de talento</a:t>
            </a:r>
          </a:p>
          <a:p>
            <a:pPr algn="l">
              <a:lnSpc>
                <a:spcPts val="2020"/>
              </a:lnSpc>
            </a:pPr>
          </a:p>
          <a:p>
            <a:pPr algn="l">
              <a:lnSpc>
                <a:spcPts val="2020"/>
              </a:lnSpc>
            </a:pPr>
          </a:p>
          <a:p>
            <a:pPr algn="l">
              <a:lnSpc>
                <a:spcPts val="2020"/>
              </a:lnSpc>
            </a:pPr>
          </a:p>
          <a:p>
            <a:pPr algn="l">
              <a:lnSpc>
                <a:spcPts val="2020"/>
              </a:lnSpc>
            </a:pPr>
            <a:r>
              <a:rPr lang="en-US" sz="168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📌 Ideal para: grandes empresas, gobiernos, sectores críticos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6908497" y="2901079"/>
            <a:ext cx="4968312" cy="962987"/>
          </a:xfrm>
          <a:custGeom>
            <a:avLst/>
            <a:gdLst/>
            <a:ahLst/>
            <a:cxnLst/>
            <a:rect r="r" b="b" t="t" l="l"/>
            <a:pathLst>
              <a:path h="962987" w="4968312">
                <a:moveTo>
                  <a:pt x="0" y="0"/>
                </a:moveTo>
                <a:lnTo>
                  <a:pt x="4968312" y="0"/>
                </a:lnTo>
                <a:lnTo>
                  <a:pt x="4968312" y="962988"/>
                </a:lnTo>
                <a:lnTo>
                  <a:pt x="0" y="96298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6919756" y="2912338"/>
            <a:ext cx="4945846" cy="940522"/>
            <a:chOff x="0" y="0"/>
            <a:chExt cx="7437120" cy="14142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437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2393" r="0" b="-52393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919756" y="2880666"/>
            <a:ext cx="4945846" cy="972193"/>
            <a:chOff x="0" y="0"/>
            <a:chExt cx="7437120" cy="146189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437120" cy="1461897"/>
            </a:xfrm>
            <a:custGeom>
              <a:avLst/>
              <a:gdLst/>
              <a:ahLst/>
              <a:cxnLst/>
              <a:rect r="r" b="b" t="t" l="l"/>
              <a:pathLst>
                <a:path h="1461897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461897"/>
                  </a:lnTo>
                  <a:lnTo>
                    <a:pt x="0" y="14618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9126" r="0" b="-4912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7437120" cy="1509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SOC EXTERNO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(MSSP)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6908497" y="3874033"/>
            <a:ext cx="4968312" cy="4887232"/>
          </a:xfrm>
          <a:custGeom>
            <a:avLst/>
            <a:gdLst/>
            <a:ahLst/>
            <a:cxnLst/>
            <a:rect r="r" b="b" t="t" l="l"/>
            <a:pathLst>
              <a:path h="4887232" w="4968312">
                <a:moveTo>
                  <a:pt x="0" y="0"/>
                </a:moveTo>
                <a:lnTo>
                  <a:pt x="4968312" y="0"/>
                </a:lnTo>
                <a:lnTo>
                  <a:pt x="4968312" y="4887232"/>
                </a:lnTo>
                <a:lnTo>
                  <a:pt x="0" y="488723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7162994" y="4205351"/>
            <a:ext cx="4459369" cy="383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0"/>
              </a:lnSpc>
            </a:pPr>
            <a:r>
              <a:rPr lang="en-US" sz="168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La organización subcontrata el SOC a un proveedor especializado como Accenture, IBM Security o SecureWorks.</a:t>
            </a:r>
          </a:p>
          <a:p>
            <a:pPr algn="l">
              <a:lnSpc>
                <a:spcPts val="2020"/>
              </a:lnSpc>
            </a:pPr>
          </a:p>
          <a:p>
            <a:pPr algn="l">
              <a:lnSpc>
                <a:spcPts val="2020"/>
              </a:lnSpc>
            </a:pPr>
            <a:r>
              <a:rPr lang="en-US" sz="168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✔ Reducción de costos</a:t>
            </a:r>
          </a:p>
          <a:p>
            <a:pPr algn="l">
              <a:lnSpc>
                <a:spcPts val="2020"/>
              </a:lnSpc>
            </a:pPr>
            <a:r>
              <a:rPr lang="en-US" sz="168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✔ Acceso inmediato a expertos</a:t>
            </a:r>
          </a:p>
          <a:p>
            <a:pPr algn="l">
              <a:lnSpc>
                <a:spcPts val="2020"/>
              </a:lnSpc>
            </a:pPr>
            <a:r>
              <a:rPr lang="en-US" sz="168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✔ Escalabilidad y rapidez</a:t>
            </a:r>
          </a:p>
          <a:p>
            <a:pPr algn="l">
              <a:lnSpc>
                <a:spcPts val="2020"/>
              </a:lnSpc>
            </a:pPr>
          </a:p>
          <a:p>
            <a:pPr algn="l">
              <a:lnSpc>
                <a:spcPts val="2020"/>
              </a:lnSpc>
            </a:pPr>
            <a:r>
              <a:rPr lang="en-US" sz="168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✘ Menor control sobre decisiones</a:t>
            </a:r>
          </a:p>
          <a:p>
            <a:pPr algn="l">
              <a:lnSpc>
                <a:spcPts val="2020"/>
              </a:lnSpc>
            </a:pPr>
            <a:r>
              <a:rPr lang="en-US" sz="168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✘ Riesgos de privacidad y dependencia</a:t>
            </a:r>
          </a:p>
          <a:p>
            <a:pPr algn="l">
              <a:lnSpc>
                <a:spcPts val="2020"/>
              </a:lnSpc>
            </a:pPr>
          </a:p>
          <a:p>
            <a:pPr algn="l">
              <a:lnSpc>
                <a:spcPts val="2020"/>
              </a:lnSpc>
            </a:pPr>
          </a:p>
          <a:p>
            <a:pPr algn="l">
              <a:lnSpc>
                <a:spcPts val="2020"/>
              </a:lnSpc>
            </a:pPr>
          </a:p>
          <a:p>
            <a:pPr algn="l">
              <a:lnSpc>
                <a:spcPts val="2020"/>
              </a:lnSpc>
            </a:pPr>
            <a:r>
              <a:rPr lang="en-US" sz="168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📌 Ideal para: PyMEs, startups, empresas sin equipo interno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2130014" y="2901079"/>
            <a:ext cx="4968312" cy="962987"/>
          </a:xfrm>
          <a:custGeom>
            <a:avLst/>
            <a:gdLst/>
            <a:ahLst/>
            <a:cxnLst/>
            <a:rect r="r" b="b" t="t" l="l"/>
            <a:pathLst>
              <a:path h="962987" w="4968312">
                <a:moveTo>
                  <a:pt x="0" y="0"/>
                </a:moveTo>
                <a:lnTo>
                  <a:pt x="4968311" y="0"/>
                </a:lnTo>
                <a:lnTo>
                  <a:pt x="4968311" y="962988"/>
                </a:lnTo>
                <a:lnTo>
                  <a:pt x="0" y="96298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2141272" y="2912338"/>
            <a:ext cx="4945846" cy="940522"/>
            <a:chOff x="0" y="0"/>
            <a:chExt cx="7437120" cy="14142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437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2393" r="0" b="-52393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141272" y="2880666"/>
            <a:ext cx="4945846" cy="972193"/>
            <a:chOff x="0" y="0"/>
            <a:chExt cx="7437120" cy="146189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437120" cy="1461897"/>
            </a:xfrm>
            <a:custGeom>
              <a:avLst/>
              <a:gdLst/>
              <a:ahLst/>
              <a:cxnLst/>
              <a:rect r="r" b="b" t="t" l="l"/>
              <a:pathLst>
                <a:path h="1461897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461897"/>
                  </a:lnTo>
                  <a:lnTo>
                    <a:pt x="0" y="14618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9126" r="0" b="-4912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7437120" cy="1509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SOC HÍBRIDO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2130014" y="3874033"/>
            <a:ext cx="4968312" cy="4887232"/>
          </a:xfrm>
          <a:custGeom>
            <a:avLst/>
            <a:gdLst/>
            <a:ahLst/>
            <a:cxnLst/>
            <a:rect r="r" b="b" t="t" l="l"/>
            <a:pathLst>
              <a:path h="4887232" w="4968312">
                <a:moveTo>
                  <a:pt x="0" y="0"/>
                </a:moveTo>
                <a:lnTo>
                  <a:pt x="4968311" y="0"/>
                </a:lnTo>
                <a:lnTo>
                  <a:pt x="4968311" y="4887232"/>
                </a:lnTo>
                <a:lnTo>
                  <a:pt x="0" y="488723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2384510" y="4205351"/>
            <a:ext cx="4459369" cy="383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0"/>
              </a:lnSpc>
            </a:pPr>
            <a:r>
              <a:rPr lang="en-US" sz="168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Combina recursos internos y externos. Por ejemplo, el monitoreo 24/7 lo hace un MSSP pero la respuesta forense la realiza un equipo interno.</a:t>
            </a:r>
          </a:p>
          <a:p>
            <a:pPr algn="l">
              <a:lnSpc>
                <a:spcPts val="2020"/>
              </a:lnSpc>
            </a:pPr>
          </a:p>
          <a:p>
            <a:pPr algn="l">
              <a:lnSpc>
                <a:spcPts val="2020"/>
              </a:lnSpc>
            </a:pPr>
            <a:r>
              <a:rPr lang="en-US" sz="168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✔ Equilibrio entre control y eficiencia</a:t>
            </a:r>
          </a:p>
          <a:p>
            <a:pPr algn="l">
              <a:lnSpc>
                <a:spcPts val="2020"/>
              </a:lnSpc>
            </a:pPr>
            <a:r>
              <a:rPr lang="en-US" sz="168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✔ Uso flexible de recursos</a:t>
            </a:r>
          </a:p>
          <a:p>
            <a:pPr algn="l">
              <a:lnSpc>
                <a:spcPts val="2020"/>
              </a:lnSpc>
            </a:pPr>
            <a:r>
              <a:rPr lang="en-US" sz="168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✔ Reduce carga operativa</a:t>
            </a:r>
          </a:p>
          <a:p>
            <a:pPr algn="l">
              <a:lnSpc>
                <a:spcPts val="2020"/>
              </a:lnSpc>
            </a:pPr>
          </a:p>
          <a:p>
            <a:pPr algn="l">
              <a:lnSpc>
                <a:spcPts val="2020"/>
              </a:lnSpc>
            </a:pPr>
            <a:r>
              <a:rPr lang="en-US" sz="168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✘ Mayor complejidad de coordinación</a:t>
            </a:r>
          </a:p>
          <a:p>
            <a:pPr algn="l">
              <a:lnSpc>
                <a:spcPts val="2020"/>
              </a:lnSpc>
            </a:pPr>
            <a:r>
              <a:rPr lang="en-US" sz="168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✘ Riesgo de solapamientos</a:t>
            </a:r>
          </a:p>
          <a:p>
            <a:pPr algn="l">
              <a:lnSpc>
                <a:spcPts val="2020"/>
              </a:lnSpc>
            </a:pPr>
          </a:p>
          <a:p>
            <a:pPr algn="l">
              <a:lnSpc>
                <a:spcPts val="2020"/>
              </a:lnSpc>
            </a:pPr>
          </a:p>
          <a:p>
            <a:pPr algn="l">
              <a:lnSpc>
                <a:spcPts val="2020"/>
              </a:lnSpc>
            </a:pPr>
          </a:p>
          <a:p>
            <a:pPr algn="l">
              <a:lnSpc>
                <a:spcPts val="2020"/>
              </a:lnSpc>
            </a:pPr>
            <a:r>
              <a:rPr lang="en-US" sz="168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📌 Ideal para: empresas medianas o grandes que quieren escalar sin perder control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p.9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-50006"/>
            <a:ext cx="16824960" cy="1695926"/>
            <a:chOff x="0" y="0"/>
            <a:chExt cx="22433280" cy="2261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2261235"/>
            </a:xfrm>
            <a:custGeom>
              <a:avLst/>
              <a:gdLst/>
              <a:ahLst/>
              <a:cxnLst/>
              <a:rect r="r" b="b" t="t" l="l"/>
              <a:pathLst>
                <a:path h="2261235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61235"/>
                  </a:lnTo>
                  <a:lnTo>
                    <a:pt x="0" y="226123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3307" r="0" b="-1433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2243328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1.1  |  Diferencia entre SOC y otros equipos: NOC, CSIRT, CERT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080" y="1737360"/>
            <a:ext cx="17007840" cy="914400"/>
            <a:chOff x="0" y="0"/>
            <a:chExt cx="2267712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677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2169" r="0" b="-312169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0080" y="1701641"/>
            <a:ext cx="17007840" cy="950119"/>
            <a:chOff x="0" y="0"/>
            <a:chExt cx="22677120" cy="12668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677120" cy="1266825"/>
            </a:xfrm>
            <a:custGeom>
              <a:avLst/>
              <a:gdLst/>
              <a:ahLst/>
              <a:cxnLst/>
              <a:rect r="r" b="b" t="t" l="l"/>
              <a:pathLst>
                <a:path h="1266825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266825"/>
                  </a:lnTo>
                  <a:lnTo>
                    <a:pt x="0" y="126682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98796" r="0" b="-29879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267712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Existen otros equipos clave que cumplen funciones complementarias al SOC. Comprender sus diferencias es fundamental para ubicar al SOC dentro del ecosistema de gestión de incidentes.</a:t>
              </a:r>
            </a:p>
          </p:txBody>
        </p:sp>
      </p:grp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585216" y="2743200"/>
          <a:ext cx="17576800" cy="6477000"/>
        </p:xfrm>
        <a:graphic>
          <a:graphicData uri="http://schemas.openxmlformats.org/drawingml/2006/table">
            <a:tbl>
              <a:tblPr/>
              <a:tblGrid>
                <a:gridCol w="1411745"/>
                <a:gridCol w="2927061"/>
                <a:gridCol w="5066330"/>
                <a:gridCol w="3996696"/>
                <a:gridCol w="4174968"/>
              </a:tblGrid>
              <a:tr h="1295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Equipo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00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Foco Principal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00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Función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00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Relación con SOC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00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Ejemplo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004F"/>
                    </a:solidFill>
                  </a:tcPr>
                </a:tc>
              </a:tr>
              <a:tr h="1295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8A00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SOC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Seguridad digital activa (24/7)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Monitorea, detecta y responde ante amenazas de ciberseguridad.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Coordina con todos los demás equipos.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i="true">
                          <a:solidFill>
                            <a:srgbClr val="444444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Detecta un escaneo de red sospechoso y alerta al equipo de IR.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1295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A73C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NOC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Operaciones de red y disponibilidad TI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 encarga de que los sistemas y servicios funcionen correctamente: servidores, conectividad, correo.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 una falla tiene origen en un ataque, el SOC investiga y el NOC ejecuta.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i="true">
                          <a:solidFill>
                            <a:srgbClr val="444444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Un DDoS cae sobre la red. El NOC actúa técnicamente; el SOC investiga el origen.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1295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E07B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CSIRT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Respuesta específica a incidentes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Equipo especializado en investigar, contener y recuperar tras un incidente confirmado. Puede ser parte del SOC o separado.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Toma el control cuando el SOC escala un incidente crítico.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i="true">
                          <a:solidFill>
                            <a:srgbClr val="444444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Se detecta ransomware. El SOC lo identifica; el CSIRT coordina la respuesta completa.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1295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2A05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CERT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Coordinación nacional/sectorial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Similar al CSIRT, pero con alcance más amplio: nacional o sectorial. Ayuda a múltiples entidades a coordinar ante amenazas comunes.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Brinda inteligencia, alertas y soporte al SOC.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i="true">
                          <a:solidFill>
                            <a:srgbClr val="444444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El CERT nacional emite alerta sobre vulnerabilidad crítica afectando múltiples organizaciones.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grpSp>
        <p:nvGrpSpPr>
          <p:cNvPr name="Group 26" id="26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p.10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-42862"/>
            <a:ext cx="16824960" cy="1688783"/>
            <a:chOff x="0" y="0"/>
            <a:chExt cx="22433280" cy="22517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2251710"/>
            </a:xfrm>
            <a:custGeom>
              <a:avLst/>
              <a:gdLst/>
              <a:ahLst/>
              <a:cxnLst/>
              <a:rect r="r" b="b" t="t" l="l"/>
              <a:pathLst>
                <a:path h="225171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51710"/>
                  </a:lnTo>
                  <a:lnTo>
                    <a:pt x="0" y="22517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4125" r="0" b="-14412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243328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1.1  |  Cómo encaja el SOC en una estrategia de seguridad corporativa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080" y="1773936"/>
            <a:ext cx="17007840" cy="950976"/>
            <a:chOff x="0" y="0"/>
            <a:chExt cx="22677120" cy="12679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6771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8240" r="0" b="-29824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0080" y="2123846"/>
            <a:ext cx="17007840" cy="986695"/>
            <a:chOff x="0" y="0"/>
            <a:chExt cx="22677120" cy="131559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677120" cy="1315593"/>
            </a:xfrm>
            <a:custGeom>
              <a:avLst/>
              <a:gdLst/>
              <a:ahLst/>
              <a:cxnLst/>
              <a:rect r="r" b="b" t="t" l="l"/>
              <a:pathLst>
                <a:path h="1315593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15593"/>
                  </a:lnTo>
                  <a:lnTo>
                    <a:pt x="0" y="131559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85867" r="0" b="-28586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2677120" cy="136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Una estrategia de seguridad corporativa</a:t>
              </a:r>
              <a:r>
                <a:rPr lang="en-US" sz="21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es el conjunto de políticas, procesos, controles y tecnologías que una organización diseña para proteger activos críticos, prevenir ataques, cumplir normativas y garantizar continuidad del negocio. El SOC es el </a:t>
              </a:r>
              <a:r>
                <a:rPr lang="en-US" sz="2100" b="true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centro operativo</a:t>
              </a:r>
              <a:r>
                <a:rPr lang="en-US" sz="21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de esa estrategia.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2189930" y="3589130"/>
            <a:ext cx="2702559" cy="971185"/>
          </a:xfrm>
          <a:custGeom>
            <a:avLst/>
            <a:gdLst/>
            <a:ahLst/>
            <a:cxnLst/>
            <a:rect r="r" b="b" t="t" l="l"/>
            <a:pathLst>
              <a:path h="971185" w="2702559">
                <a:moveTo>
                  <a:pt x="0" y="0"/>
                </a:moveTo>
                <a:lnTo>
                  <a:pt x="2702559" y="0"/>
                </a:lnTo>
                <a:lnTo>
                  <a:pt x="2702559" y="971185"/>
                </a:lnTo>
                <a:lnTo>
                  <a:pt x="0" y="9711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2200568" y="3599768"/>
            <a:ext cx="2681332" cy="949958"/>
            <a:chOff x="0" y="0"/>
            <a:chExt cx="4267200" cy="15118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672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959" r="0" b="-4959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200568" y="3575827"/>
            <a:ext cx="2681332" cy="973898"/>
            <a:chOff x="0" y="0"/>
            <a:chExt cx="4267200" cy="15499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67200" cy="1549908"/>
            </a:xfrm>
            <a:custGeom>
              <a:avLst/>
              <a:gdLst/>
              <a:ahLst/>
              <a:cxnLst/>
              <a:rect r="r" b="b" t="t" l="l"/>
              <a:pathLst>
                <a:path h="154990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646" r="0" b="-364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267200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Visibilidad</a:t>
              </a:r>
            </a:p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centralizada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2189930" y="4569732"/>
            <a:ext cx="2702559" cy="4342002"/>
          </a:xfrm>
          <a:custGeom>
            <a:avLst/>
            <a:gdLst/>
            <a:ahLst/>
            <a:cxnLst/>
            <a:rect r="r" b="b" t="t" l="l"/>
            <a:pathLst>
              <a:path h="4342002" w="2702559">
                <a:moveTo>
                  <a:pt x="0" y="0"/>
                </a:moveTo>
                <a:lnTo>
                  <a:pt x="2702559" y="0"/>
                </a:lnTo>
                <a:lnTo>
                  <a:pt x="2702559" y="4342002"/>
                </a:lnTo>
                <a:lnTo>
                  <a:pt x="0" y="43420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2353787" y="4743310"/>
            <a:ext cx="2374894" cy="1533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4"/>
              </a:lnSpc>
            </a:pPr>
            <a:r>
              <a:rPr lang="en-US" sz="159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Recopila y analiza datos de toda la infraestructura. Permite tomar decisiones basadas en información real (datos, alertas, logs).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5070447" y="3589130"/>
            <a:ext cx="2702559" cy="971185"/>
          </a:xfrm>
          <a:custGeom>
            <a:avLst/>
            <a:gdLst/>
            <a:ahLst/>
            <a:cxnLst/>
            <a:rect r="r" b="b" t="t" l="l"/>
            <a:pathLst>
              <a:path h="971185" w="2702559">
                <a:moveTo>
                  <a:pt x="0" y="0"/>
                </a:moveTo>
                <a:lnTo>
                  <a:pt x="2702559" y="0"/>
                </a:lnTo>
                <a:lnTo>
                  <a:pt x="2702559" y="971185"/>
                </a:lnTo>
                <a:lnTo>
                  <a:pt x="0" y="97118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5081084" y="3599768"/>
            <a:ext cx="2681332" cy="949958"/>
            <a:chOff x="0" y="0"/>
            <a:chExt cx="4267200" cy="15118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672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959" r="0" b="-4959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081084" y="3575827"/>
            <a:ext cx="2681332" cy="973898"/>
            <a:chOff x="0" y="0"/>
            <a:chExt cx="4267200" cy="15499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67200" cy="1549908"/>
            </a:xfrm>
            <a:custGeom>
              <a:avLst/>
              <a:gdLst/>
              <a:ahLst/>
              <a:cxnLst/>
              <a:rect r="r" b="b" t="t" l="l"/>
              <a:pathLst>
                <a:path h="154990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646" r="0" b="-364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267200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Detección</a:t>
              </a:r>
            </a:p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temprana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5070447" y="4569732"/>
            <a:ext cx="2702559" cy="4342002"/>
          </a:xfrm>
          <a:custGeom>
            <a:avLst/>
            <a:gdLst/>
            <a:ahLst/>
            <a:cxnLst/>
            <a:rect r="r" b="b" t="t" l="l"/>
            <a:pathLst>
              <a:path h="4342002" w="2702559">
                <a:moveTo>
                  <a:pt x="0" y="0"/>
                </a:moveTo>
                <a:lnTo>
                  <a:pt x="2702559" y="0"/>
                </a:lnTo>
                <a:lnTo>
                  <a:pt x="2702559" y="4342002"/>
                </a:lnTo>
                <a:lnTo>
                  <a:pt x="0" y="43420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5234303" y="4743310"/>
            <a:ext cx="2374894" cy="1533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4"/>
              </a:lnSpc>
            </a:pPr>
            <a:r>
              <a:rPr lang="en-US" sz="159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Identifica comportamientos anómalos antes de que escalen. Reduce el riesgo y permite respuesta más eficiente.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7950963" y="3589130"/>
            <a:ext cx="2702559" cy="971185"/>
          </a:xfrm>
          <a:custGeom>
            <a:avLst/>
            <a:gdLst/>
            <a:ahLst/>
            <a:cxnLst/>
            <a:rect r="r" b="b" t="t" l="l"/>
            <a:pathLst>
              <a:path h="971185" w="2702559">
                <a:moveTo>
                  <a:pt x="0" y="0"/>
                </a:moveTo>
                <a:lnTo>
                  <a:pt x="2702559" y="0"/>
                </a:lnTo>
                <a:lnTo>
                  <a:pt x="2702559" y="971185"/>
                </a:lnTo>
                <a:lnTo>
                  <a:pt x="0" y="97118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7961601" y="3599768"/>
            <a:ext cx="2681332" cy="949958"/>
            <a:chOff x="0" y="0"/>
            <a:chExt cx="4267200" cy="15118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672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959" r="0" b="-4959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961601" y="3575827"/>
            <a:ext cx="2681332" cy="973898"/>
            <a:chOff x="0" y="0"/>
            <a:chExt cx="4267200" cy="15499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67200" cy="1549908"/>
            </a:xfrm>
            <a:custGeom>
              <a:avLst/>
              <a:gdLst/>
              <a:ahLst/>
              <a:cxnLst/>
              <a:rect r="r" b="b" t="t" l="l"/>
              <a:pathLst>
                <a:path h="154990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646" r="0" b="-364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267200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Respuesta rápida</a:t>
              </a:r>
            </a:p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 contenida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7950963" y="4569732"/>
            <a:ext cx="2702559" cy="4342002"/>
          </a:xfrm>
          <a:custGeom>
            <a:avLst/>
            <a:gdLst/>
            <a:ahLst/>
            <a:cxnLst/>
            <a:rect r="r" b="b" t="t" l="l"/>
            <a:pathLst>
              <a:path h="4342002" w="2702559">
                <a:moveTo>
                  <a:pt x="0" y="0"/>
                </a:moveTo>
                <a:lnTo>
                  <a:pt x="2702559" y="0"/>
                </a:lnTo>
                <a:lnTo>
                  <a:pt x="2702559" y="4342002"/>
                </a:lnTo>
                <a:lnTo>
                  <a:pt x="0" y="43420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8114820" y="4743310"/>
            <a:ext cx="2374894" cy="1533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4"/>
              </a:lnSpc>
            </a:pPr>
            <a:r>
              <a:rPr lang="en-US" sz="159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Ejecuta protocolos para contener, erradicar y recuperar. Minimiza el impacto económico, legal y reputacional.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0831480" y="3589130"/>
            <a:ext cx="2702559" cy="971185"/>
          </a:xfrm>
          <a:custGeom>
            <a:avLst/>
            <a:gdLst/>
            <a:ahLst/>
            <a:cxnLst/>
            <a:rect r="r" b="b" t="t" l="l"/>
            <a:pathLst>
              <a:path h="971185" w="2702559">
                <a:moveTo>
                  <a:pt x="0" y="0"/>
                </a:moveTo>
                <a:lnTo>
                  <a:pt x="2702559" y="0"/>
                </a:lnTo>
                <a:lnTo>
                  <a:pt x="2702559" y="971185"/>
                </a:lnTo>
                <a:lnTo>
                  <a:pt x="0" y="97118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0842117" y="3599768"/>
            <a:ext cx="2681332" cy="949958"/>
            <a:chOff x="0" y="0"/>
            <a:chExt cx="4267200" cy="151180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672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959" r="0" b="-4959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842117" y="3575827"/>
            <a:ext cx="2681332" cy="973898"/>
            <a:chOff x="0" y="0"/>
            <a:chExt cx="4267200" cy="154990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67200" cy="1549908"/>
            </a:xfrm>
            <a:custGeom>
              <a:avLst/>
              <a:gdLst/>
              <a:ahLst/>
              <a:cxnLst/>
              <a:rect r="r" b="b" t="t" l="l"/>
              <a:pathLst>
                <a:path h="154990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646" r="0" b="-364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4267200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Cumplimiento</a:t>
              </a:r>
            </a:p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 auditoría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10831480" y="4569732"/>
            <a:ext cx="2702559" cy="4342002"/>
          </a:xfrm>
          <a:custGeom>
            <a:avLst/>
            <a:gdLst/>
            <a:ahLst/>
            <a:cxnLst/>
            <a:rect r="r" b="b" t="t" l="l"/>
            <a:pathLst>
              <a:path h="4342002" w="2702559">
                <a:moveTo>
                  <a:pt x="0" y="0"/>
                </a:moveTo>
                <a:lnTo>
                  <a:pt x="2702559" y="0"/>
                </a:lnTo>
                <a:lnTo>
                  <a:pt x="2702559" y="4342002"/>
                </a:lnTo>
                <a:lnTo>
                  <a:pt x="0" y="43420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0995336" y="4743310"/>
            <a:ext cx="2374894" cy="1533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4"/>
              </a:lnSpc>
            </a:pPr>
            <a:r>
              <a:rPr lang="en-US" sz="159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Documenta incidentes y genera reportes con trazabilidad. Ayuda a cumplir ISO 27001, PCI-DSS, HIPAA o GDPR.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13711996" y="3589130"/>
            <a:ext cx="2702559" cy="971185"/>
          </a:xfrm>
          <a:custGeom>
            <a:avLst/>
            <a:gdLst/>
            <a:ahLst/>
            <a:cxnLst/>
            <a:rect r="r" b="b" t="t" l="l"/>
            <a:pathLst>
              <a:path h="971185" w="2702559">
                <a:moveTo>
                  <a:pt x="0" y="0"/>
                </a:moveTo>
                <a:lnTo>
                  <a:pt x="2702560" y="0"/>
                </a:lnTo>
                <a:lnTo>
                  <a:pt x="2702560" y="971185"/>
                </a:lnTo>
                <a:lnTo>
                  <a:pt x="0" y="97118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13722634" y="3599768"/>
            <a:ext cx="2681332" cy="949958"/>
            <a:chOff x="0" y="0"/>
            <a:chExt cx="4267200" cy="151180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2672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959" r="0" b="-4959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722634" y="3575827"/>
            <a:ext cx="2681332" cy="973898"/>
            <a:chOff x="0" y="0"/>
            <a:chExt cx="4267200" cy="154990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267200" cy="1549908"/>
            </a:xfrm>
            <a:custGeom>
              <a:avLst/>
              <a:gdLst/>
              <a:ahLst/>
              <a:cxnLst/>
              <a:rect r="r" b="b" t="t" l="l"/>
              <a:pathLst>
                <a:path h="154990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646" r="0" b="-364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4267200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Alineación con</a:t>
              </a:r>
            </a:p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objetivos de negocio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13711996" y="4569732"/>
            <a:ext cx="2702559" cy="4342002"/>
          </a:xfrm>
          <a:custGeom>
            <a:avLst/>
            <a:gdLst/>
            <a:ahLst/>
            <a:cxnLst/>
            <a:rect r="r" b="b" t="t" l="l"/>
            <a:pathLst>
              <a:path h="4342002" w="2702559">
                <a:moveTo>
                  <a:pt x="0" y="0"/>
                </a:moveTo>
                <a:lnTo>
                  <a:pt x="2702560" y="0"/>
                </a:lnTo>
                <a:lnTo>
                  <a:pt x="2702560" y="4342002"/>
                </a:lnTo>
                <a:lnTo>
                  <a:pt x="0" y="43420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13875853" y="4743310"/>
            <a:ext cx="2374894" cy="122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4"/>
              </a:lnSpc>
            </a:pPr>
            <a:r>
              <a:rPr lang="en-US" sz="159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Coordina con IT, legal, RRHH y liderazgo. Protege lo más valioso: operaciones, clientes y reputación.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DAHTbVDi7pY</dc:identifier>
  <dcterms:modified xsi:type="dcterms:W3CDTF">2011-08-01T06:04:30Z</dcterms:modified>
  <cp:revision>1</cp:revision>
  <dc:title>Modulo 01 - Modern SOC Operations</dc:title>
</cp:coreProperties>
</file>