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libri (MS) Bold" charset="1" panose="020F0702030404030204"/>
      <p:regular r:id="rId21"/>
    </p:embeddedFont>
    <p:embeddedFont>
      <p:font typeface="Calibri (MS)" charset="1" panose="020F0502020204030204"/>
      <p:regular r:id="rId22"/>
    </p:embeddedFont>
    <p:embeddedFont>
      <p:font typeface="Calibri (MS) Italics" charset="1" panose="020F05020202040A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fonts/font26.fntdata" Type="http://schemas.openxmlformats.org/officeDocument/2006/relationships/font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notesSlides/notesSlide11.xml" Type="http://schemas.openxmlformats.org/officeDocument/2006/relationships/notesSlide"/><Relationship Id="rId34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Esta sección es el corazón del módulo. Acá el estudiante entiende exactamente qué se espera de él o ella en el día a día. Arrancá con: 'Ahora que entendemos la estructura del SOC, nos vamos a enfocar en el rol que vamos a aprender a desempeñar: el analista SOC Nivel 1.'</a:t>
            </a:r>
          </a:p>
          <a:p>
            <a:r>
              <a:rPr lang="en-US"/>
              <a:t>18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Remarcá que el analista L1 no trabaja de forma aislada. Su valor está en ser el punto de entrada: si hace bien su trabajo (documentar bien, escalar con contexto), todo el equipo funciona mejor. Un L1 malo que no documenta o que escala sin datos puede causar que L2 pierda tiempo valioso.</a:t>
            </a:r>
          </a:p>
          <a:p>
            <a:r>
              <a:rPr lang="en-US"/>
              <a:t>19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Esta slide es un índice visual de las 5 responsabilidades del analista L1. Podés preguntar al grupo: '¿Cuál creén que es la más importante?' (No hay una única respuesta correcta; lo importante es generar debate sobre si una puede funcionar sin las otras.)</a:t>
            </a:r>
          </a:p>
          <a:p>
            <a:r>
              <a:rPr lang="en-US"/>
              <a:t>20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Responsabilidad 01. Reforzá la idea clave. Para monitorear eventos y alertas, el punto central es: Sin monitoreo activo y continuo, las amenazas no se detectan. El analista L1 es los 'ojos' del SOC en tiempo real.</a:t>
            </a:r>
          </a:p>
          <a:p>
            <a:r>
              <a:rPr lang="en-US"/>
              <a:t>21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Responsabilidad 02. Reforzá la idea clave. Para clasificar y priorizar incidentes, el punto central es: Una alerta no es una conclusión: es una señal que requiere validación, contexto y análisis antes de tomar una decisión.</a:t>
            </a:r>
          </a:p>
          <a:p>
            <a:r>
              <a:rPr lang="en-US"/>
              <a:t>22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Responsabilidad 03. Reforzá la idea clave. Para aplicar playbooks de triage, el punto central es: Los playbooks son el 'manual de operaciones' del SOC. Seguirlos garantiza consistencia y evita errores bajo presión.</a:t>
            </a:r>
          </a:p>
          <a:p>
            <a:r>
              <a:rPr lang="en-US"/>
              <a:t>23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Responsabilidad 04. Reforzá la idea clave. Para escalar incidentes según criticidad, el punto central es: Escalar bien significa dar a L2 suficiente información para actuar con rapidez. Escalar sin datos es peor que no escalar.</a:t>
            </a:r>
          </a:p>
          <a:p>
            <a:r>
              <a:rPr lang="en-US"/>
              <a:t>24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Responsabilidad 05. Reforzá la idea clave. Para documentar acciones y hallazgos, el punto central es: Si no está documentado, no ocurrió. La documentación protege al analista, al equipo y a la organización.</a:t>
            </a:r>
          </a:p>
          <a:p>
            <a:r>
              <a:rPr lang="en-US"/>
              <a:t>25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Este diagrama muestra el ciclo completo de trabajo del analista L1. Remarcá que la documentación y el escalamiento no son opcionales: son parte del proceso. Un analista que no documenta o que escala sin información útil está rompiendo el flujo del equipo.</a:t>
            </a:r>
          </a:p>
          <a:p>
            <a:r>
              <a:rPr lang="en-US"/>
              <a:t>26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Estas 6 habilidades técnicas son las que este curso desarrolla directamente. Podés mencionar que no se espera dominar todas desde el primer día, pero sí entender la función de cada una y cómo se relacionan entre sí. El SIEM y el análisis de logs son las más críticas para el día a día en L1.</a:t>
            </a:r>
          </a:p>
          <a:p>
            <a:r>
              <a:rPr lang="en-US"/>
              <a:t>27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Las soft skills son tan importantes como las hard skills en un SOC. Un analista técnico brillante pero que no puede comunicar sus hallazgos, priorizar su trabajo o gestionar la presión, va a tener dificultades en el entorno real. Remarcá especialmente la ética: el acceso a información sensible es un privilegio que conlleva responsabilidad.</a:t>
            </a:r>
          </a:p>
          <a:p>
            <a:r>
              <a:rPr lang="en-US"/>
              <a:t>28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Enfatizá que el SIEM, SOAR y EDR son las herramientas con las que el analista L1 más trabaja directamente. El Firewall, WAF e IDS/IPS generalmente están configurados para enviar sus eventos al SIEM, por lo que el analista los ve a través de ese panel, no de forma directa. Este punto está explicitado en el PDF original.</a:t>
            </a:r>
          </a:p>
          <a:p>
            <a:r>
              <a:rPr lang="en-US"/>
              <a:t>29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9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jpeg" Type="http://schemas.openxmlformats.org/officeDocument/2006/relationships/image"/><Relationship Id="rId8" Target="../media/image6.jpe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13" Target="../media/image16.png" Type="http://schemas.openxmlformats.org/officeDocument/2006/relationships/image"/><Relationship Id="rId14" Target="../media/image17.svg" Type="http://schemas.openxmlformats.org/officeDocument/2006/relationships/image"/><Relationship Id="rId15" Target="../media/image18.png" Type="http://schemas.openxmlformats.org/officeDocument/2006/relationships/image"/><Relationship Id="rId16" Target="../media/image19.svg" Type="http://schemas.openxmlformats.org/officeDocument/2006/relationships/image"/><Relationship Id="rId17" Target="../media/image20.png" Type="http://schemas.openxmlformats.org/officeDocument/2006/relationships/image"/><Relationship Id="rId18" Target="../media/image21.svg" Type="http://schemas.openxmlformats.org/officeDocument/2006/relationships/image"/><Relationship Id="rId19" Target="../media/image22.png" Type="http://schemas.openxmlformats.org/officeDocument/2006/relationships/image"/><Relationship Id="rId2" Target="../notesSlides/notesSlide2.xml" Type="http://schemas.openxmlformats.org/officeDocument/2006/relationships/notesSlide"/><Relationship Id="rId20" Target="../media/image23.svg" Type="http://schemas.openxmlformats.org/officeDocument/2006/relationships/image"/><Relationship Id="rId21" Target="../media/image24.png" Type="http://schemas.openxmlformats.org/officeDocument/2006/relationships/image"/><Relationship Id="rId22" Target="../media/image25.svg" Type="http://schemas.openxmlformats.org/officeDocument/2006/relationships/image"/><Relationship Id="rId23" Target="../media/image26.png" Type="http://schemas.openxmlformats.org/officeDocument/2006/relationships/image"/><Relationship Id="rId24" Target="../media/image27.svg" Type="http://schemas.openxmlformats.org/officeDocument/2006/relationships/image"/><Relationship Id="rId25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5.jpeg" Type="http://schemas.openxmlformats.org/officeDocument/2006/relationships/image"/><Relationship Id="rId8" Target="../media/image6.jpe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svg" Type="http://schemas.openxmlformats.org/officeDocument/2006/relationships/image"/><Relationship Id="rId11" Target="../media/image32.png" Type="http://schemas.openxmlformats.org/officeDocument/2006/relationships/image"/><Relationship Id="rId12" Target="../media/image33.svg" Type="http://schemas.openxmlformats.org/officeDocument/2006/relationships/image"/><Relationship Id="rId13" Target="../media/image34.png" Type="http://schemas.openxmlformats.org/officeDocument/2006/relationships/image"/><Relationship Id="rId14" Target="../media/image35.svg" Type="http://schemas.openxmlformats.org/officeDocument/2006/relationships/image"/><Relationship Id="rId15" Target="../media/image36.png" Type="http://schemas.openxmlformats.org/officeDocument/2006/relationships/image"/><Relationship Id="rId16" Target="../media/image37.svg" Type="http://schemas.openxmlformats.org/officeDocument/2006/relationships/image"/><Relationship Id="rId17" Target="../media/image38.png" Type="http://schemas.openxmlformats.org/officeDocument/2006/relationships/image"/><Relationship Id="rId18" Target="../media/image39.svg" Type="http://schemas.openxmlformats.org/officeDocument/2006/relationships/image"/><Relationship Id="rId19" Target="../media/image9.png" Type="http://schemas.openxmlformats.org/officeDocument/2006/relationships/image"/><Relationship Id="rId2" Target="../notesSlides/notesSlide3.xml" Type="http://schemas.openxmlformats.org/officeDocument/2006/relationships/notesSlide"/><Relationship Id="rId20" Target="../media/image40.png" Type="http://schemas.openxmlformats.org/officeDocument/2006/relationships/image"/><Relationship Id="rId21" Target="../media/image41.svg" Type="http://schemas.openxmlformats.org/officeDocument/2006/relationships/image"/><Relationship Id="rId22" Target="../media/image42.png" Type="http://schemas.openxmlformats.org/officeDocument/2006/relationships/image"/><Relationship Id="rId23" Target="../media/image43.svg" Type="http://schemas.openxmlformats.org/officeDocument/2006/relationships/image"/><Relationship Id="rId24" Target="../media/image44.png" Type="http://schemas.openxmlformats.org/officeDocument/2006/relationships/image"/><Relationship Id="rId25" Target="../media/image45.svg" Type="http://schemas.openxmlformats.org/officeDocument/2006/relationships/image"/><Relationship Id="rId26" Target="../media/image46.png" Type="http://schemas.openxmlformats.org/officeDocument/2006/relationships/image"/><Relationship Id="rId27" Target="../media/image47.svg" Type="http://schemas.openxmlformats.org/officeDocument/2006/relationships/image"/><Relationship Id="rId28" Target="../media/image48.png" Type="http://schemas.openxmlformats.org/officeDocument/2006/relationships/image"/><Relationship Id="rId29" Target="../media/image49.sv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5.jpeg" Type="http://schemas.openxmlformats.org/officeDocument/2006/relationships/image"/><Relationship Id="rId6" Target="../media/image6.jpe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50.png" Type="http://schemas.openxmlformats.org/officeDocument/2006/relationships/image"/><Relationship Id="rId12" Target="../media/image51.svg" Type="http://schemas.openxmlformats.org/officeDocument/2006/relationships/image"/><Relationship Id="rId13" Target="../media/image52.png" Type="http://schemas.openxmlformats.org/officeDocument/2006/relationships/image"/><Relationship Id="rId14" Target="../media/image53.svg" Type="http://schemas.openxmlformats.org/officeDocument/2006/relationships/image"/><Relationship Id="rId15" Target="../media/image54.png" Type="http://schemas.openxmlformats.org/officeDocument/2006/relationships/image"/><Relationship Id="rId16" Target="../media/image55.svg" Type="http://schemas.openxmlformats.org/officeDocument/2006/relationships/image"/><Relationship Id="rId17" Target="../media/image56.png" Type="http://schemas.openxmlformats.org/officeDocument/2006/relationships/image"/><Relationship Id="rId18" Target="../media/image57.svg" Type="http://schemas.openxmlformats.org/officeDocument/2006/relationships/image"/><Relationship Id="rId19" Target="../media/image58.png" Type="http://schemas.openxmlformats.org/officeDocument/2006/relationships/image"/><Relationship Id="rId2" Target="../notesSlides/notesSlide4.xml" Type="http://schemas.openxmlformats.org/officeDocument/2006/relationships/notesSlide"/><Relationship Id="rId20" Target="../media/image59.svg" Type="http://schemas.openxmlformats.org/officeDocument/2006/relationships/image"/><Relationship Id="rId21" Target="../media/image9.png" Type="http://schemas.openxmlformats.org/officeDocument/2006/relationships/image"/><Relationship Id="rId22" Target="../media/image40.png" Type="http://schemas.openxmlformats.org/officeDocument/2006/relationships/image"/><Relationship Id="rId23" Target="../media/image41.sv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5.jpeg" Type="http://schemas.openxmlformats.org/officeDocument/2006/relationships/image"/><Relationship Id="rId8" Target="../media/image6.jpe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60.png" Type="http://schemas.openxmlformats.org/officeDocument/2006/relationships/image"/><Relationship Id="rId12" Target="../media/image61.svg" Type="http://schemas.openxmlformats.org/officeDocument/2006/relationships/image"/><Relationship Id="rId13" Target="../media/image52.png" Type="http://schemas.openxmlformats.org/officeDocument/2006/relationships/image"/><Relationship Id="rId14" Target="../media/image53.svg" Type="http://schemas.openxmlformats.org/officeDocument/2006/relationships/image"/><Relationship Id="rId15" Target="../media/image54.png" Type="http://schemas.openxmlformats.org/officeDocument/2006/relationships/image"/><Relationship Id="rId16" Target="../media/image55.svg" Type="http://schemas.openxmlformats.org/officeDocument/2006/relationships/image"/><Relationship Id="rId17" Target="../media/image56.png" Type="http://schemas.openxmlformats.org/officeDocument/2006/relationships/image"/><Relationship Id="rId18" Target="../media/image57.svg" Type="http://schemas.openxmlformats.org/officeDocument/2006/relationships/image"/><Relationship Id="rId19" Target="../media/image58.png" Type="http://schemas.openxmlformats.org/officeDocument/2006/relationships/image"/><Relationship Id="rId2" Target="../notesSlides/notesSlide5.xml" Type="http://schemas.openxmlformats.org/officeDocument/2006/relationships/notesSlide"/><Relationship Id="rId20" Target="../media/image59.svg" Type="http://schemas.openxmlformats.org/officeDocument/2006/relationships/image"/><Relationship Id="rId21" Target="../media/image42.png" Type="http://schemas.openxmlformats.org/officeDocument/2006/relationships/image"/><Relationship Id="rId22" Target="../media/image43.svg" Type="http://schemas.openxmlformats.org/officeDocument/2006/relationships/image"/><Relationship Id="rId23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5.jpeg" Type="http://schemas.openxmlformats.org/officeDocument/2006/relationships/image"/><Relationship Id="rId8" Target="../media/image6.jpe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62.png" Type="http://schemas.openxmlformats.org/officeDocument/2006/relationships/image"/><Relationship Id="rId12" Target="../media/image63.svg" Type="http://schemas.openxmlformats.org/officeDocument/2006/relationships/image"/><Relationship Id="rId13" Target="../media/image52.png" Type="http://schemas.openxmlformats.org/officeDocument/2006/relationships/image"/><Relationship Id="rId14" Target="../media/image53.svg" Type="http://schemas.openxmlformats.org/officeDocument/2006/relationships/image"/><Relationship Id="rId15" Target="../media/image54.png" Type="http://schemas.openxmlformats.org/officeDocument/2006/relationships/image"/><Relationship Id="rId16" Target="../media/image55.svg" Type="http://schemas.openxmlformats.org/officeDocument/2006/relationships/image"/><Relationship Id="rId17" Target="../media/image56.png" Type="http://schemas.openxmlformats.org/officeDocument/2006/relationships/image"/><Relationship Id="rId18" Target="../media/image57.svg" Type="http://schemas.openxmlformats.org/officeDocument/2006/relationships/image"/><Relationship Id="rId19" Target="../media/image58.png" Type="http://schemas.openxmlformats.org/officeDocument/2006/relationships/image"/><Relationship Id="rId2" Target="../notesSlides/notesSlide6.xml" Type="http://schemas.openxmlformats.org/officeDocument/2006/relationships/notesSlide"/><Relationship Id="rId20" Target="../media/image59.svg" Type="http://schemas.openxmlformats.org/officeDocument/2006/relationships/image"/><Relationship Id="rId21" Target="../media/image9.png" Type="http://schemas.openxmlformats.org/officeDocument/2006/relationships/image"/><Relationship Id="rId22" Target="../media/image44.png" Type="http://schemas.openxmlformats.org/officeDocument/2006/relationships/image"/><Relationship Id="rId23" Target="../media/image45.sv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5.jpeg" Type="http://schemas.openxmlformats.org/officeDocument/2006/relationships/image"/><Relationship Id="rId8" Target="../media/image6.jpe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64.png" Type="http://schemas.openxmlformats.org/officeDocument/2006/relationships/image"/><Relationship Id="rId12" Target="../media/image65.svg" Type="http://schemas.openxmlformats.org/officeDocument/2006/relationships/image"/><Relationship Id="rId13" Target="../media/image52.png" Type="http://schemas.openxmlformats.org/officeDocument/2006/relationships/image"/><Relationship Id="rId14" Target="../media/image53.svg" Type="http://schemas.openxmlformats.org/officeDocument/2006/relationships/image"/><Relationship Id="rId15" Target="../media/image54.png" Type="http://schemas.openxmlformats.org/officeDocument/2006/relationships/image"/><Relationship Id="rId16" Target="../media/image55.svg" Type="http://schemas.openxmlformats.org/officeDocument/2006/relationships/image"/><Relationship Id="rId17" Target="../media/image56.png" Type="http://schemas.openxmlformats.org/officeDocument/2006/relationships/image"/><Relationship Id="rId18" Target="../media/image57.svg" Type="http://schemas.openxmlformats.org/officeDocument/2006/relationships/image"/><Relationship Id="rId19" Target="../media/image58.png" Type="http://schemas.openxmlformats.org/officeDocument/2006/relationships/image"/><Relationship Id="rId2" Target="../notesSlides/notesSlide7.xml" Type="http://schemas.openxmlformats.org/officeDocument/2006/relationships/notesSlide"/><Relationship Id="rId20" Target="../media/image59.svg" Type="http://schemas.openxmlformats.org/officeDocument/2006/relationships/image"/><Relationship Id="rId21" Target="../media/image9.png" Type="http://schemas.openxmlformats.org/officeDocument/2006/relationships/image"/><Relationship Id="rId22" Target="../media/image46.png" Type="http://schemas.openxmlformats.org/officeDocument/2006/relationships/image"/><Relationship Id="rId23" Target="../media/image47.sv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5.jpeg" Type="http://schemas.openxmlformats.org/officeDocument/2006/relationships/image"/><Relationship Id="rId8" Target="../media/image6.jpe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66.png" Type="http://schemas.openxmlformats.org/officeDocument/2006/relationships/image"/><Relationship Id="rId12" Target="../media/image67.svg" Type="http://schemas.openxmlformats.org/officeDocument/2006/relationships/image"/><Relationship Id="rId13" Target="../media/image52.png" Type="http://schemas.openxmlformats.org/officeDocument/2006/relationships/image"/><Relationship Id="rId14" Target="../media/image53.svg" Type="http://schemas.openxmlformats.org/officeDocument/2006/relationships/image"/><Relationship Id="rId15" Target="../media/image54.png" Type="http://schemas.openxmlformats.org/officeDocument/2006/relationships/image"/><Relationship Id="rId16" Target="../media/image55.svg" Type="http://schemas.openxmlformats.org/officeDocument/2006/relationships/image"/><Relationship Id="rId17" Target="../media/image56.png" Type="http://schemas.openxmlformats.org/officeDocument/2006/relationships/image"/><Relationship Id="rId18" Target="../media/image57.svg" Type="http://schemas.openxmlformats.org/officeDocument/2006/relationships/image"/><Relationship Id="rId19" Target="../media/image58.png" Type="http://schemas.openxmlformats.org/officeDocument/2006/relationships/image"/><Relationship Id="rId2" Target="../notesSlides/notesSlide8.xml" Type="http://schemas.openxmlformats.org/officeDocument/2006/relationships/notesSlide"/><Relationship Id="rId20" Target="../media/image59.svg" Type="http://schemas.openxmlformats.org/officeDocument/2006/relationships/image"/><Relationship Id="rId21" Target="../media/image9.png" Type="http://schemas.openxmlformats.org/officeDocument/2006/relationships/image"/><Relationship Id="rId22" Target="../media/image48.png" Type="http://schemas.openxmlformats.org/officeDocument/2006/relationships/image"/><Relationship Id="rId23" Target="../media/image49.sv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5.jpeg" Type="http://schemas.openxmlformats.org/officeDocument/2006/relationships/image"/><Relationship Id="rId8" Target="../media/image6.jpe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9.svg" Type="http://schemas.openxmlformats.org/officeDocument/2006/relationships/image"/><Relationship Id="rId11" Target="../media/image70.png" Type="http://schemas.openxmlformats.org/officeDocument/2006/relationships/image"/><Relationship Id="rId12" Target="../media/image71.svg" Type="http://schemas.openxmlformats.org/officeDocument/2006/relationships/image"/><Relationship Id="rId13" Target="../media/image72.png" Type="http://schemas.openxmlformats.org/officeDocument/2006/relationships/image"/><Relationship Id="rId14" Target="../media/image73.svg" Type="http://schemas.openxmlformats.org/officeDocument/2006/relationships/image"/><Relationship Id="rId15" Target="../media/image74.png" Type="http://schemas.openxmlformats.org/officeDocument/2006/relationships/image"/><Relationship Id="rId16" Target="../media/image75.svg" Type="http://schemas.openxmlformats.org/officeDocument/2006/relationships/image"/><Relationship Id="rId17" Target="../media/image76.png" Type="http://schemas.openxmlformats.org/officeDocument/2006/relationships/image"/><Relationship Id="rId18" Target="../media/image77.svg" Type="http://schemas.openxmlformats.org/officeDocument/2006/relationships/image"/><Relationship Id="rId19" Target="../media/image78.png" Type="http://schemas.openxmlformats.org/officeDocument/2006/relationships/image"/><Relationship Id="rId2" Target="../notesSlides/notesSlide9.xml" Type="http://schemas.openxmlformats.org/officeDocument/2006/relationships/notesSlide"/><Relationship Id="rId20" Target="../media/image79.svg" Type="http://schemas.openxmlformats.org/officeDocument/2006/relationships/image"/><Relationship Id="rId21" Target="../media/image80.png" Type="http://schemas.openxmlformats.org/officeDocument/2006/relationships/image"/><Relationship Id="rId22" Target="../media/image81.svg" Type="http://schemas.openxmlformats.org/officeDocument/2006/relationships/image"/><Relationship Id="rId23" Target="../media/image82.png" Type="http://schemas.openxmlformats.org/officeDocument/2006/relationships/image"/><Relationship Id="rId24" Target="../media/image83.svg" Type="http://schemas.openxmlformats.org/officeDocument/2006/relationships/image"/><Relationship Id="rId25" Target="../media/image9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5.jpeg" Type="http://schemas.openxmlformats.org/officeDocument/2006/relationships/image"/><Relationship Id="rId6" Target="../media/image6.jpe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media/image6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84.png" Type="http://schemas.openxmlformats.org/officeDocument/2006/relationships/image"/><Relationship Id="rId12" Target="../media/image85.svg" Type="http://schemas.openxmlformats.org/officeDocument/2006/relationships/image"/><Relationship Id="rId13" Target="../media/image86.png" Type="http://schemas.openxmlformats.org/officeDocument/2006/relationships/image"/><Relationship Id="rId14" Target="../media/image87.svg" Type="http://schemas.openxmlformats.org/officeDocument/2006/relationships/image"/><Relationship Id="rId15" Target="../media/image88.png" Type="http://schemas.openxmlformats.org/officeDocument/2006/relationships/image"/><Relationship Id="rId16" Target="../media/image89.svg" Type="http://schemas.openxmlformats.org/officeDocument/2006/relationships/image"/><Relationship Id="rId17" Target="../media/image90.png" Type="http://schemas.openxmlformats.org/officeDocument/2006/relationships/image"/><Relationship Id="rId18" Target="../media/image91.svg" Type="http://schemas.openxmlformats.org/officeDocument/2006/relationships/image"/><Relationship Id="rId19" Target="../media/image92.png" Type="http://schemas.openxmlformats.org/officeDocument/2006/relationships/image"/><Relationship Id="rId2" Target="../notesSlides/notesSlide10.xml" Type="http://schemas.openxmlformats.org/officeDocument/2006/relationships/notesSlide"/><Relationship Id="rId20" Target="../media/image93.svg" Type="http://schemas.openxmlformats.org/officeDocument/2006/relationships/image"/><Relationship Id="rId21" Target="../media/image94.png" Type="http://schemas.openxmlformats.org/officeDocument/2006/relationships/image"/><Relationship Id="rId22" Target="../media/image95.svg" Type="http://schemas.openxmlformats.org/officeDocument/2006/relationships/image"/><Relationship Id="rId23" Target="../media/image96.png" Type="http://schemas.openxmlformats.org/officeDocument/2006/relationships/image"/><Relationship Id="rId24" Target="../media/image97.svg" Type="http://schemas.openxmlformats.org/officeDocument/2006/relationships/image"/><Relationship Id="rId25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5.jpeg" Type="http://schemas.openxmlformats.org/officeDocument/2006/relationships/image"/><Relationship Id="rId8" Target="../media/image6.jpe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84.png" Type="http://schemas.openxmlformats.org/officeDocument/2006/relationships/image"/><Relationship Id="rId12" Target="../media/image85.svg" Type="http://schemas.openxmlformats.org/officeDocument/2006/relationships/image"/><Relationship Id="rId13" Target="../media/image86.png" Type="http://schemas.openxmlformats.org/officeDocument/2006/relationships/image"/><Relationship Id="rId14" Target="../media/image87.svg" Type="http://schemas.openxmlformats.org/officeDocument/2006/relationships/image"/><Relationship Id="rId15" Target="../media/image88.png" Type="http://schemas.openxmlformats.org/officeDocument/2006/relationships/image"/><Relationship Id="rId16" Target="../media/image89.svg" Type="http://schemas.openxmlformats.org/officeDocument/2006/relationships/image"/><Relationship Id="rId17" Target="../media/image90.png" Type="http://schemas.openxmlformats.org/officeDocument/2006/relationships/image"/><Relationship Id="rId18" Target="../media/image91.svg" Type="http://schemas.openxmlformats.org/officeDocument/2006/relationships/image"/><Relationship Id="rId19" Target="../media/image92.png" Type="http://schemas.openxmlformats.org/officeDocument/2006/relationships/image"/><Relationship Id="rId2" Target="../notesSlides/notesSlide11.xml" Type="http://schemas.openxmlformats.org/officeDocument/2006/relationships/notesSlide"/><Relationship Id="rId20" Target="../media/image93.svg" Type="http://schemas.openxmlformats.org/officeDocument/2006/relationships/image"/><Relationship Id="rId21" Target="../media/image94.png" Type="http://schemas.openxmlformats.org/officeDocument/2006/relationships/image"/><Relationship Id="rId22" Target="../media/image95.svg" Type="http://schemas.openxmlformats.org/officeDocument/2006/relationships/image"/><Relationship Id="rId23" Target="../media/image96.png" Type="http://schemas.openxmlformats.org/officeDocument/2006/relationships/image"/><Relationship Id="rId24" Target="../media/image97.svg" Type="http://schemas.openxmlformats.org/officeDocument/2006/relationships/image"/><Relationship Id="rId25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5.jpeg" Type="http://schemas.openxmlformats.org/officeDocument/2006/relationships/image"/><Relationship Id="rId8" Target="../media/image6.jpe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98.png" Type="http://schemas.openxmlformats.org/officeDocument/2006/relationships/image"/><Relationship Id="rId12" Target="../media/image99.svg" Type="http://schemas.openxmlformats.org/officeDocument/2006/relationships/image"/><Relationship Id="rId13" Target="../media/image100.png" Type="http://schemas.openxmlformats.org/officeDocument/2006/relationships/image"/><Relationship Id="rId14" Target="../media/image101.svg" Type="http://schemas.openxmlformats.org/officeDocument/2006/relationships/image"/><Relationship Id="rId15" Target="../media/image102.png" Type="http://schemas.openxmlformats.org/officeDocument/2006/relationships/image"/><Relationship Id="rId16" Target="../media/image103.svg" Type="http://schemas.openxmlformats.org/officeDocument/2006/relationships/image"/><Relationship Id="rId17" Target="../media/image104.png" Type="http://schemas.openxmlformats.org/officeDocument/2006/relationships/image"/><Relationship Id="rId18" Target="../media/image105.svg" Type="http://schemas.openxmlformats.org/officeDocument/2006/relationships/image"/><Relationship Id="rId19" Target="../media/image106.png" Type="http://schemas.openxmlformats.org/officeDocument/2006/relationships/image"/><Relationship Id="rId2" Target="../notesSlides/notesSlide12.xml" Type="http://schemas.openxmlformats.org/officeDocument/2006/relationships/notesSlide"/><Relationship Id="rId20" Target="../media/image107.svg" Type="http://schemas.openxmlformats.org/officeDocument/2006/relationships/image"/><Relationship Id="rId21" Target="../media/image108.png" Type="http://schemas.openxmlformats.org/officeDocument/2006/relationships/image"/><Relationship Id="rId22" Target="../media/image109.svg" Type="http://schemas.openxmlformats.org/officeDocument/2006/relationships/image"/><Relationship Id="rId23" Target="../media/image110.png" Type="http://schemas.openxmlformats.org/officeDocument/2006/relationships/image"/><Relationship Id="rId24" Target="../media/image111.svg" Type="http://schemas.openxmlformats.org/officeDocument/2006/relationships/image"/><Relationship Id="rId25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5.jpeg" Type="http://schemas.openxmlformats.org/officeDocument/2006/relationships/image"/><Relationship Id="rId8" Target="../media/image6.jpeg" Type="http://schemas.openxmlformats.org/officeDocument/2006/relationships/image"/><Relationship Id="rId9" Target="../media/image1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97" y="-12697"/>
            <a:ext cx="939736" cy="10312337"/>
          </a:xfrm>
          <a:custGeom>
            <a:avLst/>
            <a:gdLst/>
            <a:ahLst/>
            <a:cxnLst/>
            <a:rect r="r" b="b" t="t" l="l"/>
            <a:pathLst>
              <a:path h="10312337" w="939736">
                <a:moveTo>
                  <a:pt x="0" y="0"/>
                </a:moveTo>
                <a:lnTo>
                  <a:pt x="939737" y="0"/>
                </a:lnTo>
                <a:lnTo>
                  <a:pt x="939737" y="10312337"/>
                </a:lnTo>
                <a:lnTo>
                  <a:pt x="0" y="103123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697" y="6936743"/>
            <a:ext cx="18313336" cy="3682936"/>
          </a:xfrm>
          <a:custGeom>
            <a:avLst/>
            <a:gdLst/>
            <a:ahLst/>
            <a:cxnLst/>
            <a:rect r="r" b="b" t="t" l="l"/>
            <a:pathLst>
              <a:path h="3682936" w="18313336">
                <a:moveTo>
                  <a:pt x="0" y="0"/>
                </a:moveTo>
                <a:lnTo>
                  <a:pt x="18313337" y="0"/>
                </a:lnTo>
                <a:lnTo>
                  <a:pt x="18313337" y="3682937"/>
                </a:lnTo>
                <a:lnTo>
                  <a:pt x="0" y="368293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63040" y="1828800"/>
            <a:ext cx="14630400" cy="822960"/>
            <a:chOff x="0" y="0"/>
            <a:chExt cx="19507200" cy="10972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507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96159" r="0" b="-29615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63040" y="1785938"/>
            <a:ext cx="14630400" cy="865823"/>
            <a:chOff x="0" y="0"/>
            <a:chExt cx="19507200" cy="11544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507200" cy="1154430"/>
            </a:xfrm>
            <a:custGeom>
              <a:avLst/>
              <a:gdLst/>
              <a:ahLst/>
              <a:cxnLst/>
              <a:rect r="r" b="b" t="t" l="l"/>
              <a:pathLst>
                <a:path h="115443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154430"/>
                  </a:lnTo>
                  <a:lnTo>
                    <a:pt x="0" y="115443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79252" r="0" b="-27925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9507200" cy="1211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b="true" sz="2600" spc="799">
                  <a:solidFill>
                    <a:srgbClr val="8A00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SECCIÓN 1.3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63040" y="2743200"/>
            <a:ext cx="15544800" cy="2560320"/>
            <a:chOff x="0" y="0"/>
            <a:chExt cx="20726400" cy="34137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726400" cy="3413760"/>
            </a:xfrm>
            <a:custGeom>
              <a:avLst/>
              <a:gdLst/>
              <a:ahLst/>
              <a:cxnLst/>
              <a:rect r="r" b="b" t="t" l="l"/>
              <a:pathLst>
                <a:path h="341376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8219" r="0" b="-68219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463040" y="2636044"/>
            <a:ext cx="15544800" cy="2667476"/>
            <a:chOff x="0" y="0"/>
            <a:chExt cx="20726400" cy="35566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726400" cy="3556635"/>
            </a:xfrm>
            <a:custGeom>
              <a:avLst/>
              <a:gdLst/>
              <a:ahLst/>
              <a:cxnLst/>
              <a:rect r="r" b="b" t="t" l="l"/>
              <a:pathLst>
                <a:path h="3556635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3556635"/>
                  </a:lnTo>
                  <a:lnTo>
                    <a:pt x="0" y="355663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3549" r="0" b="-6354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42875"/>
              <a:ext cx="20726400" cy="3699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8"/>
                </a:lnSpc>
              </a:pPr>
              <a:r>
                <a:rPr lang="en-US" sz="6398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El Rol del Analista</a:t>
              </a:r>
            </a:p>
            <a:p>
              <a:pPr algn="l">
                <a:lnSpc>
                  <a:spcPts val="7678"/>
                </a:lnSpc>
              </a:pPr>
              <a:r>
                <a:rPr lang="en-US" sz="6398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SOC en el SOC Moderno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463040" y="7040880"/>
            <a:ext cx="15544800" cy="585216"/>
            <a:chOff x="0" y="0"/>
            <a:chExt cx="20726400" cy="78028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726400" cy="780288"/>
            </a:xfrm>
            <a:custGeom>
              <a:avLst/>
              <a:gdLst/>
              <a:ahLst/>
              <a:cxnLst/>
              <a:rect r="r" b="b" t="t" l="l"/>
              <a:pathLst>
                <a:path h="780288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67211" r="0" b="-46721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63040" y="7005161"/>
            <a:ext cx="15544800" cy="620935"/>
            <a:chOff x="0" y="0"/>
            <a:chExt cx="20726400" cy="82791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726400" cy="827913"/>
            </a:xfrm>
            <a:custGeom>
              <a:avLst/>
              <a:gdLst/>
              <a:ahLst/>
              <a:cxnLst/>
              <a:rect r="r" b="b" t="t" l="l"/>
              <a:pathLst>
                <a:path h="827913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827913"/>
                  </a:lnTo>
                  <a:lnTo>
                    <a:pt x="0" y="82791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37798" r="0" b="-43779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0726400" cy="875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8A00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Temas de esta sección: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63040" y="7680960"/>
            <a:ext cx="15544800" cy="2011680"/>
            <a:chOff x="0" y="0"/>
            <a:chExt cx="20726400" cy="26822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72640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00461" r="0" b="-100461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463040" y="7652385"/>
            <a:ext cx="15544800" cy="2040255"/>
            <a:chOff x="0" y="0"/>
            <a:chExt cx="20726400" cy="27203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726400" cy="2720340"/>
            </a:xfrm>
            <a:custGeom>
              <a:avLst/>
              <a:gdLst/>
              <a:ahLst/>
              <a:cxnLst/>
              <a:rect r="r" b="b" t="t" l="l"/>
              <a:pathLst>
                <a:path h="272034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720340"/>
                  </a:lnTo>
                  <a:lnTo>
                    <a:pt x="0" y="2720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8457" r="0" b="-9845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0726400" cy="2758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8349" indent="-152783" lvl="2">
                <a:lnSpc>
                  <a:spcPts val="2279"/>
                </a:lnSpc>
                <a:buFont typeface="Arial"/>
                <a:buChar char="⚬"/>
              </a:pPr>
              <a:r>
                <a:rPr lang="en-US" sz="1899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analista SOC moderno: criterio por encima del triage mecánico</a:t>
              </a:r>
            </a:p>
            <a:p>
              <a:pPr algn="l" marL="458349" indent="-152783" lvl="2">
                <a:lnSpc>
                  <a:spcPts val="2279"/>
                </a:lnSpc>
                <a:buFont typeface="Arial"/>
                <a:buChar char="⚬"/>
              </a:pPr>
              <a:r>
                <a:rPr lang="en-US" sz="1899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Responsabilidades: análisis, validación, decisión, escalamiento y documentación</a:t>
              </a:r>
            </a:p>
            <a:p>
              <a:pPr algn="l" marL="458349" indent="-152783" lvl="2">
                <a:lnSpc>
                  <a:spcPts val="2279"/>
                </a:lnSpc>
                <a:buFont typeface="Arial"/>
                <a:buChar char="⚬"/>
              </a:pPr>
              <a:r>
                <a:rPr lang="en-US" sz="1899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Habilidades técnicas, criterio operativo y soft skills</a:t>
              </a:r>
            </a:p>
            <a:p>
              <a:pPr algn="l" marL="458349" indent="-152783" lvl="2">
                <a:lnSpc>
                  <a:spcPts val="2279"/>
                </a:lnSpc>
                <a:buFont typeface="Arial"/>
                <a:buChar char="⚬"/>
              </a:pPr>
              <a:r>
                <a:rPr lang="en-US" sz="1899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Herramientas: SIEM, EDR, XDR, SOAR, NDR, identidad, WAF — y cuándo usar cada una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-12697" y="9771383"/>
            <a:ext cx="18313336" cy="537401"/>
          </a:xfrm>
          <a:custGeom>
            <a:avLst/>
            <a:gdLst/>
            <a:ahLst/>
            <a:cxnLst/>
            <a:rect r="r" b="b" t="t" l="l"/>
            <a:pathLst>
              <a:path h="537401" w="18313336">
                <a:moveTo>
                  <a:pt x="0" y="0"/>
                </a:moveTo>
                <a:lnTo>
                  <a:pt x="18313337" y="0"/>
                </a:lnTo>
                <a:lnTo>
                  <a:pt x="18313337" y="537401"/>
                </a:lnTo>
                <a:lnTo>
                  <a:pt x="0" y="53740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548640" y="9784080"/>
            <a:ext cx="15544800" cy="512064"/>
            <a:chOff x="0" y="0"/>
            <a:chExt cx="20726400" cy="6827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726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41099" r="0" b="-541097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48640" y="9762649"/>
            <a:ext cx="15544800" cy="533495"/>
            <a:chOff x="0" y="0"/>
            <a:chExt cx="20726400" cy="71132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726400" cy="711327"/>
            </a:xfrm>
            <a:custGeom>
              <a:avLst/>
              <a:gdLst/>
              <a:ahLst/>
              <a:cxnLst/>
              <a:rect r="r" b="b" t="t" l="l"/>
              <a:pathLst>
                <a:path h="711327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7748" r="0" b="-51774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207264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FFCC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Modern SOC Operations  |  Módulo 1  -  Hidden Security ® 2026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824960" y="9784080"/>
            <a:ext cx="1280160" cy="512064"/>
            <a:chOff x="0" y="0"/>
            <a:chExt cx="1706880" cy="6827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706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357" t="0" r="-1357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6824960" y="9762649"/>
            <a:ext cx="1280160" cy="533495"/>
            <a:chOff x="0" y="0"/>
            <a:chExt cx="1706880" cy="71132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706880" cy="711327"/>
            </a:xfrm>
            <a:custGeom>
              <a:avLst/>
              <a:gdLst/>
              <a:ahLst/>
              <a:cxnLst/>
              <a:rect r="r" b="b" t="t" l="l"/>
              <a:pathLst>
                <a:path h="711327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469" t="0" r="-3469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17068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 b="true">
                  <a:solidFill>
                    <a:srgbClr val="FFDD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p.18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5076686" y="1046103"/>
            <a:ext cx="2388354" cy="2388354"/>
            <a:chOff x="0" y="0"/>
            <a:chExt cx="5852160" cy="58521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85216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0"/>
                  </a:lnTo>
                  <a:lnTo>
                    <a:pt x="0" y="585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97" y="-12697"/>
            <a:ext cx="427672" cy="10312337"/>
          </a:xfrm>
          <a:custGeom>
            <a:avLst/>
            <a:gdLst/>
            <a:ahLst/>
            <a:cxnLst/>
            <a:rect r="r" b="b" t="t" l="l"/>
            <a:pathLst>
              <a:path h="10312337" w="427672">
                <a:moveTo>
                  <a:pt x="0" y="0"/>
                </a:moveTo>
                <a:lnTo>
                  <a:pt x="427673" y="0"/>
                </a:lnTo>
                <a:lnTo>
                  <a:pt x="427673" y="10312337"/>
                </a:lnTo>
                <a:lnTo>
                  <a:pt x="0" y="103123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697" y="9771383"/>
            <a:ext cx="18313336" cy="537401"/>
          </a:xfrm>
          <a:custGeom>
            <a:avLst/>
            <a:gdLst/>
            <a:ahLst/>
            <a:cxnLst/>
            <a:rect r="r" b="b" t="t" l="l"/>
            <a:pathLst>
              <a:path h="537401" w="18313336">
                <a:moveTo>
                  <a:pt x="0" y="0"/>
                </a:moveTo>
                <a:lnTo>
                  <a:pt x="18313337" y="0"/>
                </a:lnTo>
                <a:lnTo>
                  <a:pt x="18313337" y="537401"/>
                </a:lnTo>
                <a:lnTo>
                  <a:pt x="0" y="5374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48640" y="9784080"/>
            <a:ext cx="15544800" cy="512064"/>
            <a:chOff x="0" y="0"/>
            <a:chExt cx="20726400" cy="6827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41099" r="0" b="-54109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8640" y="9762649"/>
            <a:ext cx="15544800" cy="533495"/>
            <a:chOff x="0" y="0"/>
            <a:chExt cx="20726400" cy="7113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711327"/>
            </a:xfrm>
            <a:custGeom>
              <a:avLst/>
              <a:gdLst/>
              <a:ahLst/>
              <a:cxnLst/>
              <a:rect r="r" b="b" t="t" l="l"/>
              <a:pathLst>
                <a:path h="711327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7748" r="0" b="-51774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07264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FFCC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Modern SOC Operations  |  Módulo 1  -  Hidden Security ® 2026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824960" y="9784080"/>
            <a:ext cx="1280160" cy="512064"/>
            <a:chOff x="0" y="0"/>
            <a:chExt cx="1706880" cy="6827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06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357" t="0" r="-1357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824960" y="9762649"/>
            <a:ext cx="1280160" cy="533495"/>
            <a:chOff x="0" y="0"/>
            <a:chExt cx="1706880" cy="7113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6880" cy="711327"/>
            </a:xfrm>
            <a:custGeom>
              <a:avLst/>
              <a:gdLst/>
              <a:ahLst/>
              <a:cxnLst/>
              <a:rect r="r" b="b" t="t" l="l"/>
              <a:pathLst>
                <a:path h="711327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469" t="0" r="-3469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7068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 b="true">
                  <a:solidFill>
                    <a:srgbClr val="FFDD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p.19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12697" y="-12697"/>
            <a:ext cx="18313336" cy="1671256"/>
          </a:xfrm>
          <a:custGeom>
            <a:avLst/>
            <a:gdLst/>
            <a:ahLst/>
            <a:cxnLst/>
            <a:rect r="r" b="b" t="t" l="l"/>
            <a:pathLst>
              <a:path h="1671256" w="18313336">
                <a:moveTo>
                  <a:pt x="0" y="0"/>
                </a:moveTo>
                <a:lnTo>
                  <a:pt x="18313337" y="0"/>
                </a:lnTo>
                <a:lnTo>
                  <a:pt x="18313337" y="1671257"/>
                </a:lnTo>
                <a:lnTo>
                  <a:pt x="0" y="16712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31520" y="0"/>
            <a:ext cx="16824960" cy="1645920"/>
            <a:chOff x="0" y="0"/>
            <a:chExt cx="22433280" cy="21945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4332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49041" r="0" b="-14904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-50006"/>
            <a:ext cx="16824960" cy="1695926"/>
            <a:chOff x="0" y="0"/>
            <a:chExt cx="22433280" cy="226123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433280" cy="2261235"/>
            </a:xfrm>
            <a:custGeom>
              <a:avLst/>
              <a:gdLst/>
              <a:ahLst/>
              <a:cxnLst/>
              <a:rect r="r" b="b" t="t" l="l"/>
              <a:pathLst>
                <a:path h="2261235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261235"/>
                  </a:lnTo>
                  <a:lnTo>
                    <a:pt x="0" y="226123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43307" r="0" b="-14330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22433280" cy="2327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1.3  |  El analista SOC moderno: criterio, no solo triage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572519" y="1816103"/>
            <a:ext cx="16338884" cy="1680024"/>
          </a:xfrm>
          <a:custGeom>
            <a:avLst/>
            <a:gdLst/>
            <a:ahLst/>
            <a:cxnLst/>
            <a:rect r="r" b="b" t="t" l="l"/>
            <a:pathLst>
              <a:path h="1680024" w="16338884">
                <a:moveTo>
                  <a:pt x="0" y="0"/>
                </a:moveTo>
                <a:lnTo>
                  <a:pt x="16338884" y="0"/>
                </a:lnTo>
                <a:lnTo>
                  <a:pt x="16338884" y="1680024"/>
                </a:lnTo>
                <a:lnTo>
                  <a:pt x="0" y="168002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72519" y="1816103"/>
            <a:ext cx="146160" cy="1680024"/>
          </a:xfrm>
          <a:custGeom>
            <a:avLst/>
            <a:gdLst/>
            <a:ahLst/>
            <a:cxnLst/>
            <a:rect r="r" b="b" t="t" l="l"/>
            <a:pathLst>
              <a:path h="1680024" w="146160">
                <a:moveTo>
                  <a:pt x="0" y="0"/>
                </a:moveTo>
                <a:lnTo>
                  <a:pt x="146160" y="0"/>
                </a:lnTo>
                <a:lnTo>
                  <a:pt x="146160" y="1680024"/>
                </a:lnTo>
                <a:lnTo>
                  <a:pt x="0" y="168002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005840" y="1828800"/>
            <a:ext cx="16459200" cy="1737360"/>
            <a:chOff x="0" y="0"/>
            <a:chExt cx="21945600" cy="23164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45600" cy="2316480"/>
            </a:xfrm>
            <a:custGeom>
              <a:avLst/>
              <a:gdLst/>
              <a:ahLst/>
              <a:cxnLst/>
              <a:rect r="r" b="b" t="t" l="l"/>
              <a:pathLst>
                <a:path h="23164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34466" r="0" b="-134467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05840" y="1800225"/>
            <a:ext cx="15432029" cy="1765935"/>
            <a:chOff x="0" y="0"/>
            <a:chExt cx="20576039" cy="23545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576039" cy="2354580"/>
            </a:xfrm>
            <a:custGeom>
              <a:avLst/>
              <a:gdLst/>
              <a:ahLst/>
              <a:cxnLst/>
              <a:rect r="r" b="b" t="t" l="l"/>
              <a:pathLst>
                <a:path h="2354580" w="20576039">
                  <a:moveTo>
                    <a:pt x="0" y="0"/>
                  </a:moveTo>
                  <a:lnTo>
                    <a:pt x="20576039" y="0"/>
                  </a:lnTo>
                  <a:lnTo>
                    <a:pt x="20576039" y="2354580"/>
                  </a:lnTo>
                  <a:lnTo>
                    <a:pt x="0" y="23545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31608" r="-6656" b="-13160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20576039" cy="2402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200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 el SOC moderno, el analista operativo es </a:t>
              </a:r>
              <a:r>
                <a:rPr lang="en-US" sz="2200" b="true">
                  <a:solidFill>
                    <a:srgbClr val="8A00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quien convierte señales técnicas en decisiones</a:t>
              </a:r>
              <a:r>
                <a:rPr lang="en-US" sz="2200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. La automatización y el SOAR ya filtran gran parte del ruido. Lo que el analista aporta es criterio: saber qué está viendo, qué significa y qué hacer con eso.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40080" y="3840480"/>
            <a:ext cx="17007840" cy="640080"/>
            <a:chOff x="0" y="0"/>
            <a:chExt cx="22677120" cy="8534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677120" cy="853440"/>
            </a:xfrm>
            <a:custGeom>
              <a:avLst/>
              <a:gdLst/>
              <a:ahLst/>
              <a:cxnLst/>
              <a:rect r="r" b="b" t="t" l="l"/>
              <a:pathLst>
                <a:path h="85344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67385" r="0" b="-467385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40080" y="3804761"/>
            <a:ext cx="17007840" cy="675799"/>
            <a:chOff x="0" y="0"/>
            <a:chExt cx="22677120" cy="90106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677120" cy="901065"/>
            </a:xfrm>
            <a:custGeom>
              <a:avLst/>
              <a:gdLst/>
              <a:ahLst/>
              <a:cxnLst/>
              <a:rect r="r" b="b" t="t" l="l"/>
              <a:pathLst>
                <a:path h="901065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901065"/>
                  </a:lnTo>
                  <a:lnTo>
                    <a:pt x="0" y="90106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40380" r="0" b="-44038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22677120" cy="948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 b="true">
                  <a:solidFill>
                    <a:srgbClr val="8A00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¿Por qué el criterio importa más que el triage mecánico?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40080" y="4517136"/>
            <a:ext cx="17007840" cy="1005840"/>
            <a:chOff x="0" y="0"/>
            <a:chExt cx="22677120" cy="13411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2677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79245" r="0" b="-279245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40080" y="4481417"/>
            <a:ext cx="17007840" cy="1041559"/>
            <a:chOff x="0" y="0"/>
            <a:chExt cx="22677120" cy="138874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677120" cy="1388745"/>
            </a:xfrm>
            <a:custGeom>
              <a:avLst/>
              <a:gdLst/>
              <a:ahLst/>
              <a:cxnLst/>
              <a:rect r="r" b="b" t="t" l="l"/>
              <a:pathLst>
                <a:path h="1388745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388745"/>
                  </a:lnTo>
                  <a:lnTo>
                    <a:pt x="0" y="138874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68175" r="0" b="-26817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22677120" cy="1436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Porque en el SOC moderno, las herramientas pueden detectar y enriquecer. El analista es quien valida, interpreta y decide. Una alerta no es una conclusión: es una pregunta que requiere contexto, evidencia y criterio.</a:t>
              </a: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2687987" y="5789690"/>
            <a:ext cx="3032349" cy="1140506"/>
          </a:xfrm>
          <a:custGeom>
            <a:avLst/>
            <a:gdLst/>
            <a:ahLst/>
            <a:cxnLst/>
            <a:rect r="r" b="b" t="t" l="l"/>
            <a:pathLst>
              <a:path h="1140506" w="3032349">
                <a:moveTo>
                  <a:pt x="0" y="0"/>
                </a:moveTo>
                <a:lnTo>
                  <a:pt x="3032348" y="0"/>
                </a:lnTo>
                <a:lnTo>
                  <a:pt x="3032348" y="1140507"/>
                </a:lnTo>
                <a:lnTo>
                  <a:pt x="0" y="114050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2697716" y="5799420"/>
            <a:ext cx="3012934" cy="1121092"/>
            <a:chOff x="0" y="0"/>
            <a:chExt cx="5242560" cy="19507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2425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9" r="0" b="-233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2697716" y="5777523"/>
            <a:ext cx="3012934" cy="1142988"/>
            <a:chOff x="0" y="0"/>
            <a:chExt cx="5242560" cy="19888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242560" cy="1988820"/>
            </a:xfrm>
            <a:custGeom>
              <a:avLst/>
              <a:gdLst/>
              <a:ahLst/>
              <a:cxnLst/>
              <a:rect r="r" b="b" t="t" l="l"/>
              <a:pathLst>
                <a:path h="198882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362" r="0" b="-136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5242560" cy="2026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Detectás acceso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sospechoso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738677" y="5799420"/>
            <a:ext cx="252246" cy="1121092"/>
            <a:chOff x="0" y="0"/>
            <a:chExt cx="438912" cy="19507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38912" cy="1950720"/>
            </a:xfrm>
            <a:custGeom>
              <a:avLst/>
              <a:gdLst/>
              <a:ahLst/>
              <a:cxnLst/>
              <a:rect r="r" b="b" t="t" l="l"/>
              <a:pathLst>
                <a:path h="195072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20633" t="0" r="-520636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5738677" y="5761101"/>
            <a:ext cx="252246" cy="1159410"/>
            <a:chOff x="0" y="0"/>
            <a:chExt cx="438912" cy="201739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38912" cy="2017395"/>
            </a:xfrm>
            <a:custGeom>
              <a:avLst/>
              <a:gdLst/>
              <a:ahLst/>
              <a:cxnLst/>
              <a:rect r="r" b="b" t="t" l="l"/>
              <a:pathLst>
                <a:path h="2017395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2017395"/>
                  </a:lnTo>
                  <a:lnTo>
                    <a:pt x="0" y="201739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39728" t="0" r="-539728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66675"/>
              <a:ext cx="438912" cy="2084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8"/>
                </a:lnSpc>
              </a:pPr>
              <a:r>
                <a:rPr lang="en-US" sz="2799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sp>
        <p:nvSpPr>
          <p:cNvPr name="Freeform 48" id="48"/>
          <p:cNvSpPr/>
          <p:nvPr/>
        </p:nvSpPr>
        <p:spPr>
          <a:xfrm flipH="false" flipV="false" rot="0">
            <a:off x="5981194" y="5789690"/>
            <a:ext cx="3032349" cy="1140506"/>
          </a:xfrm>
          <a:custGeom>
            <a:avLst/>
            <a:gdLst/>
            <a:ahLst/>
            <a:cxnLst/>
            <a:rect r="r" b="b" t="t" l="l"/>
            <a:pathLst>
              <a:path h="1140506" w="3032349">
                <a:moveTo>
                  <a:pt x="0" y="0"/>
                </a:moveTo>
                <a:lnTo>
                  <a:pt x="3032348" y="0"/>
                </a:lnTo>
                <a:lnTo>
                  <a:pt x="3032348" y="1140507"/>
                </a:lnTo>
                <a:lnTo>
                  <a:pt x="0" y="114050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9" id="49"/>
          <p:cNvGrpSpPr/>
          <p:nvPr/>
        </p:nvGrpSpPr>
        <p:grpSpPr>
          <a:xfrm rot="0">
            <a:off x="5990923" y="5799420"/>
            <a:ext cx="3012934" cy="1121092"/>
            <a:chOff x="0" y="0"/>
            <a:chExt cx="5242560" cy="19507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2425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9" r="0" b="-233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5990923" y="5777523"/>
            <a:ext cx="3012934" cy="1142988"/>
            <a:chOff x="0" y="0"/>
            <a:chExt cx="5242560" cy="19888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242560" cy="1988820"/>
            </a:xfrm>
            <a:custGeom>
              <a:avLst/>
              <a:gdLst/>
              <a:ahLst/>
              <a:cxnLst/>
              <a:rect r="r" b="b" t="t" l="l"/>
              <a:pathLst>
                <a:path h="198882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362" r="0" b="-136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5242560" cy="2026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 documentás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031884" y="5799420"/>
            <a:ext cx="252246" cy="1121092"/>
            <a:chOff x="0" y="0"/>
            <a:chExt cx="438912" cy="19507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38912" cy="1950720"/>
            </a:xfrm>
            <a:custGeom>
              <a:avLst/>
              <a:gdLst/>
              <a:ahLst/>
              <a:cxnLst/>
              <a:rect r="r" b="b" t="t" l="l"/>
              <a:pathLst>
                <a:path h="195072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20633" t="0" r="-520636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031884" y="5761101"/>
            <a:ext cx="252246" cy="1159410"/>
            <a:chOff x="0" y="0"/>
            <a:chExt cx="438912" cy="201739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38912" cy="2017395"/>
            </a:xfrm>
            <a:custGeom>
              <a:avLst/>
              <a:gdLst/>
              <a:ahLst/>
              <a:cxnLst/>
              <a:rect r="r" b="b" t="t" l="l"/>
              <a:pathLst>
                <a:path h="2017395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2017395"/>
                  </a:lnTo>
                  <a:lnTo>
                    <a:pt x="0" y="201739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39728" t="0" r="-539728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66675"/>
              <a:ext cx="438912" cy="2084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8"/>
                </a:lnSpc>
              </a:pPr>
              <a:r>
                <a:rPr lang="en-US" sz="2799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sp>
        <p:nvSpPr>
          <p:cNvPr name="Freeform 59" id="59"/>
          <p:cNvSpPr/>
          <p:nvPr/>
        </p:nvSpPr>
        <p:spPr>
          <a:xfrm flipH="false" flipV="false" rot="0">
            <a:off x="9274401" y="5789690"/>
            <a:ext cx="3032349" cy="1140506"/>
          </a:xfrm>
          <a:custGeom>
            <a:avLst/>
            <a:gdLst/>
            <a:ahLst/>
            <a:cxnLst/>
            <a:rect r="r" b="b" t="t" l="l"/>
            <a:pathLst>
              <a:path h="1140506" w="3032349">
                <a:moveTo>
                  <a:pt x="0" y="0"/>
                </a:moveTo>
                <a:lnTo>
                  <a:pt x="3032348" y="0"/>
                </a:lnTo>
                <a:lnTo>
                  <a:pt x="3032348" y="1140507"/>
                </a:lnTo>
                <a:lnTo>
                  <a:pt x="0" y="114050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9284130" y="5799420"/>
            <a:ext cx="3012934" cy="1121092"/>
            <a:chOff x="0" y="0"/>
            <a:chExt cx="5242560" cy="19507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2425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9" r="0" b="-233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284130" y="5777523"/>
            <a:ext cx="3012934" cy="1142988"/>
            <a:chOff x="0" y="0"/>
            <a:chExt cx="5242560" cy="19888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242560" cy="1988820"/>
            </a:xfrm>
            <a:custGeom>
              <a:avLst/>
              <a:gdLst/>
              <a:ahLst/>
              <a:cxnLst/>
              <a:rect r="r" b="b" t="t" l="l"/>
              <a:pathLst>
                <a:path h="198882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362" r="0" b="-136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5242560" cy="2026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Verificás si hay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precedentes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325091" y="5799420"/>
            <a:ext cx="252246" cy="1121092"/>
            <a:chOff x="0" y="0"/>
            <a:chExt cx="438912" cy="19507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38912" cy="1950720"/>
            </a:xfrm>
            <a:custGeom>
              <a:avLst/>
              <a:gdLst/>
              <a:ahLst/>
              <a:cxnLst/>
              <a:rect r="r" b="b" t="t" l="l"/>
              <a:pathLst>
                <a:path h="1950720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20633" t="0" r="-520636" b="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2325091" y="5761101"/>
            <a:ext cx="252246" cy="1159410"/>
            <a:chOff x="0" y="0"/>
            <a:chExt cx="438912" cy="201739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38912" cy="2017395"/>
            </a:xfrm>
            <a:custGeom>
              <a:avLst/>
              <a:gdLst/>
              <a:ahLst/>
              <a:cxnLst/>
              <a:rect r="r" b="b" t="t" l="l"/>
              <a:pathLst>
                <a:path h="2017395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2017395"/>
                  </a:lnTo>
                  <a:lnTo>
                    <a:pt x="0" y="201739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39728" t="0" r="-539728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66675"/>
              <a:ext cx="438912" cy="2084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8"/>
                </a:lnSpc>
              </a:pPr>
              <a:r>
                <a:rPr lang="en-US" sz="2799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sp>
        <p:nvSpPr>
          <p:cNvPr name="Freeform 70" id="70"/>
          <p:cNvSpPr/>
          <p:nvPr/>
        </p:nvSpPr>
        <p:spPr>
          <a:xfrm flipH="false" flipV="false" rot="0">
            <a:off x="12567608" y="5789690"/>
            <a:ext cx="3032349" cy="1140506"/>
          </a:xfrm>
          <a:custGeom>
            <a:avLst/>
            <a:gdLst/>
            <a:ahLst/>
            <a:cxnLst/>
            <a:rect r="r" b="b" t="t" l="l"/>
            <a:pathLst>
              <a:path h="1140506" w="3032349">
                <a:moveTo>
                  <a:pt x="0" y="0"/>
                </a:moveTo>
                <a:lnTo>
                  <a:pt x="3032348" y="0"/>
                </a:lnTo>
                <a:lnTo>
                  <a:pt x="3032348" y="1140507"/>
                </a:lnTo>
                <a:lnTo>
                  <a:pt x="0" y="1140507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1" id="71"/>
          <p:cNvGrpSpPr/>
          <p:nvPr/>
        </p:nvGrpSpPr>
        <p:grpSpPr>
          <a:xfrm rot="0">
            <a:off x="12577337" y="5799420"/>
            <a:ext cx="3012934" cy="1121092"/>
            <a:chOff x="0" y="0"/>
            <a:chExt cx="5242560" cy="19507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242560" cy="1950720"/>
            </a:xfrm>
            <a:custGeom>
              <a:avLst/>
              <a:gdLst/>
              <a:ahLst/>
              <a:cxnLst/>
              <a:rect r="r" b="b" t="t" l="l"/>
              <a:pathLst>
                <a:path h="195072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9" r="0" b="-2330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2577337" y="5777523"/>
            <a:ext cx="3012934" cy="1142988"/>
            <a:chOff x="0" y="0"/>
            <a:chExt cx="5242560" cy="19888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242560" cy="1988820"/>
            </a:xfrm>
            <a:custGeom>
              <a:avLst/>
              <a:gdLst/>
              <a:ahLst/>
              <a:cxnLst/>
              <a:rect r="r" b="b" t="t" l="l"/>
              <a:pathLst>
                <a:path h="198882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362" r="0" b="-1362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5242560" cy="2026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Escalás a L2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(si el riesgo es alto)</a:t>
              </a:r>
            </a:p>
          </p:txBody>
        </p:sp>
      </p:grpSp>
      <p:sp>
        <p:nvSpPr>
          <p:cNvPr name="Freeform 76" id="76"/>
          <p:cNvSpPr/>
          <p:nvPr/>
        </p:nvSpPr>
        <p:spPr>
          <a:xfrm flipH="false" flipV="false" rot="0">
            <a:off x="725872" y="7749097"/>
            <a:ext cx="14622340" cy="1144744"/>
          </a:xfrm>
          <a:custGeom>
            <a:avLst/>
            <a:gdLst/>
            <a:ahLst/>
            <a:cxnLst/>
            <a:rect r="r" b="b" t="t" l="l"/>
            <a:pathLst>
              <a:path h="1144744" w="14622340">
                <a:moveTo>
                  <a:pt x="0" y="0"/>
                </a:moveTo>
                <a:lnTo>
                  <a:pt x="14622340" y="0"/>
                </a:lnTo>
                <a:lnTo>
                  <a:pt x="14622340" y="1144744"/>
                </a:lnTo>
                <a:lnTo>
                  <a:pt x="0" y="1144744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7" id="77"/>
          <p:cNvGrpSpPr/>
          <p:nvPr/>
        </p:nvGrpSpPr>
        <p:grpSpPr>
          <a:xfrm rot="0">
            <a:off x="950976" y="7680960"/>
            <a:ext cx="16459200" cy="1316736"/>
            <a:chOff x="0" y="0"/>
            <a:chExt cx="21945600" cy="175564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1945600" cy="1755648"/>
            </a:xfrm>
            <a:custGeom>
              <a:avLst/>
              <a:gdLst/>
              <a:ahLst/>
              <a:cxnLst/>
              <a:rect r="r" b="b" t="t" l="l"/>
              <a:pathLst>
                <a:path h="175564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3393" r="0" b="-193394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950976" y="7645241"/>
            <a:ext cx="14243883" cy="1352455"/>
            <a:chOff x="0" y="0"/>
            <a:chExt cx="18991844" cy="1803273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8991844" cy="1803273"/>
            </a:xfrm>
            <a:custGeom>
              <a:avLst/>
              <a:gdLst/>
              <a:ahLst/>
              <a:cxnLst/>
              <a:rect r="r" b="b" t="t" l="l"/>
              <a:pathLst>
                <a:path h="1803273" w="18991844">
                  <a:moveTo>
                    <a:pt x="0" y="0"/>
                  </a:moveTo>
                  <a:lnTo>
                    <a:pt x="18991844" y="0"/>
                  </a:lnTo>
                  <a:lnTo>
                    <a:pt x="18991844" y="1803273"/>
                  </a:lnTo>
                  <a:lnTo>
                    <a:pt x="0" y="1803273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87130" r="-15552" b="-18713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18991844" cy="18413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8"/>
                </a:lnSpc>
              </a:pPr>
              <a:r>
                <a:rPr lang="en-US" sz="1899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analista SOC moderno trabaja en coordinación con otros equipos: IR, IT, identidad, redes y negocio. </a:t>
              </a:r>
              <a:r>
                <a:rPr lang="en-US" sz="1899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 trabajo define la calidad de cada escalamiento y la confianza que otros equipos depositan en el SOC.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5983863" y="24203"/>
            <a:ext cx="1855079" cy="1855079"/>
            <a:chOff x="0" y="0"/>
            <a:chExt cx="5852160" cy="585216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85216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0"/>
                  </a:lnTo>
                  <a:lnTo>
                    <a:pt x="0" y="585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97" y="9771383"/>
            <a:ext cx="18313336" cy="537401"/>
          </a:xfrm>
          <a:custGeom>
            <a:avLst/>
            <a:gdLst/>
            <a:ahLst/>
            <a:cxnLst/>
            <a:rect r="r" b="b" t="t" l="l"/>
            <a:pathLst>
              <a:path h="537401" w="18313336">
                <a:moveTo>
                  <a:pt x="0" y="0"/>
                </a:moveTo>
                <a:lnTo>
                  <a:pt x="18313337" y="0"/>
                </a:lnTo>
                <a:lnTo>
                  <a:pt x="18313337" y="537401"/>
                </a:lnTo>
                <a:lnTo>
                  <a:pt x="0" y="5374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48640" y="9784080"/>
            <a:ext cx="15544800" cy="512064"/>
            <a:chOff x="0" y="0"/>
            <a:chExt cx="20726400" cy="68275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26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41099" r="0" b="-541097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548640" y="9762649"/>
            <a:ext cx="15544800" cy="533495"/>
            <a:chOff x="0" y="0"/>
            <a:chExt cx="20726400" cy="7113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711327"/>
            </a:xfrm>
            <a:custGeom>
              <a:avLst/>
              <a:gdLst/>
              <a:ahLst/>
              <a:cxnLst/>
              <a:rect r="r" b="b" t="t" l="l"/>
              <a:pathLst>
                <a:path h="711327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17748" r="0" b="-51774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07264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FFCC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Modern SOC Operations  |  Módulo 1  -  Hidden Security ® 2026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24960" y="9784080"/>
            <a:ext cx="1280160" cy="512064"/>
            <a:chOff x="0" y="0"/>
            <a:chExt cx="170688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357" t="0" r="-1357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824960" y="9762649"/>
            <a:ext cx="1280160" cy="533495"/>
            <a:chOff x="0" y="0"/>
            <a:chExt cx="1706880" cy="7113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06880" cy="711327"/>
            </a:xfrm>
            <a:custGeom>
              <a:avLst/>
              <a:gdLst/>
              <a:ahLst/>
              <a:cxnLst/>
              <a:rect r="r" b="b" t="t" l="l"/>
              <a:pathLst>
                <a:path h="711327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3469" t="0" r="-3469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7068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 b="true">
                  <a:solidFill>
                    <a:srgbClr val="FFDD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p.20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-12697" y="-12697"/>
            <a:ext cx="18313336" cy="1671256"/>
          </a:xfrm>
          <a:custGeom>
            <a:avLst/>
            <a:gdLst/>
            <a:ahLst/>
            <a:cxnLst/>
            <a:rect r="r" b="b" t="t" l="l"/>
            <a:pathLst>
              <a:path h="1671256" w="18313336">
                <a:moveTo>
                  <a:pt x="0" y="0"/>
                </a:moveTo>
                <a:lnTo>
                  <a:pt x="18313337" y="0"/>
                </a:lnTo>
                <a:lnTo>
                  <a:pt x="18313337" y="1671257"/>
                </a:lnTo>
                <a:lnTo>
                  <a:pt x="0" y="167125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731520" y="0"/>
            <a:ext cx="16824960" cy="1645920"/>
            <a:chOff x="0" y="0"/>
            <a:chExt cx="22433280" cy="21945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332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9041" r="0" b="-149042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31520" y="-42862"/>
            <a:ext cx="16824960" cy="1688783"/>
            <a:chOff x="0" y="0"/>
            <a:chExt cx="22433280" cy="225171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433280" cy="2251710"/>
            </a:xfrm>
            <a:custGeom>
              <a:avLst/>
              <a:gdLst/>
              <a:ahLst/>
              <a:cxnLst/>
              <a:rect r="r" b="b" t="t" l="l"/>
              <a:pathLst>
                <a:path h="225171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251710"/>
                  </a:lnTo>
                  <a:lnTo>
                    <a:pt x="0" y="225171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4125" r="0" b="-14412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22433280" cy="2308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1.3  |  Principales responsabilidades del Analista SOC Level 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31520" y="1773936"/>
            <a:ext cx="16824960" cy="822960"/>
            <a:chOff x="0" y="0"/>
            <a:chExt cx="22433280" cy="1097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433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48083" r="0" b="-348084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31491" y="2091350"/>
            <a:ext cx="16824960" cy="865823"/>
            <a:chOff x="0" y="0"/>
            <a:chExt cx="22433280" cy="115443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433280" cy="1154430"/>
            </a:xfrm>
            <a:custGeom>
              <a:avLst/>
              <a:gdLst/>
              <a:ahLst/>
              <a:cxnLst/>
              <a:rect r="r" b="b" t="t" l="l"/>
              <a:pathLst>
                <a:path h="115443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154430"/>
                  </a:lnTo>
                  <a:lnTo>
                    <a:pt x="0" y="115443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28639" r="0" b="-32863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22433280" cy="1211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¿Qué hace realmente un analista SOC L1 en su día a día?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682247" y="3673703"/>
            <a:ext cx="3170872" cy="3170872"/>
          </a:xfrm>
          <a:custGeom>
            <a:avLst/>
            <a:gdLst/>
            <a:ahLst/>
            <a:cxnLst/>
            <a:rect r="r" b="b" t="t" l="l"/>
            <a:pathLst>
              <a:path h="3170872" w="3170872">
                <a:moveTo>
                  <a:pt x="0" y="0"/>
                </a:moveTo>
                <a:lnTo>
                  <a:pt x="3170873" y="0"/>
                </a:lnTo>
                <a:lnTo>
                  <a:pt x="3170873" y="3170873"/>
                </a:lnTo>
                <a:lnTo>
                  <a:pt x="0" y="317087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694944" y="3686400"/>
            <a:ext cx="3145536" cy="3145536"/>
            <a:chOff x="0" y="0"/>
            <a:chExt cx="4194048" cy="419404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194048" cy="4194048"/>
            </a:xfrm>
            <a:custGeom>
              <a:avLst/>
              <a:gdLst/>
              <a:ahLst/>
              <a:cxnLst/>
              <a:rect r="r" b="b" t="t" l="l"/>
              <a:pathLst>
                <a:path h="4194048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4194048"/>
                  </a:lnTo>
                  <a:lnTo>
                    <a:pt x="0" y="41940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94944" y="3650682"/>
            <a:ext cx="3145536" cy="3181255"/>
            <a:chOff x="0" y="0"/>
            <a:chExt cx="4194048" cy="424167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194048" cy="4241673"/>
            </a:xfrm>
            <a:custGeom>
              <a:avLst/>
              <a:gdLst/>
              <a:ahLst/>
              <a:cxnLst/>
              <a:rect r="r" b="b" t="t" l="l"/>
              <a:pathLst>
                <a:path h="4241673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4241673"/>
                  </a:lnTo>
                  <a:lnTo>
                    <a:pt x="0" y="424167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9760" t="0" r="-79760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4194048" cy="4289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</a:p>
            <a:p>
              <a:pPr algn="ctr">
                <a:lnSpc>
                  <a:spcPts val="2520"/>
                </a:lnSpc>
              </a:pPr>
            </a:p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Monitorear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eventos y alertas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218688" y="3741264"/>
            <a:ext cx="548640" cy="548640"/>
            <a:chOff x="0" y="0"/>
            <a:chExt cx="73152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92" t="0" r="-78394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3218688" y="3719833"/>
            <a:ext cx="548640" cy="570071"/>
            <a:chOff x="0" y="0"/>
            <a:chExt cx="731520" cy="76009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31520" cy="760095"/>
            </a:xfrm>
            <a:custGeom>
              <a:avLst/>
              <a:gdLst/>
              <a:ahLst/>
              <a:cxnLst/>
              <a:rect r="r" b="b" t="t" l="l"/>
              <a:pathLst>
                <a:path h="76009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60095"/>
                  </a:lnTo>
                  <a:lnTo>
                    <a:pt x="0" y="76009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83315" t="0" r="-83315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7315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1A73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4120391" y="3673703"/>
            <a:ext cx="3170872" cy="3170872"/>
          </a:xfrm>
          <a:custGeom>
            <a:avLst/>
            <a:gdLst/>
            <a:ahLst/>
            <a:cxnLst/>
            <a:rect r="r" b="b" t="t" l="l"/>
            <a:pathLst>
              <a:path h="3170872" w="3170872">
                <a:moveTo>
                  <a:pt x="0" y="0"/>
                </a:moveTo>
                <a:lnTo>
                  <a:pt x="3170873" y="0"/>
                </a:lnTo>
                <a:lnTo>
                  <a:pt x="3170873" y="3170873"/>
                </a:lnTo>
                <a:lnTo>
                  <a:pt x="0" y="317087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4133088" y="3686400"/>
            <a:ext cx="3145536" cy="3145536"/>
            <a:chOff x="0" y="0"/>
            <a:chExt cx="4194048" cy="419404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194048" cy="4194048"/>
            </a:xfrm>
            <a:custGeom>
              <a:avLst/>
              <a:gdLst/>
              <a:ahLst/>
              <a:cxnLst/>
              <a:rect r="r" b="b" t="t" l="l"/>
              <a:pathLst>
                <a:path h="4194048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4194048"/>
                  </a:lnTo>
                  <a:lnTo>
                    <a:pt x="0" y="41940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4133088" y="3650682"/>
            <a:ext cx="3145536" cy="3181255"/>
            <a:chOff x="0" y="0"/>
            <a:chExt cx="4194048" cy="424167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194048" cy="4241673"/>
            </a:xfrm>
            <a:custGeom>
              <a:avLst/>
              <a:gdLst/>
              <a:ahLst/>
              <a:cxnLst/>
              <a:rect r="r" b="b" t="t" l="l"/>
              <a:pathLst>
                <a:path h="4241673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4241673"/>
                  </a:lnTo>
                  <a:lnTo>
                    <a:pt x="0" y="424167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9760" t="0" r="-7976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4194048" cy="4289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</a:p>
            <a:p>
              <a:pPr algn="ctr">
                <a:lnSpc>
                  <a:spcPts val="2520"/>
                </a:lnSpc>
              </a:pPr>
            </a:p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Clasificar y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priorizar incidentes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656832" y="3741264"/>
            <a:ext cx="548640" cy="548640"/>
            <a:chOff x="0" y="0"/>
            <a:chExt cx="73152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92" t="0" r="-78394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656832" y="3719833"/>
            <a:ext cx="548640" cy="570071"/>
            <a:chOff x="0" y="0"/>
            <a:chExt cx="731520" cy="76009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31520" cy="760095"/>
            </a:xfrm>
            <a:custGeom>
              <a:avLst/>
              <a:gdLst/>
              <a:ahLst/>
              <a:cxnLst/>
              <a:rect r="r" b="b" t="t" l="l"/>
              <a:pathLst>
                <a:path h="76009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60095"/>
                  </a:lnTo>
                  <a:lnTo>
                    <a:pt x="0" y="76009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83315" t="0" r="-83315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7315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E07B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7558535" y="3673703"/>
            <a:ext cx="3170872" cy="3170872"/>
          </a:xfrm>
          <a:custGeom>
            <a:avLst/>
            <a:gdLst/>
            <a:ahLst/>
            <a:cxnLst/>
            <a:rect r="r" b="b" t="t" l="l"/>
            <a:pathLst>
              <a:path h="3170872" w="3170872">
                <a:moveTo>
                  <a:pt x="0" y="0"/>
                </a:moveTo>
                <a:lnTo>
                  <a:pt x="3170873" y="0"/>
                </a:lnTo>
                <a:lnTo>
                  <a:pt x="3170873" y="3170873"/>
                </a:lnTo>
                <a:lnTo>
                  <a:pt x="0" y="317087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7571232" y="3686400"/>
            <a:ext cx="3145536" cy="3145536"/>
            <a:chOff x="0" y="0"/>
            <a:chExt cx="4194048" cy="419404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194048" cy="4194048"/>
            </a:xfrm>
            <a:custGeom>
              <a:avLst/>
              <a:gdLst/>
              <a:ahLst/>
              <a:cxnLst/>
              <a:rect r="r" b="b" t="t" l="l"/>
              <a:pathLst>
                <a:path h="4194048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4194048"/>
                  </a:lnTo>
                  <a:lnTo>
                    <a:pt x="0" y="41940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7571232" y="3650682"/>
            <a:ext cx="3145536" cy="3181255"/>
            <a:chOff x="0" y="0"/>
            <a:chExt cx="4194048" cy="424167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194048" cy="4241673"/>
            </a:xfrm>
            <a:custGeom>
              <a:avLst/>
              <a:gdLst/>
              <a:ahLst/>
              <a:cxnLst/>
              <a:rect r="r" b="b" t="t" l="l"/>
              <a:pathLst>
                <a:path h="4241673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4241673"/>
                  </a:lnTo>
                  <a:lnTo>
                    <a:pt x="0" y="424167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9760" t="0" r="-79760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4194048" cy="4289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</a:p>
            <a:p>
              <a:pPr algn="ctr">
                <a:lnSpc>
                  <a:spcPts val="2520"/>
                </a:lnSpc>
              </a:pPr>
            </a:p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Aplicar playbooks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 triage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094976" y="3741264"/>
            <a:ext cx="548640" cy="548640"/>
            <a:chOff x="0" y="0"/>
            <a:chExt cx="731520" cy="731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92" t="0" r="-78394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094976" y="3719833"/>
            <a:ext cx="548640" cy="570071"/>
            <a:chOff x="0" y="0"/>
            <a:chExt cx="731520" cy="76009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31520" cy="760095"/>
            </a:xfrm>
            <a:custGeom>
              <a:avLst/>
              <a:gdLst/>
              <a:ahLst/>
              <a:cxnLst/>
              <a:rect r="r" b="b" t="t" l="l"/>
              <a:pathLst>
                <a:path h="76009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60095"/>
                  </a:lnTo>
                  <a:lnTo>
                    <a:pt x="0" y="76009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83315" t="0" r="-83315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7315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0E7B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sp>
        <p:nvSpPr>
          <p:cNvPr name="Freeform 57" id="57"/>
          <p:cNvSpPr/>
          <p:nvPr/>
        </p:nvSpPr>
        <p:spPr>
          <a:xfrm flipH="false" flipV="false" rot="0">
            <a:off x="10996679" y="3673703"/>
            <a:ext cx="3170872" cy="3170872"/>
          </a:xfrm>
          <a:custGeom>
            <a:avLst/>
            <a:gdLst/>
            <a:ahLst/>
            <a:cxnLst/>
            <a:rect r="r" b="b" t="t" l="l"/>
            <a:pathLst>
              <a:path h="3170872" w="3170872">
                <a:moveTo>
                  <a:pt x="0" y="0"/>
                </a:moveTo>
                <a:lnTo>
                  <a:pt x="3170873" y="0"/>
                </a:lnTo>
                <a:lnTo>
                  <a:pt x="3170873" y="3170873"/>
                </a:lnTo>
                <a:lnTo>
                  <a:pt x="0" y="317087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8" id="58"/>
          <p:cNvGrpSpPr/>
          <p:nvPr/>
        </p:nvGrpSpPr>
        <p:grpSpPr>
          <a:xfrm rot="0">
            <a:off x="11009376" y="3686400"/>
            <a:ext cx="3145536" cy="3145536"/>
            <a:chOff x="0" y="0"/>
            <a:chExt cx="4194048" cy="419404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194048" cy="4194048"/>
            </a:xfrm>
            <a:custGeom>
              <a:avLst/>
              <a:gdLst/>
              <a:ahLst/>
              <a:cxnLst/>
              <a:rect r="r" b="b" t="t" l="l"/>
              <a:pathLst>
                <a:path h="4194048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4194048"/>
                  </a:lnTo>
                  <a:lnTo>
                    <a:pt x="0" y="41940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1009376" y="3650682"/>
            <a:ext cx="3145536" cy="3181255"/>
            <a:chOff x="0" y="0"/>
            <a:chExt cx="4194048" cy="4241673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194048" cy="4241673"/>
            </a:xfrm>
            <a:custGeom>
              <a:avLst/>
              <a:gdLst/>
              <a:ahLst/>
              <a:cxnLst/>
              <a:rect r="r" b="b" t="t" l="l"/>
              <a:pathLst>
                <a:path h="4241673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4241673"/>
                  </a:lnTo>
                  <a:lnTo>
                    <a:pt x="0" y="424167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9760" t="0" r="-79760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4194048" cy="4289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</a:p>
            <a:p>
              <a:pPr algn="ctr">
                <a:lnSpc>
                  <a:spcPts val="2520"/>
                </a:lnSpc>
              </a:pPr>
            </a:p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Escalar según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criticidad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3533120" y="3741264"/>
            <a:ext cx="548640" cy="548640"/>
            <a:chOff x="0" y="0"/>
            <a:chExt cx="731520" cy="7315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92" t="0" r="-78394" b="0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3533120" y="3719833"/>
            <a:ext cx="548640" cy="570071"/>
            <a:chOff x="0" y="0"/>
            <a:chExt cx="731520" cy="76009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31520" cy="760095"/>
            </a:xfrm>
            <a:custGeom>
              <a:avLst/>
              <a:gdLst/>
              <a:ahLst/>
              <a:cxnLst/>
              <a:rect r="r" b="b" t="t" l="l"/>
              <a:pathLst>
                <a:path h="76009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60095"/>
                  </a:lnTo>
                  <a:lnTo>
                    <a:pt x="0" y="76009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83315" t="0" r="-83315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7315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C0392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sp>
        <p:nvSpPr>
          <p:cNvPr name="Freeform 68" id="68"/>
          <p:cNvSpPr/>
          <p:nvPr/>
        </p:nvSpPr>
        <p:spPr>
          <a:xfrm flipH="false" flipV="false" rot="0">
            <a:off x="14434823" y="3673703"/>
            <a:ext cx="3170872" cy="3170872"/>
          </a:xfrm>
          <a:custGeom>
            <a:avLst/>
            <a:gdLst/>
            <a:ahLst/>
            <a:cxnLst/>
            <a:rect r="r" b="b" t="t" l="l"/>
            <a:pathLst>
              <a:path h="3170872" w="3170872">
                <a:moveTo>
                  <a:pt x="0" y="0"/>
                </a:moveTo>
                <a:lnTo>
                  <a:pt x="3170873" y="0"/>
                </a:lnTo>
                <a:lnTo>
                  <a:pt x="3170873" y="3170873"/>
                </a:lnTo>
                <a:lnTo>
                  <a:pt x="0" y="317087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9" id="69"/>
          <p:cNvGrpSpPr/>
          <p:nvPr/>
        </p:nvGrpSpPr>
        <p:grpSpPr>
          <a:xfrm rot="0">
            <a:off x="14447520" y="3686400"/>
            <a:ext cx="3145536" cy="3145536"/>
            <a:chOff x="0" y="0"/>
            <a:chExt cx="4194048" cy="419404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194048" cy="4194048"/>
            </a:xfrm>
            <a:custGeom>
              <a:avLst/>
              <a:gdLst/>
              <a:ahLst/>
              <a:cxnLst/>
              <a:rect r="r" b="b" t="t" l="l"/>
              <a:pathLst>
                <a:path h="4194048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4194048"/>
                  </a:lnTo>
                  <a:lnTo>
                    <a:pt x="0" y="41940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4447520" y="3650682"/>
            <a:ext cx="3145536" cy="3181255"/>
            <a:chOff x="0" y="0"/>
            <a:chExt cx="4194048" cy="4241673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194048" cy="4241673"/>
            </a:xfrm>
            <a:custGeom>
              <a:avLst/>
              <a:gdLst/>
              <a:ahLst/>
              <a:cxnLst/>
              <a:rect r="r" b="b" t="t" l="l"/>
              <a:pathLst>
                <a:path h="4241673" w="4194048">
                  <a:moveTo>
                    <a:pt x="0" y="0"/>
                  </a:moveTo>
                  <a:lnTo>
                    <a:pt x="4194048" y="0"/>
                  </a:lnTo>
                  <a:lnTo>
                    <a:pt x="4194048" y="4241673"/>
                  </a:lnTo>
                  <a:lnTo>
                    <a:pt x="0" y="424167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9760" t="0" r="-79760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4194048" cy="4289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</a:p>
            <a:p>
              <a:pPr algn="ctr">
                <a:lnSpc>
                  <a:spcPts val="2520"/>
                </a:lnSpc>
              </a:pPr>
            </a:p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Documentar</a:t>
              </a:r>
            </a:p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acciones y hallazgos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6971264" y="3741264"/>
            <a:ext cx="548640" cy="548640"/>
            <a:chOff x="0" y="0"/>
            <a:chExt cx="731520" cy="7315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92" t="0" r="-78394" b="0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6971264" y="3719833"/>
            <a:ext cx="548640" cy="570071"/>
            <a:chOff x="0" y="0"/>
            <a:chExt cx="731520" cy="760095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31520" cy="760095"/>
            </a:xfrm>
            <a:custGeom>
              <a:avLst/>
              <a:gdLst/>
              <a:ahLst/>
              <a:cxnLst/>
              <a:rect r="r" b="b" t="t" l="l"/>
              <a:pathLst>
                <a:path h="76009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60095"/>
                  </a:lnTo>
                  <a:lnTo>
                    <a:pt x="0" y="76009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83315" t="0" r="-83315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7315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22A0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548640" y="7538085"/>
            <a:ext cx="16824960" cy="950119"/>
            <a:chOff x="0" y="0"/>
            <a:chExt cx="22433280" cy="1266825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2433280" cy="1266825"/>
            </a:xfrm>
            <a:custGeom>
              <a:avLst/>
              <a:gdLst/>
              <a:ahLst/>
              <a:cxnLst/>
              <a:rect r="r" b="b" t="t" l="l"/>
              <a:pathLst>
                <a:path h="1266825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266825"/>
                  </a:lnTo>
                  <a:lnTo>
                    <a:pt x="0" y="126682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95046" r="0" b="-295046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22433280" cy="131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8"/>
                </a:lnSpc>
              </a:pPr>
              <a:r>
                <a:rPr lang="en-US" sz="2199">
                  <a:solidFill>
                    <a:srgbClr val="AAAA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continuación, vamos a ver cada una de estas responsabilidades en detalle, con ejemplos prácticos del entorno SOC real.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5983863" y="24203"/>
            <a:ext cx="1855079" cy="1855079"/>
            <a:chOff x="0" y="0"/>
            <a:chExt cx="5852160" cy="585216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85216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0"/>
                  </a:lnTo>
                  <a:lnTo>
                    <a:pt x="0" y="585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sp>
        <p:nvSpPr>
          <p:cNvPr name="Freeform 84" id="84"/>
          <p:cNvSpPr/>
          <p:nvPr/>
        </p:nvSpPr>
        <p:spPr>
          <a:xfrm flipH="false" flipV="false" rot="0">
            <a:off x="2025367" y="4588529"/>
            <a:ext cx="484632" cy="484632"/>
          </a:xfrm>
          <a:custGeom>
            <a:avLst/>
            <a:gdLst/>
            <a:ahLst/>
            <a:cxnLst/>
            <a:rect r="r" b="b" t="t" l="l"/>
            <a:pathLst>
              <a:path h="484632" w="484632">
                <a:moveTo>
                  <a:pt x="0" y="0"/>
                </a:moveTo>
                <a:lnTo>
                  <a:pt x="484632" y="0"/>
                </a:lnTo>
                <a:lnTo>
                  <a:pt x="484632" y="484632"/>
                </a:lnTo>
                <a:lnTo>
                  <a:pt x="0" y="48463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5" id="85"/>
          <p:cNvSpPr/>
          <p:nvPr/>
        </p:nvSpPr>
        <p:spPr>
          <a:xfrm flipH="false" flipV="false" rot="0">
            <a:off x="5409490" y="4588529"/>
            <a:ext cx="592732" cy="406021"/>
          </a:xfrm>
          <a:custGeom>
            <a:avLst/>
            <a:gdLst/>
            <a:ahLst/>
            <a:cxnLst/>
            <a:rect r="r" b="b" t="t" l="l"/>
            <a:pathLst>
              <a:path h="406021" w="592732">
                <a:moveTo>
                  <a:pt x="0" y="0"/>
                </a:moveTo>
                <a:lnTo>
                  <a:pt x="592732" y="0"/>
                </a:lnTo>
                <a:lnTo>
                  <a:pt x="592732" y="406022"/>
                </a:lnTo>
                <a:lnTo>
                  <a:pt x="0" y="40602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6" id="86"/>
          <p:cNvSpPr/>
          <p:nvPr/>
        </p:nvSpPr>
        <p:spPr>
          <a:xfrm flipH="false" flipV="false" rot="0">
            <a:off x="8910514" y="4603292"/>
            <a:ext cx="632092" cy="455106"/>
          </a:xfrm>
          <a:custGeom>
            <a:avLst/>
            <a:gdLst/>
            <a:ahLst/>
            <a:cxnLst/>
            <a:rect r="r" b="b" t="t" l="l"/>
            <a:pathLst>
              <a:path h="455106" w="632092">
                <a:moveTo>
                  <a:pt x="0" y="0"/>
                </a:moveTo>
                <a:lnTo>
                  <a:pt x="632092" y="0"/>
                </a:lnTo>
                <a:lnTo>
                  <a:pt x="632092" y="455106"/>
                </a:lnTo>
                <a:lnTo>
                  <a:pt x="0" y="45510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7" id="87"/>
          <p:cNvSpPr/>
          <p:nvPr/>
        </p:nvSpPr>
        <p:spPr>
          <a:xfrm flipH="false" flipV="false" rot="0">
            <a:off x="12312039" y="4603292"/>
            <a:ext cx="540210" cy="448374"/>
          </a:xfrm>
          <a:custGeom>
            <a:avLst/>
            <a:gdLst/>
            <a:ahLst/>
            <a:cxnLst/>
            <a:rect r="r" b="b" t="t" l="l"/>
            <a:pathLst>
              <a:path h="448374" w="540210">
                <a:moveTo>
                  <a:pt x="0" y="0"/>
                </a:moveTo>
                <a:lnTo>
                  <a:pt x="540210" y="0"/>
                </a:lnTo>
                <a:lnTo>
                  <a:pt x="540210" y="448374"/>
                </a:lnTo>
                <a:lnTo>
                  <a:pt x="0" y="448374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8" id="88"/>
          <p:cNvSpPr/>
          <p:nvPr/>
        </p:nvSpPr>
        <p:spPr>
          <a:xfrm flipH="false" flipV="false" rot="0">
            <a:off x="15820175" y="4505136"/>
            <a:ext cx="546530" cy="546530"/>
          </a:xfrm>
          <a:custGeom>
            <a:avLst/>
            <a:gdLst/>
            <a:ahLst/>
            <a:cxnLst/>
            <a:rect r="r" b="b" t="t" l="l"/>
            <a:pathLst>
              <a:path h="546530" w="546530">
                <a:moveTo>
                  <a:pt x="0" y="0"/>
                </a:moveTo>
                <a:lnTo>
                  <a:pt x="546530" y="0"/>
                </a:lnTo>
                <a:lnTo>
                  <a:pt x="546530" y="546530"/>
                </a:lnTo>
                <a:lnTo>
                  <a:pt x="0" y="54653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97" y="-12697"/>
            <a:ext cx="427672" cy="10312337"/>
          </a:xfrm>
          <a:custGeom>
            <a:avLst/>
            <a:gdLst/>
            <a:ahLst/>
            <a:cxnLst/>
            <a:rect r="r" b="b" t="t" l="l"/>
            <a:pathLst>
              <a:path h="10312337" w="427672">
                <a:moveTo>
                  <a:pt x="0" y="0"/>
                </a:moveTo>
                <a:lnTo>
                  <a:pt x="427673" y="0"/>
                </a:lnTo>
                <a:lnTo>
                  <a:pt x="427673" y="10312337"/>
                </a:lnTo>
                <a:lnTo>
                  <a:pt x="0" y="103123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697" y="9771383"/>
            <a:ext cx="18313336" cy="537401"/>
          </a:xfrm>
          <a:custGeom>
            <a:avLst/>
            <a:gdLst/>
            <a:ahLst/>
            <a:cxnLst/>
            <a:rect r="r" b="b" t="t" l="l"/>
            <a:pathLst>
              <a:path h="537401" w="18313336">
                <a:moveTo>
                  <a:pt x="0" y="0"/>
                </a:moveTo>
                <a:lnTo>
                  <a:pt x="18313337" y="0"/>
                </a:lnTo>
                <a:lnTo>
                  <a:pt x="18313337" y="537401"/>
                </a:lnTo>
                <a:lnTo>
                  <a:pt x="0" y="5374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48640" y="9784080"/>
            <a:ext cx="15544800" cy="512064"/>
            <a:chOff x="0" y="0"/>
            <a:chExt cx="20726400" cy="6827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41099" r="0" b="-54109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8640" y="9762649"/>
            <a:ext cx="15544800" cy="533495"/>
            <a:chOff x="0" y="0"/>
            <a:chExt cx="20726400" cy="7113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711327"/>
            </a:xfrm>
            <a:custGeom>
              <a:avLst/>
              <a:gdLst/>
              <a:ahLst/>
              <a:cxnLst/>
              <a:rect r="r" b="b" t="t" l="l"/>
              <a:pathLst>
                <a:path h="711327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7748" r="0" b="-51774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07264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FFCC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Modern SOC Operations  |  Módulo 1  -  Hidden Security ® 2026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824960" y="9784080"/>
            <a:ext cx="1280160" cy="512064"/>
            <a:chOff x="0" y="0"/>
            <a:chExt cx="1706880" cy="6827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06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357" t="0" r="-1357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824960" y="9762649"/>
            <a:ext cx="1280160" cy="533495"/>
            <a:chOff x="0" y="0"/>
            <a:chExt cx="1706880" cy="7113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6880" cy="711327"/>
            </a:xfrm>
            <a:custGeom>
              <a:avLst/>
              <a:gdLst/>
              <a:ahLst/>
              <a:cxnLst/>
              <a:rect r="r" b="b" t="t" l="l"/>
              <a:pathLst>
                <a:path h="711327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469" t="0" r="-3469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7068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 b="true">
                  <a:solidFill>
                    <a:srgbClr val="FFDD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p.21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12697" y="-12697"/>
            <a:ext cx="18313336" cy="1671256"/>
          </a:xfrm>
          <a:custGeom>
            <a:avLst/>
            <a:gdLst/>
            <a:ahLst/>
            <a:cxnLst/>
            <a:rect r="r" b="b" t="t" l="l"/>
            <a:pathLst>
              <a:path h="1671256" w="18313336">
                <a:moveTo>
                  <a:pt x="0" y="0"/>
                </a:moveTo>
                <a:lnTo>
                  <a:pt x="18313337" y="0"/>
                </a:lnTo>
                <a:lnTo>
                  <a:pt x="18313337" y="1671257"/>
                </a:lnTo>
                <a:lnTo>
                  <a:pt x="0" y="16712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31520" y="0"/>
            <a:ext cx="16824960" cy="1645920"/>
            <a:chOff x="0" y="0"/>
            <a:chExt cx="22433280" cy="21945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4332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49041" r="0" b="-14904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-42862"/>
            <a:ext cx="16824960" cy="1688783"/>
            <a:chOff x="0" y="0"/>
            <a:chExt cx="22433280" cy="22517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433280" cy="2251710"/>
            </a:xfrm>
            <a:custGeom>
              <a:avLst/>
              <a:gdLst/>
              <a:ahLst/>
              <a:cxnLst/>
              <a:rect r="r" b="b" t="t" l="l"/>
              <a:pathLst>
                <a:path h="225171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251710"/>
                  </a:lnTo>
                  <a:lnTo>
                    <a:pt x="0" y="225171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44125" r="0" b="-14412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22433280" cy="2308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1.3  |  Responsabilidad 01: Monitorear eventos y alertas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572519" y="1816103"/>
            <a:ext cx="1031176" cy="1031176"/>
          </a:xfrm>
          <a:custGeom>
            <a:avLst/>
            <a:gdLst/>
            <a:ahLst/>
            <a:cxnLst/>
            <a:rect r="r" b="b" t="t" l="l"/>
            <a:pathLst>
              <a:path h="1031176" w="1031176">
                <a:moveTo>
                  <a:pt x="0" y="0"/>
                </a:moveTo>
                <a:lnTo>
                  <a:pt x="1031177" y="0"/>
                </a:lnTo>
                <a:lnTo>
                  <a:pt x="1031177" y="1031177"/>
                </a:lnTo>
                <a:lnTo>
                  <a:pt x="0" y="103117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585216" y="1828800"/>
            <a:ext cx="1005840" cy="1005840"/>
            <a:chOff x="0" y="0"/>
            <a:chExt cx="1341120" cy="13411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85216" y="1778794"/>
            <a:ext cx="1005840" cy="1263427"/>
            <a:chOff x="0" y="0"/>
            <a:chExt cx="1341120" cy="168456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41120" cy="1684569"/>
            </a:xfrm>
            <a:custGeom>
              <a:avLst/>
              <a:gdLst/>
              <a:ahLst/>
              <a:cxnLst/>
              <a:rect r="r" b="b" t="t" l="l"/>
              <a:pathLst>
                <a:path h="1684569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684569"/>
                  </a:lnTo>
                  <a:lnTo>
                    <a:pt x="0" y="16845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84682" t="0" r="-84682" b="1642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1341120" cy="1751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920240" y="1828800"/>
            <a:ext cx="15727680" cy="1005840"/>
            <a:chOff x="0" y="0"/>
            <a:chExt cx="20970240" cy="13411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9702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54463" r="0" b="-254463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920240" y="1828800"/>
            <a:ext cx="15727680" cy="1041559"/>
            <a:chOff x="0" y="0"/>
            <a:chExt cx="20970240" cy="138874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970239" cy="1388745"/>
            </a:xfrm>
            <a:custGeom>
              <a:avLst/>
              <a:gdLst/>
              <a:ahLst/>
              <a:cxnLst/>
              <a:rect r="r" b="b" t="t" l="l"/>
              <a:pathLst>
                <a:path h="1388745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388745"/>
                  </a:lnTo>
                  <a:lnTo>
                    <a:pt x="0" y="138874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44226" r="0" b="-24422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20970240" cy="1436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Esta es la tarea principal del analista L1. Observa eventos de seguridad a través del SIEM y otras plataformas, detectando posibles amenazas en tiempo real.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731520" y="3723867"/>
            <a:ext cx="15862898" cy="2054144"/>
          </a:xfrm>
          <a:custGeom>
            <a:avLst/>
            <a:gdLst/>
            <a:ahLst/>
            <a:cxnLst/>
            <a:rect r="r" b="b" t="t" l="l"/>
            <a:pathLst>
              <a:path h="2054144" w="15862898">
                <a:moveTo>
                  <a:pt x="0" y="0"/>
                </a:moveTo>
                <a:lnTo>
                  <a:pt x="15862898" y="0"/>
                </a:lnTo>
                <a:lnTo>
                  <a:pt x="15862898" y="2054144"/>
                </a:lnTo>
                <a:lnTo>
                  <a:pt x="0" y="205414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731520" y="3723867"/>
            <a:ext cx="141902" cy="2054144"/>
          </a:xfrm>
          <a:custGeom>
            <a:avLst/>
            <a:gdLst/>
            <a:ahLst/>
            <a:cxnLst/>
            <a:rect r="r" b="b" t="t" l="l"/>
            <a:pathLst>
              <a:path h="2054144" w="141902">
                <a:moveTo>
                  <a:pt x="0" y="0"/>
                </a:moveTo>
                <a:lnTo>
                  <a:pt x="141902" y="0"/>
                </a:lnTo>
                <a:lnTo>
                  <a:pt x="141902" y="2054144"/>
                </a:lnTo>
                <a:lnTo>
                  <a:pt x="0" y="205414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166331" y="3887239"/>
            <a:ext cx="4907523" cy="462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8"/>
              </a:lnSpc>
            </a:pPr>
            <a:r>
              <a:rPr lang="en-US" sz="1757" b="true">
                <a:solidFill>
                  <a:srgbClr val="1A73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💡  Ejemplo aplicado: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87747" y="4392810"/>
            <a:ext cx="15061019" cy="6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1"/>
              </a:lnSpc>
            </a:pPr>
            <a:r>
              <a:rPr lang="en-US" sz="2143" i="true">
                <a:solidFill>
                  <a:srgbClr val="33333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Un usuario intenta iniciar sesión varias veces desde una IP extranjera. El SIEM genera una alerta. El analista L1 la recibe en su panel y comienza el análisis.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731520" y="6353349"/>
            <a:ext cx="15862898" cy="1123407"/>
          </a:xfrm>
          <a:custGeom>
            <a:avLst/>
            <a:gdLst/>
            <a:ahLst/>
            <a:cxnLst/>
            <a:rect r="r" b="b" t="t" l="l"/>
            <a:pathLst>
              <a:path h="1123407" w="15862898">
                <a:moveTo>
                  <a:pt x="0" y="0"/>
                </a:moveTo>
                <a:lnTo>
                  <a:pt x="15862898" y="0"/>
                </a:lnTo>
                <a:lnTo>
                  <a:pt x="15862898" y="1123407"/>
                </a:lnTo>
                <a:lnTo>
                  <a:pt x="0" y="112340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731520" y="6353349"/>
            <a:ext cx="141902" cy="1123407"/>
          </a:xfrm>
          <a:custGeom>
            <a:avLst/>
            <a:gdLst/>
            <a:ahLst/>
            <a:cxnLst/>
            <a:rect r="r" b="b" t="t" l="l"/>
            <a:pathLst>
              <a:path h="1123407" w="141902">
                <a:moveTo>
                  <a:pt x="0" y="0"/>
                </a:moveTo>
                <a:lnTo>
                  <a:pt x="141902" y="0"/>
                </a:lnTo>
                <a:lnTo>
                  <a:pt x="141902" y="1123407"/>
                </a:lnTo>
                <a:lnTo>
                  <a:pt x="0" y="112340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1081719" y="6365098"/>
            <a:ext cx="15230244" cy="1099962"/>
            <a:chOff x="0" y="0"/>
            <a:chExt cx="21945600" cy="15849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19604" r="0" b="-219605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81719" y="6332046"/>
            <a:ext cx="15230244" cy="1133014"/>
            <a:chOff x="0" y="0"/>
            <a:chExt cx="21945600" cy="163258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945600" cy="1632585"/>
            </a:xfrm>
            <a:custGeom>
              <a:avLst/>
              <a:gdLst/>
              <a:ahLst/>
              <a:cxnLst/>
              <a:rect r="r" b="b" t="t" l="l"/>
              <a:pathLst>
                <a:path h="163258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632585"/>
                  </a:lnTo>
                  <a:lnTo>
                    <a:pt x="0" y="163258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1922" r="0" b="-21192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21945600" cy="1680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 b="true">
                  <a:solidFill>
                    <a:srgbClr val="8A00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🔑  Idea clave:  </a:t>
              </a:r>
              <a:r>
                <a:rPr lang="en-US" sz="2199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Sin monitoreo activo y continuo, las amenazas no se detectan. El analista L1 es los 'ojos' del SOC en tiempo real.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5983863" y="24203"/>
            <a:ext cx="1855079" cy="1855079"/>
            <a:chOff x="0" y="0"/>
            <a:chExt cx="5852160" cy="58521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85216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0"/>
                  </a:lnTo>
                  <a:lnTo>
                    <a:pt x="0" y="585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sp>
        <p:nvSpPr>
          <p:cNvPr name="Freeform 44" id="44"/>
          <p:cNvSpPr/>
          <p:nvPr/>
        </p:nvSpPr>
        <p:spPr>
          <a:xfrm flipH="false" flipV="false" rot="0">
            <a:off x="845791" y="2089404"/>
            <a:ext cx="484632" cy="484632"/>
          </a:xfrm>
          <a:custGeom>
            <a:avLst/>
            <a:gdLst/>
            <a:ahLst/>
            <a:cxnLst/>
            <a:rect r="r" b="b" t="t" l="l"/>
            <a:pathLst>
              <a:path h="484632" w="484632">
                <a:moveTo>
                  <a:pt x="0" y="0"/>
                </a:moveTo>
                <a:lnTo>
                  <a:pt x="484632" y="0"/>
                </a:lnTo>
                <a:lnTo>
                  <a:pt x="484632" y="484632"/>
                </a:lnTo>
                <a:lnTo>
                  <a:pt x="0" y="48463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97" y="-12697"/>
            <a:ext cx="427672" cy="10312337"/>
          </a:xfrm>
          <a:custGeom>
            <a:avLst/>
            <a:gdLst/>
            <a:ahLst/>
            <a:cxnLst/>
            <a:rect r="r" b="b" t="t" l="l"/>
            <a:pathLst>
              <a:path h="10312337" w="427672">
                <a:moveTo>
                  <a:pt x="0" y="0"/>
                </a:moveTo>
                <a:lnTo>
                  <a:pt x="427673" y="0"/>
                </a:lnTo>
                <a:lnTo>
                  <a:pt x="427673" y="10312337"/>
                </a:lnTo>
                <a:lnTo>
                  <a:pt x="0" y="103123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697" y="9771383"/>
            <a:ext cx="18313336" cy="537401"/>
          </a:xfrm>
          <a:custGeom>
            <a:avLst/>
            <a:gdLst/>
            <a:ahLst/>
            <a:cxnLst/>
            <a:rect r="r" b="b" t="t" l="l"/>
            <a:pathLst>
              <a:path h="537401" w="18313336">
                <a:moveTo>
                  <a:pt x="0" y="0"/>
                </a:moveTo>
                <a:lnTo>
                  <a:pt x="18313337" y="0"/>
                </a:lnTo>
                <a:lnTo>
                  <a:pt x="18313337" y="537401"/>
                </a:lnTo>
                <a:lnTo>
                  <a:pt x="0" y="5374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48640" y="9784080"/>
            <a:ext cx="15544800" cy="512064"/>
            <a:chOff x="0" y="0"/>
            <a:chExt cx="20726400" cy="6827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41099" r="0" b="-54109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8640" y="9762649"/>
            <a:ext cx="15544800" cy="533495"/>
            <a:chOff x="0" y="0"/>
            <a:chExt cx="20726400" cy="7113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711327"/>
            </a:xfrm>
            <a:custGeom>
              <a:avLst/>
              <a:gdLst/>
              <a:ahLst/>
              <a:cxnLst/>
              <a:rect r="r" b="b" t="t" l="l"/>
              <a:pathLst>
                <a:path h="711327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7748" r="0" b="-51774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07264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FFCC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Modern SOC Operations  |  Módulo 1  -  Hidden Security ® 2026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824960" y="9784080"/>
            <a:ext cx="1280160" cy="512064"/>
            <a:chOff x="0" y="0"/>
            <a:chExt cx="1706880" cy="6827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06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357" t="0" r="-1357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824960" y="9762649"/>
            <a:ext cx="1280160" cy="533495"/>
            <a:chOff x="0" y="0"/>
            <a:chExt cx="1706880" cy="7113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6880" cy="711327"/>
            </a:xfrm>
            <a:custGeom>
              <a:avLst/>
              <a:gdLst/>
              <a:ahLst/>
              <a:cxnLst/>
              <a:rect r="r" b="b" t="t" l="l"/>
              <a:pathLst>
                <a:path h="711327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469" t="0" r="-3469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7068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 b="true">
                  <a:solidFill>
                    <a:srgbClr val="FFDD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p.22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12697" y="-12697"/>
            <a:ext cx="18313336" cy="1671256"/>
          </a:xfrm>
          <a:custGeom>
            <a:avLst/>
            <a:gdLst/>
            <a:ahLst/>
            <a:cxnLst/>
            <a:rect r="r" b="b" t="t" l="l"/>
            <a:pathLst>
              <a:path h="1671256" w="18313336">
                <a:moveTo>
                  <a:pt x="0" y="0"/>
                </a:moveTo>
                <a:lnTo>
                  <a:pt x="18313337" y="0"/>
                </a:lnTo>
                <a:lnTo>
                  <a:pt x="18313337" y="1671257"/>
                </a:lnTo>
                <a:lnTo>
                  <a:pt x="0" y="16712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31520" y="0"/>
            <a:ext cx="16824960" cy="1645920"/>
            <a:chOff x="0" y="0"/>
            <a:chExt cx="22433280" cy="21945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4332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49041" r="0" b="-14904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-42862"/>
            <a:ext cx="16824960" cy="1688783"/>
            <a:chOff x="0" y="0"/>
            <a:chExt cx="22433280" cy="22517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433280" cy="2251710"/>
            </a:xfrm>
            <a:custGeom>
              <a:avLst/>
              <a:gdLst/>
              <a:ahLst/>
              <a:cxnLst/>
              <a:rect r="r" b="b" t="t" l="l"/>
              <a:pathLst>
                <a:path h="225171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251710"/>
                  </a:lnTo>
                  <a:lnTo>
                    <a:pt x="0" y="225171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44125" r="0" b="-14412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22433280" cy="2308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1.3  |  Responsabilidad 02: Clasificar y priorizar incidentes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572519" y="1816103"/>
            <a:ext cx="1031176" cy="1031176"/>
          </a:xfrm>
          <a:custGeom>
            <a:avLst/>
            <a:gdLst/>
            <a:ahLst/>
            <a:cxnLst/>
            <a:rect r="r" b="b" t="t" l="l"/>
            <a:pathLst>
              <a:path h="1031176" w="1031176">
                <a:moveTo>
                  <a:pt x="0" y="0"/>
                </a:moveTo>
                <a:lnTo>
                  <a:pt x="1031177" y="0"/>
                </a:lnTo>
                <a:lnTo>
                  <a:pt x="1031177" y="1031177"/>
                </a:lnTo>
                <a:lnTo>
                  <a:pt x="0" y="103117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585216" y="1828800"/>
            <a:ext cx="1005840" cy="1005840"/>
            <a:chOff x="0" y="0"/>
            <a:chExt cx="1341120" cy="13411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85216" y="1778794"/>
            <a:ext cx="1005840" cy="1055846"/>
            <a:chOff x="0" y="0"/>
            <a:chExt cx="1341120" cy="140779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41120" cy="1407795"/>
            </a:xfrm>
            <a:custGeom>
              <a:avLst/>
              <a:gdLst/>
              <a:ahLst/>
              <a:cxnLst/>
              <a:rect r="r" b="b" t="t" l="l"/>
              <a:pathLst>
                <a:path h="1407795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407795"/>
                  </a:lnTo>
                  <a:lnTo>
                    <a:pt x="0" y="140779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84682" t="0" r="-84682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1341120" cy="1474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920240" y="1828800"/>
            <a:ext cx="15727680" cy="1005840"/>
            <a:chOff x="0" y="0"/>
            <a:chExt cx="20970240" cy="13411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9702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54463" r="0" b="-254463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920240" y="1793081"/>
            <a:ext cx="15727680" cy="1041559"/>
            <a:chOff x="0" y="0"/>
            <a:chExt cx="20970240" cy="138874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970239" cy="1388745"/>
            </a:xfrm>
            <a:custGeom>
              <a:avLst/>
              <a:gdLst/>
              <a:ahLst/>
              <a:cxnLst/>
              <a:rect r="r" b="b" t="t" l="l"/>
              <a:pathLst>
                <a:path h="1388745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388745"/>
                  </a:lnTo>
                  <a:lnTo>
                    <a:pt x="0" y="138874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44226" r="0" b="-24422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20970240" cy="1436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todas las alertas son incidentes. El analista L1 aplica criterios de severidad, impacto y contexto para determinar si es un falso positivo, un incidente menor o debe escalar.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731520" y="3678838"/>
            <a:ext cx="15466852" cy="2002858"/>
          </a:xfrm>
          <a:custGeom>
            <a:avLst/>
            <a:gdLst/>
            <a:ahLst/>
            <a:cxnLst/>
            <a:rect r="r" b="b" t="t" l="l"/>
            <a:pathLst>
              <a:path h="2002858" w="15466852">
                <a:moveTo>
                  <a:pt x="0" y="0"/>
                </a:moveTo>
                <a:lnTo>
                  <a:pt x="15466852" y="0"/>
                </a:lnTo>
                <a:lnTo>
                  <a:pt x="15466852" y="2002858"/>
                </a:lnTo>
                <a:lnTo>
                  <a:pt x="0" y="200285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731520" y="3678838"/>
            <a:ext cx="138359" cy="2002858"/>
          </a:xfrm>
          <a:custGeom>
            <a:avLst/>
            <a:gdLst/>
            <a:ahLst/>
            <a:cxnLst/>
            <a:rect r="r" b="b" t="t" l="l"/>
            <a:pathLst>
              <a:path h="2002858" w="138359">
                <a:moveTo>
                  <a:pt x="0" y="0"/>
                </a:moveTo>
                <a:lnTo>
                  <a:pt x="138359" y="0"/>
                </a:lnTo>
                <a:lnTo>
                  <a:pt x="138359" y="2002858"/>
                </a:lnTo>
                <a:lnTo>
                  <a:pt x="0" y="200285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184204" y="3876722"/>
            <a:ext cx="4784998" cy="45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6"/>
              </a:lnSpc>
            </a:pPr>
            <a:r>
              <a:rPr lang="en-US" sz="1713" b="true">
                <a:solidFill>
                  <a:srgbClr val="1A73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💡  Ejemplo aplicado: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84204" y="4320603"/>
            <a:ext cx="14684993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3"/>
              </a:lnSpc>
            </a:pPr>
            <a:r>
              <a:rPr lang="en-US" sz="2194" i="true">
                <a:solidFill>
                  <a:srgbClr val="33333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Un intento de login ocurre fuera del horario laboral, en un sistema sensible y sin autenticación multifactor. Se clasifica como alta prioridad.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731520" y="6335602"/>
            <a:ext cx="15466852" cy="1095359"/>
          </a:xfrm>
          <a:custGeom>
            <a:avLst/>
            <a:gdLst/>
            <a:ahLst/>
            <a:cxnLst/>
            <a:rect r="r" b="b" t="t" l="l"/>
            <a:pathLst>
              <a:path h="1095359" w="15466852">
                <a:moveTo>
                  <a:pt x="0" y="0"/>
                </a:moveTo>
                <a:lnTo>
                  <a:pt x="15466852" y="0"/>
                </a:lnTo>
                <a:lnTo>
                  <a:pt x="15466852" y="1095359"/>
                </a:lnTo>
                <a:lnTo>
                  <a:pt x="0" y="109535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731520" y="6335602"/>
            <a:ext cx="138359" cy="1095359"/>
          </a:xfrm>
          <a:custGeom>
            <a:avLst/>
            <a:gdLst/>
            <a:ahLst/>
            <a:cxnLst/>
            <a:rect r="r" b="b" t="t" l="l"/>
            <a:pathLst>
              <a:path h="1095359" w="138359">
                <a:moveTo>
                  <a:pt x="0" y="0"/>
                </a:moveTo>
                <a:lnTo>
                  <a:pt x="138359" y="0"/>
                </a:lnTo>
                <a:lnTo>
                  <a:pt x="138359" y="1095359"/>
                </a:lnTo>
                <a:lnTo>
                  <a:pt x="0" y="109535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1072975" y="6347058"/>
            <a:ext cx="14849993" cy="1072499"/>
            <a:chOff x="0" y="0"/>
            <a:chExt cx="21945600" cy="15849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19604" r="0" b="-219605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72975" y="6314831"/>
            <a:ext cx="14849993" cy="1104726"/>
            <a:chOff x="0" y="0"/>
            <a:chExt cx="21945600" cy="163258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945600" cy="1632585"/>
            </a:xfrm>
            <a:custGeom>
              <a:avLst/>
              <a:gdLst/>
              <a:ahLst/>
              <a:cxnLst/>
              <a:rect r="r" b="b" t="t" l="l"/>
              <a:pathLst>
                <a:path h="163258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632585"/>
                  </a:lnTo>
                  <a:lnTo>
                    <a:pt x="0" y="163258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1922" r="0" b="-21192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21945600" cy="1680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 b="true">
                  <a:solidFill>
                    <a:srgbClr val="8A00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🔑  Idea clave:  </a:t>
              </a:r>
              <a:r>
                <a:rPr lang="en-US" sz="2199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Una alerta no es una conclusión: es una señal que requiere validación, contexto y análisis antes de tomar una decisión.</a:t>
              </a: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791741" y="2128709"/>
            <a:ext cx="592732" cy="406021"/>
          </a:xfrm>
          <a:custGeom>
            <a:avLst/>
            <a:gdLst/>
            <a:ahLst/>
            <a:cxnLst/>
            <a:rect r="r" b="b" t="t" l="l"/>
            <a:pathLst>
              <a:path h="406021" w="592732">
                <a:moveTo>
                  <a:pt x="0" y="0"/>
                </a:moveTo>
                <a:lnTo>
                  <a:pt x="592732" y="0"/>
                </a:lnTo>
                <a:lnTo>
                  <a:pt x="592732" y="406022"/>
                </a:lnTo>
                <a:lnTo>
                  <a:pt x="0" y="40602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3" id="43"/>
          <p:cNvGrpSpPr/>
          <p:nvPr/>
        </p:nvGrpSpPr>
        <p:grpSpPr>
          <a:xfrm rot="0">
            <a:off x="15983863" y="24203"/>
            <a:ext cx="1855079" cy="1855079"/>
            <a:chOff x="0" y="0"/>
            <a:chExt cx="5852160" cy="58521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85216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0"/>
                  </a:lnTo>
                  <a:lnTo>
                    <a:pt x="0" y="585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97" y="-12697"/>
            <a:ext cx="427672" cy="10312337"/>
          </a:xfrm>
          <a:custGeom>
            <a:avLst/>
            <a:gdLst/>
            <a:ahLst/>
            <a:cxnLst/>
            <a:rect r="r" b="b" t="t" l="l"/>
            <a:pathLst>
              <a:path h="10312337" w="427672">
                <a:moveTo>
                  <a:pt x="0" y="0"/>
                </a:moveTo>
                <a:lnTo>
                  <a:pt x="427673" y="0"/>
                </a:lnTo>
                <a:lnTo>
                  <a:pt x="427673" y="10312337"/>
                </a:lnTo>
                <a:lnTo>
                  <a:pt x="0" y="103123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697" y="9771383"/>
            <a:ext cx="18313336" cy="537401"/>
          </a:xfrm>
          <a:custGeom>
            <a:avLst/>
            <a:gdLst/>
            <a:ahLst/>
            <a:cxnLst/>
            <a:rect r="r" b="b" t="t" l="l"/>
            <a:pathLst>
              <a:path h="537401" w="18313336">
                <a:moveTo>
                  <a:pt x="0" y="0"/>
                </a:moveTo>
                <a:lnTo>
                  <a:pt x="18313337" y="0"/>
                </a:lnTo>
                <a:lnTo>
                  <a:pt x="18313337" y="537401"/>
                </a:lnTo>
                <a:lnTo>
                  <a:pt x="0" y="5374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48640" y="9784080"/>
            <a:ext cx="15544800" cy="512064"/>
            <a:chOff x="0" y="0"/>
            <a:chExt cx="20726400" cy="6827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41099" r="0" b="-54109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8640" y="9762649"/>
            <a:ext cx="15544800" cy="533495"/>
            <a:chOff x="0" y="0"/>
            <a:chExt cx="20726400" cy="7113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711327"/>
            </a:xfrm>
            <a:custGeom>
              <a:avLst/>
              <a:gdLst/>
              <a:ahLst/>
              <a:cxnLst/>
              <a:rect r="r" b="b" t="t" l="l"/>
              <a:pathLst>
                <a:path h="711327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7748" r="0" b="-51774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07264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FFCC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Modern SOC Operations  |  Módulo 1  -  Hidden Security ® 2026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824960" y="9784080"/>
            <a:ext cx="1280160" cy="512064"/>
            <a:chOff x="0" y="0"/>
            <a:chExt cx="1706880" cy="6827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06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357" t="0" r="-1357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824960" y="9762649"/>
            <a:ext cx="1280160" cy="533495"/>
            <a:chOff x="0" y="0"/>
            <a:chExt cx="1706880" cy="7113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6880" cy="711327"/>
            </a:xfrm>
            <a:custGeom>
              <a:avLst/>
              <a:gdLst/>
              <a:ahLst/>
              <a:cxnLst/>
              <a:rect r="r" b="b" t="t" l="l"/>
              <a:pathLst>
                <a:path h="711327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469" t="0" r="-3469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7068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 b="true">
                  <a:solidFill>
                    <a:srgbClr val="FFDD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p.23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12697" y="-12697"/>
            <a:ext cx="18313336" cy="1671256"/>
          </a:xfrm>
          <a:custGeom>
            <a:avLst/>
            <a:gdLst/>
            <a:ahLst/>
            <a:cxnLst/>
            <a:rect r="r" b="b" t="t" l="l"/>
            <a:pathLst>
              <a:path h="1671256" w="18313336">
                <a:moveTo>
                  <a:pt x="0" y="0"/>
                </a:moveTo>
                <a:lnTo>
                  <a:pt x="18313337" y="0"/>
                </a:lnTo>
                <a:lnTo>
                  <a:pt x="18313337" y="1671257"/>
                </a:lnTo>
                <a:lnTo>
                  <a:pt x="0" y="16712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31520" y="0"/>
            <a:ext cx="16824960" cy="1645920"/>
            <a:chOff x="0" y="0"/>
            <a:chExt cx="22433280" cy="21945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4332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49041" r="0" b="-14904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-42862"/>
            <a:ext cx="16824960" cy="1688783"/>
            <a:chOff x="0" y="0"/>
            <a:chExt cx="22433280" cy="22517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433280" cy="2251710"/>
            </a:xfrm>
            <a:custGeom>
              <a:avLst/>
              <a:gdLst/>
              <a:ahLst/>
              <a:cxnLst/>
              <a:rect r="r" b="b" t="t" l="l"/>
              <a:pathLst>
                <a:path h="225171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251710"/>
                  </a:lnTo>
                  <a:lnTo>
                    <a:pt x="0" y="225171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44125" r="0" b="-14412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22433280" cy="2308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1.3  |  Responsabilidad 03: Aplicar playbooks de triage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572519" y="1816103"/>
            <a:ext cx="1031176" cy="1031176"/>
          </a:xfrm>
          <a:custGeom>
            <a:avLst/>
            <a:gdLst/>
            <a:ahLst/>
            <a:cxnLst/>
            <a:rect r="r" b="b" t="t" l="l"/>
            <a:pathLst>
              <a:path h="1031176" w="1031176">
                <a:moveTo>
                  <a:pt x="0" y="0"/>
                </a:moveTo>
                <a:lnTo>
                  <a:pt x="1031177" y="0"/>
                </a:lnTo>
                <a:lnTo>
                  <a:pt x="1031177" y="1031177"/>
                </a:lnTo>
                <a:lnTo>
                  <a:pt x="0" y="103117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585216" y="1828800"/>
            <a:ext cx="1005840" cy="1005840"/>
            <a:chOff x="0" y="0"/>
            <a:chExt cx="1341120" cy="13411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85216" y="1778794"/>
            <a:ext cx="1005840" cy="1055846"/>
            <a:chOff x="0" y="0"/>
            <a:chExt cx="1341120" cy="140779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41120" cy="1407795"/>
            </a:xfrm>
            <a:custGeom>
              <a:avLst/>
              <a:gdLst/>
              <a:ahLst/>
              <a:cxnLst/>
              <a:rect r="r" b="b" t="t" l="l"/>
              <a:pathLst>
                <a:path h="1407795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407795"/>
                  </a:lnTo>
                  <a:lnTo>
                    <a:pt x="0" y="140779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84682" t="0" r="-84682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1341120" cy="1474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920240" y="1828800"/>
            <a:ext cx="15727680" cy="1005840"/>
            <a:chOff x="0" y="0"/>
            <a:chExt cx="20970240" cy="13411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9702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54463" r="0" b="-254463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920240" y="1793081"/>
            <a:ext cx="15727680" cy="1041559"/>
            <a:chOff x="0" y="0"/>
            <a:chExt cx="20970240" cy="138874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970239" cy="1388745"/>
            </a:xfrm>
            <a:custGeom>
              <a:avLst/>
              <a:gdLst/>
              <a:ahLst/>
              <a:cxnLst/>
              <a:rect r="r" b="b" t="t" l="l"/>
              <a:pathLst>
                <a:path h="1388745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388745"/>
                  </a:lnTo>
                  <a:lnTo>
                    <a:pt x="0" y="138874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44226" r="0" b="-24422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20970240" cy="1436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Los analistas no improvisan: usan playbooks o guías predefinidas que indican los pasos a seguir según el tipo de alerta, incluyendo validaciones básicas, consultas a fuentes de threat intelligence y acciones sugeridas.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731520" y="3694169"/>
            <a:ext cx="15912785" cy="2060604"/>
          </a:xfrm>
          <a:custGeom>
            <a:avLst/>
            <a:gdLst/>
            <a:ahLst/>
            <a:cxnLst/>
            <a:rect r="r" b="b" t="t" l="l"/>
            <a:pathLst>
              <a:path h="2060604" w="15912785">
                <a:moveTo>
                  <a:pt x="0" y="0"/>
                </a:moveTo>
                <a:lnTo>
                  <a:pt x="15912785" y="0"/>
                </a:lnTo>
                <a:lnTo>
                  <a:pt x="15912785" y="2060604"/>
                </a:lnTo>
                <a:lnTo>
                  <a:pt x="0" y="206060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731520" y="3694169"/>
            <a:ext cx="142348" cy="2060604"/>
          </a:xfrm>
          <a:custGeom>
            <a:avLst/>
            <a:gdLst/>
            <a:ahLst/>
            <a:cxnLst/>
            <a:rect r="r" b="b" t="t" l="l"/>
            <a:pathLst>
              <a:path h="2060604" w="142348">
                <a:moveTo>
                  <a:pt x="0" y="0"/>
                </a:moveTo>
                <a:lnTo>
                  <a:pt x="142348" y="0"/>
                </a:lnTo>
                <a:lnTo>
                  <a:pt x="142348" y="2060604"/>
                </a:lnTo>
                <a:lnTo>
                  <a:pt x="0" y="206060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201417" y="3997978"/>
            <a:ext cx="5303520" cy="496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1A73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💡  Ejemplo aplicado: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67699" y="4457750"/>
            <a:ext cx="15108384" cy="6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9"/>
              </a:lnSpc>
            </a:pPr>
            <a:r>
              <a:rPr lang="en-US" sz="2149" i="true">
                <a:solidFill>
                  <a:srgbClr val="33333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Se detecta actividad sospechosa en un puerto comúnmente usado por malware. El playbook indica: verificar reputación de IP en VirusTotal + revisar logs del endpoint + documentar.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731520" y="6451720"/>
            <a:ext cx="15912785" cy="1126940"/>
          </a:xfrm>
          <a:custGeom>
            <a:avLst/>
            <a:gdLst/>
            <a:ahLst/>
            <a:cxnLst/>
            <a:rect r="r" b="b" t="t" l="l"/>
            <a:pathLst>
              <a:path h="1126940" w="15912785">
                <a:moveTo>
                  <a:pt x="0" y="0"/>
                </a:moveTo>
                <a:lnTo>
                  <a:pt x="15912785" y="0"/>
                </a:lnTo>
                <a:lnTo>
                  <a:pt x="15912785" y="1126940"/>
                </a:lnTo>
                <a:lnTo>
                  <a:pt x="0" y="112694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731520" y="6451720"/>
            <a:ext cx="142348" cy="1126940"/>
          </a:xfrm>
          <a:custGeom>
            <a:avLst/>
            <a:gdLst/>
            <a:ahLst/>
            <a:cxnLst/>
            <a:rect r="r" b="b" t="t" l="l"/>
            <a:pathLst>
              <a:path h="1126940" w="142348">
                <a:moveTo>
                  <a:pt x="0" y="0"/>
                </a:moveTo>
                <a:lnTo>
                  <a:pt x="142348" y="0"/>
                </a:lnTo>
                <a:lnTo>
                  <a:pt x="142348" y="1126940"/>
                </a:lnTo>
                <a:lnTo>
                  <a:pt x="0" y="112694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1082820" y="6463506"/>
            <a:ext cx="15278141" cy="1103421"/>
            <a:chOff x="0" y="0"/>
            <a:chExt cx="21945600" cy="15849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19604" r="0" b="-219605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82820" y="6430350"/>
            <a:ext cx="15278141" cy="1136577"/>
            <a:chOff x="0" y="0"/>
            <a:chExt cx="21945600" cy="163258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945600" cy="1632585"/>
            </a:xfrm>
            <a:custGeom>
              <a:avLst/>
              <a:gdLst/>
              <a:ahLst/>
              <a:cxnLst/>
              <a:rect r="r" b="b" t="t" l="l"/>
              <a:pathLst>
                <a:path h="163258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632585"/>
                  </a:lnTo>
                  <a:lnTo>
                    <a:pt x="0" y="163258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1922" r="0" b="-21192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21945600" cy="1680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 b="true">
                  <a:solidFill>
                    <a:srgbClr val="8A00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🔑  Idea clave:  </a:t>
              </a:r>
              <a:r>
                <a:rPr lang="en-US" sz="2199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Los playbooks son el 'manual de operaciones' del SOC. Seguirlos garantiza consistencia y evita errores bajo presión.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5983863" y="24203"/>
            <a:ext cx="1855079" cy="1855079"/>
            <a:chOff x="0" y="0"/>
            <a:chExt cx="5852160" cy="58521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85216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0"/>
                  </a:lnTo>
                  <a:lnTo>
                    <a:pt x="0" y="585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sp>
        <p:nvSpPr>
          <p:cNvPr name="Freeform 44" id="44"/>
          <p:cNvSpPr/>
          <p:nvPr/>
        </p:nvSpPr>
        <p:spPr>
          <a:xfrm flipH="false" flipV="false" rot="0">
            <a:off x="772090" y="2079164"/>
            <a:ext cx="632092" cy="455106"/>
          </a:xfrm>
          <a:custGeom>
            <a:avLst/>
            <a:gdLst/>
            <a:ahLst/>
            <a:cxnLst/>
            <a:rect r="r" b="b" t="t" l="l"/>
            <a:pathLst>
              <a:path h="455106" w="632092">
                <a:moveTo>
                  <a:pt x="0" y="0"/>
                </a:moveTo>
                <a:lnTo>
                  <a:pt x="632092" y="0"/>
                </a:lnTo>
                <a:lnTo>
                  <a:pt x="632092" y="455106"/>
                </a:lnTo>
                <a:lnTo>
                  <a:pt x="0" y="45510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97" y="-12697"/>
            <a:ext cx="427672" cy="10312337"/>
          </a:xfrm>
          <a:custGeom>
            <a:avLst/>
            <a:gdLst/>
            <a:ahLst/>
            <a:cxnLst/>
            <a:rect r="r" b="b" t="t" l="l"/>
            <a:pathLst>
              <a:path h="10312337" w="427672">
                <a:moveTo>
                  <a:pt x="0" y="0"/>
                </a:moveTo>
                <a:lnTo>
                  <a:pt x="427673" y="0"/>
                </a:lnTo>
                <a:lnTo>
                  <a:pt x="427673" y="10312337"/>
                </a:lnTo>
                <a:lnTo>
                  <a:pt x="0" y="103123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697" y="9771383"/>
            <a:ext cx="18313336" cy="537401"/>
          </a:xfrm>
          <a:custGeom>
            <a:avLst/>
            <a:gdLst/>
            <a:ahLst/>
            <a:cxnLst/>
            <a:rect r="r" b="b" t="t" l="l"/>
            <a:pathLst>
              <a:path h="537401" w="18313336">
                <a:moveTo>
                  <a:pt x="0" y="0"/>
                </a:moveTo>
                <a:lnTo>
                  <a:pt x="18313337" y="0"/>
                </a:lnTo>
                <a:lnTo>
                  <a:pt x="18313337" y="537401"/>
                </a:lnTo>
                <a:lnTo>
                  <a:pt x="0" y="5374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48640" y="9784080"/>
            <a:ext cx="15544800" cy="512064"/>
            <a:chOff x="0" y="0"/>
            <a:chExt cx="20726400" cy="6827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41099" r="0" b="-54109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8640" y="9762649"/>
            <a:ext cx="15544800" cy="533495"/>
            <a:chOff x="0" y="0"/>
            <a:chExt cx="20726400" cy="7113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711327"/>
            </a:xfrm>
            <a:custGeom>
              <a:avLst/>
              <a:gdLst/>
              <a:ahLst/>
              <a:cxnLst/>
              <a:rect r="r" b="b" t="t" l="l"/>
              <a:pathLst>
                <a:path h="711327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7748" r="0" b="-51774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07264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FFCC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Modern SOC Operations  |  Módulo 1  -  Hidden Security ® 2026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824960" y="9784080"/>
            <a:ext cx="1280160" cy="512064"/>
            <a:chOff x="0" y="0"/>
            <a:chExt cx="1706880" cy="6827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06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357" t="0" r="-1357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824960" y="9762649"/>
            <a:ext cx="1280160" cy="533495"/>
            <a:chOff x="0" y="0"/>
            <a:chExt cx="1706880" cy="7113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6880" cy="711327"/>
            </a:xfrm>
            <a:custGeom>
              <a:avLst/>
              <a:gdLst/>
              <a:ahLst/>
              <a:cxnLst/>
              <a:rect r="r" b="b" t="t" l="l"/>
              <a:pathLst>
                <a:path h="711327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469" t="0" r="-3469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7068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 b="true">
                  <a:solidFill>
                    <a:srgbClr val="FFDD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p.24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12697" y="-12697"/>
            <a:ext cx="18313336" cy="1671256"/>
          </a:xfrm>
          <a:custGeom>
            <a:avLst/>
            <a:gdLst/>
            <a:ahLst/>
            <a:cxnLst/>
            <a:rect r="r" b="b" t="t" l="l"/>
            <a:pathLst>
              <a:path h="1671256" w="18313336">
                <a:moveTo>
                  <a:pt x="0" y="0"/>
                </a:moveTo>
                <a:lnTo>
                  <a:pt x="18313337" y="0"/>
                </a:lnTo>
                <a:lnTo>
                  <a:pt x="18313337" y="1671257"/>
                </a:lnTo>
                <a:lnTo>
                  <a:pt x="0" y="16712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31520" y="0"/>
            <a:ext cx="16824960" cy="1645920"/>
            <a:chOff x="0" y="0"/>
            <a:chExt cx="22433280" cy="21945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4332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49041" r="0" b="-14904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-42862"/>
            <a:ext cx="16824960" cy="1688783"/>
            <a:chOff x="0" y="0"/>
            <a:chExt cx="22433280" cy="22517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433280" cy="2251710"/>
            </a:xfrm>
            <a:custGeom>
              <a:avLst/>
              <a:gdLst/>
              <a:ahLst/>
              <a:cxnLst/>
              <a:rect r="r" b="b" t="t" l="l"/>
              <a:pathLst>
                <a:path h="225171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251710"/>
                  </a:lnTo>
                  <a:lnTo>
                    <a:pt x="0" y="225171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44125" r="0" b="-14412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22433280" cy="2308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1.3  |  Responsabilidad 04: Escalar incidentes según criticidad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572519" y="1816103"/>
            <a:ext cx="1031176" cy="1031176"/>
          </a:xfrm>
          <a:custGeom>
            <a:avLst/>
            <a:gdLst/>
            <a:ahLst/>
            <a:cxnLst/>
            <a:rect r="r" b="b" t="t" l="l"/>
            <a:pathLst>
              <a:path h="1031176" w="1031176">
                <a:moveTo>
                  <a:pt x="0" y="0"/>
                </a:moveTo>
                <a:lnTo>
                  <a:pt x="1031177" y="0"/>
                </a:lnTo>
                <a:lnTo>
                  <a:pt x="1031177" y="1031177"/>
                </a:lnTo>
                <a:lnTo>
                  <a:pt x="0" y="103117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585216" y="1828800"/>
            <a:ext cx="1005840" cy="1005840"/>
            <a:chOff x="0" y="0"/>
            <a:chExt cx="1341120" cy="13411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85216" y="1778794"/>
            <a:ext cx="1005840" cy="1263427"/>
            <a:chOff x="0" y="0"/>
            <a:chExt cx="1341120" cy="168456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41120" cy="1684569"/>
            </a:xfrm>
            <a:custGeom>
              <a:avLst/>
              <a:gdLst/>
              <a:ahLst/>
              <a:cxnLst/>
              <a:rect r="r" b="b" t="t" l="l"/>
              <a:pathLst>
                <a:path h="1684569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684569"/>
                  </a:lnTo>
                  <a:lnTo>
                    <a:pt x="0" y="168456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84682" t="0" r="-84682" b="1642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1341120" cy="17512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920240" y="1828800"/>
            <a:ext cx="15727680" cy="1005840"/>
            <a:chOff x="0" y="0"/>
            <a:chExt cx="20970240" cy="13411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9702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54463" r="0" b="-254463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920240" y="1793081"/>
            <a:ext cx="15727680" cy="1041559"/>
            <a:chOff x="0" y="0"/>
            <a:chExt cx="20970240" cy="138874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970239" cy="1388745"/>
            </a:xfrm>
            <a:custGeom>
              <a:avLst/>
              <a:gdLst/>
              <a:ahLst/>
              <a:cxnLst/>
              <a:rect r="r" b="b" t="t" l="l"/>
              <a:pathLst>
                <a:path h="1388745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388745"/>
                  </a:lnTo>
                  <a:lnTo>
                    <a:pt x="0" y="138874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44226" r="0" b="-24422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20970240" cy="1436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 el incidente no puede resolverse en el nivel 1, el analista debe escalarlo al nivel 2 o 3 siguiendo el proceso establecido. Lo importante es no perder tiempo ni contexto.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818031" y="3655841"/>
            <a:ext cx="15826375" cy="2049414"/>
          </a:xfrm>
          <a:custGeom>
            <a:avLst/>
            <a:gdLst/>
            <a:ahLst/>
            <a:cxnLst/>
            <a:rect r="r" b="b" t="t" l="l"/>
            <a:pathLst>
              <a:path h="2049414" w="15826375">
                <a:moveTo>
                  <a:pt x="0" y="0"/>
                </a:moveTo>
                <a:lnTo>
                  <a:pt x="15826375" y="0"/>
                </a:lnTo>
                <a:lnTo>
                  <a:pt x="15826375" y="2049415"/>
                </a:lnTo>
                <a:lnTo>
                  <a:pt x="0" y="204941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818031" y="3655841"/>
            <a:ext cx="141575" cy="2049414"/>
          </a:xfrm>
          <a:custGeom>
            <a:avLst/>
            <a:gdLst/>
            <a:ahLst/>
            <a:cxnLst/>
            <a:rect r="r" b="b" t="t" l="l"/>
            <a:pathLst>
              <a:path h="2049414" w="141575">
                <a:moveTo>
                  <a:pt x="0" y="0"/>
                </a:moveTo>
                <a:lnTo>
                  <a:pt x="141576" y="0"/>
                </a:lnTo>
                <a:lnTo>
                  <a:pt x="141576" y="2049415"/>
                </a:lnTo>
                <a:lnTo>
                  <a:pt x="0" y="204941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251841" y="3859211"/>
            <a:ext cx="4896224" cy="461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3"/>
              </a:lnSpc>
            </a:pPr>
            <a:r>
              <a:rPr lang="en-US" sz="1753" b="true">
                <a:solidFill>
                  <a:srgbClr val="1A73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💡  Ejemplo aplicado: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51841" y="4323156"/>
            <a:ext cx="15026342" cy="6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6"/>
              </a:lnSpc>
            </a:pPr>
            <a:r>
              <a:rPr lang="en-US" sz="2138" i="true">
                <a:solidFill>
                  <a:srgbClr val="33333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Se detecta comportamiento anómalo persistente → se recopilan evidencias básicas → se genera ticket con toda la información → se escala a L2.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851825" y="6336110"/>
            <a:ext cx="15826375" cy="1120820"/>
          </a:xfrm>
          <a:custGeom>
            <a:avLst/>
            <a:gdLst/>
            <a:ahLst/>
            <a:cxnLst/>
            <a:rect r="r" b="b" t="t" l="l"/>
            <a:pathLst>
              <a:path h="1120820" w="15826375">
                <a:moveTo>
                  <a:pt x="0" y="0"/>
                </a:moveTo>
                <a:lnTo>
                  <a:pt x="15826375" y="0"/>
                </a:lnTo>
                <a:lnTo>
                  <a:pt x="15826375" y="1120820"/>
                </a:lnTo>
                <a:lnTo>
                  <a:pt x="0" y="112082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851825" y="6336110"/>
            <a:ext cx="141575" cy="1120820"/>
          </a:xfrm>
          <a:custGeom>
            <a:avLst/>
            <a:gdLst/>
            <a:ahLst/>
            <a:cxnLst/>
            <a:rect r="r" b="b" t="t" l="l"/>
            <a:pathLst>
              <a:path h="1120820" w="141575">
                <a:moveTo>
                  <a:pt x="0" y="0"/>
                </a:moveTo>
                <a:lnTo>
                  <a:pt x="141575" y="0"/>
                </a:lnTo>
                <a:lnTo>
                  <a:pt x="141575" y="1120820"/>
                </a:lnTo>
                <a:lnTo>
                  <a:pt x="0" y="112082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1201217" y="6347831"/>
            <a:ext cx="15195177" cy="1097429"/>
            <a:chOff x="0" y="0"/>
            <a:chExt cx="21945600" cy="15849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19604" r="0" b="-219605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201217" y="6314856"/>
            <a:ext cx="15195177" cy="1130405"/>
            <a:chOff x="0" y="0"/>
            <a:chExt cx="21945600" cy="163258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945600" cy="1632585"/>
            </a:xfrm>
            <a:custGeom>
              <a:avLst/>
              <a:gdLst/>
              <a:ahLst/>
              <a:cxnLst/>
              <a:rect r="r" b="b" t="t" l="l"/>
              <a:pathLst>
                <a:path h="163258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632585"/>
                  </a:lnTo>
                  <a:lnTo>
                    <a:pt x="0" y="163258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1922" r="0" b="-21192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21945600" cy="1680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 b="true">
                  <a:solidFill>
                    <a:srgbClr val="8A00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🔑  Idea clave:  </a:t>
              </a:r>
              <a:r>
                <a:rPr lang="en-US" sz="2199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Escalar bien significa dar a L2 suficiente información para actuar con rapidez. Escalar sin datos es peor que no escalar.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5983863" y="24203"/>
            <a:ext cx="1855079" cy="1855079"/>
            <a:chOff x="0" y="0"/>
            <a:chExt cx="5852160" cy="58521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85216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0"/>
                  </a:lnTo>
                  <a:lnTo>
                    <a:pt x="0" y="585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sp>
        <p:nvSpPr>
          <p:cNvPr name="Freeform 44" id="44"/>
          <p:cNvSpPr/>
          <p:nvPr/>
        </p:nvSpPr>
        <p:spPr>
          <a:xfrm flipH="false" flipV="false" rot="0">
            <a:off x="818031" y="2107533"/>
            <a:ext cx="540210" cy="448374"/>
          </a:xfrm>
          <a:custGeom>
            <a:avLst/>
            <a:gdLst/>
            <a:ahLst/>
            <a:cxnLst/>
            <a:rect r="r" b="b" t="t" l="l"/>
            <a:pathLst>
              <a:path h="448374" w="540210">
                <a:moveTo>
                  <a:pt x="0" y="0"/>
                </a:moveTo>
                <a:lnTo>
                  <a:pt x="540210" y="0"/>
                </a:lnTo>
                <a:lnTo>
                  <a:pt x="540210" y="448374"/>
                </a:lnTo>
                <a:lnTo>
                  <a:pt x="0" y="448374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97" y="-12697"/>
            <a:ext cx="427672" cy="10312337"/>
          </a:xfrm>
          <a:custGeom>
            <a:avLst/>
            <a:gdLst/>
            <a:ahLst/>
            <a:cxnLst/>
            <a:rect r="r" b="b" t="t" l="l"/>
            <a:pathLst>
              <a:path h="10312337" w="427672">
                <a:moveTo>
                  <a:pt x="0" y="0"/>
                </a:moveTo>
                <a:lnTo>
                  <a:pt x="427673" y="0"/>
                </a:lnTo>
                <a:lnTo>
                  <a:pt x="427673" y="10312337"/>
                </a:lnTo>
                <a:lnTo>
                  <a:pt x="0" y="103123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697" y="9771383"/>
            <a:ext cx="18313336" cy="537401"/>
          </a:xfrm>
          <a:custGeom>
            <a:avLst/>
            <a:gdLst/>
            <a:ahLst/>
            <a:cxnLst/>
            <a:rect r="r" b="b" t="t" l="l"/>
            <a:pathLst>
              <a:path h="537401" w="18313336">
                <a:moveTo>
                  <a:pt x="0" y="0"/>
                </a:moveTo>
                <a:lnTo>
                  <a:pt x="18313337" y="0"/>
                </a:lnTo>
                <a:lnTo>
                  <a:pt x="18313337" y="537401"/>
                </a:lnTo>
                <a:lnTo>
                  <a:pt x="0" y="5374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48640" y="9784080"/>
            <a:ext cx="15544800" cy="512064"/>
            <a:chOff x="0" y="0"/>
            <a:chExt cx="20726400" cy="6827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41099" r="0" b="-54109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8640" y="9762649"/>
            <a:ext cx="15544800" cy="533495"/>
            <a:chOff x="0" y="0"/>
            <a:chExt cx="20726400" cy="7113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711327"/>
            </a:xfrm>
            <a:custGeom>
              <a:avLst/>
              <a:gdLst/>
              <a:ahLst/>
              <a:cxnLst/>
              <a:rect r="r" b="b" t="t" l="l"/>
              <a:pathLst>
                <a:path h="711327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7748" r="0" b="-51774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07264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FFCC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Modern SOC Operations  |  Módulo 1  -  Hidden Security ® 2026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824960" y="9784080"/>
            <a:ext cx="1280160" cy="512064"/>
            <a:chOff x="0" y="0"/>
            <a:chExt cx="1706880" cy="6827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06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357" t="0" r="-1357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824960" y="9762649"/>
            <a:ext cx="1280160" cy="533495"/>
            <a:chOff x="0" y="0"/>
            <a:chExt cx="1706880" cy="7113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6880" cy="711327"/>
            </a:xfrm>
            <a:custGeom>
              <a:avLst/>
              <a:gdLst/>
              <a:ahLst/>
              <a:cxnLst/>
              <a:rect r="r" b="b" t="t" l="l"/>
              <a:pathLst>
                <a:path h="711327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469" t="0" r="-3469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7068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 b="true">
                  <a:solidFill>
                    <a:srgbClr val="FFDD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p.25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12697" y="-12697"/>
            <a:ext cx="18313336" cy="1671256"/>
          </a:xfrm>
          <a:custGeom>
            <a:avLst/>
            <a:gdLst/>
            <a:ahLst/>
            <a:cxnLst/>
            <a:rect r="r" b="b" t="t" l="l"/>
            <a:pathLst>
              <a:path h="1671256" w="18313336">
                <a:moveTo>
                  <a:pt x="0" y="0"/>
                </a:moveTo>
                <a:lnTo>
                  <a:pt x="18313337" y="0"/>
                </a:lnTo>
                <a:lnTo>
                  <a:pt x="18313337" y="1671257"/>
                </a:lnTo>
                <a:lnTo>
                  <a:pt x="0" y="16712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31520" y="0"/>
            <a:ext cx="16824960" cy="1645920"/>
            <a:chOff x="0" y="0"/>
            <a:chExt cx="22433280" cy="21945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4332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49041" r="0" b="-14904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-42862"/>
            <a:ext cx="16824960" cy="1688783"/>
            <a:chOff x="0" y="0"/>
            <a:chExt cx="22433280" cy="22517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433280" cy="2251710"/>
            </a:xfrm>
            <a:custGeom>
              <a:avLst/>
              <a:gdLst/>
              <a:ahLst/>
              <a:cxnLst/>
              <a:rect r="r" b="b" t="t" l="l"/>
              <a:pathLst>
                <a:path h="225171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251710"/>
                  </a:lnTo>
                  <a:lnTo>
                    <a:pt x="0" y="225171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44125" r="0" b="-14412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22433280" cy="2308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1.3  |  Responsabilidad 05: Documentar acciones y hallazgos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572519" y="1816103"/>
            <a:ext cx="1031176" cy="1031176"/>
          </a:xfrm>
          <a:custGeom>
            <a:avLst/>
            <a:gdLst/>
            <a:ahLst/>
            <a:cxnLst/>
            <a:rect r="r" b="b" t="t" l="l"/>
            <a:pathLst>
              <a:path h="1031176" w="1031176">
                <a:moveTo>
                  <a:pt x="0" y="0"/>
                </a:moveTo>
                <a:lnTo>
                  <a:pt x="1031177" y="0"/>
                </a:lnTo>
                <a:lnTo>
                  <a:pt x="1031177" y="1031177"/>
                </a:lnTo>
                <a:lnTo>
                  <a:pt x="0" y="103117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585216" y="1828800"/>
            <a:ext cx="1005840" cy="1005840"/>
            <a:chOff x="0" y="0"/>
            <a:chExt cx="1341120" cy="13411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85216" y="1778794"/>
            <a:ext cx="1005840" cy="1055846"/>
            <a:chOff x="0" y="0"/>
            <a:chExt cx="1341120" cy="140779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41120" cy="1407795"/>
            </a:xfrm>
            <a:custGeom>
              <a:avLst/>
              <a:gdLst/>
              <a:ahLst/>
              <a:cxnLst/>
              <a:rect r="r" b="b" t="t" l="l"/>
              <a:pathLst>
                <a:path h="1407795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407795"/>
                  </a:lnTo>
                  <a:lnTo>
                    <a:pt x="0" y="140779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84682" t="0" r="-84682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1341120" cy="1474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920240" y="1828800"/>
            <a:ext cx="15727680" cy="1005840"/>
            <a:chOff x="0" y="0"/>
            <a:chExt cx="20970240" cy="13411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970239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54463" r="0" b="-254463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920240" y="1793081"/>
            <a:ext cx="15727680" cy="1041559"/>
            <a:chOff x="0" y="0"/>
            <a:chExt cx="20970240" cy="138874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970239" cy="1388745"/>
            </a:xfrm>
            <a:custGeom>
              <a:avLst/>
              <a:gdLst/>
              <a:ahLst/>
              <a:cxnLst/>
              <a:rect r="r" b="b" t="t" l="l"/>
              <a:pathLst>
                <a:path h="1388745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388745"/>
                  </a:lnTo>
                  <a:lnTo>
                    <a:pt x="0" y="138874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44226" r="0" b="-24422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20970240" cy="1436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Todo lo que hace un analista SOC debe quedar registrado: pasos seguidos, herramientas utilizadas, hallazgos clave y decisiones tomadas. Esto permite auditar, dar continuidad al trabajo y cumplir normativas.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814871" y="3609849"/>
            <a:ext cx="15463312" cy="2002400"/>
          </a:xfrm>
          <a:custGeom>
            <a:avLst/>
            <a:gdLst/>
            <a:ahLst/>
            <a:cxnLst/>
            <a:rect r="r" b="b" t="t" l="l"/>
            <a:pathLst>
              <a:path h="2002400" w="15463312">
                <a:moveTo>
                  <a:pt x="0" y="0"/>
                </a:moveTo>
                <a:lnTo>
                  <a:pt x="15463311" y="0"/>
                </a:lnTo>
                <a:lnTo>
                  <a:pt x="15463311" y="2002400"/>
                </a:lnTo>
                <a:lnTo>
                  <a:pt x="0" y="20024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814871" y="3609849"/>
            <a:ext cx="138328" cy="2002400"/>
          </a:xfrm>
          <a:custGeom>
            <a:avLst/>
            <a:gdLst/>
            <a:ahLst/>
            <a:cxnLst/>
            <a:rect r="r" b="b" t="t" l="l"/>
            <a:pathLst>
              <a:path h="2002400" w="138328">
                <a:moveTo>
                  <a:pt x="0" y="0"/>
                </a:moveTo>
                <a:lnTo>
                  <a:pt x="138328" y="0"/>
                </a:lnTo>
                <a:lnTo>
                  <a:pt x="138328" y="2002400"/>
                </a:lnTo>
                <a:lnTo>
                  <a:pt x="0" y="20024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307854" y="3832986"/>
            <a:ext cx="4783902" cy="451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5"/>
              </a:lnSpc>
            </a:pPr>
            <a:r>
              <a:rPr lang="en-US" sz="1712" b="true">
                <a:solidFill>
                  <a:srgbClr val="1A73C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💡  Ejemplo aplicado: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07854" y="4376414"/>
            <a:ext cx="14681632" cy="64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1"/>
              </a:lnSpc>
            </a:pPr>
            <a:r>
              <a:rPr lang="en-US" sz="1984" i="true">
                <a:solidFill>
                  <a:srgbClr val="33333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Tras analizar un falso positivo, el analista deja registrado el origen de la alerta, las IPs implicadas, el análisis realizado y la decisión final de cierre.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814871" y="6251623"/>
            <a:ext cx="15463312" cy="1095108"/>
          </a:xfrm>
          <a:custGeom>
            <a:avLst/>
            <a:gdLst/>
            <a:ahLst/>
            <a:cxnLst/>
            <a:rect r="r" b="b" t="t" l="l"/>
            <a:pathLst>
              <a:path h="1095108" w="15463312">
                <a:moveTo>
                  <a:pt x="0" y="0"/>
                </a:moveTo>
                <a:lnTo>
                  <a:pt x="15463311" y="0"/>
                </a:lnTo>
                <a:lnTo>
                  <a:pt x="15463311" y="1095108"/>
                </a:lnTo>
                <a:lnTo>
                  <a:pt x="0" y="109510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814871" y="6251623"/>
            <a:ext cx="138328" cy="1095108"/>
          </a:xfrm>
          <a:custGeom>
            <a:avLst/>
            <a:gdLst/>
            <a:ahLst/>
            <a:cxnLst/>
            <a:rect r="r" b="b" t="t" l="l"/>
            <a:pathLst>
              <a:path h="1095108" w="138328">
                <a:moveTo>
                  <a:pt x="0" y="0"/>
                </a:moveTo>
                <a:lnTo>
                  <a:pt x="138328" y="0"/>
                </a:lnTo>
                <a:lnTo>
                  <a:pt x="138328" y="1095108"/>
                </a:lnTo>
                <a:lnTo>
                  <a:pt x="0" y="109510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1156248" y="6263076"/>
            <a:ext cx="14846594" cy="1072254"/>
            <a:chOff x="0" y="0"/>
            <a:chExt cx="21945600" cy="15849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4560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19604" r="0" b="-219605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56248" y="6230857"/>
            <a:ext cx="14846594" cy="1104473"/>
            <a:chOff x="0" y="0"/>
            <a:chExt cx="21945600" cy="163258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945600" cy="1632585"/>
            </a:xfrm>
            <a:custGeom>
              <a:avLst/>
              <a:gdLst/>
              <a:ahLst/>
              <a:cxnLst/>
              <a:rect r="r" b="b" t="t" l="l"/>
              <a:pathLst>
                <a:path h="163258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632585"/>
                  </a:lnTo>
                  <a:lnTo>
                    <a:pt x="0" y="163258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1922" r="0" b="-21192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21945600" cy="1680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 b="true">
                  <a:solidFill>
                    <a:srgbClr val="8A00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🔑  Idea clave:  </a:t>
              </a:r>
              <a:r>
                <a:rPr lang="en-US" sz="2199">
                  <a:solidFill>
                    <a:srgbClr val="3333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 no está documentado, no ocurrió. La documentación protege al analista, al equipo y a la organización.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5983863" y="24203"/>
            <a:ext cx="1855079" cy="1855079"/>
            <a:chOff x="0" y="0"/>
            <a:chExt cx="5852160" cy="58521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85216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0"/>
                  </a:lnTo>
                  <a:lnTo>
                    <a:pt x="0" y="585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sp>
        <p:nvSpPr>
          <p:cNvPr name="Freeform 44" id="44"/>
          <p:cNvSpPr/>
          <p:nvPr/>
        </p:nvSpPr>
        <p:spPr>
          <a:xfrm flipH="false" flipV="false" rot="0">
            <a:off x="814871" y="2058426"/>
            <a:ext cx="546530" cy="546530"/>
          </a:xfrm>
          <a:custGeom>
            <a:avLst/>
            <a:gdLst/>
            <a:ahLst/>
            <a:cxnLst/>
            <a:rect r="r" b="b" t="t" l="l"/>
            <a:pathLst>
              <a:path h="546530" w="546530">
                <a:moveTo>
                  <a:pt x="0" y="0"/>
                </a:moveTo>
                <a:lnTo>
                  <a:pt x="546530" y="0"/>
                </a:lnTo>
                <a:lnTo>
                  <a:pt x="546530" y="546531"/>
                </a:lnTo>
                <a:lnTo>
                  <a:pt x="0" y="54653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97" y="9771383"/>
            <a:ext cx="18313336" cy="537401"/>
          </a:xfrm>
          <a:custGeom>
            <a:avLst/>
            <a:gdLst/>
            <a:ahLst/>
            <a:cxnLst/>
            <a:rect r="r" b="b" t="t" l="l"/>
            <a:pathLst>
              <a:path h="537401" w="18313336">
                <a:moveTo>
                  <a:pt x="0" y="0"/>
                </a:moveTo>
                <a:lnTo>
                  <a:pt x="18313337" y="0"/>
                </a:lnTo>
                <a:lnTo>
                  <a:pt x="18313337" y="537401"/>
                </a:lnTo>
                <a:lnTo>
                  <a:pt x="0" y="53740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48640" y="9784080"/>
            <a:ext cx="15544800" cy="512064"/>
            <a:chOff x="0" y="0"/>
            <a:chExt cx="20726400" cy="68275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26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41099" r="0" b="-541097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548640" y="9762649"/>
            <a:ext cx="15544800" cy="533495"/>
            <a:chOff x="0" y="0"/>
            <a:chExt cx="20726400" cy="71132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711327"/>
            </a:xfrm>
            <a:custGeom>
              <a:avLst/>
              <a:gdLst/>
              <a:ahLst/>
              <a:cxnLst/>
              <a:rect r="r" b="b" t="t" l="l"/>
              <a:pathLst>
                <a:path h="711327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17748" r="0" b="-51774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07264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FFCC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Modern SOC Operations  |  Módulo 1  -  Hidden Security ® 2026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824960" y="9784080"/>
            <a:ext cx="1280160" cy="512064"/>
            <a:chOff x="0" y="0"/>
            <a:chExt cx="1706880" cy="6827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357" t="0" r="-1357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824960" y="9762649"/>
            <a:ext cx="1280160" cy="533495"/>
            <a:chOff x="0" y="0"/>
            <a:chExt cx="1706880" cy="7113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06880" cy="711327"/>
            </a:xfrm>
            <a:custGeom>
              <a:avLst/>
              <a:gdLst/>
              <a:ahLst/>
              <a:cxnLst/>
              <a:rect r="r" b="b" t="t" l="l"/>
              <a:pathLst>
                <a:path h="711327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3469" t="0" r="-3469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7068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 b="true">
                  <a:solidFill>
                    <a:srgbClr val="FFDD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p.26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-12697" y="-12697"/>
            <a:ext cx="18313336" cy="1671256"/>
          </a:xfrm>
          <a:custGeom>
            <a:avLst/>
            <a:gdLst/>
            <a:ahLst/>
            <a:cxnLst/>
            <a:rect r="r" b="b" t="t" l="l"/>
            <a:pathLst>
              <a:path h="1671256" w="18313336">
                <a:moveTo>
                  <a:pt x="0" y="0"/>
                </a:moveTo>
                <a:lnTo>
                  <a:pt x="18313337" y="0"/>
                </a:lnTo>
                <a:lnTo>
                  <a:pt x="18313337" y="1671257"/>
                </a:lnTo>
                <a:lnTo>
                  <a:pt x="0" y="167125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731520" y="0"/>
            <a:ext cx="16824960" cy="1645920"/>
            <a:chOff x="0" y="0"/>
            <a:chExt cx="22433280" cy="21945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332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9041" r="0" b="-149042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31520" y="-50006"/>
            <a:ext cx="16824960" cy="1695926"/>
            <a:chOff x="0" y="0"/>
            <a:chExt cx="22433280" cy="226123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433280" cy="2261235"/>
            </a:xfrm>
            <a:custGeom>
              <a:avLst/>
              <a:gdLst/>
              <a:ahLst/>
              <a:cxnLst/>
              <a:rect r="r" b="b" t="t" l="l"/>
              <a:pathLst>
                <a:path h="2261235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261235"/>
                  </a:lnTo>
                  <a:lnTo>
                    <a:pt x="0" y="226123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3307" r="0" b="-14330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22433280" cy="2327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8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1.3  |  Flujo de trabajo del Analista SOC Moderno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2069251" y="2388454"/>
            <a:ext cx="2672239" cy="2351028"/>
          </a:xfrm>
          <a:custGeom>
            <a:avLst/>
            <a:gdLst/>
            <a:ahLst/>
            <a:cxnLst/>
            <a:rect r="r" b="b" t="t" l="l"/>
            <a:pathLst>
              <a:path h="2351028" w="2672239">
                <a:moveTo>
                  <a:pt x="0" y="0"/>
                </a:moveTo>
                <a:lnTo>
                  <a:pt x="2672239" y="0"/>
                </a:lnTo>
                <a:lnTo>
                  <a:pt x="2672239" y="2351028"/>
                </a:lnTo>
                <a:lnTo>
                  <a:pt x="0" y="235102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2080401" y="2399605"/>
            <a:ext cx="2649988" cy="2328777"/>
            <a:chOff x="0" y="0"/>
            <a:chExt cx="4023360" cy="35356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23360" cy="3535680"/>
            </a:xfrm>
            <a:custGeom>
              <a:avLst/>
              <a:gdLst/>
              <a:ahLst/>
              <a:cxnLst/>
              <a:rect r="r" b="b" t="t" l="l"/>
              <a:pathLst>
                <a:path h="35356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3535680"/>
                  </a:lnTo>
                  <a:lnTo>
                    <a:pt x="0" y="35356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2830" t="0" r="-62829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080401" y="2374510"/>
            <a:ext cx="2649988" cy="2353872"/>
            <a:chOff x="0" y="0"/>
            <a:chExt cx="4023360" cy="35737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023360" cy="3573780"/>
            </a:xfrm>
            <a:custGeom>
              <a:avLst/>
              <a:gdLst/>
              <a:ahLst/>
              <a:cxnLst/>
              <a:rect r="r" b="b" t="t" l="l"/>
              <a:pathLst>
                <a:path h="35737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3573780"/>
                  </a:lnTo>
                  <a:lnTo>
                    <a:pt x="0" y="35737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63966" t="0" r="-63966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4023360" cy="3611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Alerta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detectada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762511" y="2399605"/>
            <a:ext cx="562119" cy="2328777"/>
            <a:chOff x="0" y="0"/>
            <a:chExt cx="853440" cy="35356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53440" cy="3535680"/>
            </a:xfrm>
            <a:custGeom>
              <a:avLst/>
              <a:gdLst/>
              <a:ahLst/>
              <a:cxnLst/>
              <a:rect r="r" b="b" t="t" l="l"/>
              <a:pathLst>
                <a:path h="353568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3535680"/>
                  </a:lnTo>
                  <a:lnTo>
                    <a:pt x="0" y="35356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481913" t="0" r="-481912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4762511" y="2361963"/>
            <a:ext cx="562119" cy="2366419"/>
            <a:chOff x="0" y="0"/>
            <a:chExt cx="853440" cy="359283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53440" cy="3592830"/>
            </a:xfrm>
            <a:custGeom>
              <a:avLst/>
              <a:gdLst/>
              <a:ahLst/>
              <a:cxnLst/>
              <a:rect r="r" b="b" t="t" l="l"/>
              <a:pathLst>
                <a:path h="359283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3592830"/>
                  </a:lnTo>
                  <a:lnTo>
                    <a:pt x="0" y="359283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490135" t="0" r="-490135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853440" cy="3649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4879844" y="2388454"/>
            <a:ext cx="2672239" cy="2351028"/>
          </a:xfrm>
          <a:custGeom>
            <a:avLst/>
            <a:gdLst/>
            <a:ahLst/>
            <a:cxnLst/>
            <a:rect r="r" b="b" t="t" l="l"/>
            <a:pathLst>
              <a:path h="2351028" w="2672239">
                <a:moveTo>
                  <a:pt x="0" y="0"/>
                </a:moveTo>
                <a:lnTo>
                  <a:pt x="2672239" y="0"/>
                </a:lnTo>
                <a:lnTo>
                  <a:pt x="2672239" y="2351028"/>
                </a:lnTo>
                <a:lnTo>
                  <a:pt x="0" y="235102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4890995" y="2399605"/>
            <a:ext cx="2649988" cy="2328777"/>
            <a:chOff x="0" y="0"/>
            <a:chExt cx="4023360" cy="35356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023360" cy="3535680"/>
            </a:xfrm>
            <a:custGeom>
              <a:avLst/>
              <a:gdLst/>
              <a:ahLst/>
              <a:cxnLst/>
              <a:rect r="r" b="b" t="t" l="l"/>
              <a:pathLst>
                <a:path h="35356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3535680"/>
                  </a:lnTo>
                  <a:lnTo>
                    <a:pt x="0" y="35356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2830" t="0" r="-62829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4890995" y="2374510"/>
            <a:ext cx="2649988" cy="2353872"/>
            <a:chOff x="0" y="0"/>
            <a:chExt cx="4023360" cy="35737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023360" cy="3573780"/>
            </a:xfrm>
            <a:custGeom>
              <a:avLst/>
              <a:gdLst/>
              <a:ahLst/>
              <a:cxnLst/>
              <a:rect r="r" b="b" t="t" l="l"/>
              <a:pathLst>
                <a:path h="35737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3573780"/>
                  </a:lnTo>
                  <a:lnTo>
                    <a:pt x="0" y="35737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63966" t="0" r="-63966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4023360" cy="3611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SOC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analiza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573104" y="2399605"/>
            <a:ext cx="562119" cy="2328777"/>
            <a:chOff x="0" y="0"/>
            <a:chExt cx="853440" cy="35356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53440" cy="3535680"/>
            </a:xfrm>
            <a:custGeom>
              <a:avLst/>
              <a:gdLst/>
              <a:ahLst/>
              <a:cxnLst/>
              <a:rect r="r" b="b" t="t" l="l"/>
              <a:pathLst>
                <a:path h="353568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3535680"/>
                  </a:lnTo>
                  <a:lnTo>
                    <a:pt x="0" y="35356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481913" t="0" r="-481912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573104" y="2361963"/>
            <a:ext cx="562119" cy="2366419"/>
            <a:chOff x="0" y="0"/>
            <a:chExt cx="853440" cy="359283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53440" cy="3592830"/>
            </a:xfrm>
            <a:custGeom>
              <a:avLst/>
              <a:gdLst/>
              <a:ahLst/>
              <a:cxnLst/>
              <a:rect r="r" b="b" t="t" l="l"/>
              <a:pathLst>
                <a:path h="359283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3592830"/>
                  </a:lnTo>
                  <a:lnTo>
                    <a:pt x="0" y="359283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490135" t="0" r="-490135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853440" cy="3649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7690438" y="2388454"/>
            <a:ext cx="2672239" cy="2351028"/>
          </a:xfrm>
          <a:custGeom>
            <a:avLst/>
            <a:gdLst/>
            <a:ahLst/>
            <a:cxnLst/>
            <a:rect r="r" b="b" t="t" l="l"/>
            <a:pathLst>
              <a:path h="2351028" w="2672239">
                <a:moveTo>
                  <a:pt x="0" y="0"/>
                </a:moveTo>
                <a:lnTo>
                  <a:pt x="2672239" y="0"/>
                </a:lnTo>
                <a:lnTo>
                  <a:pt x="2672239" y="2351028"/>
                </a:lnTo>
                <a:lnTo>
                  <a:pt x="0" y="235102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7701588" y="2399605"/>
            <a:ext cx="2649988" cy="2328777"/>
            <a:chOff x="0" y="0"/>
            <a:chExt cx="4023360" cy="35356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023360" cy="3535680"/>
            </a:xfrm>
            <a:custGeom>
              <a:avLst/>
              <a:gdLst/>
              <a:ahLst/>
              <a:cxnLst/>
              <a:rect r="r" b="b" t="t" l="l"/>
              <a:pathLst>
                <a:path h="35356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3535680"/>
                  </a:lnTo>
                  <a:lnTo>
                    <a:pt x="0" y="35356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2830" t="0" r="-62829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701588" y="2374510"/>
            <a:ext cx="2649988" cy="2353872"/>
            <a:chOff x="0" y="0"/>
            <a:chExt cx="4023360" cy="35737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023360" cy="3573780"/>
            </a:xfrm>
            <a:custGeom>
              <a:avLst/>
              <a:gdLst/>
              <a:ahLst/>
              <a:cxnLst/>
              <a:rect r="r" b="b" t="t" l="l"/>
              <a:pathLst>
                <a:path h="35737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3573780"/>
                  </a:lnTo>
                  <a:lnTo>
                    <a:pt x="0" y="35737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63966" t="0" r="-63966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4023360" cy="3611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Clasifica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(baja/media/crítica)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383697" y="2399605"/>
            <a:ext cx="562119" cy="2328777"/>
            <a:chOff x="0" y="0"/>
            <a:chExt cx="853440" cy="35356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53440" cy="3535680"/>
            </a:xfrm>
            <a:custGeom>
              <a:avLst/>
              <a:gdLst/>
              <a:ahLst/>
              <a:cxnLst/>
              <a:rect r="r" b="b" t="t" l="l"/>
              <a:pathLst>
                <a:path h="353568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3535680"/>
                  </a:lnTo>
                  <a:lnTo>
                    <a:pt x="0" y="35356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481913" t="0" r="-481912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0383697" y="2361963"/>
            <a:ext cx="562119" cy="2366419"/>
            <a:chOff x="0" y="0"/>
            <a:chExt cx="853440" cy="359283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53440" cy="3592830"/>
            </a:xfrm>
            <a:custGeom>
              <a:avLst/>
              <a:gdLst/>
              <a:ahLst/>
              <a:cxnLst/>
              <a:rect r="r" b="b" t="t" l="l"/>
              <a:pathLst>
                <a:path h="359283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3592830"/>
                  </a:lnTo>
                  <a:lnTo>
                    <a:pt x="0" y="359283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490135" t="0" r="-490135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853440" cy="3649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sp>
        <p:nvSpPr>
          <p:cNvPr name="Freeform 52" id="52"/>
          <p:cNvSpPr/>
          <p:nvPr/>
        </p:nvSpPr>
        <p:spPr>
          <a:xfrm flipH="false" flipV="false" rot="0">
            <a:off x="10501031" y="2388454"/>
            <a:ext cx="2672239" cy="2351028"/>
          </a:xfrm>
          <a:custGeom>
            <a:avLst/>
            <a:gdLst/>
            <a:ahLst/>
            <a:cxnLst/>
            <a:rect r="r" b="b" t="t" l="l"/>
            <a:pathLst>
              <a:path h="2351028" w="2672239">
                <a:moveTo>
                  <a:pt x="0" y="0"/>
                </a:moveTo>
                <a:lnTo>
                  <a:pt x="2672239" y="0"/>
                </a:lnTo>
                <a:lnTo>
                  <a:pt x="2672239" y="2351028"/>
                </a:lnTo>
                <a:lnTo>
                  <a:pt x="0" y="235102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10512182" y="2399605"/>
            <a:ext cx="2649988" cy="2328777"/>
            <a:chOff x="0" y="0"/>
            <a:chExt cx="4023360" cy="35356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023360" cy="3535680"/>
            </a:xfrm>
            <a:custGeom>
              <a:avLst/>
              <a:gdLst/>
              <a:ahLst/>
              <a:cxnLst/>
              <a:rect r="r" b="b" t="t" l="l"/>
              <a:pathLst>
                <a:path h="35356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3535680"/>
                  </a:lnTo>
                  <a:lnTo>
                    <a:pt x="0" y="35356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2830" t="0" r="-62829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0512182" y="2374510"/>
            <a:ext cx="2649988" cy="2353872"/>
            <a:chOff x="0" y="0"/>
            <a:chExt cx="4023360" cy="35737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023360" cy="3573780"/>
            </a:xfrm>
            <a:custGeom>
              <a:avLst/>
              <a:gdLst/>
              <a:ahLst/>
              <a:cxnLst/>
              <a:rect r="r" b="b" t="t" l="l"/>
              <a:pathLst>
                <a:path h="35737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3573780"/>
                  </a:lnTo>
                  <a:lnTo>
                    <a:pt x="0" y="35737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63966" t="0" r="-63966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4023360" cy="3611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Sigue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Playbook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3194291" y="2399605"/>
            <a:ext cx="562119" cy="2328777"/>
            <a:chOff x="0" y="0"/>
            <a:chExt cx="853440" cy="35356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53440" cy="3535680"/>
            </a:xfrm>
            <a:custGeom>
              <a:avLst/>
              <a:gdLst/>
              <a:ahLst/>
              <a:cxnLst/>
              <a:rect r="r" b="b" t="t" l="l"/>
              <a:pathLst>
                <a:path h="353568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3535680"/>
                  </a:lnTo>
                  <a:lnTo>
                    <a:pt x="0" y="35356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481913" t="0" r="-481912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3194291" y="2361963"/>
            <a:ext cx="562119" cy="2366419"/>
            <a:chOff x="0" y="0"/>
            <a:chExt cx="853440" cy="359283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53440" cy="3592830"/>
            </a:xfrm>
            <a:custGeom>
              <a:avLst/>
              <a:gdLst/>
              <a:ahLst/>
              <a:cxnLst/>
              <a:rect r="r" b="b" t="t" l="l"/>
              <a:pathLst>
                <a:path h="359283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3592830"/>
                  </a:lnTo>
                  <a:lnTo>
                    <a:pt x="0" y="359283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490135" t="0" r="-490135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57150"/>
              <a:ext cx="853440" cy="3649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13311625" y="2388454"/>
            <a:ext cx="2672239" cy="2351028"/>
          </a:xfrm>
          <a:custGeom>
            <a:avLst/>
            <a:gdLst/>
            <a:ahLst/>
            <a:cxnLst/>
            <a:rect r="r" b="b" t="t" l="l"/>
            <a:pathLst>
              <a:path h="2351028" w="2672239">
                <a:moveTo>
                  <a:pt x="0" y="0"/>
                </a:moveTo>
                <a:lnTo>
                  <a:pt x="2672238" y="0"/>
                </a:lnTo>
                <a:lnTo>
                  <a:pt x="2672238" y="2351028"/>
                </a:lnTo>
                <a:lnTo>
                  <a:pt x="0" y="235102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4" id="64"/>
          <p:cNvGrpSpPr/>
          <p:nvPr/>
        </p:nvGrpSpPr>
        <p:grpSpPr>
          <a:xfrm rot="0">
            <a:off x="13322775" y="2399605"/>
            <a:ext cx="2649988" cy="2328777"/>
            <a:chOff x="0" y="0"/>
            <a:chExt cx="4023360" cy="353568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023360" cy="3535680"/>
            </a:xfrm>
            <a:custGeom>
              <a:avLst/>
              <a:gdLst/>
              <a:ahLst/>
              <a:cxnLst/>
              <a:rect r="r" b="b" t="t" l="l"/>
              <a:pathLst>
                <a:path h="35356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3535680"/>
                  </a:lnTo>
                  <a:lnTo>
                    <a:pt x="0" y="35356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62830" t="0" r="-62829" b="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3322775" y="2374510"/>
            <a:ext cx="2649988" cy="2353872"/>
            <a:chOff x="0" y="0"/>
            <a:chExt cx="4023360" cy="35737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023360" cy="3573780"/>
            </a:xfrm>
            <a:custGeom>
              <a:avLst/>
              <a:gdLst/>
              <a:ahLst/>
              <a:cxnLst/>
              <a:rect r="r" b="b" t="t" l="l"/>
              <a:pathLst>
                <a:path h="35737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3573780"/>
                  </a:lnTo>
                  <a:lnTo>
                    <a:pt x="0" y="35737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63966" t="0" r="-63966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4023360" cy="3611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Documenta</a:t>
              </a:r>
            </a:p>
          </p:txBody>
        </p:sp>
      </p:grpSp>
      <p:sp>
        <p:nvSpPr>
          <p:cNvPr name="Freeform 69" id="69"/>
          <p:cNvSpPr/>
          <p:nvPr/>
        </p:nvSpPr>
        <p:spPr>
          <a:xfrm flipH="false" flipV="false" rot="0">
            <a:off x="13311625" y="5038443"/>
            <a:ext cx="2672239" cy="696793"/>
          </a:xfrm>
          <a:custGeom>
            <a:avLst/>
            <a:gdLst/>
            <a:ahLst/>
            <a:cxnLst/>
            <a:rect r="r" b="b" t="t" l="l"/>
            <a:pathLst>
              <a:path h="696793" w="2672239">
                <a:moveTo>
                  <a:pt x="0" y="0"/>
                </a:moveTo>
                <a:lnTo>
                  <a:pt x="2672238" y="0"/>
                </a:lnTo>
                <a:lnTo>
                  <a:pt x="2672238" y="696793"/>
                </a:lnTo>
                <a:lnTo>
                  <a:pt x="0" y="696793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0" id="70"/>
          <p:cNvGrpSpPr/>
          <p:nvPr/>
        </p:nvGrpSpPr>
        <p:grpSpPr>
          <a:xfrm rot="0">
            <a:off x="13322775" y="4937169"/>
            <a:ext cx="2649988" cy="481816"/>
            <a:chOff x="0" y="0"/>
            <a:chExt cx="4023360" cy="7315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023360" cy="731520"/>
            </a:xfrm>
            <a:custGeom>
              <a:avLst/>
              <a:gdLst/>
              <a:ahLst/>
              <a:cxnLst/>
              <a:rect r="r" b="b" t="t" l="l"/>
              <a:pathLst>
                <a:path h="7315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7093" r="0" b="-57092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3311625" y="5048982"/>
            <a:ext cx="2649988" cy="506911"/>
            <a:chOff x="0" y="0"/>
            <a:chExt cx="4023360" cy="7696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023360" cy="769620"/>
            </a:xfrm>
            <a:custGeom>
              <a:avLst/>
              <a:gdLst/>
              <a:ahLst/>
              <a:cxnLst/>
              <a:rect r="r" b="b" t="t" l="l"/>
              <a:pathLst>
                <a:path h="76962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1862" r="0" b="-51862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402336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40"/>
                </a:lnSpc>
              </a:pPr>
              <a:r>
                <a:rPr lang="en-US" sz="1700">
                  <a:solidFill>
                    <a:srgbClr val="E07B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↓ si riesgo alto</a:t>
              </a:r>
            </a:p>
          </p:txBody>
        </p:sp>
      </p:grpSp>
      <p:sp>
        <p:nvSpPr>
          <p:cNvPr name="Freeform 75" id="75"/>
          <p:cNvSpPr/>
          <p:nvPr/>
        </p:nvSpPr>
        <p:spPr>
          <a:xfrm flipH="false" flipV="false" rot="0">
            <a:off x="13311625" y="5600561"/>
            <a:ext cx="2672239" cy="1949515"/>
          </a:xfrm>
          <a:custGeom>
            <a:avLst/>
            <a:gdLst/>
            <a:ahLst/>
            <a:cxnLst/>
            <a:rect r="r" b="b" t="t" l="l"/>
            <a:pathLst>
              <a:path h="1949515" w="2672239">
                <a:moveTo>
                  <a:pt x="0" y="0"/>
                </a:moveTo>
                <a:lnTo>
                  <a:pt x="2672238" y="0"/>
                </a:lnTo>
                <a:lnTo>
                  <a:pt x="2672238" y="1949515"/>
                </a:lnTo>
                <a:lnTo>
                  <a:pt x="0" y="194951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6" id="76"/>
          <p:cNvGrpSpPr/>
          <p:nvPr/>
        </p:nvGrpSpPr>
        <p:grpSpPr>
          <a:xfrm rot="0">
            <a:off x="13322775" y="5611712"/>
            <a:ext cx="2649988" cy="1927264"/>
            <a:chOff x="0" y="0"/>
            <a:chExt cx="4023360" cy="292608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0233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43376" t="0" r="-43376" b="0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3322775" y="5586617"/>
            <a:ext cx="2649988" cy="1952359"/>
            <a:chOff x="0" y="0"/>
            <a:chExt cx="4023360" cy="296418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023360" cy="2964180"/>
            </a:xfrm>
            <a:custGeom>
              <a:avLst/>
              <a:gdLst/>
              <a:ahLst/>
              <a:cxnLst/>
              <a:rect r="r" b="b" t="t" l="l"/>
              <a:pathLst>
                <a:path h="2964180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2964180"/>
                  </a:lnTo>
                  <a:lnTo>
                    <a:pt x="0" y="29641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44526" t="0" r="-44526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4023360" cy="3002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Escala si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 necesario</a:t>
              </a:r>
            </a:p>
          </p:txBody>
        </p:sp>
      </p:grpSp>
      <p:sp>
        <p:nvSpPr>
          <p:cNvPr name="Freeform 81" id="81"/>
          <p:cNvSpPr/>
          <p:nvPr/>
        </p:nvSpPr>
        <p:spPr>
          <a:xfrm flipH="false" flipV="false" rot="0">
            <a:off x="2191790" y="8375832"/>
            <a:ext cx="13669534" cy="822247"/>
          </a:xfrm>
          <a:custGeom>
            <a:avLst/>
            <a:gdLst/>
            <a:ahLst/>
            <a:cxnLst/>
            <a:rect r="r" b="b" t="t" l="l"/>
            <a:pathLst>
              <a:path h="822247" w="13669534">
                <a:moveTo>
                  <a:pt x="0" y="0"/>
                </a:moveTo>
                <a:lnTo>
                  <a:pt x="13669534" y="0"/>
                </a:lnTo>
                <a:lnTo>
                  <a:pt x="13669534" y="822247"/>
                </a:lnTo>
                <a:lnTo>
                  <a:pt x="0" y="82224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2" id="82"/>
          <p:cNvGrpSpPr/>
          <p:nvPr/>
        </p:nvGrpSpPr>
        <p:grpSpPr>
          <a:xfrm rot="0">
            <a:off x="914400" y="8266176"/>
            <a:ext cx="16459200" cy="1005840"/>
            <a:chOff x="0" y="0"/>
            <a:chExt cx="21945600" cy="134112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68624" r="0" b="-268625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2495344" y="8266176"/>
            <a:ext cx="11813934" cy="1041559"/>
            <a:chOff x="0" y="0"/>
            <a:chExt cx="15751912" cy="1388745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5751911" cy="1388745"/>
            </a:xfrm>
            <a:custGeom>
              <a:avLst/>
              <a:gdLst/>
              <a:ahLst/>
              <a:cxnLst/>
              <a:rect r="r" b="b" t="t" l="l"/>
              <a:pathLst>
                <a:path h="1388745" w="15751911">
                  <a:moveTo>
                    <a:pt x="0" y="0"/>
                  </a:moveTo>
                  <a:lnTo>
                    <a:pt x="15751911" y="0"/>
                  </a:lnTo>
                  <a:lnTo>
                    <a:pt x="15751911" y="1388745"/>
                  </a:lnTo>
                  <a:lnTo>
                    <a:pt x="0" y="138874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7911" r="-39320" b="-257911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15751912" cy="14268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5C51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 el SOC moderno, parte de este flujo está automatizado. </a:t>
              </a:r>
              <a:r>
                <a:rPr lang="en-US" sz="1800">
                  <a:solidFill>
                    <a:srgbClr val="CCCC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 que el analista aporta es criterio en la validación, precisión en la documentación y claridad en el escalamiento.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5983863" y="24203"/>
            <a:ext cx="1855079" cy="1855079"/>
            <a:chOff x="0" y="0"/>
            <a:chExt cx="5852160" cy="585216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85216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0"/>
                  </a:lnTo>
                  <a:lnTo>
                    <a:pt x="0" y="585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97" y="-12697"/>
            <a:ext cx="427672" cy="10312337"/>
          </a:xfrm>
          <a:custGeom>
            <a:avLst/>
            <a:gdLst/>
            <a:ahLst/>
            <a:cxnLst/>
            <a:rect r="r" b="b" t="t" l="l"/>
            <a:pathLst>
              <a:path h="10312337" w="427672">
                <a:moveTo>
                  <a:pt x="0" y="0"/>
                </a:moveTo>
                <a:lnTo>
                  <a:pt x="427673" y="0"/>
                </a:lnTo>
                <a:lnTo>
                  <a:pt x="427673" y="10312337"/>
                </a:lnTo>
                <a:lnTo>
                  <a:pt x="0" y="103123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697" y="9771383"/>
            <a:ext cx="18313336" cy="537401"/>
          </a:xfrm>
          <a:custGeom>
            <a:avLst/>
            <a:gdLst/>
            <a:ahLst/>
            <a:cxnLst/>
            <a:rect r="r" b="b" t="t" l="l"/>
            <a:pathLst>
              <a:path h="537401" w="18313336">
                <a:moveTo>
                  <a:pt x="0" y="0"/>
                </a:moveTo>
                <a:lnTo>
                  <a:pt x="18313337" y="0"/>
                </a:lnTo>
                <a:lnTo>
                  <a:pt x="18313337" y="537401"/>
                </a:lnTo>
                <a:lnTo>
                  <a:pt x="0" y="5374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48640" y="9784080"/>
            <a:ext cx="15544800" cy="512064"/>
            <a:chOff x="0" y="0"/>
            <a:chExt cx="20726400" cy="6827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41099" r="0" b="-54109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8640" y="9762649"/>
            <a:ext cx="15544800" cy="533495"/>
            <a:chOff x="0" y="0"/>
            <a:chExt cx="20726400" cy="7113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711327"/>
            </a:xfrm>
            <a:custGeom>
              <a:avLst/>
              <a:gdLst/>
              <a:ahLst/>
              <a:cxnLst/>
              <a:rect r="r" b="b" t="t" l="l"/>
              <a:pathLst>
                <a:path h="711327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7748" r="0" b="-51774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07264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FFCC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Modern SOC Operations  |  Módulo 1  -  Hidden Security ® 2026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824960" y="9784080"/>
            <a:ext cx="1280160" cy="512064"/>
            <a:chOff x="0" y="0"/>
            <a:chExt cx="1706880" cy="6827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06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357" t="0" r="-1357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824960" y="9762649"/>
            <a:ext cx="1280160" cy="533495"/>
            <a:chOff x="0" y="0"/>
            <a:chExt cx="1706880" cy="7113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6880" cy="711327"/>
            </a:xfrm>
            <a:custGeom>
              <a:avLst/>
              <a:gdLst/>
              <a:ahLst/>
              <a:cxnLst/>
              <a:rect r="r" b="b" t="t" l="l"/>
              <a:pathLst>
                <a:path h="711327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469" t="0" r="-3469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7068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 b="true">
                  <a:solidFill>
                    <a:srgbClr val="FFDD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p.27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12697" y="-12697"/>
            <a:ext cx="18313336" cy="1671256"/>
          </a:xfrm>
          <a:custGeom>
            <a:avLst/>
            <a:gdLst/>
            <a:ahLst/>
            <a:cxnLst/>
            <a:rect r="r" b="b" t="t" l="l"/>
            <a:pathLst>
              <a:path h="1671256" w="18313336">
                <a:moveTo>
                  <a:pt x="0" y="0"/>
                </a:moveTo>
                <a:lnTo>
                  <a:pt x="18313337" y="0"/>
                </a:lnTo>
                <a:lnTo>
                  <a:pt x="18313337" y="1671257"/>
                </a:lnTo>
                <a:lnTo>
                  <a:pt x="0" y="16712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31520" y="0"/>
            <a:ext cx="16824960" cy="1645920"/>
            <a:chOff x="0" y="0"/>
            <a:chExt cx="22433280" cy="21945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4332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49041" r="0" b="-14904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-50006"/>
            <a:ext cx="16824960" cy="1695926"/>
            <a:chOff x="0" y="0"/>
            <a:chExt cx="22433280" cy="226123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433280" cy="2261235"/>
            </a:xfrm>
            <a:custGeom>
              <a:avLst/>
              <a:gdLst/>
              <a:ahLst/>
              <a:cxnLst/>
              <a:rect r="r" b="b" t="t" l="l"/>
              <a:pathLst>
                <a:path h="2261235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261235"/>
                  </a:lnTo>
                  <a:lnTo>
                    <a:pt x="0" y="226123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43307" r="0" b="-14330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22433280" cy="2327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8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1.3  |  Habilidades técnicas del Analista SOC Moderno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40080" y="1773936"/>
            <a:ext cx="17007840" cy="731520"/>
            <a:chOff x="0" y="0"/>
            <a:chExt cx="22677120" cy="9753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677120" cy="975360"/>
            </a:xfrm>
            <a:custGeom>
              <a:avLst/>
              <a:gdLst/>
              <a:ahLst/>
              <a:cxnLst/>
              <a:rect r="r" b="b" t="t" l="l"/>
              <a:pathLst>
                <a:path h="97536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02712" r="0" b="-402712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31520" y="2184153"/>
            <a:ext cx="17007840" cy="767239"/>
            <a:chOff x="0" y="0"/>
            <a:chExt cx="22677120" cy="102298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677120" cy="1022985"/>
            </a:xfrm>
            <a:custGeom>
              <a:avLst/>
              <a:gdLst/>
              <a:ahLst/>
              <a:cxnLst/>
              <a:rect r="r" b="b" t="t" l="l"/>
              <a:pathLst>
                <a:path h="1022985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022985"/>
                  </a:lnTo>
                  <a:lnTo>
                    <a:pt x="0" y="102298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81936" r="0" b="-38193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2677120" cy="1070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Son las herramientas y conocimientos prácticos que el analista necesita manejar en su día a día: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959967" y="3327049"/>
            <a:ext cx="4837061" cy="684947"/>
          </a:xfrm>
          <a:custGeom>
            <a:avLst/>
            <a:gdLst/>
            <a:ahLst/>
            <a:cxnLst/>
            <a:rect r="r" b="b" t="t" l="l"/>
            <a:pathLst>
              <a:path h="684947" w="4837061">
                <a:moveTo>
                  <a:pt x="0" y="0"/>
                </a:moveTo>
                <a:lnTo>
                  <a:pt x="4837060" y="0"/>
                </a:lnTo>
                <a:lnTo>
                  <a:pt x="4837060" y="684947"/>
                </a:lnTo>
                <a:lnTo>
                  <a:pt x="0" y="68494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970928" y="3338010"/>
            <a:ext cx="4815188" cy="663075"/>
            <a:chOff x="0" y="0"/>
            <a:chExt cx="7437120" cy="102412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4371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1400" r="0" b="-9140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970928" y="3313342"/>
            <a:ext cx="4815188" cy="687743"/>
            <a:chOff x="0" y="0"/>
            <a:chExt cx="7437120" cy="106222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437120" cy="1062228"/>
            </a:xfrm>
            <a:custGeom>
              <a:avLst/>
              <a:gdLst/>
              <a:ahLst/>
              <a:cxnLst/>
              <a:rect r="r" b="b" t="t" l="l"/>
              <a:pathLst>
                <a:path h="106222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62228"/>
                  </a:lnTo>
                  <a:lnTo>
                    <a:pt x="0" y="106222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6423" r="0" b="-8642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743712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📊  Uso de plataformas SIEM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959967" y="4021699"/>
            <a:ext cx="4837061" cy="1884798"/>
          </a:xfrm>
          <a:custGeom>
            <a:avLst/>
            <a:gdLst/>
            <a:ahLst/>
            <a:cxnLst/>
            <a:rect r="r" b="b" t="t" l="l"/>
            <a:pathLst>
              <a:path h="1884798" w="4837061">
                <a:moveTo>
                  <a:pt x="0" y="0"/>
                </a:moveTo>
                <a:lnTo>
                  <a:pt x="4837060" y="0"/>
                </a:lnTo>
                <a:lnTo>
                  <a:pt x="4837060" y="1884797"/>
                </a:lnTo>
                <a:lnTo>
                  <a:pt x="0" y="188479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2184059" y="4268676"/>
            <a:ext cx="4388926" cy="1003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1639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Splunk, QRadar, Microsoft Sentinel: para visualizar, filtrar y correlacionar eventos de seguridad. Es la herramienta central del analista L1.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7043543" y="3327049"/>
            <a:ext cx="4837061" cy="684947"/>
          </a:xfrm>
          <a:custGeom>
            <a:avLst/>
            <a:gdLst/>
            <a:ahLst/>
            <a:cxnLst/>
            <a:rect r="r" b="b" t="t" l="l"/>
            <a:pathLst>
              <a:path h="684947" w="4837061">
                <a:moveTo>
                  <a:pt x="0" y="0"/>
                </a:moveTo>
                <a:lnTo>
                  <a:pt x="4837060" y="0"/>
                </a:lnTo>
                <a:lnTo>
                  <a:pt x="4837060" y="684947"/>
                </a:lnTo>
                <a:lnTo>
                  <a:pt x="0" y="68494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7054503" y="3338010"/>
            <a:ext cx="4815188" cy="663075"/>
            <a:chOff x="0" y="0"/>
            <a:chExt cx="7437120" cy="102412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4371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1400" r="0" b="-9140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7054503" y="3313342"/>
            <a:ext cx="4815188" cy="687743"/>
            <a:chOff x="0" y="0"/>
            <a:chExt cx="7437120" cy="106222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437120" cy="1062228"/>
            </a:xfrm>
            <a:custGeom>
              <a:avLst/>
              <a:gdLst/>
              <a:ahLst/>
              <a:cxnLst/>
              <a:rect r="r" b="b" t="t" l="l"/>
              <a:pathLst>
                <a:path h="106222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62228"/>
                  </a:lnTo>
                  <a:lnTo>
                    <a:pt x="0" y="106222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6423" r="0" b="-8642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743712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🗂  Análisis de logs</a:t>
              </a: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7043543" y="4021699"/>
            <a:ext cx="4837061" cy="1884798"/>
          </a:xfrm>
          <a:custGeom>
            <a:avLst/>
            <a:gdLst/>
            <a:ahLst/>
            <a:cxnLst/>
            <a:rect r="r" b="b" t="t" l="l"/>
            <a:pathLst>
              <a:path h="1884798" w="4837061">
                <a:moveTo>
                  <a:pt x="0" y="0"/>
                </a:moveTo>
                <a:lnTo>
                  <a:pt x="4837060" y="0"/>
                </a:lnTo>
                <a:lnTo>
                  <a:pt x="4837060" y="1884797"/>
                </a:lnTo>
                <a:lnTo>
                  <a:pt x="0" y="188479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7267635" y="4268676"/>
            <a:ext cx="4388926" cy="1003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1639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Saber leer eventos en Windows Event Logs, syslog de Linux, registros de firewall y EDR para identificar comportamientos anómalos.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12127119" y="3327049"/>
            <a:ext cx="4837061" cy="684947"/>
          </a:xfrm>
          <a:custGeom>
            <a:avLst/>
            <a:gdLst/>
            <a:ahLst/>
            <a:cxnLst/>
            <a:rect r="r" b="b" t="t" l="l"/>
            <a:pathLst>
              <a:path h="684947" w="4837061">
                <a:moveTo>
                  <a:pt x="0" y="0"/>
                </a:moveTo>
                <a:lnTo>
                  <a:pt x="4837060" y="0"/>
                </a:lnTo>
                <a:lnTo>
                  <a:pt x="4837060" y="684947"/>
                </a:lnTo>
                <a:lnTo>
                  <a:pt x="0" y="68494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12138079" y="3338010"/>
            <a:ext cx="4815188" cy="663075"/>
            <a:chOff x="0" y="0"/>
            <a:chExt cx="7437120" cy="102412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4371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1400" r="0" b="-9140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138079" y="3313342"/>
            <a:ext cx="4815188" cy="687743"/>
            <a:chOff x="0" y="0"/>
            <a:chExt cx="7437120" cy="106222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437120" cy="1062228"/>
            </a:xfrm>
            <a:custGeom>
              <a:avLst/>
              <a:gdLst/>
              <a:ahLst/>
              <a:cxnLst/>
              <a:rect r="r" b="b" t="t" l="l"/>
              <a:pathLst>
                <a:path h="106222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62228"/>
                  </a:lnTo>
                  <a:lnTo>
                    <a:pt x="0" y="106222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6423" r="0" b="-8642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743712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🌐  Redes y protocolos</a:t>
              </a: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12127119" y="4021699"/>
            <a:ext cx="4837061" cy="1884798"/>
          </a:xfrm>
          <a:custGeom>
            <a:avLst/>
            <a:gdLst/>
            <a:ahLst/>
            <a:cxnLst/>
            <a:rect r="r" b="b" t="t" l="l"/>
            <a:pathLst>
              <a:path h="1884798" w="4837061">
                <a:moveTo>
                  <a:pt x="0" y="0"/>
                </a:moveTo>
                <a:lnTo>
                  <a:pt x="4837060" y="0"/>
                </a:lnTo>
                <a:lnTo>
                  <a:pt x="4837060" y="1884797"/>
                </a:lnTo>
                <a:lnTo>
                  <a:pt x="0" y="188479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12351211" y="4268676"/>
            <a:ext cx="4388926" cy="1003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1639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Conceptos básicos de TCP/IP, DNS, HTTP, puertos y servicios. Muchas alertas están relacionadas con comportamiento en red.</a:t>
            </a:r>
          </a:p>
        </p:txBody>
      </p:sp>
      <p:sp>
        <p:nvSpPr>
          <p:cNvPr name="Freeform 49" id="49"/>
          <p:cNvSpPr/>
          <p:nvPr/>
        </p:nvSpPr>
        <p:spPr>
          <a:xfrm flipH="false" flipV="false" rot="0">
            <a:off x="1959967" y="6010924"/>
            <a:ext cx="4837061" cy="684947"/>
          </a:xfrm>
          <a:custGeom>
            <a:avLst/>
            <a:gdLst/>
            <a:ahLst/>
            <a:cxnLst/>
            <a:rect r="r" b="b" t="t" l="l"/>
            <a:pathLst>
              <a:path h="684947" w="4837061">
                <a:moveTo>
                  <a:pt x="0" y="0"/>
                </a:moveTo>
                <a:lnTo>
                  <a:pt x="4837060" y="0"/>
                </a:lnTo>
                <a:lnTo>
                  <a:pt x="4837060" y="684948"/>
                </a:lnTo>
                <a:lnTo>
                  <a:pt x="0" y="68494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1970928" y="6021885"/>
            <a:ext cx="4815188" cy="663075"/>
            <a:chOff x="0" y="0"/>
            <a:chExt cx="7437120" cy="102412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4371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1400" r="0" b="-9140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970928" y="5997217"/>
            <a:ext cx="4815188" cy="687743"/>
            <a:chOff x="0" y="0"/>
            <a:chExt cx="7437120" cy="106222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437120" cy="1062228"/>
            </a:xfrm>
            <a:custGeom>
              <a:avLst/>
              <a:gdLst/>
              <a:ahLst/>
              <a:cxnLst/>
              <a:rect r="r" b="b" t="t" l="l"/>
              <a:pathLst>
                <a:path h="106222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62228"/>
                  </a:lnTo>
                  <a:lnTo>
                    <a:pt x="0" y="106222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6423" r="0" b="-86423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743712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🦠  Amenazas comunes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1959967" y="6705574"/>
            <a:ext cx="4837061" cy="1884798"/>
          </a:xfrm>
          <a:custGeom>
            <a:avLst/>
            <a:gdLst/>
            <a:ahLst/>
            <a:cxnLst/>
            <a:rect r="r" b="b" t="t" l="l"/>
            <a:pathLst>
              <a:path h="1884798" w="4837061">
                <a:moveTo>
                  <a:pt x="0" y="0"/>
                </a:moveTo>
                <a:lnTo>
                  <a:pt x="4837060" y="0"/>
                </a:lnTo>
                <a:lnTo>
                  <a:pt x="4837060" y="1884798"/>
                </a:lnTo>
                <a:lnTo>
                  <a:pt x="0" y="188479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2184059" y="6952552"/>
            <a:ext cx="4388926" cy="1003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1639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Reconocer malware, phishing, escaneo de puertos y uso de credenciales comprometidas para contextualizar cada alerta.</a:t>
            </a:r>
          </a:p>
        </p:txBody>
      </p:sp>
      <p:sp>
        <p:nvSpPr>
          <p:cNvPr name="Freeform 57" id="57"/>
          <p:cNvSpPr/>
          <p:nvPr/>
        </p:nvSpPr>
        <p:spPr>
          <a:xfrm flipH="false" flipV="false" rot="0">
            <a:off x="7043543" y="6010924"/>
            <a:ext cx="4837061" cy="684947"/>
          </a:xfrm>
          <a:custGeom>
            <a:avLst/>
            <a:gdLst/>
            <a:ahLst/>
            <a:cxnLst/>
            <a:rect r="r" b="b" t="t" l="l"/>
            <a:pathLst>
              <a:path h="684947" w="4837061">
                <a:moveTo>
                  <a:pt x="0" y="0"/>
                </a:moveTo>
                <a:lnTo>
                  <a:pt x="4837060" y="0"/>
                </a:lnTo>
                <a:lnTo>
                  <a:pt x="4837060" y="684948"/>
                </a:lnTo>
                <a:lnTo>
                  <a:pt x="0" y="684948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8" id="58"/>
          <p:cNvGrpSpPr/>
          <p:nvPr/>
        </p:nvGrpSpPr>
        <p:grpSpPr>
          <a:xfrm rot="0">
            <a:off x="7054503" y="6021885"/>
            <a:ext cx="4815188" cy="663075"/>
            <a:chOff x="0" y="0"/>
            <a:chExt cx="7437120" cy="102412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4371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1400" r="0" b="-9140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7054503" y="5997217"/>
            <a:ext cx="4815188" cy="687743"/>
            <a:chOff x="0" y="0"/>
            <a:chExt cx="7437120" cy="106222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437120" cy="1062228"/>
            </a:xfrm>
            <a:custGeom>
              <a:avLst/>
              <a:gdLst/>
              <a:ahLst/>
              <a:cxnLst/>
              <a:rect r="r" b="b" t="t" l="l"/>
              <a:pathLst>
                <a:path h="106222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62228"/>
                  </a:lnTo>
                  <a:lnTo>
                    <a:pt x="0" y="106222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6423" r="0" b="-8642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743712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🔍  Threat Intelligence</a:t>
              </a: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7043543" y="6705574"/>
            <a:ext cx="4837061" cy="1884798"/>
          </a:xfrm>
          <a:custGeom>
            <a:avLst/>
            <a:gdLst/>
            <a:ahLst/>
            <a:cxnLst/>
            <a:rect r="r" b="b" t="t" l="l"/>
            <a:pathLst>
              <a:path h="1884798" w="4837061">
                <a:moveTo>
                  <a:pt x="0" y="0"/>
                </a:moveTo>
                <a:lnTo>
                  <a:pt x="4837060" y="0"/>
                </a:lnTo>
                <a:lnTo>
                  <a:pt x="4837060" y="1884798"/>
                </a:lnTo>
                <a:lnTo>
                  <a:pt x="0" y="188479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4" id="64"/>
          <p:cNvSpPr txBox="true"/>
          <p:nvPr/>
        </p:nvSpPr>
        <p:spPr>
          <a:xfrm rot="0">
            <a:off x="7267635" y="6952552"/>
            <a:ext cx="4388926" cy="1003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1639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Consulta de fuentes como VirusTotal, AbuseIPDB, AlienVault OTX para verificar IPs, hashes o dominios sospechosos.</a:t>
            </a:r>
          </a:p>
        </p:txBody>
      </p:sp>
      <p:sp>
        <p:nvSpPr>
          <p:cNvPr name="Freeform 65" id="65"/>
          <p:cNvSpPr/>
          <p:nvPr/>
        </p:nvSpPr>
        <p:spPr>
          <a:xfrm flipH="false" flipV="false" rot="0">
            <a:off x="12127119" y="6010924"/>
            <a:ext cx="4837061" cy="684947"/>
          </a:xfrm>
          <a:custGeom>
            <a:avLst/>
            <a:gdLst/>
            <a:ahLst/>
            <a:cxnLst/>
            <a:rect r="r" b="b" t="t" l="l"/>
            <a:pathLst>
              <a:path h="684947" w="4837061">
                <a:moveTo>
                  <a:pt x="0" y="0"/>
                </a:moveTo>
                <a:lnTo>
                  <a:pt x="4837060" y="0"/>
                </a:lnTo>
                <a:lnTo>
                  <a:pt x="4837060" y="684948"/>
                </a:lnTo>
                <a:lnTo>
                  <a:pt x="0" y="684948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6" id="66"/>
          <p:cNvGrpSpPr/>
          <p:nvPr/>
        </p:nvGrpSpPr>
        <p:grpSpPr>
          <a:xfrm rot="0">
            <a:off x="12138079" y="6021885"/>
            <a:ext cx="4815188" cy="663075"/>
            <a:chOff x="0" y="0"/>
            <a:chExt cx="7437120" cy="102412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4371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1400" r="0" b="-91400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2138079" y="5997217"/>
            <a:ext cx="4815188" cy="687743"/>
            <a:chOff x="0" y="0"/>
            <a:chExt cx="7437120" cy="106222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437120" cy="1062228"/>
            </a:xfrm>
            <a:custGeom>
              <a:avLst/>
              <a:gdLst/>
              <a:ahLst/>
              <a:cxnLst/>
              <a:rect r="r" b="b" t="t" l="l"/>
              <a:pathLst>
                <a:path h="106222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62228"/>
                  </a:lnTo>
                  <a:lnTo>
                    <a:pt x="0" y="106222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6423" r="0" b="-8642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743712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🎫  Gestión de tickets</a:t>
              </a:r>
            </a:p>
          </p:txBody>
        </p:sp>
      </p:grpSp>
      <p:sp>
        <p:nvSpPr>
          <p:cNvPr name="Freeform 71" id="71"/>
          <p:cNvSpPr/>
          <p:nvPr/>
        </p:nvSpPr>
        <p:spPr>
          <a:xfrm flipH="false" flipV="false" rot="0">
            <a:off x="12127119" y="6705574"/>
            <a:ext cx="4837061" cy="1884798"/>
          </a:xfrm>
          <a:custGeom>
            <a:avLst/>
            <a:gdLst/>
            <a:ahLst/>
            <a:cxnLst/>
            <a:rect r="r" b="b" t="t" l="l"/>
            <a:pathLst>
              <a:path h="1884798" w="4837061">
                <a:moveTo>
                  <a:pt x="0" y="0"/>
                </a:moveTo>
                <a:lnTo>
                  <a:pt x="4837060" y="0"/>
                </a:lnTo>
                <a:lnTo>
                  <a:pt x="4837060" y="1884798"/>
                </a:lnTo>
                <a:lnTo>
                  <a:pt x="0" y="188479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2" id="72"/>
          <p:cNvSpPr txBox="true"/>
          <p:nvPr/>
        </p:nvSpPr>
        <p:spPr>
          <a:xfrm rot="0">
            <a:off x="12351211" y="6952552"/>
            <a:ext cx="4388926" cy="1003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8"/>
              </a:lnSpc>
            </a:pPr>
            <a:r>
              <a:rPr lang="en-US" sz="1639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Documentar correctamente en herramientas como ServiceNow, TheHive o Jira: claridad, orden y trazabilidad son críticos.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15983863" y="24203"/>
            <a:ext cx="1855079" cy="1855079"/>
            <a:chOff x="0" y="0"/>
            <a:chExt cx="5852160" cy="585216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85216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0"/>
                  </a:lnTo>
                  <a:lnTo>
                    <a:pt x="0" y="585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97" y="-12697"/>
            <a:ext cx="427672" cy="10312337"/>
          </a:xfrm>
          <a:custGeom>
            <a:avLst/>
            <a:gdLst/>
            <a:ahLst/>
            <a:cxnLst/>
            <a:rect r="r" b="b" t="t" l="l"/>
            <a:pathLst>
              <a:path h="10312337" w="427672">
                <a:moveTo>
                  <a:pt x="0" y="0"/>
                </a:moveTo>
                <a:lnTo>
                  <a:pt x="427673" y="0"/>
                </a:lnTo>
                <a:lnTo>
                  <a:pt x="427673" y="10312337"/>
                </a:lnTo>
                <a:lnTo>
                  <a:pt x="0" y="103123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697" y="9771383"/>
            <a:ext cx="18313336" cy="537401"/>
          </a:xfrm>
          <a:custGeom>
            <a:avLst/>
            <a:gdLst/>
            <a:ahLst/>
            <a:cxnLst/>
            <a:rect r="r" b="b" t="t" l="l"/>
            <a:pathLst>
              <a:path h="537401" w="18313336">
                <a:moveTo>
                  <a:pt x="0" y="0"/>
                </a:moveTo>
                <a:lnTo>
                  <a:pt x="18313337" y="0"/>
                </a:lnTo>
                <a:lnTo>
                  <a:pt x="18313337" y="537401"/>
                </a:lnTo>
                <a:lnTo>
                  <a:pt x="0" y="5374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48640" y="9784080"/>
            <a:ext cx="15544800" cy="512064"/>
            <a:chOff x="0" y="0"/>
            <a:chExt cx="20726400" cy="6827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41099" r="0" b="-54109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8640" y="9762649"/>
            <a:ext cx="15544800" cy="533495"/>
            <a:chOff x="0" y="0"/>
            <a:chExt cx="20726400" cy="7113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711327"/>
            </a:xfrm>
            <a:custGeom>
              <a:avLst/>
              <a:gdLst/>
              <a:ahLst/>
              <a:cxnLst/>
              <a:rect r="r" b="b" t="t" l="l"/>
              <a:pathLst>
                <a:path h="711327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7748" r="0" b="-51774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07264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FFCC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Modern SOC Operations  |  Módulo 1  -  Hidden Security ® 2026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824960" y="9784080"/>
            <a:ext cx="1280160" cy="512064"/>
            <a:chOff x="0" y="0"/>
            <a:chExt cx="1706880" cy="6827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06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357" t="0" r="-1357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824960" y="9762649"/>
            <a:ext cx="1280160" cy="533495"/>
            <a:chOff x="0" y="0"/>
            <a:chExt cx="1706880" cy="7113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6880" cy="711327"/>
            </a:xfrm>
            <a:custGeom>
              <a:avLst/>
              <a:gdLst/>
              <a:ahLst/>
              <a:cxnLst/>
              <a:rect r="r" b="b" t="t" l="l"/>
              <a:pathLst>
                <a:path h="711327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469" t="0" r="-3469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7068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 b="true">
                  <a:solidFill>
                    <a:srgbClr val="FFDD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p.28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12697" y="-12697"/>
            <a:ext cx="18313336" cy="1671256"/>
          </a:xfrm>
          <a:custGeom>
            <a:avLst/>
            <a:gdLst/>
            <a:ahLst/>
            <a:cxnLst/>
            <a:rect r="r" b="b" t="t" l="l"/>
            <a:pathLst>
              <a:path h="1671256" w="18313336">
                <a:moveTo>
                  <a:pt x="0" y="0"/>
                </a:moveTo>
                <a:lnTo>
                  <a:pt x="18313337" y="0"/>
                </a:lnTo>
                <a:lnTo>
                  <a:pt x="18313337" y="1671257"/>
                </a:lnTo>
                <a:lnTo>
                  <a:pt x="0" y="16712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31520" y="0"/>
            <a:ext cx="16824960" cy="1645920"/>
            <a:chOff x="0" y="0"/>
            <a:chExt cx="22433280" cy="21945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4332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49041" r="0" b="-14904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-42862"/>
            <a:ext cx="16824960" cy="1688783"/>
            <a:chOff x="0" y="0"/>
            <a:chExt cx="22433280" cy="22517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433280" cy="2251710"/>
            </a:xfrm>
            <a:custGeom>
              <a:avLst/>
              <a:gdLst/>
              <a:ahLst/>
              <a:cxnLst/>
              <a:rect r="r" b="b" t="t" l="l"/>
              <a:pathLst>
                <a:path h="225171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251710"/>
                  </a:lnTo>
                  <a:lnTo>
                    <a:pt x="0" y="225171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44125" r="0" b="-14412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22433280" cy="2308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1.3  |  Habilidades no técnicas del Analista SOC Moderno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40080" y="1773936"/>
            <a:ext cx="17007840" cy="731520"/>
            <a:chOff x="0" y="0"/>
            <a:chExt cx="22677120" cy="9753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677120" cy="975360"/>
            </a:xfrm>
            <a:custGeom>
              <a:avLst/>
              <a:gdLst/>
              <a:ahLst/>
              <a:cxnLst/>
              <a:rect r="r" b="b" t="t" l="l"/>
              <a:pathLst>
                <a:path h="97536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02712" r="0" b="-402712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31103" y="2121837"/>
            <a:ext cx="17007840" cy="767239"/>
            <a:chOff x="0" y="0"/>
            <a:chExt cx="22677120" cy="102298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677120" cy="1022985"/>
            </a:xfrm>
            <a:custGeom>
              <a:avLst/>
              <a:gdLst/>
              <a:ahLst/>
              <a:cxnLst/>
              <a:rect r="r" b="b" t="t" l="l"/>
              <a:pathLst>
                <a:path h="1022985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022985"/>
                  </a:lnTo>
                  <a:lnTo>
                    <a:pt x="0" y="102298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81936" r="0" b="-38193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2677120" cy="1070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B6B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Son las habilidades que permiten trabajar bien bajo presión, colaborar en equipo y mantener la calidad operativa: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498693" y="3369769"/>
            <a:ext cx="4929372" cy="698019"/>
          </a:xfrm>
          <a:custGeom>
            <a:avLst/>
            <a:gdLst/>
            <a:ahLst/>
            <a:cxnLst/>
            <a:rect r="r" b="b" t="t" l="l"/>
            <a:pathLst>
              <a:path h="698019" w="4929372">
                <a:moveTo>
                  <a:pt x="0" y="0"/>
                </a:moveTo>
                <a:lnTo>
                  <a:pt x="4929372" y="0"/>
                </a:lnTo>
                <a:lnTo>
                  <a:pt x="4929372" y="698019"/>
                </a:lnTo>
                <a:lnTo>
                  <a:pt x="0" y="69801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509863" y="3380939"/>
            <a:ext cx="4907083" cy="675729"/>
            <a:chOff x="0" y="0"/>
            <a:chExt cx="7437120" cy="102412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4371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1400" r="0" b="-9140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509863" y="3355800"/>
            <a:ext cx="4907083" cy="700868"/>
            <a:chOff x="0" y="0"/>
            <a:chExt cx="7437120" cy="106222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437120" cy="1062228"/>
            </a:xfrm>
            <a:custGeom>
              <a:avLst/>
              <a:gdLst/>
              <a:ahLst/>
              <a:cxnLst/>
              <a:rect r="r" b="b" t="t" l="l"/>
              <a:pathLst>
                <a:path h="106222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62228"/>
                  </a:lnTo>
                  <a:lnTo>
                    <a:pt x="0" y="106222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6423" r="0" b="-8642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743712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🧠  Pensamiento analítico y lógico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498693" y="4077676"/>
            <a:ext cx="4929372" cy="1920768"/>
          </a:xfrm>
          <a:custGeom>
            <a:avLst/>
            <a:gdLst/>
            <a:ahLst/>
            <a:cxnLst/>
            <a:rect r="r" b="b" t="t" l="l"/>
            <a:pathLst>
              <a:path h="1920768" w="4929372">
                <a:moveTo>
                  <a:pt x="0" y="0"/>
                </a:moveTo>
                <a:lnTo>
                  <a:pt x="4929372" y="0"/>
                </a:lnTo>
                <a:lnTo>
                  <a:pt x="4929372" y="1920768"/>
                </a:lnTo>
                <a:lnTo>
                  <a:pt x="0" y="192076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727066" y="4263757"/>
            <a:ext cx="4472685" cy="923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2"/>
              </a:lnSpc>
            </a:pPr>
            <a:r>
              <a:rPr lang="en-US" sz="167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Identificar patrones, detectar falsos positivos y entender el contexto de una alerta. Sin esto, se pierde tiempo en ruido operativo.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6679285" y="3369769"/>
            <a:ext cx="4929372" cy="698019"/>
          </a:xfrm>
          <a:custGeom>
            <a:avLst/>
            <a:gdLst/>
            <a:ahLst/>
            <a:cxnLst/>
            <a:rect r="r" b="b" t="t" l="l"/>
            <a:pathLst>
              <a:path h="698019" w="4929372">
                <a:moveTo>
                  <a:pt x="0" y="0"/>
                </a:moveTo>
                <a:lnTo>
                  <a:pt x="4929373" y="0"/>
                </a:lnTo>
                <a:lnTo>
                  <a:pt x="4929373" y="698019"/>
                </a:lnTo>
                <a:lnTo>
                  <a:pt x="0" y="69801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6690455" y="3380939"/>
            <a:ext cx="4907083" cy="675729"/>
            <a:chOff x="0" y="0"/>
            <a:chExt cx="7437120" cy="102412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4371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1400" r="0" b="-9140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690455" y="3355800"/>
            <a:ext cx="4907083" cy="700868"/>
            <a:chOff x="0" y="0"/>
            <a:chExt cx="7437120" cy="106222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437120" cy="1062228"/>
            </a:xfrm>
            <a:custGeom>
              <a:avLst/>
              <a:gdLst/>
              <a:ahLst/>
              <a:cxnLst/>
              <a:rect r="r" b="b" t="t" l="l"/>
              <a:pathLst>
                <a:path h="106222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62228"/>
                  </a:lnTo>
                  <a:lnTo>
                    <a:pt x="0" y="106222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6423" r="0" b="-8642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743712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💬  Comunicación clara y profesional</a:t>
              </a: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6679285" y="4077676"/>
            <a:ext cx="4929372" cy="1920768"/>
          </a:xfrm>
          <a:custGeom>
            <a:avLst/>
            <a:gdLst/>
            <a:ahLst/>
            <a:cxnLst/>
            <a:rect r="r" b="b" t="t" l="l"/>
            <a:pathLst>
              <a:path h="1920768" w="4929372">
                <a:moveTo>
                  <a:pt x="0" y="0"/>
                </a:moveTo>
                <a:lnTo>
                  <a:pt x="4929373" y="0"/>
                </a:lnTo>
                <a:lnTo>
                  <a:pt x="4929373" y="1920768"/>
                </a:lnTo>
                <a:lnTo>
                  <a:pt x="0" y="192076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6907658" y="4263757"/>
            <a:ext cx="4472685" cy="923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2"/>
              </a:lnSpc>
            </a:pPr>
            <a:r>
              <a:rPr lang="en-US" sz="167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Tanto escrita (reportes y tickets) como verbal (traspasos de turno y reuniones). Un análisis brillante pierde valor si no se comunica bien.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11859877" y="3369769"/>
            <a:ext cx="4929372" cy="698019"/>
          </a:xfrm>
          <a:custGeom>
            <a:avLst/>
            <a:gdLst/>
            <a:ahLst/>
            <a:cxnLst/>
            <a:rect r="r" b="b" t="t" l="l"/>
            <a:pathLst>
              <a:path h="698019" w="4929372">
                <a:moveTo>
                  <a:pt x="0" y="0"/>
                </a:moveTo>
                <a:lnTo>
                  <a:pt x="4929373" y="0"/>
                </a:lnTo>
                <a:lnTo>
                  <a:pt x="4929373" y="698019"/>
                </a:lnTo>
                <a:lnTo>
                  <a:pt x="0" y="69801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11871047" y="3380939"/>
            <a:ext cx="4907083" cy="675729"/>
            <a:chOff x="0" y="0"/>
            <a:chExt cx="7437120" cy="102412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4371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1400" r="0" b="-9140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1871047" y="3355800"/>
            <a:ext cx="4907083" cy="700868"/>
            <a:chOff x="0" y="0"/>
            <a:chExt cx="7437120" cy="106222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437120" cy="1062228"/>
            </a:xfrm>
            <a:custGeom>
              <a:avLst/>
              <a:gdLst/>
              <a:ahLst/>
              <a:cxnLst/>
              <a:rect r="r" b="b" t="t" l="l"/>
              <a:pathLst>
                <a:path h="106222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62228"/>
                  </a:lnTo>
                  <a:lnTo>
                    <a:pt x="0" y="106222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6423" r="0" b="-8642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743712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📌  Capacidad de priorizar</a:t>
              </a: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11859877" y="4077676"/>
            <a:ext cx="4929372" cy="1920768"/>
          </a:xfrm>
          <a:custGeom>
            <a:avLst/>
            <a:gdLst/>
            <a:ahLst/>
            <a:cxnLst/>
            <a:rect r="r" b="b" t="t" l="l"/>
            <a:pathLst>
              <a:path h="1920768" w="4929372">
                <a:moveTo>
                  <a:pt x="0" y="0"/>
                </a:moveTo>
                <a:lnTo>
                  <a:pt x="4929373" y="0"/>
                </a:lnTo>
                <a:lnTo>
                  <a:pt x="4929373" y="1920768"/>
                </a:lnTo>
                <a:lnTo>
                  <a:pt x="0" y="192076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12088250" y="4263757"/>
            <a:ext cx="4472685" cy="923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2"/>
              </a:lnSpc>
            </a:pPr>
            <a:r>
              <a:rPr lang="en-US" sz="167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Enfocarse en lo importante cuando hay múltiples alertas simultáneas. Saber qué revisar primero puede hacer la diferencia ante un incidente real.</a:t>
            </a:r>
          </a:p>
        </p:txBody>
      </p:sp>
      <p:sp>
        <p:nvSpPr>
          <p:cNvPr name="Freeform 49" id="49"/>
          <p:cNvSpPr/>
          <p:nvPr/>
        </p:nvSpPr>
        <p:spPr>
          <a:xfrm flipH="false" flipV="false" rot="0">
            <a:off x="1498693" y="6104864"/>
            <a:ext cx="4929372" cy="698019"/>
          </a:xfrm>
          <a:custGeom>
            <a:avLst/>
            <a:gdLst/>
            <a:ahLst/>
            <a:cxnLst/>
            <a:rect r="r" b="b" t="t" l="l"/>
            <a:pathLst>
              <a:path h="698019" w="4929372">
                <a:moveTo>
                  <a:pt x="0" y="0"/>
                </a:moveTo>
                <a:lnTo>
                  <a:pt x="4929372" y="0"/>
                </a:lnTo>
                <a:lnTo>
                  <a:pt x="4929372" y="698019"/>
                </a:lnTo>
                <a:lnTo>
                  <a:pt x="0" y="69801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1509863" y="6116034"/>
            <a:ext cx="4907083" cy="675729"/>
            <a:chOff x="0" y="0"/>
            <a:chExt cx="7437120" cy="1024128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4371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1400" r="0" b="-9140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509863" y="6090896"/>
            <a:ext cx="4907083" cy="700868"/>
            <a:chOff x="0" y="0"/>
            <a:chExt cx="7437120" cy="106222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437120" cy="1062228"/>
            </a:xfrm>
            <a:custGeom>
              <a:avLst/>
              <a:gdLst/>
              <a:ahLst/>
              <a:cxnLst/>
              <a:rect r="r" b="b" t="t" l="l"/>
              <a:pathLst>
                <a:path h="106222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62228"/>
                  </a:lnTo>
                  <a:lnTo>
                    <a:pt x="0" y="106222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6423" r="0" b="-86423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743712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🔎  Atención al detalle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1498693" y="6812771"/>
            <a:ext cx="4929372" cy="1920768"/>
          </a:xfrm>
          <a:custGeom>
            <a:avLst/>
            <a:gdLst/>
            <a:ahLst/>
            <a:cxnLst/>
            <a:rect r="r" b="b" t="t" l="l"/>
            <a:pathLst>
              <a:path h="1920768" w="4929372">
                <a:moveTo>
                  <a:pt x="0" y="0"/>
                </a:moveTo>
                <a:lnTo>
                  <a:pt x="4929372" y="0"/>
                </a:lnTo>
                <a:lnTo>
                  <a:pt x="4929372" y="1920768"/>
                </a:lnTo>
                <a:lnTo>
                  <a:pt x="0" y="192076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1727066" y="6998852"/>
            <a:ext cx="4472685" cy="923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2"/>
              </a:lnSpc>
            </a:pPr>
            <a:r>
              <a:rPr lang="en-US" sz="167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Una pequeña omisión puede cambiar completamente el análisis de un incidente. Los detalles importan siempre.</a:t>
            </a:r>
          </a:p>
        </p:txBody>
      </p:sp>
      <p:sp>
        <p:nvSpPr>
          <p:cNvPr name="Freeform 57" id="57"/>
          <p:cNvSpPr/>
          <p:nvPr/>
        </p:nvSpPr>
        <p:spPr>
          <a:xfrm flipH="false" flipV="false" rot="0">
            <a:off x="6679285" y="6104864"/>
            <a:ext cx="4929372" cy="698019"/>
          </a:xfrm>
          <a:custGeom>
            <a:avLst/>
            <a:gdLst/>
            <a:ahLst/>
            <a:cxnLst/>
            <a:rect r="r" b="b" t="t" l="l"/>
            <a:pathLst>
              <a:path h="698019" w="4929372">
                <a:moveTo>
                  <a:pt x="0" y="0"/>
                </a:moveTo>
                <a:lnTo>
                  <a:pt x="4929373" y="0"/>
                </a:lnTo>
                <a:lnTo>
                  <a:pt x="4929373" y="698019"/>
                </a:lnTo>
                <a:lnTo>
                  <a:pt x="0" y="698019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8" id="58"/>
          <p:cNvGrpSpPr/>
          <p:nvPr/>
        </p:nvGrpSpPr>
        <p:grpSpPr>
          <a:xfrm rot="0">
            <a:off x="6690455" y="6116034"/>
            <a:ext cx="4907083" cy="675729"/>
            <a:chOff x="0" y="0"/>
            <a:chExt cx="7437120" cy="102412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4371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1400" r="0" b="-9140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690455" y="6090896"/>
            <a:ext cx="4907083" cy="700868"/>
            <a:chOff x="0" y="0"/>
            <a:chExt cx="7437120" cy="106222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437120" cy="1062228"/>
            </a:xfrm>
            <a:custGeom>
              <a:avLst/>
              <a:gdLst/>
              <a:ahLst/>
              <a:cxnLst/>
              <a:rect r="r" b="b" t="t" l="l"/>
              <a:pathLst>
                <a:path h="106222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62228"/>
                  </a:lnTo>
                  <a:lnTo>
                    <a:pt x="0" y="106222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6423" r="0" b="-8642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743712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⏱  Gestión del tiempo y autocontrol</a:t>
              </a: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6679285" y="6812771"/>
            <a:ext cx="4929372" cy="1920768"/>
          </a:xfrm>
          <a:custGeom>
            <a:avLst/>
            <a:gdLst/>
            <a:ahLst/>
            <a:cxnLst/>
            <a:rect r="r" b="b" t="t" l="l"/>
            <a:pathLst>
              <a:path h="1920768" w="4929372">
                <a:moveTo>
                  <a:pt x="0" y="0"/>
                </a:moveTo>
                <a:lnTo>
                  <a:pt x="4929373" y="0"/>
                </a:lnTo>
                <a:lnTo>
                  <a:pt x="4929373" y="1920768"/>
                </a:lnTo>
                <a:lnTo>
                  <a:pt x="0" y="192076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4" id="64"/>
          <p:cNvSpPr txBox="true"/>
          <p:nvPr/>
        </p:nvSpPr>
        <p:spPr>
          <a:xfrm rot="0">
            <a:off x="6907658" y="6998852"/>
            <a:ext cx="4472685" cy="923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2"/>
              </a:lnSpc>
            </a:pPr>
            <a:r>
              <a:rPr lang="en-US" sz="167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Trabajar en turnos, bajo presión y sin perder la concentración. La fatiga operativa es real y hay que gestionarla conscientemente.</a:t>
            </a:r>
          </a:p>
        </p:txBody>
      </p:sp>
      <p:sp>
        <p:nvSpPr>
          <p:cNvPr name="Freeform 65" id="65"/>
          <p:cNvSpPr/>
          <p:nvPr/>
        </p:nvSpPr>
        <p:spPr>
          <a:xfrm flipH="false" flipV="false" rot="0">
            <a:off x="11859877" y="6104864"/>
            <a:ext cx="4929372" cy="698019"/>
          </a:xfrm>
          <a:custGeom>
            <a:avLst/>
            <a:gdLst/>
            <a:ahLst/>
            <a:cxnLst/>
            <a:rect r="r" b="b" t="t" l="l"/>
            <a:pathLst>
              <a:path h="698019" w="4929372">
                <a:moveTo>
                  <a:pt x="0" y="0"/>
                </a:moveTo>
                <a:lnTo>
                  <a:pt x="4929373" y="0"/>
                </a:lnTo>
                <a:lnTo>
                  <a:pt x="4929373" y="698019"/>
                </a:lnTo>
                <a:lnTo>
                  <a:pt x="0" y="698019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6" id="66"/>
          <p:cNvGrpSpPr/>
          <p:nvPr/>
        </p:nvGrpSpPr>
        <p:grpSpPr>
          <a:xfrm rot="0">
            <a:off x="11871047" y="6116034"/>
            <a:ext cx="4907083" cy="675729"/>
            <a:chOff x="0" y="0"/>
            <a:chExt cx="7437120" cy="102412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4371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91400" r="0" b="-91400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1871047" y="6090896"/>
            <a:ext cx="4907083" cy="700868"/>
            <a:chOff x="0" y="0"/>
            <a:chExt cx="7437120" cy="106222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437120" cy="1062228"/>
            </a:xfrm>
            <a:custGeom>
              <a:avLst/>
              <a:gdLst/>
              <a:ahLst/>
              <a:cxnLst/>
              <a:rect r="r" b="b" t="t" l="l"/>
              <a:pathLst>
                <a:path h="106222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062228"/>
                  </a:lnTo>
                  <a:lnTo>
                    <a:pt x="0" y="106222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6423" r="0" b="-8642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743712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🔒  Ética y responsabilidad profesional</a:t>
              </a:r>
            </a:p>
          </p:txBody>
        </p:sp>
      </p:grpSp>
      <p:sp>
        <p:nvSpPr>
          <p:cNvPr name="Freeform 71" id="71"/>
          <p:cNvSpPr/>
          <p:nvPr/>
        </p:nvSpPr>
        <p:spPr>
          <a:xfrm flipH="false" flipV="false" rot="0">
            <a:off x="11859877" y="6812771"/>
            <a:ext cx="4929372" cy="1920768"/>
          </a:xfrm>
          <a:custGeom>
            <a:avLst/>
            <a:gdLst/>
            <a:ahLst/>
            <a:cxnLst/>
            <a:rect r="r" b="b" t="t" l="l"/>
            <a:pathLst>
              <a:path h="1920768" w="4929372">
                <a:moveTo>
                  <a:pt x="0" y="0"/>
                </a:moveTo>
                <a:lnTo>
                  <a:pt x="4929373" y="0"/>
                </a:lnTo>
                <a:lnTo>
                  <a:pt x="4929373" y="1920768"/>
                </a:lnTo>
                <a:lnTo>
                  <a:pt x="0" y="192076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2" id="72"/>
          <p:cNvSpPr txBox="true"/>
          <p:nvPr/>
        </p:nvSpPr>
        <p:spPr>
          <a:xfrm rot="0">
            <a:off x="12088250" y="6998852"/>
            <a:ext cx="4472685" cy="923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2"/>
              </a:lnSpc>
            </a:pPr>
            <a:r>
              <a:rPr lang="en-US" sz="1670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Por el acceso a información crítica y la necesidad de mantener confidencialidad. Este punto se desarrolla en profundidad en la Sección 1.5.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15983863" y="24203"/>
            <a:ext cx="1855079" cy="1855079"/>
            <a:chOff x="0" y="0"/>
            <a:chExt cx="5852160" cy="585216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85216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0"/>
                  </a:lnTo>
                  <a:lnTo>
                    <a:pt x="0" y="585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697" y="-12697"/>
            <a:ext cx="427672" cy="10312337"/>
          </a:xfrm>
          <a:custGeom>
            <a:avLst/>
            <a:gdLst/>
            <a:ahLst/>
            <a:cxnLst/>
            <a:rect r="r" b="b" t="t" l="l"/>
            <a:pathLst>
              <a:path h="10312337" w="427672">
                <a:moveTo>
                  <a:pt x="0" y="0"/>
                </a:moveTo>
                <a:lnTo>
                  <a:pt x="427673" y="0"/>
                </a:lnTo>
                <a:lnTo>
                  <a:pt x="427673" y="10312337"/>
                </a:lnTo>
                <a:lnTo>
                  <a:pt x="0" y="103123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2697" y="9771383"/>
            <a:ext cx="18313336" cy="537401"/>
          </a:xfrm>
          <a:custGeom>
            <a:avLst/>
            <a:gdLst/>
            <a:ahLst/>
            <a:cxnLst/>
            <a:rect r="r" b="b" t="t" l="l"/>
            <a:pathLst>
              <a:path h="537401" w="18313336">
                <a:moveTo>
                  <a:pt x="0" y="0"/>
                </a:moveTo>
                <a:lnTo>
                  <a:pt x="18313337" y="0"/>
                </a:lnTo>
                <a:lnTo>
                  <a:pt x="18313337" y="537401"/>
                </a:lnTo>
                <a:lnTo>
                  <a:pt x="0" y="5374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48640" y="9784080"/>
            <a:ext cx="15544800" cy="512064"/>
            <a:chOff x="0" y="0"/>
            <a:chExt cx="20726400" cy="6827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682752"/>
            </a:xfrm>
            <a:custGeom>
              <a:avLst/>
              <a:gdLst/>
              <a:ahLst/>
              <a:cxnLst/>
              <a:rect r="r" b="b" t="t" l="l"/>
              <a:pathLst>
                <a:path h="682752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41099" r="0" b="-541097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8640" y="9762649"/>
            <a:ext cx="15544800" cy="533495"/>
            <a:chOff x="0" y="0"/>
            <a:chExt cx="20726400" cy="7113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711327"/>
            </a:xfrm>
            <a:custGeom>
              <a:avLst/>
              <a:gdLst/>
              <a:ahLst/>
              <a:cxnLst/>
              <a:rect r="r" b="b" t="t" l="l"/>
              <a:pathLst>
                <a:path h="711327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517748" r="0" b="-51774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072640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FFCCE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Modern SOC Operations  |  Módulo 1  -  Hidden Security ® 2026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824960" y="9784080"/>
            <a:ext cx="1280160" cy="512064"/>
            <a:chOff x="0" y="0"/>
            <a:chExt cx="1706880" cy="68275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06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357" t="0" r="-1357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824960" y="9762649"/>
            <a:ext cx="1280160" cy="533495"/>
            <a:chOff x="0" y="0"/>
            <a:chExt cx="1706880" cy="7113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6880" cy="711327"/>
            </a:xfrm>
            <a:custGeom>
              <a:avLst/>
              <a:gdLst/>
              <a:ahLst/>
              <a:cxnLst/>
              <a:rect r="r" b="b" t="t" l="l"/>
              <a:pathLst>
                <a:path h="711327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711327"/>
                  </a:lnTo>
                  <a:lnTo>
                    <a:pt x="0" y="71132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469" t="0" r="-3469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7068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919"/>
                </a:lnSpc>
              </a:pPr>
              <a:r>
                <a:rPr lang="en-US" sz="1599" b="true">
                  <a:solidFill>
                    <a:srgbClr val="FFDDE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p.29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-12697" y="-12697"/>
            <a:ext cx="18313336" cy="1671256"/>
          </a:xfrm>
          <a:custGeom>
            <a:avLst/>
            <a:gdLst/>
            <a:ahLst/>
            <a:cxnLst/>
            <a:rect r="r" b="b" t="t" l="l"/>
            <a:pathLst>
              <a:path h="1671256" w="18313336">
                <a:moveTo>
                  <a:pt x="0" y="0"/>
                </a:moveTo>
                <a:lnTo>
                  <a:pt x="18313337" y="0"/>
                </a:lnTo>
                <a:lnTo>
                  <a:pt x="18313337" y="1671257"/>
                </a:lnTo>
                <a:lnTo>
                  <a:pt x="0" y="167125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31520" y="0"/>
            <a:ext cx="16824960" cy="1645920"/>
            <a:chOff x="0" y="0"/>
            <a:chExt cx="22433280" cy="21945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4332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49041" r="0" b="-14904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-50006"/>
            <a:ext cx="16824960" cy="1695926"/>
            <a:chOff x="0" y="0"/>
            <a:chExt cx="22433280" cy="226123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433280" cy="2261235"/>
            </a:xfrm>
            <a:custGeom>
              <a:avLst/>
              <a:gdLst/>
              <a:ahLst/>
              <a:cxnLst/>
              <a:rect r="r" b="b" t="t" l="l"/>
              <a:pathLst>
                <a:path h="2261235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261235"/>
                  </a:lnTo>
                  <a:lnTo>
                    <a:pt x="0" y="226123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43307" r="0" b="-14330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22433280" cy="2327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8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1.3  |  Herramientas del SOC Moderno: qué hacen y cuándo usarlas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40080" y="1773936"/>
            <a:ext cx="17007840" cy="877824"/>
            <a:chOff x="0" y="0"/>
            <a:chExt cx="22677120" cy="11704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6771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27260" r="0" b="-32726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64912" y="1988612"/>
            <a:ext cx="17007840" cy="913543"/>
            <a:chOff x="0" y="0"/>
            <a:chExt cx="22677120" cy="121805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677120" cy="1218057"/>
            </a:xfrm>
            <a:custGeom>
              <a:avLst/>
              <a:gdLst/>
              <a:ahLst/>
              <a:cxnLst/>
              <a:rect r="r" b="b" t="t" l="l"/>
              <a:pathLst>
                <a:path h="1218057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218057"/>
                  </a:lnTo>
                  <a:lnTo>
                    <a:pt x="0" y="1218057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12761" r="0" b="-31276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22677120" cy="12656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se trata de saber configurarlas todas, sino de entender </a:t>
              </a:r>
              <a:r>
                <a:rPr lang="en-US" sz="2100" b="true">
                  <a:solidFill>
                    <a:srgbClr val="11111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qué aporta cada una, cuándo acudir a ella y qué no puede decirte por sí sola</a:t>
              </a:r>
              <a:r>
                <a:rPr lang="en-US" sz="2100">
                  <a:solidFill>
                    <a:srgbClr val="11111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. A lo largo del curso se profundizará en cada una.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285418" y="3164163"/>
            <a:ext cx="5066902" cy="849795"/>
          </a:xfrm>
          <a:custGeom>
            <a:avLst/>
            <a:gdLst/>
            <a:ahLst/>
            <a:cxnLst/>
            <a:rect r="r" b="b" t="t" l="l"/>
            <a:pathLst>
              <a:path h="849795" w="5066902">
                <a:moveTo>
                  <a:pt x="0" y="0"/>
                </a:moveTo>
                <a:lnTo>
                  <a:pt x="5066902" y="0"/>
                </a:lnTo>
                <a:lnTo>
                  <a:pt x="5066902" y="849795"/>
                </a:lnTo>
                <a:lnTo>
                  <a:pt x="0" y="84979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296900" y="3175645"/>
            <a:ext cx="5043990" cy="826884"/>
            <a:chOff x="0" y="0"/>
            <a:chExt cx="7437120" cy="1219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437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8776" r="0" b="-68776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96900" y="3149805"/>
            <a:ext cx="5043990" cy="852724"/>
            <a:chOff x="0" y="0"/>
            <a:chExt cx="7437120" cy="12573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437120" cy="1257300"/>
            </a:xfrm>
            <a:custGeom>
              <a:avLst/>
              <a:gdLst/>
              <a:ahLst/>
              <a:cxnLst/>
              <a:rect r="r" b="b" t="t" l="l"/>
              <a:pathLst>
                <a:path h="125730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257300"/>
                  </a:lnTo>
                  <a:lnTo>
                    <a:pt x="0" y="12573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5256" r="0" b="-6525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743712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SIEM  ·  Security Information</a:t>
              </a:r>
            </a:p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and Event Management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285418" y="4024122"/>
            <a:ext cx="5066902" cy="1891669"/>
          </a:xfrm>
          <a:custGeom>
            <a:avLst/>
            <a:gdLst/>
            <a:ahLst/>
            <a:cxnLst/>
            <a:rect r="r" b="b" t="t" l="l"/>
            <a:pathLst>
              <a:path h="1891669" w="5066902">
                <a:moveTo>
                  <a:pt x="0" y="0"/>
                </a:moveTo>
                <a:lnTo>
                  <a:pt x="5066902" y="0"/>
                </a:lnTo>
                <a:lnTo>
                  <a:pt x="5066902" y="1891669"/>
                </a:lnTo>
                <a:lnTo>
                  <a:pt x="0" y="189166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544965" y="4113146"/>
            <a:ext cx="4597473" cy="1667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3"/>
              </a:lnSpc>
            </a:pPr>
            <a:r>
              <a:rPr lang="en-US" sz="1627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Corazón visual y analítico del SOC. Recibe, almacena, correlaciona y visualiza logs de múltiples fuentes. El analista L1 monitorea alertas, analiza eventos y filtra falsos positivos desde el SIEM.</a:t>
            </a:r>
          </a:p>
          <a:p>
            <a:pPr algn="l">
              <a:lnSpc>
                <a:spcPts val="1953"/>
              </a:lnSpc>
            </a:pPr>
          </a:p>
          <a:p>
            <a:pPr algn="l">
              <a:lnSpc>
                <a:spcPts val="1953"/>
              </a:lnSpc>
            </a:pPr>
            <a:r>
              <a:rPr lang="en-US" sz="1627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📌 Ej: Splunk, QRadar, Microsoft Sentinel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6610549" y="3164163"/>
            <a:ext cx="5066902" cy="849795"/>
          </a:xfrm>
          <a:custGeom>
            <a:avLst/>
            <a:gdLst/>
            <a:ahLst/>
            <a:cxnLst/>
            <a:rect r="r" b="b" t="t" l="l"/>
            <a:pathLst>
              <a:path h="849795" w="5066902">
                <a:moveTo>
                  <a:pt x="0" y="0"/>
                </a:moveTo>
                <a:lnTo>
                  <a:pt x="5066902" y="0"/>
                </a:lnTo>
                <a:lnTo>
                  <a:pt x="5066902" y="849795"/>
                </a:lnTo>
                <a:lnTo>
                  <a:pt x="0" y="84979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6622031" y="3175645"/>
            <a:ext cx="5043990" cy="826884"/>
            <a:chOff x="0" y="0"/>
            <a:chExt cx="7437120" cy="1219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437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8776" r="0" b="-68776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622031" y="3149805"/>
            <a:ext cx="5043990" cy="852724"/>
            <a:chOff x="0" y="0"/>
            <a:chExt cx="7437120" cy="12573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437120" cy="1257300"/>
            </a:xfrm>
            <a:custGeom>
              <a:avLst/>
              <a:gdLst/>
              <a:ahLst/>
              <a:cxnLst/>
              <a:rect r="r" b="b" t="t" l="l"/>
              <a:pathLst>
                <a:path h="125730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257300"/>
                  </a:lnTo>
                  <a:lnTo>
                    <a:pt x="0" y="12573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5256" r="0" b="-6525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743712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SOAR  ·  Security Orchestration</a:t>
              </a:r>
            </a:p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Automation &amp; Response</a:t>
              </a: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6610549" y="4024122"/>
            <a:ext cx="5066902" cy="1891669"/>
          </a:xfrm>
          <a:custGeom>
            <a:avLst/>
            <a:gdLst/>
            <a:ahLst/>
            <a:cxnLst/>
            <a:rect r="r" b="b" t="t" l="l"/>
            <a:pathLst>
              <a:path h="1891669" w="5066902">
                <a:moveTo>
                  <a:pt x="0" y="0"/>
                </a:moveTo>
                <a:lnTo>
                  <a:pt x="5066902" y="0"/>
                </a:lnTo>
                <a:lnTo>
                  <a:pt x="5066902" y="1891669"/>
                </a:lnTo>
                <a:lnTo>
                  <a:pt x="0" y="189166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6870096" y="4113146"/>
            <a:ext cx="4597473" cy="1667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3"/>
              </a:lnSpc>
            </a:pPr>
            <a:r>
              <a:rPr lang="en-US" sz="1627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Coordina, automatiza y centraliza la respuesta a incidentes. Permite ejecutar playbooks automáticos e integrar múltiples herramientas desde una misma plataforma.</a:t>
            </a:r>
          </a:p>
          <a:p>
            <a:pPr algn="l">
              <a:lnSpc>
                <a:spcPts val="1953"/>
              </a:lnSpc>
            </a:pPr>
          </a:p>
          <a:p>
            <a:pPr algn="l">
              <a:lnSpc>
                <a:spcPts val="1953"/>
              </a:lnSpc>
            </a:pPr>
            <a:r>
              <a:rPr lang="en-US" sz="1627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📌 Ej: Splunk SOAR, Palo Alto XSOAR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11935680" y="3164163"/>
            <a:ext cx="5066902" cy="849795"/>
          </a:xfrm>
          <a:custGeom>
            <a:avLst/>
            <a:gdLst/>
            <a:ahLst/>
            <a:cxnLst/>
            <a:rect r="r" b="b" t="t" l="l"/>
            <a:pathLst>
              <a:path h="849795" w="5066902">
                <a:moveTo>
                  <a:pt x="0" y="0"/>
                </a:moveTo>
                <a:lnTo>
                  <a:pt x="5066902" y="0"/>
                </a:lnTo>
                <a:lnTo>
                  <a:pt x="5066902" y="849795"/>
                </a:lnTo>
                <a:lnTo>
                  <a:pt x="0" y="84979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11947161" y="3175645"/>
            <a:ext cx="5043990" cy="826884"/>
            <a:chOff x="0" y="0"/>
            <a:chExt cx="7437120" cy="1219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437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8776" r="0" b="-68776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1947161" y="3149805"/>
            <a:ext cx="5043990" cy="852724"/>
            <a:chOff x="0" y="0"/>
            <a:chExt cx="7437120" cy="12573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437120" cy="1257300"/>
            </a:xfrm>
            <a:custGeom>
              <a:avLst/>
              <a:gdLst/>
              <a:ahLst/>
              <a:cxnLst/>
              <a:rect r="r" b="b" t="t" l="l"/>
              <a:pathLst>
                <a:path h="125730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257300"/>
                  </a:lnTo>
                  <a:lnTo>
                    <a:pt x="0" y="12573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5256" r="0" b="-6525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743712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EDR  ·  Endpoint Detection</a:t>
              </a:r>
            </a:p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&amp; Response</a:t>
              </a: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11935680" y="4024122"/>
            <a:ext cx="5066902" cy="1891669"/>
          </a:xfrm>
          <a:custGeom>
            <a:avLst/>
            <a:gdLst/>
            <a:ahLst/>
            <a:cxnLst/>
            <a:rect r="r" b="b" t="t" l="l"/>
            <a:pathLst>
              <a:path h="1891669" w="5066902">
                <a:moveTo>
                  <a:pt x="0" y="0"/>
                </a:moveTo>
                <a:lnTo>
                  <a:pt x="5066902" y="0"/>
                </a:lnTo>
                <a:lnTo>
                  <a:pt x="5066902" y="1891669"/>
                </a:lnTo>
                <a:lnTo>
                  <a:pt x="0" y="189166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12195227" y="4113146"/>
            <a:ext cx="4597473" cy="1667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3"/>
              </a:lnSpc>
            </a:pPr>
            <a:r>
              <a:rPr lang="en-US" sz="1627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Monitorea endpoints (computadoras, laptops, servidores). Agrega análisis de comportamiento, respuesta automática y visibilidad profunda sobre procesos, archivos y conexiones.</a:t>
            </a:r>
          </a:p>
          <a:p>
            <a:pPr algn="l">
              <a:lnSpc>
                <a:spcPts val="1953"/>
              </a:lnSpc>
            </a:pPr>
          </a:p>
          <a:p>
            <a:pPr algn="l">
              <a:lnSpc>
                <a:spcPts val="1953"/>
              </a:lnSpc>
            </a:pPr>
            <a:r>
              <a:rPr lang="en-US" sz="1627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📌 Ej: CrowdStrike, SentinelOne, Defender</a:t>
            </a:r>
          </a:p>
        </p:txBody>
      </p:sp>
      <p:sp>
        <p:nvSpPr>
          <p:cNvPr name="Freeform 49" id="49"/>
          <p:cNvSpPr/>
          <p:nvPr/>
        </p:nvSpPr>
        <p:spPr>
          <a:xfrm flipH="false" flipV="false" rot="0">
            <a:off x="1285418" y="6025181"/>
            <a:ext cx="5066902" cy="849795"/>
          </a:xfrm>
          <a:custGeom>
            <a:avLst/>
            <a:gdLst/>
            <a:ahLst/>
            <a:cxnLst/>
            <a:rect r="r" b="b" t="t" l="l"/>
            <a:pathLst>
              <a:path h="849795" w="5066902">
                <a:moveTo>
                  <a:pt x="0" y="0"/>
                </a:moveTo>
                <a:lnTo>
                  <a:pt x="5066902" y="0"/>
                </a:lnTo>
                <a:lnTo>
                  <a:pt x="5066902" y="849795"/>
                </a:lnTo>
                <a:lnTo>
                  <a:pt x="0" y="849795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1296900" y="6036662"/>
            <a:ext cx="5043990" cy="826884"/>
            <a:chOff x="0" y="0"/>
            <a:chExt cx="7437120" cy="12192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437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8776" r="0" b="-68776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96900" y="6010822"/>
            <a:ext cx="5043990" cy="852724"/>
            <a:chOff x="0" y="0"/>
            <a:chExt cx="7437120" cy="12573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437120" cy="1257300"/>
            </a:xfrm>
            <a:custGeom>
              <a:avLst/>
              <a:gdLst/>
              <a:ahLst/>
              <a:cxnLst/>
              <a:rect r="r" b="b" t="t" l="l"/>
              <a:pathLst>
                <a:path h="125730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257300"/>
                  </a:lnTo>
                  <a:lnTo>
                    <a:pt x="0" y="12573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5256" r="0" b="-65256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743712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IDS/IPS  ·  Intrusion Detection</a:t>
              </a:r>
            </a:p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 Prevention System</a:t>
              </a: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1285418" y="6885140"/>
            <a:ext cx="5066902" cy="1891669"/>
          </a:xfrm>
          <a:custGeom>
            <a:avLst/>
            <a:gdLst/>
            <a:ahLst/>
            <a:cxnLst/>
            <a:rect r="r" b="b" t="t" l="l"/>
            <a:pathLst>
              <a:path h="1891669" w="5066902">
                <a:moveTo>
                  <a:pt x="0" y="0"/>
                </a:moveTo>
                <a:lnTo>
                  <a:pt x="5066902" y="0"/>
                </a:lnTo>
                <a:lnTo>
                  <a:pt x="5066902" y="1891668"/>
                </a:lnTo>
                <a:lnTo>
                  <a:pt x="0" y="189166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1544965" y="6974163"/>
            <a:ext cx="4597473" cy="1667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3"/>
              </a:lnSpc>
            </a:pPr>
            <a:r>
              <a:rPr lang="en-US" sz="1627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Analiza el tráfico de red en tiempo real. El IDS detecta comportamientos maliciosos (escaneos, exploits); el IPS los bloquea. Sus logs se envían al SIEM.</a:t>
            </a:r>
          </a:p>
          <a:p>
            <a:pPr algn="l">
              <a:lnSpc>
                <a:spcPts val="1953"/>
              </a:lnSpc>
            </a:pPr>
          </a:p>
          <a:p>
            <a:pPr algn="l">
              <a:lnSpc>
                <a:spcPts val="1953"/>
              </a:lnSpc>
            </a:pPr>
            <a:r>
              <a:rPr lang="en-US" sz="1627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📌 Ej: Suricata, Snort, Zeek</a:t>
            </a:r>
          </a:p>
        </p:txBody>
      </p:sp>
      <p:sp>
        <p:nvSpPr>
          <p:cNvPr name="Freeform 57" id="57"/>
          <p:cNvSpPr/>
          <p:nvPr/>
        </p:nvSpPr>
        <p:spPr>
          <a:xfrm flipH="false" flipV="false" rot="0">
            <a:off x="6610549" y="6025181"/>
            <a:ext cx="5066902" cy="849795"/>
          </a:xfrm>
          <a:custGeom>
            <a:avLst/>
            <a:gdLst/>
            <a:ahLst/>
            <a:cxnLst/>
            <a:rect r="r" b="b" t="t" l="l"/>
            <a:pathLst>
              <a:path h="849795" w="5066902">
                <a:moveTo>
                  <a:pt x="0" y="0"/>
                </a:moveTo>
                <a:lnTo>
                  <a:pt x="5066902" y="0"/>
                </a:lnTo>
                <a:lnTo>
                  <a:pt x="5066902" y="849795"/>
                </a:lnTo>
                <a:lnTo>
                  <a:pt x="0" y="849795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8" id="58"/>
          <p:cNvGrpSpPr/>
          <p:nvPr/>
        </p:nvGrpSpPr>
        <p:grpSpPr>
          <a:xfrm rot="0">
            <a:off x="6622031" y="6036662"/>
            <a:ext cx="5043990" cy="826884"/>
            <a:chOff x="0" y="0"/>
            <a:chExt cx="7437120" cy="12192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437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8776" r="0" b="-68776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622031" y="6010822"/>
            <a:ext cx="5043990" cy="852724"/>
            <a:chOff x="0" y="0"/>
            <a:chExt cx="7437120" cy="12573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437120" cy="1257300"/>
            </a:xfrm>
            <a:custGeom>
              <a:avLst/>
              <a:gdLst/>
              <a:ahLst/>
              <a:cxnLst/>
              <a:rect r="r" b="b" t="t" l="l"/>
              <a:pathLst>
                <a:path h="125730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257300"/>
                  </a:lnTo>
                  <a:lnTo>
                    <a:pt x="0" y="12573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5256" r="0" b="-65256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743712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Firewall  ·  Control de tráfico</a:t>
              </a:r>
            </a:p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 red</a:t>
              </a: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6610549" y="6885140"/>
            <a:ext cx="5066902" cy="1891669"/>
          </a:xfrm>
          <a:custGeom>
            <a:avLst/>
            <a:gdLst/>
            <a:ahLst/>
            <a:cxnLst/>
            <a:rect r="r" b="b" t="t" l="l"/>
            <a:pathLst>
              <a:path h="1891669" w="5066902">
                <a:moveTo>
                  <a:pt x="0" y="0"/>
                </a:moveTo>
                <a:lnTo>
                  <a:pt x="5066902" y="0"/>
                </a:lnTo>
                <a:lnTo>
                  <a:pt x="5066902" y="1891668"/>
                </a:lnTo>
                <a:lnTo>
                  <a:pt x="0" y="189166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4" id="64"/>
          <p:cNvSpPr txBox="true"/>
          <p:nvPr/>
        </p:nvSpPr>
        <p:spPr>
          <a:xfrm rot="0">
            <a:off x="6870096" y="6974163"/>
            <a:ext cx="4597473" cy="1667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3"/>
              </a:lnSpc>
            </a:pPr>
            <a:r>
              <a:rPr lang="en-US" sz="1627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Barrera de control entre la red interna y el exterior. Permite o bloquea tráfico según reglas. Genera logs útiles para análisis en el SOC.</a:t>
            </a:r>
          </a:p>
          <a:p>
            <a:pPr algn="l">
              <a:lnSpc>
                <a:spcPts val="1953"/>
              </a:lnSpc>
            </a:pPr>
          </a:p>
          <a:p>
            <a:pPr algn="l">
              <a:lnSpc>
                <a:spcPts val="1953"/>
              </a:lnSpc>
            </a:pPr>
            <a:r>
              <a:rPr lang="en-US" sz="1627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📌 Ej: Palo Alto, Fortinet, pfSense</a:t>
            </a:r>
          </a:p>
        </p:txBody>
      </p:sp>
      <p:sp>
        <p:nvSpPr>
          <p:cNvPr name="Freeform 65" id="65"/>
          <p:cNvSpPr/>
          <p:nvPr/>
        </p:nvSpPr>
        <p:spPr>
          <a:xfrm flipH="false" flipV="false" rot="0">
            <a:off x="11935680" y="6025181"/>
            <a:ext cx="5066902" cy="849795"/>
          </a:xfrm>
          <a:custGeom>
            <a:avLst/>
            <a:gdLst/>
            <a:ahLst/>
            <a:cxnLst/>
            <a:rect r="r" b="b" t="t" l="l"/>
            <a:pathLst>
              <a:path h="849795" w="5066902">
                <a:moveTo>
                  <a:pt x="0" y="0"/>
                </a:moveTo>
                <a:lnTo>
                  <a:pt x="5066902" y="0"/>
                </a:lnTo>
                <a:lnTo>
                  <a:pt x="5066902" y="849795"/>
                </a:lnTo>
                <a:lnTo>
                  <a:pt x="0" y="84979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6" id="66"/>
          <p:cNvGrpSpPr/>
          <p:nvPr/>
        </p:nvGrpSpPr>
        <p:grpSpPr>
          <a:xfrm rot="0">
            <a:off x="11947161" y="6036662"/>
            <a:ext cx="5043990" cy="826884"/>
            <a:chOff x="0" y="0"/>
            <a:chExt cx="7437120" cy="12192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437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8776" r="0" b="-68776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1947161" y="6010822"/>
            <a:ext cx="5043990" cy="852724"/>
            <a:chOff x="0" y="0"/>
            <a:chExt cx="7437120" cy="12573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437120" cy="1257300"/>
            </a:xfrm>
            <a:custGeom>
              <a:avLst/>
              <a:gdLst/>
              <a:ahLst/>
              <a:cxnLst/>
              <a:rect r="r" b="b" t="t" l="l"/>
              <a:pathLst>
                <a:path h="125730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1257300"/>
                  </a:lnTo>
                  <a:lnTo>
                    <a:pt x="0" y="12573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5256" r="0" b="-6525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743712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WAF  ·  Web Application</a:t>
              </a:r>
            </a:p>
            <a:p>
              <a:pPr algn="ctr">
                <a:lnSpc>
                  <a:spcPts val="2279"/>
                </a:lnSpc>
              </a:pPr>
              <a:r>
                <a:rPr lang="en-US" sz="18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Firewall</a:t>
              </a:r>
            </a:p>
          </p:txBody>
        </p:sp>
      </p:grpSp>
      <p:sp>
        <p:nvSpPr>
          <p:cNvPr name="Freeform 71" id="71"/>
          <p:cNvSpPr/>
          <p:nvPr/>
        </p:nvSpPr>
        <p:spPr>
          <a:xfrm flipH="false" flipV="false" rot="0">
            <a:off x="11935680" y="6885140"/>
            <a:ext cx="5066902" cy="1891669"/>
          </a:xfrm>
          <a:custGeom>
            <a:avLst/>
            <a:gdLst/>
            <a:ahLst/>
            <a:cxnLst/>
            <a:rect r="r" b="b" t="t" l="l"/>
            <a:pathLst>
              <a:path h="1891669" w="5066902">
                <a:moveTo>
                  <a:pt x="0" y="0"/>
                </a:moveTo>
                <a:lnTo>
                  <a:pt x="5066902" y="0"/>
                </a:lnTo>
                <a:lnTo>
                  <a:pt x="5066902" y="1891668"/>
                </a:lnTo>
                <a:lnTo>
                  <a:pt x="0" y="189166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2" id="72"/>
          <p:cNvSpPr txBox="true"/>
          <p:nvPr/>
        </p:nvSpPr>
        <p:spPr>
          <a:xfrm rot="0">
            <a:off x="12195227" y="6974163"/>
            <a:ext cx="4597473" cy="1667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3"/>
              </a:lnSpc>
            </a:pPr>
            <a:r>
              <a:rPr lang="en-US" sz="1627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Protege aplicaciones web contra ataques como SQL Injection o XSS. Analiza tráfico HTTP/HTTPS. Sus alertas pueden integrarse al SIEM.</a:t>
            </a:r>
          </a:p>
          <a:p>
            <a:pPr algn="l">
              <a:lnSpc>
                <a:spcPts val="1953"/>
              </a:lnSpc>
            </a:pPr>
          </a:p>
          <a:p>
            <a:pPr algn="l">
              <a:lnSpc>
                <a:spcPts val="1953"/>
              </a:lnSpc>
            </a:pPr>
            <a:r>
              <a:rPr lang="en-US" sz="1627">
                <a:solidFill>
                  <a:srgbClr val="333333"/>
                </a:solidFill>
                <a:latin typeface="Calibri (MS)"/>
                <a:ea typeface="Calibri (MS)"/>
                <a:cs typeface="Calibri (MS)"/>
                <a:sym typeface="Calibri (MS)"/>
              </a:rPr>
              <a:t>📌 Ej: AWS WAF, Cloudflare WAF, ModSecurity</a:t>
            </a:r>
          </a:p>
        </p:txBody>
      </p:sp>
      <p:grpSp>
        <p:nvGrpSpPr>
          <p:cNvPr name="Group 73" id="73"/>
          <p:cNvGrpSpPr/>
          <p:nvPr/>
        </p:nvGrpSpPr>
        <p:grpSpPr>
          <a:xfrm rot="0">
            <a:off x="15983863" y="24203"/>
            <a:ext cx="1855079" cy="1855079"/>
            <a:chOff x="0" y="0"/>
            <a:chExt cx="5852160" cy="585216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85216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5852160"/>
                  </a:lnTo>
                  <a:lnTo>
                    <a:pt x="0" y="5852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DAHTbVDi7pY</dc:identifier>
  <dcterms:modified xsi:type="dcterms:W3CDTF">2011-08-01T06:04:30Z</dcterms:modified>
  <cp:revision>1</cp:revision>
  <dc:title>Modulo 01 - Modern SOC Operations</dc:title>
</cp:coreProperties>
</file>