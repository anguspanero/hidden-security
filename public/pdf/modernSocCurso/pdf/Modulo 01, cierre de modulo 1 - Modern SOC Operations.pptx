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0"/>
  </p:notesMasterIdLst>
  <p:sldIdLst>
    <p:sldId id="256" r:id="rId6"/>
    <p:sldId id="257" r:id="rId7"/>
    <p:sldId id="258" r:id="rId8"/>
    <p:sldId id="259" r:id="rId9"/>
  </p:sldIdLst>
  <p:sldSz cx="18288000" cy="10287000"/>
  <p:notesSz cx="6858000" cy="9144000"/>
  <p:embeddedFontLst>
    <p:embeddedFont>
      <p:font typeface="Calibri (MS) Bold" charset="1" panose="020F0702030404030204"/>
      <p:regular r:id="rId13"/>
    </p:embeddedFont>
    <p:embeddedFont>
      <p:font typeface="Calibri (MS)" charset="1" panose="020F050202020403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notesMasters/notesMaster1.xml" Type="http://schemas.openxmlformats.org/officeDocument/2006/relationships/notesMaster"/><Relationship Id="rId11" Target="theme/theme2.xml" Type="http://schemas.openxmlformats.org/officeDocument/2006/relationships/theme"/><Relationship Id="rId12" Target="notesSlides/notesSlide1.xml" Type="http://schemas.openxmlformats.org/officeDocument/2006/relationships/notesSlide"/><Relationship Id="rId13" Target="fonts/font13.fntdata" Type="http://schemas.openxmlformats.org/officeDocument/2006/relationships/font"/><Relationship Id="rId14" Target="fonts/font14.fntdata" Type="http://schemas.openxmlformats.org/officeDocument/2006/relationships/font"/><Relationship Id="rId15" Target="notesSlides/notesSlide2.xml" Type="http://schemas.openxmlformats.org/officeDocument/2006/relationships/notesSlide"/><Relationship Id="rId16" Target="notesSlides/notesSlide3.xml" Type="http://schemas.openxmlformats.org/officeDocument/2006/relationships/notesSlide"/><Relationship Id="rId17" Target="notesSlides/notesSlide4.xml" Type="http://schemas.openxmlformats.org/officeDocument/2006/relationships/note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Cierre del módulo. Podés hacer un repaso rápido de los puntos más importantes preguntando al grupo cuál fue el concepto que más les llamó la atención. Luego adelantá brevemente qué viene en el Módulo 2.</a:t>
            </a:r>
          </a:p>
          <a:p>
            <a:r>
              <a:rPr lang="en-US"/>
              <a:t>45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Esta slide es excelente para debatir con el grupo. Podés preguntar: '¿Alguna vez vieron o escucharon de alguno de estos errores? ¿Por qué creén que ocurren?' Los errores más comunes son no documentar y asumir sin evidencia. Reforzá el mensaje central: el criterio analítico es lo que diferencia a un analista junior de uno experimentado.</a:t>
            </a:r>
          </a:p>
          <a:p>
            <a:r>
              <a:rPr lang="en-US"/>
              <a:t>46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Pregunta 1</a:t>
            </a:r>
          </a:p>
          <a:p>
            <a:r>
              <a:rPr lang="en-US"/>
              <a:t/>
            </a:r>
          </a:p>
          <a:p>
            <a:r>
              <a:rPr lang="en-US"/>
              <a:t>¿Cuáles son los tres objetivos operativos principales de un SOC y cómo se relacionan entre sí?</a:t>
            </a:r>
          </a:p>
          <a:p>
            <a:r>
              <a:rPr lang="en-US"/>
              <a:t/>
            </a:r>
          </a:p>
          <a:p>
            <a:r>
              <a:rPr lang="en-US"/>
              <a:t>Tipo: Multiple choice</a:t>
            </a:r>
          </a:p>
          <a:p>
            <a:r>
              <a:rPr lang="en-US"/>
              <a:t/>
            </a:r>
          </a:p>
          <a:p>
            <a:r>
              <a:rPr lang="en-US"/>
              <a:t>¿Qué describe mejor los tres objetivos operativos de un SOC y su relación?</a:t>
            </a:r>
          </a:p>
          <a:p>
            <a:r>
              <a:rPr lang="en-US"/>
              <a:t/>
            </a:r>
          </a:p>
          <a:p>
            <a:r>
              <a:rPr lang="en-US"/>
              <a:t>A) Prevenir, auditar y reportar — el SOC actúa antes de que ocurra cualquier amenaza</a:t>
            </a:r>
          </a:p>
          <a:p>
            <a:r>
              <a:rPr lang="en-US"/>
              <a:t>B) Monitorear, detectar y responder — se activan en secuencia: sin monitoreo no hay detección, y sin detección no hay respuesta ✅</a:t>
            </a:r>
          </a:p>
          <a:p>
            <a:r>
              <a:rPr lang="en-US"/>
              <a:t>C) Monitorear, bloquear y eliminar — el SOC toma acción directa sobre cada amenaza identificada</a:t>
            </a:r>
          </a:p>
          <a:p>
            <a:r>
              <a:rPr lang="en-US"/>
              <a:t>D) Detectar, escalar y resolver — el equipo de L1 resuelve todos los incidentes internamente</a:t>
            </a:r>
          </a:p>
          <a:p>
            <a:r>
              <a:rPr lang="en-US"/>
              <a:t>Pregunta 2</a:t>
            </a:r>
          </a:p>
          <a:p>
            <a:r>
              <a:rPr lang="en-US"/>
              <a:t/>
            </a:r>
          </a:p>
          <a:p>
            <a:r>
              <a:rPr lang="en-US"/>
              <a:t>¿Cuál es la diferencia entre un SOC interno y un MSSP?</a:t>
            </a:r>
          </a:p>
          <a:p>
            <a:r>
              <a:rPr lang="en-US"/>
              <a:t/>
            </a:r>
          </a:p>
          <a:p>
            <a:r>
              <a:rPr lang="en-US"/>
              <a:t>Tipo: Multiple choice</a:t>
            </a:r>
          </a:p>
          <a:p>
            <a:r>
              <a:rPr lang="en-US"/>
              <a:t/>
            </a:r>
          </a:p>
          <a:p>
            <a:r>
              <a:rPr lang="en-US"/>
              <a:t>Un SOC interno se diferencia de un MSSP principalmente en que:</a:t>
            </a:r>
          </a:p>
          <a:p>
            <a:r>
              <a:rPr lang="en-US"/>
              <a:t/>
            </a:r>
          </a:p>
          <a:p>
            <a:r>
              <a:rPr lang="en-US"/>
              <a:t>A) El SOC interno solo atiende horario laboral, mientras que el MSSP opera 24/7</a:t>
            </a:r>
          </a:p>
          <a:p>
            <a:r>
              <a:rPr lang="en-US"/>
              <a:t>B) El MSSP es más seguro porque tiene más analistas y mejores herramientas siempre</a:t>
            </a:r>
          </a:p>
          <a:p>
            <a:r>
              <a:rPr lang="en-US"/>
              <a:t>C) El SOC interno ofrece mayor control y alineación con las políticas de la organización, pero implica costos operativos más altos y necesidad de retención de talento ✅</a:t>
            </a:r>
          </a:p>
          <a:p>
            <a:r>
              <a:rPr lang="en-US"/>
              <a:t>D) El SOC interno no puede manejar incidentes críticos, por eso siempre se combina con un MSSP</a:t>
            </a:r>
          </a:p>
          <a:p>
            <a:r>
              <a:rPr lang="en-US"/>
              <a:t>Pregunta 3</a:t>
            </a:r>
          </a:p>
          <a:p>
            <a:r>
              <a:rPr lang="en-US"/>
              <a:t/>
            </a:r>
          </a:p>
          <a:p>
            <a:r>
              <a:rPr lang="en-US"/>
              <a:t>Un analista SOC recibe una alerta de múltiples intentos de login fallidos desde una IP extranjera. ¿Cuáles son los primeros pasos?</a:t>
            </a:r>
          </a:p>
          <a:p>
            <a:r>
              <a:rPr lang="en-US"/>
              <a:t/>
            </a:r>
          </a:p>
          <a:p>
            <a:r>
              <a:rPr lang="en-US"/>
              <a:t>Tipo: Multiple choice</a:t>
            </a:r>
          </a:p>
          <a:p>
            <a:r>
              <a:rPr lang="en-US"/>
              <a:t/>
            </a:r>
          </a:p>
          <a:p>
            <a:r>
              <a:rPr lang="en-US"/>
              <a:t>¿Cuál es la secuencia correcta de primeros pasos ante esta alerta?</a:t>
            </a:r>
          </a:p>
          <a:p>
            <a:r>
              <a:rPr lang="en-US"/>
              <a:t/>
            </a:r>
          </a:p>
          <a:p>
            <a:r>
              <a:rPr lang="en-US"/>
              <a:t>A) Bloquear la IP inmediatamente y notificar al usuario afectado</a:t>
            </a:r>
          </a:p>
          <a:p>
            <a:r>
              <a:rPr lang="en-US"/>
              <a:t>B) Escalar a L2 directamente porque es una IP extranjera</a:t>
            </a:r>
          </a:p>
          <a:p>
            <a:r>
              <a:rPr lang="en-US"/>
              <a:t>C) Revisar el contexto de la alerta: usuario afectado, cantidad de intentos, horario, si hubo login exitoso posterior y reputación de la IP antes de tomar cualquier acción ✅</a:t>
            </a:r>
          </a:p>
          <a:p>
            <a:r>
              <a:rPr lang="en-US"/>
              <a:t>D) Cerrar la alerta si no hubo login exitoso, ya que el bloqueo fue efectivo</a:t>
            </a:r>
          </a:p>
          <a:p>
            <a:r>
              <a:rPr lang="en-US"/>
              <a:t>Pregunta 4</a:t>
            </a:r>
          </a:p>
          <a:p>
            <a:r>
              <a:rPr lang="en-US"/>
              <a:t/>
            </a:r>
          </a:p>
          <a:p>
            <a:r>
              <a:rPr lang="en-US"/>
              <a:t>¿Cuál es la diferencia entre log, evento, alerta e incidente?</a:t>
            </a:r>
          </a:p>
          <a:p>
            <a:r>
              <a:rPr lang="en-US"/>
              <a:t/>
            </a:r>
          </a:p>
          <a:p>
            <a:r>
              <a:rPr lang="en-US"/>
              <a:t>Tipo: Multiple choice</a:t>
            </a:r>
          </a:p>
          <a:p>
            <a:r>
              <a:rPr lang="en-US"/>
              <a:t/>
            </a:r>
          </a:p>
          <a:p>
            <a:r>
              <a:rPr lang="en-US"/>
              <a:t>¿Qué afirmación describe correctamente la relación entre estos cuatro conceptos?</a:t>
            </a:r>
          </a:p>
          <a:p>
            <a:r>
              <a:rPr lang="en-US"/>
              <a:t/>
            </a:r>
          </a:p>
          <a:p>
            <a:r>
              <a:rPr lang="en-US"/>
              <a:t>A) Son sinónimos con distintos niveles de urgencia</a:t>
            </a:r>
          </a:p>
          <a:p>
            <a:r>
              <a:rPr lang="en-US"/>
              <a:t>B) Un log es el dato crudo, el evento le agrega contexto, la alerta se genera cuando coincide con una regla de detección, y el incidente es una alerta confirmada como real que requiere acción ✅</a:t>
            </a:r>
          </a:p>
          <a:p>
            <a:r>
              <a:rPr lang="en-US"/>
              <a:t>C) La alerta es lo que genera el analista, el incidente es lo que genera el SIEM</a:t>
            </a:r>
          </a:p>
          <a:p>
            <a:r>
              <a:rPr lang="en-US"/>
              <a:t>D) El log y el evento son lo mismo; la diferencia real está entre alerta e incidente</a:t>
            </a:r>
          </a:p>
          <a:p>
            <a:r>
              <a:rPr lang="en-US"/>
              <a:t>Pregunta 5</a:t>
            </a:r>
          </a:p>
          <a:p>
            <a:r>
              <a:rPr lang="en-US"/>
              <a:t/>
            </a:r>
          </a:p>
          <a:p>
            <a:r>
              <a:rPr lang="en-US"/>
              <a:t>¿Por qué es importante documentar el análisis incluso cuando la alerta resulta ser un falso positivo?</a:t>
            </a:r>
          </a:p>
          <a:p>
            <a:r>
              <a:rPr lang="en-US"/>
              <a:t/>
            </a:r>
          </a:p>
          <a:p>
            <a:r>
              <a:rPr lang="en-US"/>
              <a:t>Tipo: Verdadero / Falso — con justificación</a:t>
            </a:r>
          </a:p>
          <a:p>
            <a:r>
              <a:rPr lang="en-US"/>
              <a:t/>
            </a:r>
          </a:p>
          <a:p>
            <a:r>
              <a:rPr lang="en-US"/>
              <a:t>"Documentar un falso positivo no tiene valor operativo porque no ocurrió ningún incidente real."</a:t>
            </a:r>
          </a:p>
          <a:p>
            <a:r>
              <a:rPr lang="en-US"/>
              <a:t/>
            </a:r>
          </a:p>
          <a:p>
            <a:r>
              <a:rPr lang="en-US"/>
              <a:t>FALSO ✅</a:t>
            </a:r>
          </a:p>
          <a:p>
            <a:r>
              <a:rPr lang="en-US"/>
              <a:t/>
            </a:r>
          </a:p>
          <a:p>
            <a:r>
              <a:rPr lang="en-US"/>
              <a:t>Justificación correcta: Documentar falsos positivos es igualmente importante porque permite auditar el proceso de análisis, evitar que el mismo evento genere trabajo repetido en turnos siguientes, identificar patrones de ruido que pueden refinarse en las reglas del SIEM, y demostrar que se actuó con criterio técnico.</a:t>
            </a:r>
          </a:p>
          <a:p>
            <a:r>
              <a:rPr lang="en-US"/>
              <a:t/>
            </a:r>
          </a:p>
          <a:p>
            <a:r>
              <a:rPr lang="en-US"/>
              <a:t>Pregunta 6</a:t>
            </a:r>
          </a:p>
          <a:p>
            <a:r>
              <a:rPr lang="en-US"/>
              <a:t/>
            </a:r>
          </a:p>
          <a:p>
            <a:r>
              <a:rPr lang="en-US"/>
              <a:t>¿Qué información debe incluir un escalamiento para que sea útil y accionable?</a:t>
            </a:r>
          </a:p>
          <a:p>
            <a:r>
              <a:rPr lang="en-US"/>
              <a:t/>
            </a:r>
          </a:p>
          <a:p>
            <a:r>
              <a:rPr lang="en-US"/>
              <a:t>Tipo: Multiple choice</a:t>
            </a:r>
          </a:p>
          <a:p>
            <a:r>
              <a:rPr lang="en-US"/>
              <a:t/>
            </a:r>
          </a:p>
          <a:p>
            <a:r>
              <a:rPr lang="en-US"/>
              <a:t>¿Cuál de las siguientes opciones representa un escalamiento de calidad?</a:t>
            </a:r>
          </a:p>
          <a:p>
            <a:r>
              <a:rPr lang="en-US"/>
              <a:t/>
            </a:r>
          </a:p>
          <a:p>
            <a:r>
              <a:rPr lang="en-US"/>
              <a:t>A) "Hay actividad sospechosa en la red, revisar urgente."</a:t>
            </a:r>
          </a:p>
          <a:p>
            <a:r>
              <a:rPr lang="en-US"/>
              <a:t>B) "Se detectó una alerta de PowerShell. Severidad alta. Sin más datos por ahora."</a:t>
            </a:r>
          </a:p>
          <a:p>
            <a:r>
              <a:rPr lang="en-US"/>
              <a:t>C) Activo afectado, usuario involucrado, evidencia observada con timestamps, actividad previa y posterior revisada, limitaciones de visibilidad y acción recomendada ✅</a:t>
            </a:r>
          </a:p>
          <a:p>
            <a:r>
              <a:rPr lang="en-US"/>
              <a:t>D) Una captura de pantalla del panel del SIEM con la alerta visible</a:t>
            </a:r>
          </a:p>
          <a:p>
            <a:r>
              <a:rPr lang="en-US"/>
              <a:t>Pregunta 7</a:t>
            </a:r>
          </a:p>
          <a:p>
            <a:r>
              <a:rPr lang="en-US"/>
              <a:t/>
            </a:r>
          </a:p>
          <a:p>
            <a:r>
              <a:rPr lang="en-US"/>
              <a:t>¿Por qué decimos que 'ver no significa tener permiso para divulgar'?</a:t>
            </a:r>
          </a:p>
          <a:p>
            <a:r>
              <a:rPr lang="en-US"/>
              <a:t/>
            </a:r>
          </a:p>
          <a:p>
            <a:r>
              <a:rPr lang="en-US"/>
              <a:t>Tipo: Verdadero / Falso — con justificación</a:t>
            </a:r>
          </a:p>
          <a:p>
            <a:r>
              <a:rPr lang="en-US"/>
              <a:t/>
            </a:r>
          </a:p>
          <a:p>
            <a:r>
              <a:rPr lang="en-US"/>
              <a:t>"Un analista SOC puede compartir información de un caso con compañeros de otros equipos si considera que podría ser útil para ellos."</a:t>
            </a:r>
          </a:p>
          <a:p>
            <a:r>
              <a:rPr lang="en-US"/>
              <a:t/>
            </a:r>
          </a:p>
          <a:p>
            <a:r>
              <a:rPr lang="en-US"/>
              <a:t>FALSO ✅</a:t>
            </a:r>
          </a:p>
          <a:p>
            <a:r>
              <a:rPr lang="en-US"/>
              <a:t/>
            </a:r>
          </a:p>
          <a:p>
            <a:r>
              <a:rPr lang="en-US"/>
              <a:t>Justificación correcta: El acceso técnico no equivale a autorización para divulgar. La información de un caso solo debe circular entre quienes tienen un rol activo en ese caso, por canales corporativos aprobados. Compartir datos de un incidente fuera del canal correcto — aunque sea con buena intención — viola los protocolos de confidencialidad y puede comprometer la investigación o generar responsabilidad legal.</a:t>
            </a:r>
          </a:p>
          <a:p>
            <a:r>
              <a:rPr lang="en-US"/>
              <a:t/>
            </a:r>
          </a:p>
          <a:p>
            <a:r>
              <a:rPr lang="en-US"/>
              <a:t>Pregunta 8</a:t>
            </a:r>
          </a:p>
          <a:p>
            <a:r>
              <a:rPr lang="en-US"/>
              <a:t/>
            </a:r>
          </a:p>
          <a:p>
            <a:r>
              <a:rPr lang="en-US"/>
              <a:t>Mencioná al menos 3 rutas de especialización o crecimiento posibles a partir del SOC.</a:t>
            </a:r>
          </a:p>
          <a:p>
            <a:r>
              <a:rPr lang="en-US"/>
              <a:t/>
            </a:r>
          </a:p>
          <a:p>
            <a:r>
              <a:rPr lang="en-US"/>
              <a:t>Tipo: Multiple choice</a:t>
            </a:r>
          </a:p>
          <a:p>
            <a:r>
              <a:rPr lang="en-US"/>
              <a:t/>
            </a:r>
          </a:p>
          <a:p>
            <a:r>
              <a:rPr lang="en-US"/>
              <a:t>¿Cuál de las siguientes listas representa rutas de crecimiento reales desde el SOC?</a:t>
            </a:r>
          </a:p>
          <a:p>
            <a:r>
              <a:rPr lang="en-US"/>
              <a:t/>
            </a:r>
          </a:p>
          <a:p>
            <a:r>
              <a:rPr lang="en-US"/>
              <a:t>A) Pentesting, soporte técnico de mesa de ayuda, administración de redes</a:t>
            </a:r>
          </a:p>
          <a:p>
            <a:r>
              <a:rPr lang="en-US"/>
              <a:t>B) Incident Response / CSIRT, Threat Intelligence, Ingeniería de Seguridad (SIEM/SOAR), Forense Digital, Cloud Security, GRC ✅</a:t>
            </a:r>
          </a:p>
          <a:p>
            <a:r>
              <a:rPr lang="en-US"/>
              <a:t>C) Desarrollo de software seguro, marketing de ciberseguridad, gestión de proyectos de TI</a:t>
            </a:r>
          </a:p>
          <a:p>
            <a:r>
              <a:rPr lang="en-US"/>
              <a:t>D) Solo se puede crecer dentro del SOC ascendiendo de L1 a L2 y luego a L3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Slide final de la presentación. Podés cerrar con una reflexión breve sobre el módulo y anticipar el próximo.</a:t>
            </a:r>
          </a:p>
          <a:p>
            <a:r>
              <a:rPr lang="en-US"/>
              <a:t>48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13.png" Type="http://schemas.openxmlformats.org/officeDocument/2006/relationships/image"/><Relationship Id="rId2" Target="../notesSlides/notesSlide2.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15" Target="../media/image13.png" Type="http://schemas.openxmlformats.org/officeDocument/2006/relationships/image"/><Relationship Id="rId2" Target="../notesSlides/notesSlide3.xml" Type="http://schemas.openxmlformats.org/officeDocument/2006/relationships/notesSlide"/><Relationship Id="rId3" Target="../media/image20.png" Type="http://schemas.openxmlformats.org/officeDocument/2006/relationships/image"/><Relationship Id="rId4" Target="../media/image21.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8765543"/>
            <a:ext cx="18313336" cy="1854136"/>
          </a:xfrm>
          <a:custGeom>
            <a:avLst/>
            <a:gdLst/>
            <a:ahLst/>
            <a:cxnLst/>
            <a:rect r="r" b="b" t="t" l="l"/>
            <a:pathLst>
              <a:path h="1854136" w="18313336">
                <a:moveTo>
                  <a:pt x="0" y="0"/>
                </a:moveTo>
                <a:lnTo>
                  <a:pt x="18313337" y="0"/>
                </a:lnTo>
                <a:lnTo>
                  <a:pt x="18313337" y="1854137"/>
                </a:lnTo>
                <a:lnTo>
                  <a:pt x="0" y="18541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9144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8715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999">
                  <a:solidFill>
                    <a:srgbClr val="8A004F"/>
                  </a:solidFill>
                  <a:latin typeface="Calibri (MS) Bold"/>
                  <a:ea typeface="Calibri (MS) Bold"/>
                  <a:cs typeface="Calibri (MS) Bold"/>
                  <a:sym typeface="Calibri (MS) Bold"/>
                </a:rPr>
                <a:t>RESUMEN</a:t>
              </a:r>
            </a:p>
          </p:txBody>
        </p:sp>
      </p:grpSp>
      <p:grpSp>
        <p:nvGrpSpPr>
          <p:cNvPr name="Group 9" id="9"/>
          <p:cNvGrpSpPr/>
          <p:nvPr/>
        </p:nvGrpSpPr>
        <p:grpSpPr>
          <a:xfrm rot="0">
            <a:off x="1463040" y="1755648"/>
            <a:ext cx="15544800" cy="1188720"/>
            <a:chOff x="0" y="0"/>
            <a:chExt cx="20726400" cy="1584960"/>
          </a:xfrm>
        </p:grpSpPr>
        <p:sp>
          <p:nvSpPr>
            <p:cNvPr name="Freeform 10" id="10"/>
            <p:cNvSpPr/>
            <p:nvPr/>
          </p:nvSpPr>
          <p:spPr>
            <a:xfrm flipH="false" flipV="false" rot="0">
              <a:off x="0" y="0"/>
              <a:ext cx="20726400" cy="1584960"/>
            </a:xfrm>
            <a:custGeom>
              <a:avLst/>
              <a:gdLst/>
              <a:ahLst/>
              <a:cxnLst/>
              <a:rect r="r" b="b" t="t" l="l"/>
              <a:pathLst>
                <a:path h="1584960" w="20726400">
                  <a:moveTo>
                    <a:pt x="0" y="0"/>
                  </a:moveTo>
                  <a:lnTo>
                    <a:pt x="20726400" y="0"/>
                  </a:lnTo>
                  <a:lnTo>
                    <a:pt x="20726400" y="1584960"/>
                  </a:lnTo>
                  <a:lnTo>
                    <a:pt x="0" y="1584960"/>
                  </a:lnTo>
                  <a:close/>
                </a:path>
              </a:pathLst>
            </a:custGeom>
            <a:blipFill>
              <a:blip r:embed="rId7">
                <a:alphaModFix amt="0"/>
              </a:blip>
              <a:stretch>
                <a:fillRect l="0" t="-204627" r="0" b="-204626"/>
              </a:stretch>
            </a:blipFill>
          </p:spPr>
        </p:sp>
      </p:grpSp>
      <p:grpSp>
        <p:nvGrpSpPr>
          <p:cNvPr name="Group 11" id="11"/>
          <p:cNvGrpSpPr/>
          <p:nvPr/>
        </p:nvGrpSpPr>
        <p:grpSpPr>
          <a:xfrm rot="0">
            <a:off x="1463040" y="1698498"/>
            <a:ext cx="15544800" cy="1245870"/>
            <a:chOff x="0" y="0"/>
            <a:chExt cx="20726400" cy="1661160"/>
          </a:xfrm>
        </p:grpSpPr>
        <p:sp>
          <p:nvSpPr>
            <p:cNvPr name="Freeform 12" id="12"/>
            <p:cNvSpPr/>
            <p:nvPr/>
          </p:nvSpPr>
          <p:spPr>
            <a:xfrm flipH="false" flipV="false" rot="0">
              <a:off x="0" y="0"/>
              <a:ext cx="20726400" cy="1661160"/>
            </a:xfrm>
            <a:custGeom>
              <a:avLst/>
              <a:gdLst/>
              <a:ahLst/>
              <a:cxnLst/>
              <a:rect r="r" b="b" t="t" l="l"/>
              <a:pathLst>
                <a:path h="1661160" w="20726400">
                  <a:moveTo>
                    <a:pt x="0" y="0"/>
                  </a:moveTo>
                  <a:lnTo>
                    <a:pt x="20726400" y="0"/>
                  </a:lnTo>
                  <a:lnTo>
                    <a:pt x="20726400" y="1661160"/>
                  </a:lnTo>
                  <a:lnTo>
                    <a:pt x="0" y="1661160"/>
                  </a:lnTo>
                  <a:close/>
                </a:path>
              </a:pathLst>
            </a:custGeom>
            <a:blipFill>
              <a:blip r:embed="rId8">
                <a:alphaModFix amt="0"/>
              </a:blip>
              <a:stretch>
                <a:fillRect l="0" t="-193116" r="0" b="-193116"/>
              </a:stretch>
            </a:blipFill>
          </p:spPr>
        </p:sp>
        <p:sp>
          <p:nvSpPr>
            <p:cNvPr name="TextBox 13" id="13"/>
            <p:cNvSpPr txBox="true"/>
            <p:nvPr/>
          </p:nvSpPr>
          <p:spPr>
            <a:xfrm>
              <a:off x="0" y="-76200"/>
              <a:ext cx="20726400" cy="173736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Módulo 1: Introducción al Rol SOC</a:t>
              </a:r>
            </a:p>
          </p:txBody>
        </p:sp>
      </p:grpSp>
      <p:sp>
        <p:nvSpPr>
          <p:cNvPr name="Freeform 14" id="14"/>
          <p:cNvSpPr/>
          <p:nvPr/>
        </p:nvSpPr>
        <p:spPr>
          <a:xfrm flipH="false" flipV="false" rot="0">
            <a:off x="1413767" y="3096263"/>
            <a:ext cx="537400" cy="573976"/>
          </a:xfrm>
          <a:custGeom>
            <a:avLst/>
            <a:gdLst/>
            <a:ahLst/>
            <a:cxnLst/>
            <a:rect r="r" b="b" t="t" l="l"/>
            <a:pathLst>
              <a:path h="573976"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1426464" y="3108960"/>
            <a:ext cx="512064" cy="548640"/>
            <a:chOff x="0" y="0"/>
            <a:chExt cx="682752" cy="731520"/>
          </a:xfrm>
        </p:grpSpPr>
        <p:sp>
          <p:nvSpPr>
            <p:cNvPr name="Freeform 16" id="16"/>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17" id="17"/>
          <p:cNvGrpSpPr/>
          <p:nvPr/>
        </p:nvGrpSpPr>
        <p:grpSpPr>
          <a:xfrm rot="0">
            <a:off x="1426464" y="3080385"/>
            <a:ext cx="512064" cy="577215"/>
            <a:chOff x="0" y="0"/>
            <a:chExt cx="682752" cy="769620"/>
          </a:xfrm>
        </p:grpSpPr>
        <p:sp>
          <p:nvSpPr>
            <p:cNvPr name="Freeform 18" id="18"/>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19" id="19"/>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20" id="20"/>
          <p:cNvGrpSpPr/>
          <p:nvPr/>
        </p:nvGrpSpPr>
        <p:grpSpPr>
          <a:xfrm rot="0">
            <a:off x="2048256" y="3108960"/>
            <a:ext cx="15544800" cy="548640"/>
            <a:chOff x="0" y="0"/>
            <a:chExt cx="20726400" cy="731520"/>
          </a:xfrm>
        </p:grpSpPr>
        <p:sp>
          <p:nvSpPr>
            <p:cNvPr name="Freeform 21" id="21"/>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22" id="22"/>
          <p:cNvGrpSpPr/>
          <p:nvPr/>
        </p:nvGrpSpPr>
        <p:grpSpPr>
          <a:xfrm rot="0">
            <a:off x="2048256" y="3080385"/>
            <a:ext cx="15544800" cy="577215"/>
            <a:chOff x="0" y="0"/>
            <a:chExt cx="20726400" cy="769620"/>
          </a:xfrm>
        </p:grpSpPr>
        <p:sp>
          <p:nvSpPr>
            <p:cNvPr name="Freeform 23" id="23"/>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24" id="24"/>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Comprendiste qué es un SOC, sus objetivos y por qué es esencial en la estrategia de ciberseguridad.</a:t>
              </a:r>
            </a:p>
          </p:txBody>
        </p:sp>
      </p:grpSp>
      <p:sp>
        <p:nvSpPr>
          <p:cNvPr name="Freeform 25" id="25"/>
          <p:cNvSpPr/>
          <p:nvPr/>
        </p:nvSpPr>
        <p:spPr>
          <a:xfrm flipH="false" flipV="false" rot="0">
            <a:off x="1413767" y="3864359"/>
            <a:ext cx="537400" cy="573976"/>
          </a:xfrm>
          <a:custGeom>
            <a:avLst/>
            <a:gdLst/>
            <a:ahLst/>
            <a:cxnLst/>
            <a:rect r="r" b="b" t="t" l="l"/>
            <a:pathLst>
              <a:path h="573976"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6" id="26"/>
          <p:cNvGrpSpPr/>
          <p:nvPr/>
        </p:nvGrpSpPr>
        <p:grpSpPr>
          <a:xfrm rot="0">
            <a:off x="1426464" y="3877056"/>
            <a:ext cx="512064" cy="548640"/>
            <a:chOff x="0" y="0"/>
            <a:chExt cx="682752" cy="731520"/>
          </a:xfrm>
        </p:grpSpPr>
        <p:sp>
          <p:nvSpPr>
            <p:cNvPr name="Freeform 27" id="27"/>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28" id="28"/>
          <p:cNvGrpSpPr/>
          <p:nvPr/>
        </p:nvGrpSpPr>
        <p:grpSpPr>
          <a:xfrm rot="0">
            <a:off x="1426464" y="3848481"/>
            <a:ext cx="512064" cy="577215"/>
            <a:chOff x="0" y="0"/>
            <a:chExt cx="682752" cy="769620"/>
          </a:xfrm>
        </p:grpSpPr>
        <p:sp>
          <p:nvSpPr>
            <p:cNvPr name="Freeform 29" id="29"/>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30" id="30"/>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31" id="31"/>
          <p:cNvGrpSpPr/>
          <p:nvPr/>
        </p:nvGrpSpPr>
        <p:grpSpPr>
          <a:xfrm rot="0">
            <a:off x="2048256" y="3877056"/>
            <a:ext cx="15544800" cy="548640"/>
            <a:chOff x="0" y="0"/>
            <a:chExt cx="20726400" cy="731520"/>
          </a:xfrm>
        </p:grpSpPr>
        <p:sp>
          <p:nvSpPr>
            <p:cNvPr name="Freeform 32" id="32"/>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33" id="33"/>
          <p:cNvGrpSpPr/>
          <p:nvPr/>
        </p:nvGrpSpPr>
        <p:grpSpPr>
          <a:xfrm rot="0">
            <a:off x="2048256" y="3848481"/>
            <a:ext cx="15544800" cy="577215"/>
            <a:chOff x="0" y="0"/>
            <a:chExt cx="20726400" cy="769620"/>
          </a:xfrm>
        </p:grpSpPr>
        <p:sp>
          <p:nvSpPr>
            <p:cNvPr name="Freeform 34" id="34"/>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35" id="35"/>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Conociste los tipos de SOC (interno, externo MSSP, híbrido) y su relación con NOC, CSIRT y CERT.</a:t>
              </a:r>
            </a:p>
          </p:txBody>
        </p:sp>
      </p:grpSp>
      <p:sp>
        <p:nvSpPr>
          <p:cNvPr name="Freeform 36" id="36"/>
          <p:cNvSpPr/>
          <p:nvPr/>
        </p:nvSpPr>
        <p:spPr>
          <a:xfrm flipH="false" flipV="false" rot="0">
            <a:off x="1413767" y="4632455"/>
            <a:ext cx="537400" cy="573976"/>
          </a:xfrm>
          <a:custGeom>
            <a:avLst/>
            <a:gdLst/>
            <a:ahLst/>
            <a:cxnLst/>
            <a:rect r="r" b="b" t="t" l="l"/>
            <a:pathLst>
              <a:path h="573976"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7" id="37"/>
          <p:cNvGrpSpPr/>
          <p:nvPr/>
        </p:nvGrpSpPr>
        <p:grpSpPr>
          <a:xfrm rot="0">
            <a:off x="1426464" y="4645152"/>
            <a:ext cx="512064" cy="548640"/>
            <a:chOff x="0" y="0"/>
            <a:chExt cx="682752" cy="731520"/>
          </a:xfrm>
        </p:grpSpPr>
        <p:sp>
          <p:nvSpPr>
            <p:cNvPr name="Freeform 38" id="38"/>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39" id="39"/>
          <p:cNvGrpSpPr/>
          <p:nvPr/>
        </p:nvGrpSpPr>
        <p:grpSpPr>
          <a:xfrm rot="0">
            <a:off x="1426464" y="4616577"/>
            <a:ext cx="512064" cy="577215"/>
            <a:chOff x="0" y="0"/>
            <a:chExt cx="682752" cy="769620"/>
          </a:xfrm>
        </p:grpSpPr>
        <p:sp>
          <p:nvSpPr>
            <p:cNvPr name="Freeform 40" id="40"/>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41" id="41"/>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42" id="42"/>
          <p:cNvGrpSpPr/>
          <p:nvPr/>
        </p:nvGrpSpPr>
        <p:grpSpPr>
          <a:xfrm rot="0">
            <a:off x="2048256" y="4645152"/>
            <a:ext cx="15544800" cy="548640"/>
            <a:chOff x="0" y="0"/>
            <a:chExt cx="20726400" cy="731520"/>
          </a:xfrm>
        </p:grpSpPr>
        <p:sp>
          <p:nvSpPr>
            <p:cNvPr name="Freeform 43" id="43"/>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44" id="44"/>
          <p:cNvGrpSpPr/>
          <p:nvPr/>
        </p:nvGrpSpPr>
        <p:grpSpPr>
          <a:xfrm rot="0">
            <a:off x="2048256" y="4616577"/>
            <a:ext cx="15544800" cy="577215"/>
            <a:chOff x="0" y="0"/>
            <a:chExt cx="20726400" cy="769620"/>
          </a:xfrm>
        </p:grpSpPr>
        <p:sp>
          <p:nvSpPr>
            <p:cNvPr name="Freeform 45" id="45"/>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46" id="46"/>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Exploraste la estructura interna: niveles L1/L2/L3, roles especializados y dinámicas de trabajo.</a:t>
              </a:r>
            </a:p>
          </p:txBody>
        </p:sp>
      </p:grpSp>
      <p:sp>
        <p:nvSpPr>
          <p:cNvPr name="Freeform 47" id="47"/>
          <p:cNvSpPr/>
          <p:nvPr/>
        </p:nvSpPr>
        <p:spPr>
          <a:xfrm flipH="false" flipV="false" rot="0">
            <a:off x="1413767" y="5400551"/>
            <a:ext cx="537400" cy="573976"/>
          </a:xfrm>
          <a:custGeom>
            <a:avLst/>
            <a:gdLst/>
            <a:ahLst/>
            <a:cxnLst/>
            <a:rect r="r" b="b" t="t" l="l"/>
            <a:pathLst>
              <a:path h="573976"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8" id="48"/>
          <p:cNvGrpSpPr/>
          <p:nvPr/>
        </p:nvGrpSpPr>
        <p:grpSpPr>
          <a:xfrm rot="0">
            <a:off x="1426464" y="5413248"/>
            <a:ext cx="512064" cy="548640"/>
            <a:chOff x="0" y="0"/>
            <a:chExt cx="682752" cy="731520"/>
          </a:xfrm>
        </p:grpSpPr>
        <p:sp>
          <p:nvSpPr>
            <p:cNvPr name="Freeform 49" id="49"/>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50" id="50"/>
          <p:cNvGrpSpPr/>
          <p:nvPr/>
        </p:nvGrpSpPr>
        <p:grpSpPr>
          <a:xfrm rot="0">
            <a:off x="1426464" y="5384673"/>
            <a:ext cx="512064" cy="577215"/>
            <a:chOff x="0" y="0"/>
            <a:chExt cx="682752" cy="769620"/>
          </a:xfrm>
        </p:grpSpPr>
        <p:sp>
          <p:nvSpPr>
            <p:cNvPr name="Freeform 51" id="51"/>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52" id="52"/>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53" id="53"/>
          <p:cNvGrpSpPr/>
          <p:nvPr/>
        </p:nvGrpSpPr>
        <p:grpSpPr>
          <a:xfrm rot="0">
            <a:off x="2048256" y="5413248"/>
            <a:ext cx="15544800" cy="548640"/>
            <a:chOff x="0" y="0"/>
            <a:chExt cx="20726400" cy="731520"/>
          </a:xfrm>
        </p:grpSpPr>
        <p:sp>
          <p:nvSpPr>
            <p:cNvPr name="Freeform 54" id="54"/>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55" id="55"/>
          <p:cNvGrpSpPr/>
          <p:nvPr/>
        </p:nvGrpSpPr>
        <p:grpSpPr>
          <a:xfrm rot="0">
            <a:off x="2048256" y="5384673"/>
            <a:ext cx="15544800" cy="577215"/>
            <a:chOff x="0" y="0"/>
            <a:chExt cx="20726400" cy="769620"/>
          </a:xfrm>
        </p:grpSpPr>
        <p:sp>
          <p:nvSpPr>
            <p:cNvPr name="Freeform 56" id="56"/>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57" id="57"/>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Comprendiste el rol del analista SOC moderno: criterio operativo, habilidades y herramientas clave.</a:t>
              </a:r>
            </a:p>
          </p:txBody>
        </p:sp>
      </p:grpSp>
      <p:sp>
        <p:nvSpPr>
          <p:cNvPr name="Freeform 58" id="58"/>
          <p:cNvSpPr/>
          <p:nvPr/>
        </p:nvSpPr>
        <p:spPr>
          <a:xfrm flipH="false" flipV="false" rot="0">
            <a:off x="1413767" y="6168647"/>
            <a:ext cx="537400" cy="573977"/>
          </a:xfrm>
          <a:custGeom>
            <a:avLst/>
            <a:gdLst/>
            <a:ahLst/>
            <a:cxnLst/>
            <a:rect r="r" b="b" t="t" l="l"/>
            <a:pathLst>
              <a:path h="573977"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59" id="59"/>
          <p:cNvGrpSpPr/>
          <p:nvPr/>
        </p:nvGrpSpPr>
        <p:grpSpPr>
          <a:xfrm rot="0">
            <a:off x="1426464" y="6181344"/>
            <a:ext cx="512064" cy="548640"/>
            <a:chOff x="0" y="0"/>
            <a:chExt cx="682752" cy="731520"/>
          </a:xfrm>
        </p:grpSpPr>
        <p:sp>
          <p:nvSpPr>
            <p:cNvPr name="Freeform 60" id="60"/>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61" id="61"/>
          <p:cNvGrpSpPr/>
          <p:nvPr/>
        </p:nvGrpSpPr>
        <p:grpSpPr>
          <a:xfrm rot="0">
            <a:off x="1426464" y="6152769"/>
            <a:ext cx="512064" cy="577215"/>
            <a:chOff x="0" y="0"/>
            <a:chExt cx="682752" cy="769620"/>
          </a:xfrm>
        </p:grpSpPr>
        <p:sp>
          <p:nvSpPr>
            <p:cNvPr name="Freeform 62" id="62"/>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63" id="63"/>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64" id="64"/>
          <p:cNvGrpSpPr/>
          <p:nvPr/>
        </p:nvGrpSpPr>
        <p:grpSpPr>
          <a:xfrm rot="0">
            <a:off x="2048256" y="6181344"/>
            <a:ext cx="15544800" cy="548640"/>
            <a:chOff x="0" y="0"/>
            <a:chExt cx="20726400" cy="731520"/>
          </a:xfrm>
        </p:grpSpPr>
        <p:sp>
          <p:nvSpPr>
            <p:cNvPr name="Freeform 65" id="65"/>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66" id="66"/>
          <p:cNvGrpSpPr/>
          <p:nvPr/>
        </p:nvGrpSpPr>
        <p:grpSpPr>
          <a:xfrm rot="0">
            <a:off x="2048256" y="6152769"/>
            <a:ext cx="15544800" cy="577215"/>
            <a:chOff x="0" y="0"/>
            <a:chExt cx="20726400" cy="769620"/>
          </a:xfrm>
        </p:grpSpPr>
        <p:sp>
          <p:nvSpPr>
            <p:cNvPr name="Freeform 67" id="67"/>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68" id="68"/>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Aprendiste cómo fluye la información desde un evento hasta un incidente, y cómo coordinan los niveles.</a:t>
              </a:r>
            </a:p>
          </p:txBody>
        </p:sp>
      </p:grpSp>
      <p:sp>
        <p:nvSpPr>
          <p:cNvPr name="Freeform 69" id="69"/>
          <p:cNvSpPr/>
          <p:nvPr/>
        </p:nvSpPr>
        <p:spPr>
          <a:xfrm flipH="false" flipV="false" rot="0">
            <a:off x="1413767" y="6936743"/>
            <a:ext cx="537400" cy="573977"/>
          </a:xfrm>
          <a:custGeom>
            <a:avLst/>
            <a:gdLst/>
            <a:ahLst/>
            <a:cxnLst/>
            <a:rect r="r" b="b" t="t" l="l"/>
            <a:pathLst>
              <a:path h="573977"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0" id="70"/>
          <p:cNvGrpSpPr/>
          <p:nvPr/>
        </p:nvGrpSpPr>
        <p:grpSpPr>
          <a:xfrm rot="0">
            <a:off x="1426464" y="6949440"/>
            <a:ext cx="512064" cy="548640"/>
            <a:chOff x="0" y="0"/>
            <a:chExt cx="682752" cy="731520"/>
          </a:xfrm>
        </p:grpSpPr>
        <p:sp>
          <p:nvSpPr>
            <p:cNvPr name="Freeform 71" id="71"/>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72" id="72"/>
          <p:cNvGrpSpPr/>
          <p:nvPr/>
        </p:nvGrpSpPr>
        <p:grpSpPr>
          <a:xfrm rot="0">
            <a:off x="1426464" y="6920865"/>
            <a:ext cx="512064" cy="577215"/>
            <a:chOff x="0" y="0"/>
            <a:chExt cx="682752" cy="769620"/>
          </a:xfrm>
        </p:grpSpPr>
        <p:sp>
          <p:nvSpPr>
            <p:cNvPr name="Freeform 73" id="73"/>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74" id="74"/>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75" id="75"/>
          <p:cNvGrpSpPr/>
          <p:nvPr/>
        </p:nvGrpSpPr>
        <p:grpSpPr>
          <a:xfrm rot="0">
            <a:off x="2048256" y="6949440"/>
            <a:ext cx="15544800" cy="548640"/>
            <a:chOff x="0" y="0"/>
            <a:chExt cx="20726400" cy="731520"/>
          </a:xfrm>
        </p:grpSpPr>
        <p:sp>
          <p:nvSpPr>
            <p:cNvPr name="Freeform 76" id="76"/>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77" id="77"/>
          <p:cNvGrpSpPr/>
          <p:nvPr/>
        </p:nvGrpSpPr>
        <p:grpSpPr>
          <a:xfrm rot="0">
            <a:off x="2048256" y="6920865"/>
            <a:ext cx="15544800" cy="577215"/>
            <a:chOff x="0" y="0"/>
            <a:chExt cx="20726400" cy="769620"/>
          </a:xfrm>
        </p:grpSpPr>
        <p:sp>
          <p:nvSpPr>
            <p:cNvPr name="Freeform 78" id="78"/>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79" id="79"/>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Reflexionaste sobre ética, confidencialidad y la importancia de documentar con responsabilidad.</a:t>
              </a:r>
            </a:p>
          </p:txBody>
        </p:sp>
      </p:grpSp>
      <p:sp>
        <p:nvSpPr>
          <p:cNvPr name="Freeform 80" id="80"/>
          <p:cNvSpPr/>
          <p:nvPr/>
        </p:nvSpPr>
        <p:spPr>
          <a:xfrm flipH="false" flipV="false" rot="0">
            <a:off x="1413767" y="7704839"/>
            <a:ext cx="537400" cy="573977"/>
          </a:xfrm>
          <a:custGeom>
            <a:avLst/>
            <a:gdLst/>
            <a:ahLst/>
            <a:cxnLst/>
            <a:rect r="r" b="b" t="t" l="l"/>
            <a:pathLst>
              <a:path h="573977" w="537400">
                <a:moveTo>
                  <a:pt x="0" y="0"/>
                </a:moveTo>
                <a:lnTo>
                  <a:pt x="537401" y="0"/>
                </a:lnTo>
                <a:lnTo>
                  <a:pt x="537401" y="573977"/>
                </a:lnTo>
                <a:lnTo>
                  <a:pt x="0" y="573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1" id="81"/>
          <p:cNvGrpSpPr/>
          <p:nvPr/>
        </p:nvGrpSpPr>
        <p:grpSpPr>
          <a:xfrm rot="0">
            <a:off x="1426464" y="7717536"/>
            <a:ext cx="512064" cy="548640"/>
            <a:chOff x="0" y="0"/>
            <a:chExt cx="682752" cy="731520"/>
          </a:xfrm>
        </p:grpSpPr>
        <p:sp>
          <p:nvSpPr>
            <p:cNvPr name="Freeform 82" id="82"/>
            <p:cNvSpPr/>
            <p:nvPr/>
          </p:nvSpPr>
          <p:spPr>
            <a:xfrm flipH="false" flipV="false" rot="0">
              <a:off x="0" y="0"/>
              <a:ext cx="682752" cy="731520"/>
            </a:xfrm>
            <a:custGeom>
              <a:avLst/>
              <a:gdLst/>
              <a:ahLst/>
              <a:cxnLst/>
              <a:rect r="r" b="b" t="t" l="l"/>
              <a:pathLst>
                <a:path h="731520" w="682752">
                  <a:moveTo>
                    <a:pt x="0" y="0"/>
                  </a:moveTo>
                  <a:lnTo>
                    <a:pt x="682752" y="0"/>
                  </a:lnTo>
                  <a:lnTo>
                    <a:pt x="682752" y="731520"/>
                  </a:lnTo>
                  <a:lnTo>
                    <a:pt x="0" y="731520"/>
                  </a:lnTo>
                  <a:close/>
                </a:path>
              </a:pathLst>
            </a:custGeom>
            <a:blipFill>
              <a:blip r:embed="rId7">
                <a:alphaModFix amt="0"/>
              </a:blip>
              <a:stretch>
                <a:fillRect l="-87563" t="0" r="-87565" b="0"/>
              </a:stretch>
            </a:blipFill>
          </p:spPr>
        </p:sp>
      </p:grpSp>
      <p:grpSp>
        <p:nvGrpSpPr>
          <p:cNvPr name="Group 83" id="83"/>
          <p:cNvGrpSpPr/>
          <p:nvPr/>
        </p:nvGrpSpPr>
        <p:grpSpPr>
          <a:xfrm rot="0">
            <a:off x="1426464" y="7688961"/>
            <a:ext cx="512064" cy="577215"/>
            <a:chOff x="0" y="0"/>
            <a:chExt cx="682752" cy="769620"/>
          </a:xfrm>
        </p:grpSpPr>
        <p:sp>
          <p:nvSpPr>
            <p:cNvPr name="Freeform 84" id="84"/>
            <p:cNvSpPr/>
            <p:nvPr/>
          </p:nvSpPr>
          <p:spPr>
            <a:xfrm flipH="false" flipV="false" rot="0">
              <a:off x="0" y="0"/>
              <a:ext cx="682752" cy="769620"/>
            </a:xfrm>
            <a:custGeom>
              <a:avLst/>
              <a:gdLst/>
              <a:ahLst/>
              <a:cxnLst/>
              <a:rect r="r" b="b" t="t" l="l"/>
              <a:pathLst>
                <a:path h="769620" w="682752">
                  <a:moveTo>
                    <a:pt x="0" y="0"/>
                  </a:moveTo>
                  <a:lnTo>
                    <a:pt x="682752" y="0"/>
                  </a:lnTo>
                  <a:lnTo>
                    <a:pt x="682752" y="769620"/>
                  </a:lnTo>
                  <a:lnTo>
                    <a:pt x="0" y="769620"/>
                  </a:lnTo>
                  <a:close/>
                </a:path>
              </a:pathLst>
            </a:custGeom>
            <a:blipFill>
              <a:blip r:embed="rId8">
                <a:alphaModFix amt="0"/>
              </a:blip>
              <a:stretch>
                <a:fillRect l="-94627" t="0" r="-94627" b="0"/>
              </a:stretch>
            </a:blipFill>
          </p:spPr>
        </p:sp>
        <p:sp>
          <p:nvSpPr>
            <p:cNvPr name="TextBox 85" id="85"/>
            <p:cNvSpPr txBox="true"/>
            <p:nvPr/>
          </p:nvSpPr>
          <p:spPr>
            <a:xfrm>
              <a:off x="0" y="-38100"/>
              <a:ext cx="682752" cy="8077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a:t>
              </a:r>
            </a:p>
          </p:txBody>
        </p:sp>
      </p:grpSp>
      <p:grpSp>
        <p:nvGrpSpPr>
          <p:cNvPr name="Group 86" id="86"/>
          <p:cNvGrpSpPr/>
          <p:nvPr/>
        </p:nvGrpSpPr>
        <p:grpSpPr>
          <a:xfrm rot="0">
            <a:off x="2048256" y="7717536"/>
            <a:ext cx="15544800" cy="548640"/>
            <a:chOff x="0" y="0"/>
            <a:chExt cx="20726400" cy="731520"/>
          </a:xfrm>
        </p:grpSpPr>
        <p:sp>
          <p:nvSpPr>
            <p:cNvPr name="Freeform 87" id="87"/>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7">
                <a:alphaModFix amt="0"/>
              </a:blip>
              <a:stretch>
                <a:fillRect l="0" t="-501692" r="0" b="-501690"/>
              </a:stretch>
            </a:blipFill>
          </p:spPr>
        </p:sp>
      </p:grpSp>
      <p:grpSp>
        <p:nvGrpSpPr>
          <p:cNvPr name="Group 88" id="88"/>
          <p:cNvGrpSpPr/>
          <p:nvPr/>
        </p:nvGrpSpPr>
        <p:grpSpPr>
          <a:xfrm rot="0">
            <a:off x="2048256" y="7688961"/>
            <a:ext cx="15544800" cy="577215"/>
            <a:chOff x="0" y="0"/>
            <a:chExt cx="20726400" cy="769620"/>
          </a:xfrm>
        </p:grpSpPr>
        <p:sp>
          <p:nvSpPr>
            <p:cNvPr name="Freeform 89" id="89"/>
            <p:cNvSpPr/>
            <p:nvPr/>
          </p:nvSpPr>
          <p:spPr>
            <a:xfrm flipH="false" flipV="false" rot="0">
              <a:off x="0" y="0"/>
              <a:ext cx="20726400" cy="769620"/>
            </a:xfrm>
            <a:custGeom>
              <a:avLst/>
              <a:gdLst/>
              <a:ahLst/>
              <a:cxnLst/>
              <a:rect r="r" b="b" t="t" l="l"/>
              <a:pathLst>
                <a:path h="769620" w="20726400">
                  <a:moveTo>
                    <a:pt x="0" y="0"/>
                  </a:moveTo>
                  <a:lnTo>
                    <a:pt x="20726400" y="0"/>
                  </a:lnTo>
                  <a:lnTo>
                    <a:pt x="20726400" y="769620"/>
                  </a:lnTo>
                  <a:lnTo>
                    <a:pt x="0" y="769620"/>
                  </a:lnTo>
                  <a:close/>
                </a:path>
              </a:pathLst>
            </a:custGeom>
            <a:blipFill>
              <a:blip r:embed="rId8">
                <a:alphaModFix amt="0"/>
              </a:blip>
              <a:stretch>
                <a:fillRect l="0" t="-474745" r="0" b="-474745"/>
              </a:stretch>
            </a:blipFill>
          </p:spPr>
        </p:sp>
        <p:sp>
          <p:nvSpPr>
            <p:cNvPr name="TextBox 90" id="90"/>
            <p:cNvSpPr txBox="true"/>
            <p:nvPr/>
          </p:nvSpPr>
          <p:spPr>
            <a:xfrm>
              <a:off x="0" y="-38100"/>
              <a:ext cx="20726400" cy="807720"/>
            </a:xfrm>
            <a:prstGeom prst="rect">
              <a:avLst/>
            </a:prstGeom>
          </p:spPr>
          <p:txBody>
            <a:bodyPr anchor="ctr" rtlCol="false" tIns="0" lIns="0" bIns="0" rIns="0"/>
            <a:lstStyle/>
            <a:p>
              <a:pPr algn="l">
                <a:lnSpc>
                  <a:spcPts val="2400"/>
                </a:lnSpc>
              </a:pPr>
              <a:r>
                <a:rPr lang="en-US" sz="2000">
                  <a:solidFill>
                    <a:srgbClr val="DDDDDD"/>
                  </a:solidFill>
                  <a:latin typeface="Calibri (MS)"/>
                  <a:ea typeface="Calibri (MS)"/>
                  <a:cs typeface="Calibri (MS)"/>
                  <a:sym typeface="Calibri (MS)"/>
                </a:rPr>
                <a:t>Exploraste rutas de crecimiento, certificaciones y salidas laborales en ciberseguridad.</a:t>
              </a:r>
            </a:p>
          </p:txBody>
        </p:sp>
      </p:grpSp>
      <p:sp>
        <p:nvSpPr>
          <p:cNvPr name="Freeform 91" id="91"/>
          <p:cNvSpPr/>
          <p:nvPr/>
        </p:nvSpPr>
        <p:spPr>
          <a:xfrm flipH="false" flipV="false" rot="0">
            <a:off x="1413767" y="8546087"/>
            <a:ext cx="16191928" cy="962701"/>
          </a:xfrm>
          <a:custGeom>
            <a:avLst/>
            <a:gdLst/>
            <a:ahLst/>
            <a:cxnLst/>
            <a:rect r="r" b="b" t="t" l="l"/>
            <a:pathLst>
              <a:path h="962701" w="16191928">
                <a:moveTo>
                  <a:pt x="0" y="0"/>
                </a:moveTo>
                <a:lnTo>
                  <a:pt x="16191929" y="0"/>
                </a:lnTo>
                <a:lnTo>
                  <a:pt x="16191929" y="962701"/>
                </a:lnTo>
                <a:lnTo>
                  <a:pt x="0" y="9627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2" id="92"/>
          <p:cNvGrpSpPr/>
          <p:nvPr/>
        </p:nvGrpSpPr>
        <p:grpSpPr>
          <a:xfrm rot="0">
            <a:off x="1682496" y="8558784"/>
            <a:ext cx="15764256" cy="950043"/>
            <a:chOff x="0" y="0"/>
            <a:chExt cx="21019008" cy="1266723"/>
          </a:xfrm>
        </p:grpSpPr>
        <p:sp>
          <p:nvSpPr>
            <p:cNvPr name="Freeform 93" id="93"/>
            <p:cNvSpPr/>
            <p:nvPr/>
          </p:nvSpPr>
          <p:spPr>
            <a:xfrm flipH="false" flipV="false" rot="0">
              <a:off x="0" y="0"/>
              <a:ext cx="21019008" cy="1266698"/>
            </a:xfrm>
            <a:custGeom>
              <a:avLst/>
              <a:gdLst/>
              <a:ahLst/>
              <a:cxnLst/>
              <a:rect r="r" b="b" t="t" l="l"/>
              <a:pathLst>
                <a:path h="1266698" w="21019008">
                  <a:moveTo>
                    <a:pt x="0" y="0"/>
                  </a:moveTo>
                  <a:lnTo>
                    <a:pt x="21019008" y="0"/>
                  </a:lnTo>
                  <a:lnTo>
                    <a:pt x="21019008" y="1266698"/>
                  </a:lnTo>
                  <a:lnTo>
                    <a:pt x="0" y="1266698"/>
                  </a:lnTo>
                  <a:close/>
                </a:path>
              </a:pathLst>
            </a:custGeom>
            <a:blipFill>
              <a:blip r:embed="rId7">
                <a:alphaModFix amt="0"/>
              </a:blip>
              <a:stretch>
                <a:fillRect l="0" t="-273100" r="0" b="-273102"/>
              </a:stretch>
            </a:blipFill>
          </p:spPr>
        </p:sp>
      </p:grpSp>
      <p:grpSp>
        <p:nvGrpSpPr>
          <p:cNvPr name="Group 94" id="94"/>
          <p:cNvGrpSpPr/>
          <p:nvPr/>
        </p:nvGrpSpPr>
        <p:grpSpPr>
          <a:xfrm rot="0">
            <a:off x="1682496" y="8523065"/>
            <a:ext cx="15764256" cy="985761"/>
            <a:chOff x="0" y="0"/>
            <a:chExt cx="21019008" cy="1314348"/>
          </a:xfrm>
        </p:grpSpPr>
        <p:sp>
          <p:nvSpPr>
            <p:cNvPr name="Freeform 95" id="95"/>
            <p:cNvSpPr/>
            <p:nvPr/>
          </p:nvSpPr>
          <p:spPr>
            <a:xfrm flipH="false" flipV="false" rot="0">
              <a:off x="0" y="0"/>
              <a:ext cx="21019008" cy="1314353"/>
            </a:xfrm>
            <a:custGeom>
              <a:avLst/>
              <a:gdLst/>
              <a:ahLst/>
              <a:cxnLst/>
              <a:rect r="r" b="b" t="t" l="l"/>
              <a:pathLst>
                <a:path h="1314353" w="21019008">
                  <a:moveTo>
                    <a:pt x="0" y="0"/>
                  </a:moveTo>
                  <a:lnTo>
                    <a:pt x="21019008" y="0"/>
                  </a:lnTo>
                  <a:lnTo>
                    <a:pt x="21019008" y="1314353"/>
                  </a:lnTo>
                  <a:lnTo>
                    <a:pt x="0" y="1314353"/>
                  </a:lnTo>
                  <a:close/>
                </a:path>
              </a:pathLst>
            </a:custGeom>
            <a:blipFill>
              <a:blip r:embed="rId8">
                <a:alphaModFix amt="0"/>
              </a:blip>
              <a:stretch>
                <a:fillRect l="0" t="-261603" r="0" b="-261602"/>
              </a:stretch>
            </a:blipFill>
          </p:spPr>
        </p:sp>
        <p:sp>
          <p:nvSpPr>
            <p:cNvPr name="TextBox 96" id="96"/>
            <p:cNvSpPr txBox="true"/>
            <p:nvPr/>
          </p:nvSpPr>
          <p:spPr>
            <a:xfrm>
              <a:off x="0" y="-47625"/>
              <a:ext cx="21019008" cy="1361973"/>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Ya tenés una visión clara del SOC moderno y del rol del analista que opera dentro de él. </a:t>
              </a:r>
              <a:r>
                <a:rPr lang="en-US" sz="2100">
                  <a:solidFill>
                    <a:srgbClr val="FFDDEE"/>
                  </a:solidFill>
                  <a:latin typeface="Calibri (MS)"/>
                  <a:ea typeface="Calibri (MS)"/>
                  <a:cs typeface="Calibri (MS)"/>
                  <a:sym typeface="Calibri (MS)"/>
                </a:rPr>
                <a:t>Estás listo para avanzar hacia los fundamentos técnicos que todo analista SOC necesita manejar.</a:t>
              </a:r>
            </a:p>
          </p:txBody>
        </p:sp>
      </p:grpSp>
      <p:sp>
        <p:nvSpPr>
          <p:cNvPr name="Freeform 97" id="97"/>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98" id="98"/>
          <p:cNvGrpSpPr/>
          <p:nvPr/>
        </p:nvGrpSpPr>
        <p:grpSpPr>
          <a:xfrm rot="0">
            <a:off x="548640" y="9784080"/>
            <a:ext cx="15544800" cy="512064"/>
            <a:chOff x="0" y="0"/>
            <a:chExt cx="20726400" cy="682752"/>
          </a:xfrm>
        </p:grpSpPr>
        <p:sp>
          <p:nvSpPr>
            <p:cNvPr name="Freeform 99" id="99"/>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100" id="100"/>
          <p:cNvGrpSpPr/>
          <p:nvPr/>
        </p:nvGrpSpPr>
        <p:grpSpPr>
          <a:xfrm rot="0">
            <a:off x="548640" y="9762649"/>
            <a:ext cx="15544800" cy="533495"/>
            <a:chOff x="0" y="0"/>
            <a:chExt cx="20726400" cy="711327"/>
          </a:xfrm>
        </p:grpSpPr>
        <p:sp>
          <p:nvSpPr>
            <p:cNvPr name="Freeform 101" id="101"/>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102" id="102"/>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103" id="103"/>
          <p:cNvGrpSpPr/>
          <p:nvPr/>
        </p:nvGrpSpPr>
        <p:grpSpPr>
          <a:xfrm rot="0">
            <a:off x="16824960" y="9784080"/>
            <a:ext cx="1280160" cy="512064"/>
            <a:chOff x="0" y="0"/>
            <a:chExt cx="1706880" cy="682752"/>
          </a:xfrm>
        </p:grpSpPr>
        <p:sp>
          <p:nvSpPr>
            <p:cNvPr name="Freeform 104" id="104"/>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05" id="105"/>
          <p:cNvGrpSpPr/>
          <p:nvPr/>
        </p:nvGrpSpPr>
        <p:grpSpPr>
          <a:xfrm rot="0">
            <a:off x="16824960" y="9762649"/>
            <a:ext cx="1280160" cy="533495"/>
            <a:chOff x="0" y="0"/>
            <a:chExt cx="1706880" cy="711327"/>
          </a:xfrm>
        </p:grpSpPr>
        <p:sp>
          <p:nvSpPr>
            <p:cNvPr name="Freeform 106" id="106"/>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07" id="107"/>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p.45</a:t>
              </a:r>
            </a:p>
          </p:txBody>
        </p:sp>
      </p:grpSp>
      <p:grpSp>
        <p:nvGrpSpPr>
          <p:cNvPr name="Group 108" id="108"/>
          <p:cNvGrpSpPr/>
          <p:nvPr/>
        </p:nvGrpSpPr>
        <p:grpSpPr>
          <a:xfrm rot="0">
            <a:off x="15076686" y="1046103"/>
            <a:ext cx="2388354" cy="2388354"/>
            <a:chOff x="0" y="0"/>
            <a:chExt cx="5852160" cy="5852160"/>
          </a:xfrm>
        </p:grpSpPr>
        <p:sp>
          <p:nvSpPr>
            <p:cNvPr name="Freeform 109" id="109"/>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5"/>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p.46</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50006"/>
            <a:ext cx="16824960" cy="1695926"/>
            <a:chOff x="0" y="0"/>
            <a:chExt cx="22433280" cy="2261235"/>
          </a:xfrm>
        </p:grpSpPr>
        <p:sp>
          <p:nvSpPr>
            <p:cNvPr name="Freeform 17" id="17"/>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6">
                <a:alphaModFix amt="0"/>
              </a:blip>
              <a:stretch>
                <a:fillRect l="0" t="-143307" r="0" b="-143307"/>
              </a:stretch>
            </a:blipFill>
          </p:spPr>
        </p:sp>
        <p:sp>
          <p:nvSpPr>
            <p:cNvPr name="TextBox 18" id="18"/>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  Errores comunes del Analista SOC — Módulo 1</a:t>
              </a:r>
            </a:p>
          </p:txBody>
        </p:sp>
      </p:grpSp>
      <p:grpSp>
        <p:nvGrpSpPr>
          <p:cNvPr name="Group 19" id="19"/>
          <p:cNvGrpSpPr/>
          <p:nvPr/>
        </p:nvGrpSpPr>
        <p:grpSpPr>
          <a:xfrm rot="0">
            <a:off x="640080" y="1773936"/>
            <a:ext cx="17007840" cy="822960"/>
            <a:chOff x="0" y="0"/>
            <a:chExt cx="22677120" cy="1097280"/>
          </a:xfrm>
        </p:grpSpPr>
        <p:sp>
          <p:nvSpPr>
            <p:cNvPr name="Freeform 20" id="20"/>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5">
                <a:alphaModFix amt="0"/>
              </a:blip>
              <a:stretch>
                <a:fillRect l="0" t="-352410" r="0" b="-352410"/>
              </a:stretch>
            </a:blipFill>
          </p:spPr>
        </p:sp>
      </p:grpSp>
      <p:grpSp>
        <p:nvGrpSpPr>
          <p:cNvPr name="Group 21" id="21"/>
          <p:cNvGrpSpPr/>
          <p:nvPr/>
        </p:nvGrpSpPr>
        <p:grpSpPr>
          <a:xfrm rot="0">
            <a:off x="640080" y="1738217"/>
            <a:ext cx="17007840" cy="858679"/>
            <a:chOff x="0" y="0"/>
            <a:chExt cx="22677120" cy="1144905"/>
          </a:xfrm>
        </p:grpSpPr>
        <p:sp>
          <p:nvSpPr>
            <p:cNvPr name="Freeform 22" id="22"/>
            <p:cNvSpPr/>
            <p:nvPr/>
          </p:nvSpPr>
          <p:spPr>
            <a:xfrm flipH="false" flipV="false" rot="0">
              <a:off x="0" y="0"/>
              <a:ext cx="22677120" cy="1144905"/>
            </a:xfrm>
            <a:custGeom>
              <a:avLst/>
              <a:gdLst/>
              <a:ahLst/>
              <a:cxnLst/>
              <a:rect r="r" b="b" t="t" l="l"/>
              <a:pathLst>
                <a:path h="1144905" w="22677120">
                  <a:moveTo>
                    <a:pt x="0" y="0"/>
                  </a:moveTo>
                  <a:lnTo>
                    <a:pt x="22677120" y="0"/>
                  </a:lnTo>
                  <a:lnTo>
                    <a:pt x="22677120" y="1144905"/>
                  </a:lnTo>
                  <a:lnTo>
                    <a:pt x="0" y="1144905"/>
                  </a:lnTo>
                  <a:close/>
                </a:path>
              </a:pathLst>
            </a:custGeom>
            <a:blipFill>
              <a:blip r:embed="rId6">
                <a:alphaModFix amt="0"/>
              </a:blip>
              <a:stretch>
                <a:fillRect l="0" t="-335939" r="0" b="-335939"/>
              </a:stretch>
            </a:blipFill>
          </p:spPr>
        </p:sp>
        <p:sp>
          <p:nvSpPr>
            <p:cNvPr name="TextBox 23" id="23"/>
            <p:cNvSpPr txBox="true"/>
            <p:nvPr/>
          </p:nvSpPr>
          <p:spPr>
            <a:xfrm>
              <a:off x="0" y="-47625"/>
              <a:ext cx="22677120" cy="1192530"/>
            </a:xfrm>
            <a:prstGeom prst="rect">
              <a:avLst/>
            </a:prstGeom>
          </p:spPr>
          <p:txBody>
            <a:bodyPr anchor="ctr" rtlCol="false" tIns="0" lIns="0" bIns="0" rIns="0"/>
            <a:lstStyle/>
            <a:p>
              <a:pPr algn="l">
                <a:lnSpc>
                  <a:spcPts val="2520"/>
                </a:lnSpc>
              </a:pPr>
              <a:r>
                <a:rPr lang="en-US" sz="2100">
                  <a:solidFill>
                    <a:srgbClr val="AAAAAA"/>
                  </a:solidFill>
                  <a:latin typeface="Calibri (MS)"/>
                  <a:ea typeface="Calibri (MS)"/>
                  <a:cs typeface="Calibri (MS)"/>
                  <a:sym typeface="Calibri (MS)"/>
                </a:rPr>
                <a:t>Reconocer estos errores desde el principio marca la diferencia entre un analista que genera ruido y uno que genera valor.</a:t>
              </a:r>
            </a:p>
          </p:txBody>
        </p:sp>
      </p:grpSp>
      <p:sp>
        <p:nvSpPr>
          <p:cNvPr name="Freeform 24" id="24"/>
          <p:cNvSpPr/>
          <p:nvPr/>
        </p:nvSpPr>
        <p:spPr>
          <a:xfrm flipH="false" flipV="false" rot="0">
            <a:off x="572519" y="273050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572519" y="273050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859536" y="2743200"/>
            <a:ext cx="7827264" cy="585216"/>
            <a:chOff x="0" y="0"/>
            <a:chExt cx="10436352" cy="780288"/>
          </a:xfrm>
        </p:grpSpPr>
        <p:sp>
          <p:nvSpPr>
            <p:cNvPr name="Freeform 27" id="27"/>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28" id="28"/>
          <p:cNvGrpSpPr/>
          <p:nvPr/>
        </p:nvGrpSpPr>
        <p:grpSpPr>
          <a:xfrm rot="0">
            <a:off x="859536" y="2714625"/>
            <a:ext cx="7827264" cy="613791"/>
            <a:chOff x="0" y="0"/>
            <a:chExt cx="10436352" cy="818388"/>
          </a:xfrm>
        </p:grpSpPr>
        <p:sp>
          <p:nvSpPr>
            <p:cNvPr name="Freeform 29" id="29"/>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30" id="30"/>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Asumir que toda alerta es un incidente</a:t>
              </a:r>
            </a:p>
          </p:txBody>
        </p:sp>
      </p:grpSp>
      <p:sp>
        <p:nvSpPr>
          <p:cNvPr name="TextBox 31" id="31"/>
          <p:cNvSpPr txBox="true"/>
          <p:nvPr/>
        </p:nvSpPr>
        <p:spPr>
          <a:xfrm rot="0">
            <a:off x="950976" y="331622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Siempre validar el contexto antes de clasificar. Una alerta es una señal, no una conclusión.</a:t>
            </a:r>
          </a:p>
        </p:txBody>
      </p:sp>
      <p:sp>
        <p:nvSpPr>
          <p:cNvPr name="Freeform 32" id="32"/>
          <p:cNvSpPr/>
          <p:nvPr/>
        </p:nvSpPr>
        <p:spPr>
          <a:xfrm flipH="false" flipV="false" rot="0">
            <a:off x="9497063" y="273050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3" id="33"/>
          <p:cNvSpPr/>
          <p:nvPr/>
        </p:nvSpPr>
        <p:spPr>
          <a:xfrm flipH="false" flipV="false" rot="0">
            <a:off x="9497063" y="273050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9784080" y="2743200"/>
            <a:ext cx="7827264" cy="585216"/>
            <a:chOff x="0" y="0"/>
            <a:chExt cx="10436352" cy="780288"/>
          </a:xfrm>
        </p:grpSpPr>
        <p:sp>
          <p:nvSpPr>
            <p:cNvPr name="Freeform 35" id="35"/>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36" id="36"/>
          <p:cNvGrpSpPr/>
          <p:nvPr/>
        </p:nvGrpSpPr>
        <p:grpSpPr>
          <a:xfrm rot="0">
            <a:off x="9784080" y="2714625"/>
            <a:ext cx="7827264" cy="613791"/>
            <a:chOff x="0" y="0"/>
            <a:chExt cx="10436352" cy="818388"/>
          </a:xfrm>
        </p:grpSpPr>
        <p:sp>
          <p:nvSpPr>
            <p:cNvPr name="Freeform 37" id="37"/>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38" id="38"/>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Cerrar una alerta sin revisar el contexto completo</a:t>
              </a:r>
            </a:p>
          </p:txBody>
        </p:sp>
      </p:grpSp>
      <p:sp>
        <p:nvSpPr>
          <p:cNvPr name="TextBox 39" id="39"/>
          <p:cNvSpPr txBox="true"/>
          <p:nvPr/>
        </p:nvSpPr>
        <p:spPr>
          <a:xfrm rot="0">
            <a:off x="9875520" y="331622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Verificar usuario, sistema, horario, patrones previos. No cerrar por intuición.</a:t>
            </a:r>
          </a:p>
        </p:txBody>
      </p:sp>
      <p:sp>
        <p:nvSpPr>
          <p:cNvPr name="Freeform 40" id="40"/>
          <p:cNvSpPr/>
          <p:nvPr/>
        </p:nvSpPr>
        <p:spPr>
          <a:xfrm flipH="false" flipV="false" rot="0">
            <a:off x="572519" y="437642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1" id="41"/>
          <p:cNvSpPr/>
          <p:nvPr/>
        </p:nvSpPr>
        <p:spPr>
          <a:xfrm flipH="false" flipV="false" rot="0">
            <a:off x="572519" y="437642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2" id="42"/>
          <p:cNvGrpSpPr/>
          <p:nvPr/>
        </p:nvGrpSpPr>
        <p:grpSpPr>
          <a:xfrm rot="0">
            <a:off x="859536" y="4389120"/>
            <a:ext cx="7827264" cy="585216"/>
            <a:chOff x="0" y="0"/>
            <a:chExt cx="10436352" cy="780288"/>
          </a:xfrm>
        </p:grpSpPr>
        <p:sp>
          <p:nvSpPr>
            <p:cNvPr name="Freeform 43" id="43"/>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44" id="44"/>
          <p:cNvGrpSpPr/>
          <p:nvPr/>
        </p:nvGrpSpPr>
        <p:grpSpPr>
          <a:xfrm rot="0">
            <a:off x="859536" y="4360545"/>
            <a:ext cx="7827264" cy="613791"/>
            <a:chOff x="0" y="0"/>
            <a:chExt cx="10436352" cy="818388"/>
          </a:xfrm>
        </p:grpSpPr>
        <p:sp>
          <p:nvSpPr>
            <p:cNvPr name="Freeform 45" id="45"/>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46" id="46"/>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No documentar las acciones tomadas</a:t>
              </a:r>
            </a:p>
          </p:txBody>
        </p:sp>
      </p:grpSp>
      <p:sp>
        <p:nvSpPr>
          <p:cNvPr name="TextBox 47" id="47"/>
          <p:cNvSpPr txBox="true"/>
          <p:nvPr/>
        </p:nvSpPr>
        <p:spPr>
          <a:xfrm rot="0">
            <a:off x="950976" y="496214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Si no está documentado, no ocurrió. La documentación protege al analista y al equipo.</a:t>
            </a:r>
          </a:p>
        </p:txBody>
      </p:sp>
      <p:sp>
        <p:nvSpPr>
          <p:cNvPr name="Freeform 48" id="48"/>
          <p:cNvSpPr/>
          <p:nvPr/>
        </p:nvSpPr>
        <p:spPr>
          <a:xfrm flipH="false" flipV="false" rot="0">
            <a:off x="9497063" y="437642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9" id="49"/>
          <p:cNvSpPr/>
          <p:nvPr/>
        </p:nvSpPr>
        <p:spPr>
          <a:xfrm flipH="false" flipV="false" rot="0">
            <a:off x="9497063" y="437642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0" id="50"/>
          <p:cNvGrpSpPr/>
          <p:nvPr/>
        </p:nvGrpSpPr>
        <p:grpSpPr>
          <a:xfrm rot="0">
            <a:off x="9784080" y="4389120"/>
            <a:ext cx="7827264" cy="585216"/>
            <a:chOff x="0" y="0"/>
            <a:chExt cx="10436352" cy="780288"/>
          </a:xfrm>
        </p:grpSpPr>
        <p:sp>
          <p:nvSpPr>
            <p:cNvPr name="Freeform 51" id="51"/>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52" id="52"/>
          <p:cNvGrpSpPr/>
          <p:nvPr/>
        </p:nvGrpSpPr>
        <p:grpSpPr>
          <a:xfrm rot="0">
            <a:off x="9784080" y="4360545"/>
            <a:ext cx="7827264" cy="613791"/>
            <a:chOff x="0" y="0"/>
            <a:chExt cx="10436352" cy="818388"/>
          </a:xfrm>
        </p:grpSpPr>
        <p:sp>
          <p:nvSpPr>
            <p:cNvPr name="Freeform 53" id="53"/>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54" id="54"/>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Escalar sin incluir contexto suficiente</a:t>
              </a:r>
            </a:p>
          </p:txBody>
        </p:sp>
      </p:grpSp>
      <p:sp>
        <p:nvSpPr>
          <p:cNvPr name="TextBox 55" id="55"/>
          <p:cNvSpPr txBox="true"/>
          <p:nvPr/>
        </p:nvSpPr>
        <p:spPr>
          <a:xfrm rot="0">
            <a:off x="9875520" y="496214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L2 necesita toda la información disponible para actuar rápido. Escalar vacío es peor que no escalar.</a:t>
            </a:r>
          </a:p>
        </p:txBody>
      </p:sp>
      <p:sp>
        <p:nvSpPr>
          <p:cNvPr name="Freeform 56" id="56"/>
          <p:cNvSpPr/>
          <p:nvPr/>
        </p:nvSpPr>
        <p:spPr>
          <a:xfrm flipH="false" flipV="false" rot="0">
            <a:off x="572519" y="602234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57" id="57"/>
          <p:cNvSpPr/>
          <p:nvPr/>
        </p:nvSpPr>
        <p:spPr>
          <a:xfrm flipH="false" flipV="false" rot="0">
            <a:off x="572519" y="602234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8" id="58"/>
          <p:cNvGrpSpPr/>
          <p:nvPr/>
        </p:nvGrpSpPr>
        <p:grpSpPr>
          <a:xfrm rot="0">
            <a:off x="859536" y="6035040"/>
            <a:ext cx="7827264" cy="585216"/>
            <a:chOff x="0" y="0"/>
            <a:chExt cx="10436352" cy="780288"/>
          </a:xfrm>
        </p:grpSpPr>
        <p:sp>
          <p:nvSpPr>
            <p:cNvPr name="Freeform 59" id="59"/>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60" id="60"/>
          <p:cNvGrpSpPr/>
          <p:nvPr/>
        </p:nvGrpSpPr>
        <p:grpSpPr>
          <a:xfrm rot="0">
            <a:off x="859536" y="6006465"/>
            <a:ext cx="7827264" cy="613791"/>
            <a:chOff x="0" y="0"/>
            <a:chExt cx="10436352" cy="818388"/>
          </a:xfrm>
        </p:grpSpPr>
        <p:sp>
          <p:nvSpPr>
            <p:cNvPr name="Freeform 61" id="61"/>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62" id="62"/>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Analizar eventos de forma aislada</a:t>
              </a:r>
            </a:p>
          </p:txBody>
        </p:sp>
      </p:grpSp>
      <p:sp>
        <p:nvSpPr>
          <p:cNvPr name="TextBox 63" id="63"/>
          <p:cNvSpPr txBox="true"/>
          <p:nvPr/>
        </p:nvSpPr>
        <p:spPr>
          <a:xfrm rot="0">
            <a:off x="950976" y="660806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Los incidentes tienen contexto temporal y relacionado. Correlacionar antes de decidir.</a:t>
            </a:r>
          </a:p>
        </p:txBody>
      </p:sp>
      <p:sp>
        <p:nvSpPr>
          <p:cNvPr name="Freeform 64" id="64"/>
          <p:cNvSpPr/>
          <p:nvPr/>
        </p:nvSpPr>
        <p:spPr>
          <a:xfrm flipH="false" flipV="false" rot="0">
            <a:off x="9497063" y="602234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5" id="65"/>
          <p:cNvSpPr/>
          <p:nvPr/>
        </p:nvSpPr>
        <p:spPr>
          <a:xfrm flipH="false" flipV="false" rot="0">
            <a:off x="9497063" y="602234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66" id="66"/>
          <p:cNvGrpSpPr/>
          <p:nvPr/>
        </p:nvGrpSpPr>
        <p:grpSpPr>
          <a:xfrm rot="0">
            <a:off x="9784080" y="6035040"/>
            <a:ext cx="7827264" cy="585216"/>
            <a:chOff x="0" y="0"/>
            <a:chExt cx="10436352" cy="780288"/>
          </a:xfrm>
        </p:grpSpPr>
        <p:sp>
          <p:nvSpPr>
            <p:cNvPr name="Freeform 67" id="67"/>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68" id="68"/>
          <p:cNvGrpSpPr/>
          <p:nvPr/>
        </p:nvGrpSpPr>
        <p:grpSpPr>
          <a:xfrm rot="0">
            <a:off x="9784080" y="6006465"/>
            <a:ext cx="7827264" cy="613791"/>
            <a:chOff x="0" y="0"/>
            <a:chExt cx="10436352" cy="818388"/>
          </a:xfrm>
        </p:grpSpPr>
        <p:sp>
          <p:nvSpPr>
            <p:cNvPr name="Freeform 69" id="69"/>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70" id="70"/>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Confiar ciegamente en una herramienta</a:t>
              </a:r>
            </a:p>
          </p:txBody>
        </p:sp>
      </p:grpSp>
      <p:sp>
        <p:nvSpPr>
          <p:cNvPr name="TextBox 71" id="71"/>
          <p:cNvSpPr txBox="true"/>
          <p:nvPr/>
        </p:nvSpPr>
        <p:spPr>
          <a:xfrm rot="0">
            <a:off x="9875520" y="660806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Las herramientas tienen límites y falsos negativos. El criterio humano es esencial.</a:t>
            </a:r>
          </a:p>
        </p:txBody>
      </p:sp>
      <p:sp>
        <p:nvSpPr>
          <p:cNvPr name="Freeform 72" id="72"/>
          <p:cNvSpPr/>
          <p:nvPr/>
        </p:nvSpPr>
        <p:spPr>
          <a:xfrm flipH="false" flipV="false" rot="0">
            <a:off x="572519" y="766826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3" id="73"/>
          <p:cNvSpPr/>
          <p:nvPr/>
        </p:nvSpPr>
        <p:spPr>
          <a:xfrm flipH="false" flipV="false" rot="0">
            <a:off x="572519" y="766826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74" id="74"/>
          <p:cNvGrpSpPr/>
          <p:nvPr/>
        </p:nvGrpSpPr>
        <p:grpSpPr>
          <a:xfrm rot="0">
            <a:off x="859536" y="7680960"/>
            <a:ext cx="7827264" cy="585216"/>
            <a:chOff x="0" y="0"/>
            <a:chExt cx="10436352" cy="780288"/>
          </a:xfrm>
        </p:grpSpPr>
        <p:sp>
          <p:nvSpPr>
            <p:cNvPr name="Freeform 75" id="75"/>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76" id="76"/>
          <p:cNvGrpSpPr/>
          <p:nvPr/>
        </p:nvGrpSpPr>
        <p:grpSpPr>
          <a:xfrm rot="0">
            <a:off x="859536" y="7652385"/>
            <a:ext cx="7827264" cy="613791"/>
            <a:chOff x="0" y="0"/>
            <a:chExt cx="10436352" cy="818388"/>
          </a:xfrm>
        </p:grpSpPr>
        <p:sp>
          <p:nvSpPr>
            <p:cNvPr name="Freeform 77" id="77"/>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78" id="78"/>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Compartir información fuera del canal autorizado</a:t>
              </a:r>
            </a:p>
          </p:txBody>
        </p:sp>
      </p:grpSp>
      <p:sp>
        <p:nvSpPr>
          <p:cNvPr name="TextBox 79" id="79"/>
          <p:cNvSpPr txBox="true"/>
          <p:nvPr/>
        </p:nvSpPr>
        <p:spPr>
          <a:xfrm rot="0">
            <a:off x="950976" y="825398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Toda información sensible solo circula por canales corporativos autorizados.</a:t>
            </a:r>
          </a:p>
        </p:txBody>
      </p:sp>
      <p:sp>
        <p:nvSpPr>
          <p:cNvPr name="Freeform 80" id="80"/>
          <p:cNvSpPr/>
          <p:nvPr/>
        </p:nvSpPr>
        <p:spPr>
          <a:xfrm flipH="false" flipV="false" rot="0">
            <a:off x="9497063" y="7668263"/>
            <a:ext cx="8346376" cy="1488376"/>
          </a:xfrm>
          <a:custGeom>
            <a:avLst/>
            <a:gdLst/>
            <a:ahLst/>
            <a:cxnLst/>
            <a:rect r="r" b="b" t="t" l="l"/>
            <a:pathLst>
              <a:path h="1488376" w="8346376">
                <a:moveTo>
                  <a:pt x="0" y="0"/>
                </a:moveTo>
                <a:lnTo>
                  <a:pt x="8346377" y="0"/>
                </a:lnTo>
                <a:lnTo>
                  <a:pt x="8346377" y="1488377"/>
                </a:lnTo>
                <a:lnTo>
                  <a:pt x="0" y="14883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1" id="81"/>
          <p:cNvSpPr/>
          <p:nvPr/>
        </p:nvSpPr>
        <p:spPr>
          <a:xfrm flipH="false" flipV="false" rot="0">
            <a:off x="9497063" y="7668263"/>
            <a:ext cx="153353" cy="1488376"/>
          </a:xfrm>
          <a:custGeom>
            <a:avLst/>
            <a:gdLst/>
            <a:ahLst/>
            <a:cxnLst/>
            <a:rect r="r" b="b" t="t" l="l"/>
            <a:pathLst>
              <a:path h="1488376" w="153353">
                <a:moveTo>
                  <a:pt x="0" y="0"/>
                </a:moveTo>
                <a:lnTo>
                  <a:pt x="153353" y="0"/>
                </a:lnTo>
                <a:lnTo>
                  <a:pt x="153353" y="1488377"/>
                </a:lnTo>
                <a:lnTo>
                  <a:pt x="0" y="14883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82" id="82"/>
          <p:cNvGrpSpPr/>
          <p:nvPr/>
        </p:nvGrpSpPr>
        <p:grpSpPr>
          <a:xfrm rot="0">
            <a:off x="9784080" y="7680960"/>
            <a:ext cx="7827264" cy="585216"/>
            <a:chOff x="0" y="0"/>
            <a:chExt cx="10436352" cy="780288"/>
          </a:xfrm>
        </p:grpSpPr>
        <p:sp>
          <p:nvSpPr>
            <p:cNvPr name="Freeform 83" id="83"/>
            <p:cNvSpPr/>
            <p:nvPr/>
          </p:nvSpPr>
          <p:spPr>
            <a:xfrm flipH="false" flipV="false" rot="0">
              <a:off x="0" y="0"/>
              <a:ext cx="10436352" cy="780288"/>
            </a:xfrm>
            <a:custGeom>
              <a:avLst/>
              <a:gdLst/>
              <a:ahLst/>
              <a:cxnLst/>
              <a:rect r="r" b="b" t="t" l="l"/>
              <a:pathLst>
                <a:path h="780288" w="10436352">
                  <a:moveTo>
                    <a:pt x="0" y="0"/>
                  </a:moveTo>
                  <a:lnTo>
                    <a:pt x="10436352" y="0"/>
                  </a:lnTo>
                  <a:lnTo>
                    <a:pt x="10436352" y="780288"/>
                  </a:lnTo>
                  <a:lnTo>
                    <a:pt x="0" y="780288"/>
                  </a:lnTo>
                  <a:close/>
                </a:path>
              </a:pathLst>
            </a:custGeom>
            <a:blipFill>
              <a:blip r:embed="rId5">
                <a:alphaModFix amt="0"/>
              </a:blip>
              <a:stretch>
                <a:fillRect l="0" t="-210431" r="0" b="-210431"/>
              </a:stretch>
            </a:blipFill>
          </p:spPr>
        </p:sp>
      </p:grpSp>
      <p:grpSp>
        <p:nvGrpSpPr>
          <p:cNvPr name="Group 84" id="84"/>
          <p:cNvGrpSpPr/>
          <p:nvPr/>
        </p:nvGrpSpPr>
        <p:grpSpPr>
          <a:xfrm rot="0">
            <a:off x="9784080" y="7652385"/>
            <a:ext cx="7827264" cy="613791"/>
            <a:chOff x="0" y="0"/>
            <a:chExt cx="10436352" cy="818388"/>
          </a:xfrm>
        </p:grpSpPr>
        <p:sp>
          <p:nvSpPr>
            <p:cNvPr name="Freeform 85" id="85"/>
            <p:cNvSpPr/>
            <p:nvPr/>
          </p:nvSpPr>
          <p:spPr>
            <a:xfrm flipH="false" flipV="false" rot="0">
              <a:off x="0" y="0"/>
              <a:ext cx="10436352" cy="818388"/>
            </a:xfrm>
            <a:custGeom>
              <a:avLst/>
              <a:gdLst/>
              <a:ahLst/>
              <a:cxnLst/>
              <a:rect r="r" b="b" t="t" l="l"/>
              <a:pathLst>
                <a:path h="818388" w="10436352">
                  <a:moveTo>
                    <a:pt x="0" y="0"/>
                  </a:moveTo>
                  <a:lnTo>
                    <a:pt x="10436352" y="0"/>
                  </a:lnTo>
                  <a:lnTo>
                    <a:pt x="10436352" y="818388"/>
                  </a:lnTo>
                  <a:lnTo>
                    <a:pt x="0" y="818388"/>
                  </a:lnTo>
                  <a:close/>
                </a:path>
              </a:pathLst>
            </a:custGeom>
            <a:blipFill>
              <a:blip r:embed="rId6">
                <a:alphaModFix amt="0"/>
              </a:blip>
              <a:stretch>
                <a:fillRect l="0" t="-198479" r="0" b="-198479"/>
              </a:stretch>
            </a:blipFill>
          </p:spPr>
        </p:sp>
        <p:sp>
          <p:nvSpPr>
            <p:cNvPr name="TextBox 86" id="86"/>
            <p:cNvSpPr txBox="true"/>
            <p:nvPr/>
          </p:nvSpPr>
          <p:spPr>
            <a:xfrm>
              <a:off x="0" y="-38100"/>
              <a:ext cx="10436352" cy="856488"/>
            </a:xfrm>
            <a:prstGeom prst="rect">
              <a:avLst/>
            </a:prstGeom>
          </p:spPr>
          <p:txBody>
            <a:bodyPr anchor="b" rtlCol="false" tIns="0" lIns="0" bIns="0" rIns="0"/>
            <a:lstStyle/>
            <a:p>
              <a:pPr algn="l">
                <a:lnSpc>
                  <a:spcPts val="2279"/>
                </a:lnSpc>
              </a:pPr>
              <a:r>
                <a:rPr lang="en-US" sz="1899" b="true">
                  <a:solidFill>
                    <a:srgbClr val="FF9999"/>
                  </a:solidFill>
                  <a:latin typeface="Calibri (MS) Bold"/>
                  <a:ea typeface="Calibri (MS) Bold"/>
                  <a:cs typeface="Calibri (MS) Bold"/>
                  <a:sym typeface="Calibri (MS) Bold"/>
                </a:rPr>
                <a:t>✘  Confirmar impacto sin evidencia sólida</a:t>
              </a:r>
            </a:p>
          </p:txBody>
        </p:sp>
      </p:grpSp>
      <p:sp>
        <p:nvSpPr>
          <p:cNvPr name="TextBox 87" id="87"/>
          <p:cNvSpPr txBox="true"/>
          <p:nvPr/>
        </p:nvSpPr>
        <p:spPr>
          <a:xfrm rot="0">
            <a:off x="9875520" y="8253984"/>
            <a:ext cx="7644384" cy="807720"/>
          </a:xfrm>
          <a:prstGeom prst="rect">
            <a:avLst/>
          </a:prstGeom>
        </p:spPr>
        <p:txBody>
          <a:bodyPr anchor="t" rtlCol="false" tIns="0" lIns="0" bIns="0" rIns="0">
            <a:spAutoFit/>
          </a:bodyPr>
          <a:lstStyle/>
          <a:p>
            <a:pPr algn="l">
              <a:lnSpc>
                <a:spcPts val="2160"/>
              </a:lnSpc>
            </a:pPr>
            <a:r>
              <a:rPr lang="en-US" sz="1800">
                <a:solidFill>
                  <a:srgbClr val="99DDAA"/>
                </a:solidFill>
                <a:latin typeface="Calibri (MS)"/>
                <a:ea typeface="Calibri (MS)"/>
                <a:cs typeface="Calibri (MS)"/>
                <a:sym typeface="Calibri (MS)"/>
              </a:rPr>
              <a:t>✔  Un comportamiento sospechoso no es evidencia de compromiso. Investigar antes de concluir.</a:t>
            </a:r>
          </a:p>
        </p:txBody>
      </p:sp>
      <p:grpSp>
        <p:nvGrpSpPr>
          <p:cNvPr name="Group 88" id="88"/>
          <p:cNvGrpSpPr/>
          <p:nvPr/>
        </p:nvGrpSpPr>
        <p:grpSpPr>
          <a:xfrm rot="0">
            <a:off x="15983863" y="24203"/>
            <a:ext cx="1855079" cy="1855079"/>
            <a:chOff x="0" y="0"/>
            <a:chExt cx="5852160" cy="5852160"/>
          </a:xfrm>
        </p:grpSpPr>
        <p:sp>
          <p:nvSpPr>
            <p:cNvPr name="Freeform 89" id="89"/>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3"/>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p.47</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Preguntas de repaso — Módulo 1</a:t>
              </a:r>
            </a:p>
          </p:txBody>
        </p:sp>
      </p:grpSp>
      <p:sp>
        <p:nvSpPr>
          <p:cNvPr name="Freeform 20" id="20"/>
          <p:cNvSpPr/>
          <p:nvPr/>
        </p:nvSpPr>
        <p:spPr>
          <a:xfrm flipH="false" flipV="false" rot="0">
            <a:off x="572519" y="1779527"/>
            <a:ext cx="720281" cy="793432"/>
          </a:xfrm>
          <a:custGeom>
            <a:avLst/>
            <a:gdLst/>
            <a:ahLst/>
            <a:cxnLst/>
            <a:rect r="r" b="b" t="t" l="l"/>
            <a:pathLst>
              <a:path h="793432"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585216" y="1792224"/>
            <a:ext cx="694944" cy="768096"/>
            <a:chOff x="0" y="0"/>
            <a:chExt cx="926592" cy="1024128"/>
          </a:xfrm>
        </p:grpSpPr>
        <p:sp>
          <p:nvSpPr>
            <p:cNvPr name="Freeform 22" id="22"/>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23" id="23"/>
          <p:cNvGrpSpPr/>
          <p:nvPr/>
        </p:nvGrpSpPr>
        <p:grpSpPr>
          <a:xfrm rot="0">
            <a:off x="585216" y="1756505"/>
            <a:ext cx="694944" cy="803815"/>
            <a:chOff x="0" y="0"/>
            <a:chExt cx="926592" cy="1071753"/>
          </a:xfrm>
        </p:grpSpPr>
        <p:sp>
          <p:nvSpPr>
            <p:cNvPr name="Freeform 24" id="24"/>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25" id="25"/>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1</a:t>
              </a:r>
            </a:p>
          </p:txBody>
        </p:sp>
      </p:grpSp>
      <p:sp>
        <p:nvSpPr>
          <p:cNvPr name="Freeform 26" id="26"/>
          <p:cNvSpPr/>
          <p:nvPr/>
        </p:nvSpPr>
        <p:spPr>
          <a:xfrm flipH="false" flipV="false" rot="0">
            <a:off x="1304039" y="1779527"/>
            <a:ext cx="16411385" cy="793432"/>
          </a:xfrm>
          <a:custGeom>
            <a:avLst/>
            <a:gdLst/>
            <a:ahLst/>
            <a:cxnLst/>
            <a:rect r="r" b="b" t="t" l="l"/>
            <a:pathLst>
              <a:path h="793432"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7" id="27"/>
          <p:cNvGrpSpPr/>
          <p:nvPr/>
        </p:nvGrpSpPr>
        <p:grpSpPr>
          <a:xfrm rot="0">
            <a:off x="1536192" y="1792224"/>
            <a:ext cx="16020288" cy="768096"/>
            <a:chOff x="0" y="0"/>
            <a:chExt cx="21360384" cy="1024128"/>
          </a:xfrm>
        </p:grpSpPr>
        <p:sp>
          <p:nvSpPr>
            <p:cNvPr name="Freeform 28" id="28"/>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29" id="29"/>
          <p:cNvGrpSpPr/>
          <p:nvPr/>
        </p:nvGrpSpPr>
        <p:grpSpPr>
          <a:xfrm rot="0">
            <a:off x="1536192" y="1763649"/>
            <a:ext cx="16020288" cy="796671"/>
            <a:chOff x="0" y="0"/>
            <a:chExt cx="21360384" cy="1062228"/>
          </a:xfrm>
        </p:grpSpPr>
        <p:sp>
          <p:nvSpPr>
            <p:cNvPr name="Freeform 30" id="30"/>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31" id="31"/>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¿Cuáles son los tres objetivos operativos principales de un SOC y cómo se relacionan entre sí?</a:t>
              </a:r>
            </a:p>
          </p:txBody>
        </p:sp>
      </p:grpSp>
      <p:sp>
        <p:nvSpPr>
          <p:cNvPr name="Freeform 32" id="32"/>
          <p:cNvSpPr/>
          <p:nvPr/>
        </p:nvSpPr>
        <p:spPr>
          <a:xfrm flipH="false" flipV="false" rot="0">
            <a:off x="572519" y="2785367"/>
            <a:ext cx="720281" cy="793432"/>
          </a:xfrm>
          <a:custGeom>
            <a:avLst/>
            <a:gdLst/>
            <a:ahLst/>
            <a:cxnLst/>
            <a:rect r="r" b="b" t="t" l="l"/>
            <a:pathLst>
              <a:path h="793432"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3" id="33"/>
          <p:cNvGrpSpPr/>
          <p:nvPr/>
        </p:nvGrpSpPr>
        <p:grpSpPr>
          <a:xfrm rot="0">
            <a:off x="585216" y="2798064"/>
            <a:ext cx="694944" cy="768096"/>
            <a:chOff x="0" y="0"/>
            <a:chExt cx="926592" cy="1024128"/>
          </a:xfrm>
        </p:grpSpPr>
        <p:sp>
          <p:nvSpPr>
            <p:cNvPr name="Freeform 34" id="34"/>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35" id="35"/>
          <p:cNvGrpSpPr/>
          <p:nvPr/>
        </p:nvGrpSpPr>
        <p:grpSpPr>
          <a:xfrm rot="0">
            <a:off x="585216" y="2762345"/>
            <a:ext cx="694944" cy="803815"/>
            <a:chOff x="0" y="0"/>
            <a:chExt cx="926592" cy="1071753"/>
          </a:xfrm>
        </p:grpSpPr>
        <p:sp>
          <p:nvSpPr>
            <p:cNvPr name="Freeform 36" id="36"/>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37" id="37"/>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2</a:t>
              </a:r>
            </a:p>
          </p:txBody>
        </p:sp>
      </p:grpSp>
      <p:sp>
        <p:nvSpPr>
          <p:cNvPr name="Freeform 38" id="38"/>
          <p:cNvSpPr/>
          <p:nvPr/>
        </p:nvSpPr>
        <p:spPr>
          <a:xfrm flipH="false" flipV="false" rot="0">
            <a:off x="1304039" y="2785367"/>
            <a:ext cx="16411385" cy="793432"/>
          </a:xfrm>
          <a:custGeom>
            <a:avLst/>
            <a:gdLst/>
            <a:ahLst/>
            <a:cxnLst/>
            <a:rect r="r" b="b" t="t" l="l"/>
            <a:pathLst>
              <a:path h="793432"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9" id="39"/>
          <p:cNvGrpSpPr/>
          <p:nvPr/>
        </p:nvGrpSpPr>
        <p:grpSpPr>
          <a:xfrm rot="0">
            <a:off x="1536192" y="2798064"/>
            <a:ext cx="16020288" cy="768096"/>
            <a:chOff x="0" y="0"/>
            <a:chExt cx="21360384" cy="1024128"/>
          </a:xfrm>
        </p:grpSpPr>
        <p:sp>
          <p:nvSpPr>
            <p:cNvPr name="Freeform 40" id="40"/>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41" id="41"/>
          <p:cNvGrpSpPr/>
          <p:nvPr/>
        </p:nvGrpSpPr>
        <p:grpSpPr>
          <a:xfrm rot="0">
            <a:off x="1536192" y="2769489"/>
            <a:ext cx="16020288" cy="796671"/>
            <a:chOff x="0" y="0"/>
            <a:chExt cx="21360384" cy="1062228"/>
          </a:xfrm>
        </p:grpSpPr>
        <p:sp>
          <p:nvSpPr>
            <p:cNvPr name="Freeform 42" id="42"/>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43" id="43"/>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¿Cuál es la diferencia entre un SOC interno y un MSSP? ¿Para qué tipo de organización aplica cada uno?</a:t>
              </a:r>
            </a:p>
          </p:txBody>
        </p:sp>
      </p:grpSp>
      <p:sp>
        <p:nvSpPr>
          <p:cNvPr name="Freeform 44" id="44"/>
          <p:cNvSpPr/>
          <p:nvPr/>
        </p:nvSpPr>
        <p:spPr>
          <a:xfrm flipH="false" flipV="false" rot="0">
            <a:off x="572519" y="3791207"/>
            <a:ext cx="720281" cy="793432"/>
          </a:xfrm>
          <a:custGeom>
            <a:avLst/>
            <a:gdLst/>
            <a:ahLst/>
            <a:cxnLst/>
            <a:rect r="r" b="b" t="t" l="l"/>
            <a:pathLst>
              <a:path h="793432"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5" id="45"/>
          <p:cNvGrpSpPr/>
          <p:nvPr/>
        </p:nvGrpSpPr>
        <p:grpSpPr>
          <a:xfrm rot="0">
            <a:off x="585216" y="3803904"/>
            <a:ext cx="694944" cy="768096"/>
            <a:chOff x="0" y="0"/>
            <a:chExt cx="926592" cy="1024128"/>
          </a:xfrm>
        </p:grpSpPr>
        <p:sp>
          <p:nvSpPr>
            <p:cNvPr name="Freeform 46" id="46"/>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47" id="47"/>
          <p:cNvGrpSpPr/>
          <p:nvPr/>
        </p:nvGrpSpPr>
        <p:grpSpPr>
          <a:xfrm rot="0">
            <a:off x="585216" y="3768185"/>
            <a:ext cx="694944" cy="803815"/>
            <a:chOff x="0" y="0"/>
            <a:chExt cx="926592" cy="1071753"/>
          </a:xfrm>
        </p:grpSpPr>
        <p:sp>
          <p:nvSpPr>
            <p:cNvPr name="Freeform 48" id="48"/>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49" id="49"/>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3</a:t>
              </a:r>
            </a:p>
          </p:txBody>
        </p:sp>
      </p:grpSp>
      <p:sp>
        <p:nvSpPr>
          <p:cNvPr name="Freeform 50" id="50"/>
          <p:cNvSpPr/>
          <p:nvPr/>
        </p:nvSpPr>
        <p:spPr>
          <a:xfrm flipH="false" flipV="false" rot="0">
            <a:off x="1304039" y="3791207"/>
            <a:ext cx="16411385" cy="793432"/>
          </a:xfrm>
          <a:custGeom>
            <a:avLst/>
            <a:gdLst/>
            <a:ahLst/>
            <a:cxnLst/>
            <a:rect r="r" b="b" t="t" l="l"/>
            <a:pathLst>
              <a:path h="793432"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1" id="51"/>
          <p:cNvGrpSpPr/>
          <p:nvPr/>
        </p:nvGrpSpPr>
        <p:grpSpPr>
          <a:xfrm rot="0">
            <a:off x="1536192" y="3803904"/>
            <a:ext cx="16020288" cy="768096"/>
            <a:chOff x="0" y="0"/>
            <a:chExt cx="21360384" cy="1024128"/>
          </a:xfrm>
        </p:grpSpPr>
        <p:sp>
          <p:nvSpPr>
            <p:cNvPr name="Freeform 52" id="52"/>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53" id="53"/>
          <p:cNvGrpSpPr/>
          <p:nvPr/>
        </p:nvGrpSpPr>
        <p:grpSpPr>
          <a:xfrm rot="0">
            <a:off x="1536192" y="3775329"/>
            <a:ext cx="16020288" cy="796671"/>
            <a:chOff x="0" y="0"/>
            <a:chExt cx="21360384" cy="1062228"/>
          </a:xfrm>
        </p:grpSpPr>
        <p:sp>
          <p:nvSpPr>
            <p:cNvPr name="Freeform 54" id="54"/>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55" id="55"/>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Un analista SOC recibe una alerta de múltiples intentos de login fallidos desde una IP extranjera. ¿Cuáles son los primeros pasos que debería seguir?</a:t>
              </a:r>
            </a:p>
          </p:txBody>
        </p:sp>
      </p:grpSp>
      <p:sp>
        <p:nvSpPr>
          <p:cNvPr name="Freeform 56" id="56"/>
          <p:cNvSpPr/>
          <p:nvPr/>
        </p:nvSpPr>
        <p:spPr>
          <a:xfrm flipH="false" flipV="false" rot="0">
            <a:off x="572519" y="4797047"/>
            <a:ext cx="720281" cy="793432"/>
          </a:xfrm>
          <a:custGeom>
            <a:avLst/>
            <a:gdLst/>
            <a:ahLst/>
            <a:cxnLst/>
            <a:rect r="r" b="b" t="t" l="l"/>
            <a:pathLst>
              <a:path h="793432"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7" id="57"/>
          <p:cNvGrpSpPr/>
          <p:nvPr/>
        </p:nvGrpSpPr>
        <p:grpSpPr>
          <a:xfrm rot="0">
            <a:off x="585216" y="4809744"/>
            <a:ext cx="694944" cy="768096"/>
            <a:chOff x="0" y="0"/>
            <a:chExt cx="926592" cy="1024128"/>
          </a:xfrm>
        </p:grpSpPr>
        <p:sp>
          <p:nvSpPr>
            <p:cNvPr name="Freeform 58" id="58"/>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59" id="59"/>
          <p:cNvGrpSpPr/>
          <p:nvPr/>
        </p:nvGrpSpPr>
        <p:grpSpPr>
          <a:xfrm rot="0">
            <a:off x="585216" y="4774025"/>
            <a:ext cx="694944" cy="803815"/>
            <a:chOff x="0" y="0"/>
            <a:chExt cx="926592" cy="1071753"/>
          </a:xfrm>
        </p:grpSpPr>
        <p:sp>
          <p:nvSpPr>
            <p:cNvPr name="Freeform 60" id="60"/>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61" id="61"/>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4</a:t>
              </a:r>
            </a:p>
          </p:txBody>
        </p:sp>
      </p:grpSp>
      <p:sp>
        <p:nvSpPr>
          <p:cNvPr name="Freeform 62" id="62"/>
          <p:cNvSpPr/>
          <p:nvPr/>
        </p:nvSpPr>
        <p:spPr>
          <a:xfrm flipH="false" flipV="false" rot="0">
            <a:off x="1304039" y="4797047"/>
            <a:ext cx="16411385" cy="793432"/>
          </a:xfrm>
          <a:custGeom>
            <a:avLst/>
            <a:gdLst/>
            <a:ahLst/>
            <a:cxnLst/>
            <a:rect r="r" b="b" t="t" l="l"/>
            <a:pathLst>
              <a:path h="793432"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63" id="63"/>
          <p:cNvGrpSpPr/>
          <p:nvPr/>
        </p:nvGrpSpPr>
        <p:grpSpPr>
          <a:xfrm rot="0">
            <a:off x="1536192" y="4809744"/>
            <a:ext cx="16020288" cy="768096"/>
            <a:chOff x="0" y="0"/>
            <a:chExt cx="21360384" cy="1024128"/>
          </a:xfrm>
        </p:grpSpPr>
        <p:sp>
          <p:nvSpPr>
            <p:cNvPr name="Freeform 64" id="64"/>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65" id="65"/>
          <p:cNvGrpSpPr/>
          <p:nvPr/>
        </p:nvGrpSpPr>
        <p:grpSpPr>
          <a:xfrm rot="0">
            <a:off x="1536192" y="4781169"/>
            <a:ext cx="16020288" cy="796671"/>
            <a:chOff x="0" y="0"/>
            <a:chExt cx="21360384" cy="1062228"/>
          </a:xfrm>
        </p:grpSpPr>
        <p:sp>
          <p:nvSpPr>
            <p:cNvPr name="Freeform 66" id="66"/>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67" id="67"/>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¿Cuál es la diferencia entre un log, un evento, una alerta y un incidente? Podés dar un ejemplo de cada uno.</a:t>
              </a:r>
            </a:p>
          </p:txBody>
        </p:sp>
      </p:grpSp>
      <p:sp>
        <p:nvSpPr>
          <p:cNvPr name="Freeform 68" id="68"/>
          <p:cNvSpPr/>
          <p:nvPr/>
        </p:nvSpPr>
        <p:spPr>
          <a:xfrm flipH="false" flipV="false" rot="0">
            <a:off x="572519" y="5802887"/>
            <a:ext cx="720281" cy="793433"/>
          </a:xfrm>
          <a:custGeom>
            <a:avLst/>
            <a:gdLst/>
            <a:ahLst/>
            <a:cxnLst/>
            <a:rect r="r" b="b" t="t" l="l"/>
            <a:pathLst>
              <a:path h="793433"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69" id="69"/>
          <p:cNvGrpSpPr/>
          <p:nvPr/>
        </p:nvGrpSpPr>
        <p:grpSpPr>
          <a:xfrm rot="0">
            <a:off x="585216" y="5815584"/>
            <a:ext cx="694944" cy="768096"/>
            <a:chOff x="0" y="0"/>
            <a:chExt cx="926592" cy="1024128"/>
          </a:xfrm>
        </p:grpSpPr>
        <p:sp>
          <p:nvSpPr>
            <p:cNvPr name="Freeform 70" id="70"/>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71" id="71"/>
          <p:cNvGrpSpPr/>
          <p:nvPr/>
        </p:nvGrpSpPr>
        <p:grpSpPr>
          <a:xfrm rot="0">
            <a:off x="585216" y="5779865"/>
            <a:ext cx="694944" cy="803815"/>
            <a:chOff x="0" y="0"/>
            <a:chExt cx="926592" cy="1071753"/>
          </a:xfrm>
        </p:grpSpPr>
        <p:sp>
          <p:nvSpPr>
            <p:cNvPr name="Freeform 72" id="72"/>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73" id="73"/>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5</a:t>
              </a:r>
            </a:p>
          </p:txBody>
        </p:sp>
      </p:grpSp>
      <p:sp>
        <p:nvSpPr>
          <p:cNvPr name="Freeform 74" id="74"/>
          <p:cNvSpPr/>
          <p:nvPr/>
        </p:nvSpPr>
        <p:spPr>
          <a:xfrm flipH="false" flipV="false" rot="0">
            <a:off x="1304039" y="5802887"/>
            <a:ext cx="16411385" cy="793433"/>
          </a:xfrm>
          <a:custGeom>
            <a:avLst/>
            <a:gdLst/>
            <a:ahLst/>
            <a:cxnLst/>
            <a:rect r="r" b="b" t="t" l="l"/>
            <a:pathLst>
              <a:path h="793433"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75" id="75"/>
          <p:cNvGrpSpPr/>
          <p:nvPr/>
        </p:nvGrpSpPr>
        <p:grpSpPr>
          <a:xfrm rot="0">
            <a:off x="1536192" y="5815584"/>
            <a:ext cx="16020288" cy="768096"/>
            <a:chOff x="0" y="0"/>
            <a:chExt cx="21360384" cy="1024128"/>
          </a:xfrm>
        </p:grpSpPr>
        <p:sp>
          <p:nvSpPr>
            <p:cNvPr name="Freeform 76" id="76"/>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77" id="77"/>
          <p:cNvGrpSpPr/>
          <p:nvPr/>
        </p:nvGrpSpPr>
        <p:grpSpPr>
          <a:xfrm rot="0">
            <a:off x="1536192" y="5787009"/>
            <a:ext cx="16020288" cy="796671"/>
            <a:chOff x="0" y="0"/>
            <a:chExt cx="21360384" cy="1062228"/>
          </a:xfrm>
        </p:grpSpPr>
        <p:sp>
          <p:nvSpPr>
            <p:cNvPr name="Freeform 78" id="78"/>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79" id="79"/>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¿Por qué es importante documentar el análisis incluso cuando la alerta resulta ser un falso positivo?</a:t>
              </a:r>
            </a:p>
          </p:txBody>
        </p:sp>
      </p:grpSp>
      <p:sp>
        <p:nvSpPr>
          <p:cNvPr name="Freeform 80" id="80"/>
          <p:cNvSpPr/>
          <p:nvPr/>
        </p:nvSpPr>
        <p:spPr>
          <a:xfrm flipH="false" flipV="false" rot="0">
            <a:off x="572519" y="6808727"/>
            <a:ext cx="720281" cy="793433"/>
          </a:xfrm>
          <a:custGeom>
            <a:avLst/>
            <a:gdLst/>
            <a:ahLst/>
            <a:cxnLst/>
            <a:rect r="r" b="b" t="t" l="l"/>
            <a:pathLst>
              <a:path h="793433"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81" id="81"/>
          <p:cNvGrpSpPr/>
          <p:nvPr/>
        </p:nvGrpSpPr>
        <p:grpSpPr>
          <a:xfrm rot="0">
            <a:off x="585216" y="6821424"/>
            <a:ext cx="694944" cy="768096"/>
            <a:chOff x="0" y="0"/>
            <a:chExt cx="926592" cy="1024128"/>
          </a:xfrm>
        </p:grpSpPr>
        <p:sp>
          <p:nvSpPr>
            <p:cNvPr name="Freeform 82" id="82"/>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83" id="83"/>
          <p:cNvGrpSpPr/>
          <p:nvPr/>
        </p:nvGrpSpPr>
        <p:grpSpPr>
          <a:xfrm rot="0">
            <a:off x="585216" y="6785705"/>
            <a:ext cx="694944" cy="803815"/>
            <a:chOff x="0" y="0"/>
            <a:chExt cx="926592" cy="1071753"/>
          </a:xfrm>
        </p:grpSpPr>
        <p:sp>
          <p:nvSpPr>
            <p:cNvPr name="Freeform 84" id="84"/>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85" id="85"/>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6</a:t>
              </a:r>
            </a:p>
          </p:txBody>
        </p:sp>
      </p:grpSp>
      <p:sp>
        <p:nvSpPr>
          <p:cNvPr name="Freeform 86" id="86"/>
          <p:cNvSpPr/>
          <p:nvPr/>
        </p:nvSpPr>
        <p:spPr>
          <a:xfrm flipH="false" flipV="false" rot="0">
            <a:off x="1304039" y="6808727"/>
            <a:ext cx="16411385" cy="793433"/>
          </a:xfrm>
          <a:custGeom>
            <a:avLst/>
            <a:gdLst/>
            <a:ahLst/>
            <a:cxnLst/>
            <a:rect r="r" b="b" t="t" l="l"/>
            <a:pathLst>
              <a:path h="793433"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87" id="87"/>
          <p:cNvGrpSpPr/>
          <p:nvPr/>
        </p:nvGrpSpPr>
        <p:grpSpPr>
          <a:xfrm rot="0">
            <a:off x="1536192" y="6821424"/>
            <a:ext cx="16020288" cy="768096"/>
            <a:chOff x="0" y="0"/>
            <a:chExt cx="21360384" cy="1024128"/>
          </a:xfrm>
        </p:grpSpPr>
        <p:sp>
          <p:nvSpPr>
            <p:cNvPr name="Freeform 88" id="88"/>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89" id="89"/>
          <p:cNvGrpSpPr/>
          <p:nvPr/>
        </p:nvGrpSpPr>
        <p:grpSpPr>
          <a:xfrm rot="0">
            <a:off x="1536192" y="6792849"/>
            <a:ext cx="16020288" cy="796671"/>
            <a:chOff x="0" y="0"/>
            <a:chExt cx="21360384" cy="1062228"/>
          </a:xfrm>
        </p:grpSpPr>
        <p:sp>
          <p:nvSpPr>
            <p:cNvPr name="Freeform 90" id="90"/>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91" id="91"/>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¿Qué información debe incluir un escalamiento para que sea útil y accionable?</a:t>
              </a:r>
            </a:p>
          </p:txBody>
        </p:sp>
      </p:grpSp>
      <p:sp>
        <p:nvSpPr>
          <p:cNvPr name="Freeform 92" id="92"/>
          <p:cNvSpPr/>
          <p:nvPr/>
        </p:nvSpPr>
        <p:spPr>
          <a:xfrm flipH="false" flipV="false" rot="0">
            <a:off x="572519" y="7814567"/>
            <a:ext cx="720281" cy="793433"/>
          </a:xfrm>
          <a:custGeom>
            <a:avLst/>
            <a:gdLst/>
            <a:ahLst/>
            <a:cxnLst/>
            <a:rect r="r" b="b" t="t" l="l"/>
            <a:pathLst>
              <a:path h="793433"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3" id="93"/>
          <p:cNvGrpSpPr/>
          <p:nvPr/>
        </p:nvGrpSpPr>
        <p:grpSpPr>
          <a:xfrm rot="0">
            <a:off x="585216" y="7827264"/>
            <a:ext cx="694944" cy="768096"/>
            <a:chOff x="0" y="0"/>
            <a:chExt cx="926592" cy="1024128"/>
          </a:xfrm>
        </p:grpSpPr>
        <p:sp>
          <p:nvSpPr>
            <p:cNvPr name="Freeform 94" id="94"/>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95" id="95"/>
          <p:cNvGrpSpPr/>
          <p:nvPr/>
        </p:nvGrpSpPr>
        <p:grpSpPr>
          <a:xfrm rot="0">
            <a:off x="585216" y="7791545"/>
            <a:ext cx="694944" cy="803815"/>
            <a:chOff x="0" y="0"/>
            <a:chExt cx="926592" cy="1071753"/>
          </a:xfrm>
        </p:grpSpPr>
        <p:sp>
          <p:nvSpPr>
            <p:cNvPr name="Freeform 96" id="96"/>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97" id="97"/>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7</a:t>
              </a:r>
            </a:p>
          </p:txBody>
        </p:sp>
      </p:grpSp>
      <p:sp>
        <p:nvSpPr>
          <p:cNvPr name="Freeform 98" id="98"/>
          <p:cNvSpPr/>
          <p:nvPr/>
        </p:nvSpPr>
        <p:spPr>
          <a:xfrm flipH="false" flipV="false" rot="0">
            <a:off x="1304039" y="7814567"/>
            <a:ext cx="16411385" cy="793433"/>
          </a:xfrm>
          <a:custGeom>
            <a:avLst/>
            <a:gdLst/>
            <a:ahLst/>
            <a:cxnLst/>
            <a:rect r="r" b="b" t="t" l="l"/>
            <a:pathLst>
              <a:path h="793433"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99" id="99"/>
          <p:cNvGrpSpPr/>
          <p:nvPr/>
        </p:nvGrpSpPr>
        <p:grpSpPr>
          <a:xfrm rot="0">
            <a:off x="1536192" y="7827264"/>
            <a:ext cx="16020288" cy="768096"/>
            <a:chOff x="0" y="0"/>
            <a:chExt cx="21360384" cy="1024128"/>
          </a:xfrm>
        </p:grpSpPr>
        <p:sp>
          <p:nvSpPr>
            <p:cNvPr name="Freeform 100" id="100"/>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101" id="101"/>
          <p:cNvGrpSpPr/>
          <p:nvPr/>
        </p:nvGrpSpPr>
        <p:grpSpPr>
          <a:xfrm rot="0">
            <a:off x="1536192" y="7798689"/>
            <a:ext cx="16020288" cy="796671"/>
            <a:chOff x="0" y="0"/>
            <a:chExt cx="21360384" cy="1062228"/>
          </a:xfrm>
        </p:grpSpPr>
        <p:sp>
          <p:nvSpPr>
            <p:cNvPr name="Freeform 102" id="102"/>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103" id="103"/>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¿Por qué decimos que 'ver no significa tener permiso para divulgar'? ¿Qué implica esto en el trabajo diario?</a:t>
              </a:r>
            </a:p>
          </p:txBody>
        </p:sp>
      </p:grpSp>
      <p:sp>
        <p:nvSpPr>
          <p:cNvPr name="Freeform 104" id="104"/>
          <p:cNvSpPr/>
          <p:nvPr/>
        </p:nvSpPr>
        <p:spPr>
          <a:xfrm flipH="false" flipV="false" rot="0">
            <a:off x="572519" y="8820407"/>
            <a:ext cx="720281" cy="793433"/>
          </a:xfrm>
          <a:custGeom>
            <a:avLst/>
            <a:gdLst/>
            <a:ahLst/>
            <a:cxnLst/>
            <a:rect r="r" b="b" t="t" l="l"/>
            <a:pathLst>
              <a:path h="793433" w="720281">
                <a:moveTo>
                  <a:pt x="0" y="0"/>
                </a:moveTo>
                <a:lnTo>
                  <a:pt x="720281" y="0"/>
                </a:lnTo>
                <a:lnTo>
                  <a:pt x="720281" y="793433"/>
                </a:lnTo>
                <a:lnTo>
                  <a:pt x="0" y="7934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05" id="105"/>
          <p:cNvGrpSpPr/>
          <p:nvPr/>
        </p:nvGrpSpPr>
        <p:grpSpPr>
          <a:xfrm rot="0">
            <a:off x="585216" y="8833104"/>
            <a:ext cx="694944" cy="768096"/>
            <a:chOff x="0" y="0"/>
            <a:chExt cx="926592" cy="1024128"/>
          </a:xfrm>
        </p:grpSpPr>
        <p:sp>
          <p:nvSpPr>
            <p:cNvPr name="Freeform 106" id="106"/>
            <p:cNvSpPr/>
            <p:nvPr/>
          </p:nvSpPr>
          <p:spPr>
            <a:xfrm flipH="false" flipV="false" rot="0">
              <a:off x="0" y="0"/>
              <a:ext cx="926592" cy="1024128"/>
            </a:xfrm>
            <a:custGeom>
              <a:avLst/>
              <a:gdLst/>
              <a:ahLst/>
              <a:cxnLst/>
              <a:rect r="r" b="b" t="t" l="l"/>
              <a:pathLst>
                <a:path h="1024128" w="926592">
                  <a:moveTo>
                    <a:pt x="0" y="0"/>
                  </a:moveTo>
                  <a:lnTo>
                    <a:pt x="926592" y="0"/>
                  </a:lnTo>
                  <a:lnTo>
                    <a:pt x="926592" y="1024128"/>
                  </a:lnTo>
                  <a:lnTo>
                    <a:pt x="0" y="1024128"/>
                  </a:lnTo>
                  <a:close/>
                </a:path>
              </a:pathLst>
            </a:custGeom>
            <a:blipFill>
              <a:blip r:embed="rId7">
                <a:alphaModFix amt="0"/>
              </a:blip>
              <a:stretch>
                <a:fillRect l="-91907" t="0" r="-91907" b="0"/>
              </a:stretch>
            </a:blipFill>
          </p:spPr>
        </p:sp>
      </p:grpSp>
      <p:grpSp>
        <p:nvGrpSpPr>
          <p:cNvPr name="Group 107" id="107"/>
          <p:cNvGrpSpPr/>
          <p:nvPr/>
        </p:nvGrpSpPr>
        <p:grpSpPr>
          <a:xfrm rot="0">
            <a:off x="585216" y="8797385"/>
            <a:ext cx="694944" cy="803815"/>
            <a:chOff x="0" y="0"/>
            <a:chExt cx="926592" cy="1071753"/>
          </a:xfrm>
        </p:grpSpPr>
        <p:sp>
          <p:nvSpPr>
            <p:cNvPr name="Freeform 108" id="108"/>
            <p:cNvSpPr/>
            <p:nvPr/>
          </p:nvSpPr>
          <p:spPr>
            <a:xfrm flipH="false" flipV="false" rot="0">
              <a:off x="0" y="0"/>
              <a:ext cx="926592" cy="1071753"/>
            </a:xfrm>
            <a:custGeom>
              <a:avLst/>
              <a:gdLst/>
              <a:ahLst/>
              <a:cxnLst/>
              <a:rect r="r" b="b" t="t" l="l"/>
              <a:pathLst>
                <a:path h="1071753" w="926592">
                  <a:moveTo>
                    <a:pt x="0" y="0"/>
                  </a:moveTo>
                  <a:lnTo>
                    <a:pt x="926592" y="0"/>
                  </a:lnTo>
                  <a:lnTo>
                    <a:pt x="926592" y="1071753"/>
                  </a:lnTo>
                  <a:lnTo>
                    <a:pt x="0" y="1071753"/>
                  </a:lnTo>
                  <a:close/>
                </a:path>
              </a:pathLst>
            </a:custGeom>
            <a:blipFill>
              <a:blip r:embed="rId8">
                <a:alphaModFix amt="0"/>
              </a:blip>
              <a:stretch>
                <a:fillRect l="-98403" t="0" r="-98403" b="0"/>
              </a:stretch>
            </a:blipFill>
          </p:spPr>
        </p:sp>
        <p:sp>
          <p:nvSpPr>
            <p:cNvPr name="TextBox 109" id="109"/>
            <p:cNvSpPr txBox="true"/>
            <p:nvPr/>
          </p:nvSpPr>
          <p:spPr>
            <a:xfrm>
              <a:off x="0" y="-47625"/>
              <a:ext cx="926592" cy="1119378"/>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8</a:t>
              </a:r>
            </a:p>
          </p:txBody>
        </p:sp>
      </p:grpSp>
      <p:sp>
        <p:nvSpPr>
          <p:cNvPr name="Freeform 110" id="110"/>
          <p:cNvSpPr/>
          <p:nvPr/>
        </p:nvSpPr>
        <p:spPr>
          <a:xfrm flipH="false" flipV="false" rot="0">
            <a:off x="1304039" y="8820407"/>
            <a:ext cx="16411385" cy="793433"/>
          </a:xfrm>
          <a:custGeom>
            <a:avLst/>
            <a:gdLst/>
            <a:ahLst/>
            <a:cxnLst/>
            <a:rect r="r" b="b" t="t" l="l"/>
            <a:pathLst>
              <a:path h="793433" w="16411385">
                <a:moveTo>
                  <a:pt x="0" y="0"/>
                </a:moveTo>
                <a:lnTo>
                  <a:pt x="16411385" y="0"/>
                </a:lnTo>
                <a:lnTo>
                  <a:pt x="16411385" y="793433"/>
                </a:lnTo>
                <a:lnTo>
                  <a:pt x="0" y="7934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11" id="111"/>
          <p:cNvGrpSpPr/>
          <p:nvPr/>
        </p:nvGrpSpPr>
        <p:grpSpPr>
          <a:xfrm rot="0">
            <a:off x="1536192" y="8833104"/>
            <a:ext cx="16020288" cy="768096"/>
            <a:chOff x="0" y="0"/>
            <a:chExt cx="21360384" cy="1024128"/>
          </a:xfrm>
        </p:grpSpPr>
        <p:sp>
          <p:nvSpPr>
            <p:cNvPr name="Freeform 112" id="112"/>
            <p:cNvSpPr/>
            <p:nvPr/>
          </p:nvSpPr>
          <p:spPr>
            <a:xfrm flipH="false" flipV="false" rot="0">
              <a:off x="0" y="0"/>
              <a:ext cx="21360385" cy="1024128"/>
            </a:xfrm>
            <a:custGeom>
              <a:avLst/>
              <a:gdLst/>
              <a:ahLst/>
              <a:cxnLst/>
              <a:rect r="r" b="b" t="t" l="l"/>
              <a:pathLst>
                <a:path h="1024128" w="21360385">
                  <a:moveTo>
                    <a:pt x="0" y="0"/>
                  </a:moveTo>
                  <a:lnTo>
                    <a:pt x="21360385" y="0"/>
                  </a:lnTo>
                  <a:lnTo>
                    <a:pt x="21360385" y="1024128"/>
                  </a:lnTo>
                  <a:lnTo>
                    <a:pt x="0" y="1024128"/>
                  </a:lnTo>
                  <a:close/>
                </a:path>
              </a:pathLst>
            </a:custGeom>
            <a:blipFill>
              <a:blip r:embed="rId7">
                <a:alphaModFix amt="0"/>
              </a:blip>
              <a:stretch>
                <a:fillRect l="0" t="-356119" r="0" b="-356119"/>
              </a:stretch>
            </a:blipFill>
          </p:spPr>
        </p:sp>
      </p:grpSp>
      <p:grpSp>
        <p:nvGrpSpPr>
          <p:cNvPr name="Group 113" id="113"/>
          <p:cNvGrpSpPr/>
          <p:nvPr/>
        </p:nvGrpSpPr>
        <p:grpSpPr>
          <a:xfrm rot="0">
            <a:off x="1536192" y="8804529"/>
            <a:ext cx="16020288" cy="796671"/>
            <a:chOff x="0" y="0"/>
            <a:chExt cx="21360384" cy="1062228"/>
          </a:xfrm>
        </p:grpSpPr>
        <p:sp>
          <p:nvSpPr>
            <p:cNvPr name="Freeform 114" id="114"/>
            <p:cNvSpPr/>
            <p:nvPr/>
          </p:nvSpPr>
          <p:spPr>
            <a:xfrm flipH="false" flipV="false" rot="0">
              <a:off x="0" y="0"/>
              <a:ext cx="21360385" cy="1062228"/>
            </a:xfrm>
            <a:custGeom>
              <a:avLst/>
              <a:gdLst/>
              <a:ahLst/>
              <a:cxnLst/>
              <a:rect r="r" b="b" t="t" l="l"/>
              <a:pathLst>
                <a:path h="1062228" w="21360385">
                  <a:moveTo>
                    <a:pt x="0" y="0"/>
                  </a:moveTo>
                  <a:lnTo>
                    <a:pt x="21360385" y="0"/>
                  </a:lnTo>
                  <a:lnTo>
                    <a:pt x="21360385" y="1062228"/>
                  </a:lnTo>
                  <a:lnTo>
                    <a:pt x="0" y="1062228"/>
                  </a:lnTo>
                  <a:close/>
                </a:path>
              </a:pathLst>
            </a:custGeom>
            <a:blipFill>
              <a:blip r:embed="rId8">
                <a:alphaModFix amt="0"/>
              </a:blip>
              <a:stretch>
                <a:fillRect l="0" t="-341825" r="0" b="-341825"/>
              </a:stretch>
            </a:blipFill>
          </p:spPr>
        </p:sp>
        <p:sp>
          <p:nvSpPr>
            <p:cNvPr name="TextBox 115" id="115"/>
            <p:cNvSpPr txBox="true"/>
            <p:nvPr/>
          </p:nvSpPr>
          <p:spPr>
            <a:xfrm>
              <a:off x="0" y="-38100"/>
              <a:ext cx="21360384" cy="1100328"/>
            </a:xfrm>
            <a:prstGeom prst="rect">
              <a:avLst/>
            </a:prstGeom>
          </p:spPr>
          <p:txBody>
            <a:bodyPr anchor="ctr" rtlCol="false" tIns="0" lIns="0" bIns="0" rIns="0"/>
            <a:lstStyle/>
            <a:p>
              <a:pPr algn="l">
                <a:lnSpc>
                  <a:spcPts val="2279"/>
                </a:lnSpc>
              </a:pPr>
              <a:r>
                <a:rPr lang="en-US" sz="1899">
                  <a:solidFill>
                    <a:srgbClr val="111111"/>
                  </a:solidFill>
                  <a:latin typeface="Calibri (MS)"/>
                  <a:ea typeface="Calibri (MS)"/>
                  <a:cs typeface="Calibri (MS)"/>
                  <a:sym typeface="Calibri (MS)"/>
                </a:rPr>
                <a:t>Mencioná al menos 3 rutas de especialización o crecimiento posibles a partir del SOC.</a:t>
              </a:r>
            </a:p>
          </p:txBody>
        </p:sp>
      </p:grpSp>
      <p:grpSp>
        <p:nvGrpSpPr>
          <p:cNvPr name="Group 116" id="116"/>
          <p:cNvGrpSpPr/>
          <p:nvPr/>
        </p:nvGrpSpPr>
        <p:grpSpPr>
          <a:xfrm rot="0">
            <a:off x="15983863" y="24203"/>
            <a:ext cx="1855079" cy="1855079"/>
            <a:chOff x="0" y="0"/>
            <a:chExt cx="5852160" cy="5852160"/>
          </a:xfrm>
        </p:grpSpPr>
        <p:sp>
          <p:nvSpPr>
            <p:cNvPr name="Freeform 117" id="117"/>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5"/>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18313336" cy="10312337"/>
          </a:xfrm>
          <a:custGeom>
            <a:avLst/>
            <a:gdLst/>
            <a:ahLst/>
            <a:cxnLst/>
            <a:rect r="r" b="b" t="t" l="l"/>
            <a:pathLst>
              <a:path h="10312337" w="18313336">
                <a:moveTo>
                  <a:pt x="0" y="0"/>
                </a:moveTo>
                <a:lnTo>
                  <a:pt x="18313337" y="0"/>
                </a:lnTo>
                <a:lnTo>
                  <a:pt x="183133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8216903"/>
            <a:ext cx="18313336" cy="2219897"/>
          </a:xfrm>
          <a:custGeom>
            <a:avLst/>
            <a:gdLst/>
            <a:ahLst/>
            <a:cxnLst/>
            <a:rect r="r" b="b" t="t" l="l"/>
            <a:pathLst>
              <a:path h="2219897" w="18313336">
                <a:moveTo>
                  <a:pt x="0" y="0"/>
                </a:moveTo>
                <a:lnTo>
                  <a:pt x="18313337" y="0"/>
                </a:lnTo>
                <a:lnTo>
                  <a:pt x="18313337" y="2219897"/>
                </a:lnTo>
                <a:lnTo>
                  <a:pt x="0" y="22198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914400" y="576072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7">
                <a:alphaModFix amt="0"/>
              </a:blip>
              <a:stretch>
                <a:fillRect l="0" t="-242072" r="0" b="-242072"/>
              </a:stretch>
            </a:blipFill>
          </p:spPr>
        </p:sp>
      </p:grpSp>
      <p:grpSp>
        <p:nvGrpSpPr>
          <p:cNvPr name="Group 6" id="6"/>
          <p:cNvGrpSpPr/>
          <p:nvPr/>
        </p:nvGrpSpPr>
        <p:grpSpPr>
          <a:xfrm rot="0">
            <a:off x="914400" y="5703570"/>
            <a:ext cx="16459200" cy="1154430"/>
            <a:chOff x="0" y="0"/>
            <a:chExt cx="21945600" cy="1539240"/>
          </a:xfrm>
        </p:grpSpPr>
        <p:sp>
          <p:nvSpPr>
            <p:cNvPr name="Freeform 7" id="7"/>
            <p:cNvSpPr/>
            <p:nvPr/>
          </p:nvSpPr>
          <p:spPr>
            <a:xfrm flipH="false" flipV="false" rot="0">
              <a:off x="0" y="0"/>
              <a:ext cx="21945600" cy="1539240"/>
            </a:xfrm>
            <a:custGeom>
              <a:avLst/>
              <a:gdLst/>
              <a:ahLst/>
              <a:cxnLst/>
              <a:rect r="r" b="b" t="t" l="l"/>
              <a:pathLst>
                <a:path h="1539240" w="21945600">
                  <a:moveTo>
                    <a:pt x="0" y="0"/>
                  </a:moveTo>
                  <a:lnTo>
                    <a:pt x="21945600" y="0"/>
                  </a:lnTo>
                  <a:lnTo>
                    <a:pt x="21945600" y="1539240"/>
                  </a:lnTo>
                  <a:lnTo>
                    <a:pt x="0" y="1539240"/>
                  </a:lnTo>
                  <a:close/>
                </a:path>
              </a:pathLst>
            </a:custGeom>
            <a:blipFill>
              <a:blip r:embed="rId8">
                <a:alphaModFix amt="0"/>
              </a:blip>
              <a:stretch>
                <a:fillRect l="0" t="-227806" r="0" b="-227806"/>
              </a:stretch>
            </a:blipFill>
          </p:spPr>
        </p:sp>
        <p:sp>
          <p:nvSpPr>
            <p:cNvPr name="TextBox 8" id="8"/>
            <p:cNvSpPr txBox="true"/>
            <p:nvPr/>
          </p:nvSpPr>
          <p:spPr>
            <a:xfrm>
              <a:off x="0" y="-76200"/>
              <a:ext cx="21945600" cy="1615440"/>
            </a:xfrm>
            <a:prstGeom prst="rect">
              <a:avLst/>
            </a:prstGeom>
          </p:spPr>
          <p:txBody>
            <a:bodyPr anchor="ctr" rtlCol="false" tIns="0" lIns="0" bIns="0" rIns="0"/>
            <a:lstStyle/>
            <a:p>
              <a:pPr algn="ctr">
                <a:lnSpc>
                  <a:spcPts val="5280"/>
                </a:lnSpc>
              </a:pPr>
              <a:r>
                <a:rPr lang="en-US" b="true" sz="4400" spc="1199">
                  <a:solidFill>
                    <a:srgbClr val="FFFFFF"/>
                  </a:solidFill>
                  <a:latin typeface="Calibri (MS) Bold"/>
                  <a:ea typeface="Calibri (MS) Bold"/>
                  <a:cs typeface="Calibri (MS) Bold"/>
                  <a:sym typeface="Calibri (MS) Bold"/>
                </a:rPr>
                <a:t>HIDDEN SECURITY</a:t>
              </a:r>
            </a:p>
          </p:txBody>
        </p:sp>
      </p:grpSp>
      <p:grpSp>
        <p:nvGrpSpPr>
          <p:cNvPr name="Group 9" id="9"/>
          <p:cNvGrpSpPr/>
          <p:nvPr/>
        </p:nvGrpSpPr>
        <p:grpSpPr>
          <a:xfrm rot="0">
            <a:off x="914400" y="6949440"/>
            <a:ext cx="16459200" cy="731520"/>
            <a:chOff x="0" y="0"/>
            <a:chExt cx="21945600" cy="975360"/>
          </a:xfrm>
        </p:grpSpPr>
        <p:sp>
          <p:nvSpPr>
            <p:cNvPr name="Freeform 10" id="10"/>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7">
                <a:alphaModFix amt="0"/>
              </a:blip>
              <a:stretch>
                <a:fillRect l="0" t="-388108" r="0" b="-388109"/>
              </a:stretch>
            </a:blipFill>
          </p:spPr>
        </p:sp>
      </p:grpSp>
      <p:grpSp>
        <p:nvGrpSpPr>
          <p:cNvPr name="Group 11" id="11"/>
          <p:cNvGrpSpPr/>
          <p:nvPr/>
        </p:nvGrpSpPr>
        <p:grpSpPr>
          <a:xfrm rot="0">
            <a:off x="914400" y="6920865"/>
            <a:ext cx="16459200" cy="760095"/>
            <a:chOff x="0" y="0"/>
            <a:chExt cx="21945600" cy="1013460"/>
          </a:xfrm>
        </p:grpSpPr>
        <p:sp>
          <p:nvSpPr>
            <p:cNvPr name="Freeform 12" id="12"/>
            <p:cNvSpPr/>
            <p:nvPr/>
          </p:nvSpPr>
          <p:spPr>
            <a:xfrm flipH="false" flipV="false" rot="0">
              <a:off x="0" y="0"/>
              <a:ext cx="21945600" cy="1013460"/>
            </a:xfrm>
            <a:custGeom>
              <a:avLst/>
              <a:gdLst/>
              <a:ahLst/>
              <a:cxnLst/>
              <a:rect r="r" b="b" t="t" l="l"/>
              <a:pathLst>
                <a:path h="1013460" w="21945600">
                  <a:moveTo>
                    <a:pt x="0" y="0"/>
                  </a:moveTo>
                  <a:lnTo>
                    <a:pt x="21945600" y="0"/>
                  </a:lnTo>
                  <a:lnTo>
                    <a:pt x="21945600" y="1013460"/>
                  </a:lnTo>
                  <a:lnTo>
                    <a:pt x="0" y="1013460"/>
                  </a:lnTo>
                  <a:close/>
                </a:path>
              </a:pathLst>
            </a:custGeom>
            <a:blipFill>
              <a:blip r:embed="rId8">
                <a:alphaModFix amt="0"/>
              </a:blip>
              <a:stretch>
                <a:fillRect l="0" t="-371931" r="0" b="-371931"/>
              </a:stretch>
            </a:blipFill>
          </p:spPr>
        </p:sp>
        <p:sp>
          <p:nvSpPr>
            <p:cNvPr name="TextBox 13" id="13"/>
            <p:cNvSpPr txBox="true"/>
            <p:nvPr/>
          </p:nvSpPr>
          <p:spPr>
            <a:xfrm>
              <a:off x="0" y="-38100"/>
              <a:ext cx="21945600" cy="1051560"/>
            </a:xfrm>
            <a:prstGeom prst="rect">
              <a:avLst/>
            </a:prstGeom>
          </p:spPr>
          <p:txBody>
            <a:bodyPr anchor="ctr" rtlCol="false" tIns="0" lIns="0" bIns="0" rIns="0"/>
            <a:lstStyle/>
            <a:p>
              <a:pPr algn="ctr">
                <a:lnSpc>
                  <a:spcPts val="2878"/>
                </a:lnSpc>
              </a:pPr>
              <a:r>
                <a:rPr lang="en-US" sz="2400">
                  <a:solidFill>
                    <a:srgbClr val="AAAAAA"/>
                  </a:solidFill>
                  <a:latin typeface="Calibri (MS)"/>
                  <a:ea typeface="Calibri (MS)"/>
                  <a:cs typeface="Calibri (MS)"/>
                  <a:sym typeface="Calibri (MS)"/>
                </a:rPr>
                <a:t>Modern SOC Operations  —  Módulo 1</a:t>
              </a:r>
            </a:p>
          </p:txBody>
        </p:sp>
      </p:grpSp>
      <p:grpSp>
        <p:nvGrpSpPr>
          <p:cNvPr name="Group 14" id="14"/>
          <p:cNvGrpSpPr/>
          <p:nvPr/>
        </p:nvGrpSpPr>
        <p:grpSpPr>
          <a:xfrm rot="0">
            <a:off x="914400" y="8321040"/>
            <a:ext cx="16459200" cy="731520"/>
            <a:chOff x="0" y="0"/>
            <a:chExt cx="21945600" cy="975360"/>
          </a:xfrm>
        </p:grpSpPr>
        <p:sp>
          <p:nvSpPr>
            <p:cNvPr name="Freeform 15" id="15"/>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7">
                <a:alphaModFix amt="0"/>
              </a:blip>
              <a:stretch>
                <a:fillRect l="0" t="-388108" r="0" b="-388109"/>
              </a:stretch>
            </a:blipFill>
          </p:spPr>
        </p:sp>
      </p:grpSp>
      <p:grpSp>
        <p:nvGrpSpPr>
          <p:cNvPr name="Group 16" id="16"/>
          <p:cNvGrpSpPr/>
          <p:nvPr/>
        </p:nvGrpSpPr>
        <p:grpSpPr>
          <a:xfrm rot="0">
            <a:off x="914371" y="8795807"/>
            <a:ext cx="16459200" cy="767239"/>
            <a:chOff x="0" y="0"/>
            <a:chExt cx="21945600" cy="1022985"/>
          </a:xfrm>
        </p:grpSpPr>
        <p:sp>
          <p:nvSpPr>
            <p:cNvPr name="Freeform 17" id="17"/>
            <p:cNvSpPr/>
            <p:nvPr/>
          </p:nvSpPr>
          <p:spPr>
            <a:xfrm flipH="false" flipV="false" rot="0">
              <a:off x="0" y="0"/>
              <a:ext cx="21945600" cy="1022985"/>
            </a:xfrm>
            <a:custGeom>
              <a:avLst/>
              <a:gdLst/>
              <a:ahLst/>
              <a:cxnLst/>
              <a:rect r="r" b="b" t="t" l="l"/>
              <a:pathLst>
                <a:path h="1022985" w="21945600">
                  <a:moveTo>
                    <a:pt x="0" y="0"/>
                  </a:moveTo>
                  <a:lnTo>
                    <a:pt x="21945600" y="0"/>
                  </a:lnTo>
                  <a:lnTo>
                    <a:pt x="21945600" y="1022985"/>
                  </a:lnTo>
                  <a:lnTo>
                    <a:pt x="0" y="1022985"/>
                  </a:lnTo>
                  <a:close/>
                </a:path>
              </a:pathLst>
            </a:custGeom>
            <a:blipFill>
              <a:blip r:embed="rId8">
                <a:alphaModFix amt="0"/>
              </a:blip>
              <a:stretch>
                <a:fillRect l="0" t="-368003" r="0" b="-368003"/>
              </a:stretch>
            </a:blipFill>
          </p:spPr>
        </p:sp>
        <p:sp>
          <p:nvSpPr>
            <p:cNvPr name="TextBox 18" id="18"/>
            <p:cNvSpPr txBox="true"/>
            <p:nvPr/>
          </p:nvSpPr>
          <p:spPr>
            <a:xfrm>
              <a:off x="0" y="-47625"/>
              <a:ext cx="21945600" cy="1070610"/>
            </a:xfrm>
            <a:prstGeom prst="rect">
              <a:avLst/>
            </a:prstGeom>
          </p:spPr>
          <p:txBody>
            <a:bodyPr anchor="ctr" rtlCol="false" tIns="0" lIns="0" bIns="0" rIns="0"/>
            <a:lstStyle/>
            <a:p>
              <a:pPr algn="ctr">
                <a:lnSpc>
                  <a:spcPts val="2638"/>
                </a:lnSpc>
              </a:pPr>
              <a:r>
                <a:rPr lang="en-US" sz="2199" b="true">
                  <a:solidFill>
                    <a:srgbClr val="FFCCEE"/>
                  </a:solidFill>
                  <a:latin typeface="Calibri (MS) Bold"/>
                  <a:ea typeface="Calibri (MS) Bold"/>
                  <a:cs typeface="Calibri (MS) Bold"/>
                  <a:sym typeface="Calibri (MS) Bold"/>
                </a:rPr>
                <a:t>www.hidden-security.org  ·  2026</a:t>
              </a:r>
            </a:p>
          </p:txBody>
        </p:sp>
      </p:grpSp>
      <p:grpSp>
        <p:nvGrpSpPr>
          <p:cNvPr name="Group 19" id="19"/>
          <p:cNvGrpSpPr/>
          <p:nvPr/>
        </p:nvGrpSpPr>
        <p:grpSpPr>
          <a:xfrm rot="0">
            <a:off x="6669023" y="1529241"/>
            <a:ext cx="4949897" cy="4949897"/>
            <a:chOff x="0" y="0"/>
            <a:chExt cx="5852160" cy="5852160"/>
          </a:xfrm>
        </p:grpSpPr>
        <p:sp>
          <p:nvSpPr>
            <p:cNvPr name="Freeform 20" id="20"/>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9"/>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DAHTbVDi7pY</dc:identifier>
  <dcterms:modified xsi:type="dcterms:W3CDTF">2011-08-01T06:04:30Z</dcterms:modified>
  <cp:revision>1</cp:revision>
  <dc:title>Modulo 01 - Modern SOC Operations</dc:title>
</cp:coreProperties>
</file>