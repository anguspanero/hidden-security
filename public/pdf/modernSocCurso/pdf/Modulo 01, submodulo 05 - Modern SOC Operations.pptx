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Italics" charset="1" panose="020F05020202040A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Esta sección es diferente: no habla de herramientas ni procesos técnicos, sino del componente humano y ético del trabajo. Introducila diciendo: 'Un analista SOC tiene acceso a información que muy pocas personas en la organización ven. Eso implica una responsabilidad que va más allá de lo técnico.'</a:t>
            </a:r>
          </a:p>
          <a:p>
            <a:r>
              <a:rPr lang="en-US"/>
              <a:t>35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Enfatizá el concepto de 'principio de mínimo privilegio' en la práctica: si no necesitás ver esa información para tu tarea, no la busques. El hecho de que técnicamente puedas acceder a algo no significa que debas hacerlo. Esto protege tanto a la organización como al analista.</a:t>
            </a:r>
          </a:p>
          <a:p>
            <a:r>
              <a:rPr lang="en-US"/>
              <a:t>36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Esta slide es impactante. Usá el contraste visual para que quede claro qué está permitido y qué no. Podés preguntar: '¿Alguna vez escucharon un caso de insider threat, donde alguien de IT o seguridad filtró información?' Esto ancla el tema en la realidad.</a:t>
            </a:r>
          </a:p>
          <a:p>
            <a:r>
              <a:rPr lang="en-US"/>
              <a:t>37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Los NDAs y protocolos formales existen para proteger al empleado también. Si el analista actúa dentro del protocolo y algo sale mal, está cubierto. Si actúa fuera del protocolo, la responsabilidad puede recaer sobre él. Remarcá que seguir los protocolos no es burocracia: es protección.</a:t>
            </a:r>
          </a:p>
          <a:p>
            <a:r>
              <a:rPr lang="en-US"/>
              <a:t>38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Remarcá que el registro no es una carga burocrática: es la memoria colectiva del equipo. En un SOC 24/7, la continuidad del trabajo depende de la calidad de los registros. Un analista que documenta bien facilita el trabajo de todos los que vienen después.</a:t>
            </a:r>
          </a:p>
          <a:p>
            <a:r>
              <a:rPr lang="en-US"/>
              <a:t>39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2.pn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23.svg" Type="http://schemas.openxmlformats.org/officeDocument/2006/relationships/image"/><Relationship Id="rId21" Target="../media/image24.png" Type="http://schemas.openxmlformats.org/officeDocument/2006/relationships/image"/><Relationship Id="rId22" Target="../media/image25.svg" Type="http://schemas.openxmlformats.org/officeDocument/2006/relationships/image"/><Relationship Id="rId23" Target="../media/image26.png" Type="http://schemas.openxmlformats.org/officeDocument/2006/relationships/image"/><Relationship Id="rId24" Target="../media/image27.svg" Type="http://schemas.openxmlformats.org/officeDocument/2006/relationships/image"/><Relationship Id="rId25" Target="../media/image28.png" Type="http://schemas.openxmlformats.org/officeDocument/2006/relationships/image"/><Relationship Id="rId26" Target="../media/image29.svg" Type="http://schemas.openxmlformats.org/officeDocument/2006/relationships/image"/><Relationship Id="rId27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17" Target="../media/image40.png" Type="http://schemas.openxmlformats.org/officeDocument/2006/relationships/image"/><Relationship Id="rId18" Target="../media/image41.svg" Type="http://schemas.openxmlformats.org/officeDocument/2006/relationships/image"/><Relationship Id="rId19" Target="../media/image9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42.png" Type="http://schemas.openxmlformats.org/officeDocument/2006/relationships/image"/><Relationship Id="rId12" Target="../media/image43.svg" Type="http://schemas.openxmlformats.org/officeDocument/2006/relationships/image"/><Relationship Id="rId13" Target="../media/image44.png" Type="http://schemas.openxmlformats.org/officeDocument/2006/relationships/image"/><Relationship Id="rId14" Target="../media/image45.svg" Type="http://schemas.openxmlformats.org/officeDocument/2006/relationships/image"/><Relationship Id="rId15" Target="../media/image46.png" Type="http://schemas.openxmlformats.org/officeDocument/2006/relationships/image"/><Relationship Id="rId16" Target="../media/image47.svg" Type="http://schemas.openxmlformats.org/officeDocument/2006/relationships/image"/><Relationship Id="rId17" Target="../media/image48.png" Type="http://schemas.openxmlformats.org/officeDocument/2006/relationships/image"/><Relationship Id="rId18" Target="../media/image49.svg" Type="http://schemas.openxmlformats.org/officeDocument/2006/relationships/image"/><Relationship Id="rId19" Target="../media/image50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51.svg" Type="http://schemas.openxmlformats.org/officeDocument/2006/relationships/image"/><Relationship Id="rId21" Target="../media/image52.png" Type="http://schemas.openxmlformats.org/officeDocument/2006/relationships/image"/><Relationship Id="rId22" Target="../media/image53.svg" Type="http://schemas.openxmlformats.org/officeDocument/2006/relationships/image"/><Relationship Id="rId23" Target="../media/image54.png" Type="http://schemas.openxmlformats.org/officeDocument/2006/relationships/image"/><Relationship Id="rId24" Target="../media/image55.svg" Type="http://schemas.openxmlformats.org/officeDocument/2006/relationships/image"/><Relationship Id="rId25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13" Target="../media/image58.png" Type="http://schemas.openxmlformats.org/officeDocument/2006/relationships/image"/><Relationship Id="rId14" Target="../media/image59.svg" Type="http://schemas.openxmlformats.org/officeDocument/2006/relationships/image"/><Relationship Id="rId15" Target="../media/image60.png" Type="http://schemas.openxmlformats.org/officeDocument/2006/relationships/image"/><Relationship Id="rId16" Target="../media/image61.svg" Type="http://schemas.openxmlformats.org/officeDocument/2006/relationships/image"/><Relationship Id="rId17" Target="../media/image62.png" Type="http://schemas.openxmlformats.org/officeDocument/2006/relationships/image"/><Relationship Id="rId18" Target="../media/image63.svg" Type="http://schemas.openxmlformats.org/officeDocument/2006/relationships/image"/><Relationship Id="rId19" Target="../media/image64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65.svg" Type="http://schemas.openxmlformats.org/officeDocument/2006/relationships/image"/><Relationship Id="rId21" Target="../media/image66.png" Type="http://schemas.openxmlformats.org/officeDocument/2006/relationships/image"/><Relationship Id="rId22" Target="../media/image67.svg" Type="http://schemas.openxmlformats.org/officeDocument/2006/relationships/image"/><Relationship Id="rId23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939736" cy="10312337"/>
          </a:xfrm>
          <a:custGeom>
            <a:avLst/>
            <a:gdLst/>
            <a:ahLst/>
            <a:cxnLst/>
            <a:rect r="r" b="b" t="t" l="l"/>
            <a:pathLst>
              <a:path h="10312337" w="939736">
                <a:moveTo>
                  <a:pt x="0" y="0"/>
                </a:moveTo>
                <a:lnTo>
                  <a:pt x="939737" y="0"/>
                </a:lnTo>
                <a:lnTo>
                  <a:pt x="939737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6936743"/>
            <a:ext cx="18313336" cy="3682936"/>
          </a:xfrm>
          <a:custGeom>
            <a:avLst/>
            <a:gdLst/>
            <a:ahLst/>
            <a:cxnLst/>
            <a:rect r="r" b="b" t="t" l="l"/>
            <a:pathLst>
              <a:path h="3682936" w="18313336">
                <a:moveTo>
                  <a:pt x="0" y="0"/>
                </a:moveTo>
                <a:lnTo>
                  <a:pt x="18313337" y="0"/>
                </a:lnTo>
                <a:lnTo>
                  <a:pt x="18313337" y="3682937"/>
                </a:lnTo>
                <a:lnTo>
                  <a:pt x="0" y="3682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3040" y="1828800"/>
            <a:ext cx="14630400" cy="822960"/>
            <a:chOff x="0" y="0"/>
            <a:chExt cx="19507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6159" r="0" b="-29615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040" y="1785938"/>
            <a:ext cx="14630400" cy="865823"/>
            <a:chOff x="0" y="0"/>
            <a:chExt cx="19507200" cy="1154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1154430"/>
            </a:xfrm>
            <a:custGeom>
              <a:avLst/>
              <a:gdLst/>
              <a:ahLst/>
              <a:cxnLst/>
              <a:rect r="r" b="b" t="t" l="l"/>
              <a:pathLst>
                <a:path h="115443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9252" r="0" b="-27925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50720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SECCIÓN 1.5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2743200"/>
            <a:ext cx="15544800" cy="2560320"/>
            <a:chOff x="0" y="0"/>
            <a:chExt cx="20726400" cy="3413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4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219" r="0" b="-6821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2650331"/>
            <a:ext cx="15544800" cy="2653189"/>
            <a:chOff x="0" y="0"/>
            <a:chExt cx="20726400" cy="353758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3537585"/>
            </a:xfrm>
            <a:custGeom>
              <a:avLst/>
              <a:gdLst/>
              <a:ahLst/>
              <a:cxnLst/>
              <a:rect r="r" b="b" t="t" l="l"/>
              <a:pathLst>
                <a:path h="353758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537585"/>
                  </a:lnTo>
                  <a:lnTo>
                    <a:pt x="0" y="35375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4161" r="0" b="-6416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23825"/>
              <a:ext cx="20726400" cy="3661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Ética, confidencialidad</a:t>
              </a:r>
            </a:p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responsabilidad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7040880"/>
            <a:ext cx="15544800" cy="585216"/>
            <a:chOff x="0" y="0"/>
            <a:chExt cx="207264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211" r="0" b="-46721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3040" y="7005161"/>
            <a:ext cx="15544800" cy="620935"/>
            <a:chOff x="0" y="0"/>
            <a:chExt cx="20726400" cy="8279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26400" cy="827913"/>
            </a:xfrm>
            <a:custGeom>
              <a:avLst/>
              <a:gdLst/>
              <a:ahLst/>
              <a:cxnLst/>
              <a:rect r="r" b="b" t="t" l="l"/>
              <a:pathLst>
                <a:path h="827913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7798" r="0" b="-4377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726400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Temas de esta sección: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3040" y="7680960"/>
            <a:ext cx="15544800" cy="2011680"/>
            <a:chOff x="0" y="0"/>
            <a:chExt cx="20726400" cy="2682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26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0461" r="0" b="-10046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63040" y="7652385"/>
            <a:ext cx="15544800" cy="2040255"/>
            <a:chOff x="0" y="0"/>
            <a:chExt cx="20726400" cy="27203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26400" cy="2720340"/>
            </a:xfrm>
            <a:custGeom>
              <a:avLst/>
              <a:gdLst/>
              <a:ahLst/>
              <a:cxnLst/>
              <a:rect r="r" b="b" t="t" l="l"/>
              <a:pathLst>
                <a:path h="27203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720340"/>
                  </a:lnTo>
                  <a:lnTo>
                    <a:pt x="0" y="2720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726400" cy="275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Acceso a información sensible: manejo ético y seguro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Protocolos de confidencialidad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rol del analista como primera línea de defensa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Importancia del registro y la trazabilidad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p.35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76686" y="1046103"/>
            <a:ext cx="2388354" cy="2388354"/>
            <a:chOff x="0" y="0"/>
            <a:chExt cx="5852160" cy="5852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p.36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1.5  |  Acceso a información sensible: manejo ético y seguro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73936"/>
            <a:ext cx="17007840" cy="1060704"/>
            <a:chOff x="0" y="0"/>
            <a:chExt cx="22677120" cy="14142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414272"/>
            </a:xfrm>
            <a:custGeom>
              <a:avLst/>
              <a:gdLst/>
              <a:ahLst/>
              <a:cxnLst/>
              <a:rect r="r" b="b" t="t" l="l"/>
              <a:pathLst>
                <a:path h="141427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62215" r="0" b="-26221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1738217"/>
            <a:ext cx="17007840" cy="1096423"/>
            <a:chOff x="0" y="0"/>
            <a:chExt cx="22677120" cy="14618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461897"/>
            </a:xfrm>
            <a:custGeom>
              <a:avLst/>
              <a:gdLst/>
              <a:ahLst/>
              <a:cxnLst/>
              <a:rect r="r" b="b" t="t" l="l"/>
              <a:pathLst>
                <a:path h="1461897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61897"/>
                  </a:lnTo>
                  <a:lnTo>
                    <a:pt x="0" y="14618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52254" r="0" b="-25225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5095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analistas tienen acceso a información extremadamente sensible: logs de usuarios, tráfico de red, configuraciones internas, credenciales comprometidas y datos personales o estratégicos del negocio. Ese nivel de acceso implica un nivel de responsabilidad igual de alto.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72519" y="3004823"/>
            <a:ext cx="17142904" cy="793432"/>
          </a:xfrm>
          <a:custGeom>
            <a:avLst/>
            <a:gdLst/>
            <a:ahLst/>
            <a:cxnLst/>
            <a:rect r="r" b="b" t="t" l="l"/>
            <a:pathLst>
              <a:path h="793432" w="17142904">
                <a:moveTo>
                  <a:pt x="0" y="0"/>
                </a:moveTo>
                <a:lnTo>
                  <a:pt x="17142905" y="0"/>
                </a:lnTo>
                <a:lnTo>
                  <a:pt x="17142905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585216" y="3017520"/>
            <a:ext cx="17117568" cy="768096"/>
            <a:chOff x="0" y="0"/>
            <a:chExt cx="22823424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23424" cy="1024128"/>
            </a:xfrm>
            <a:custGeom>
              <a:avLst/>
              <a:gdLst/>
              <a:ahLst/>
              <a:cxnLst/>
              <a:rect r="r" b="b" t="t" l="l"/>
              <a:pathLst>
                <a:path h="1024128" w="22823424">
                  <a:moveTo>
                    <a:pt x="0" y="0"/>
                  </a:moveTo>
                  <a:lnTo>
                    <a:pt x="22823424" y="0"/>
                  </a:lnTo>
                  <a:lnTo>
                    <a:pt x="2282342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83936" r="0" b="-38393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85216" y="2981801"/>
            <a:ext cx="17117568" cy="803815"/>
            <a:chOff x="0" y="0"/>
            <a:chExt cx="22823424" cy="10717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23424" cy="1071753"/>
            </a:xfrm>
            <a:custGeom>
              <a:avLst/>
              <a:gdLst/>
              <a:ahLst/>
              <a:cxnLst/>
              <a:rect r="r" b="b" t="t" l="l"/>
              <a:pathLst>
                <a:path h="1071753" w="22823424">
                  <a:moveTo>
                    <a:pt x="0" y="0"/>
                  </a:moveTo>
                  <a:lnTo>
                    <a:pt x="22823424" y="0"/>
                  </a:lnTo>
                  <a:lnTo>
                    <a:pt x="22823424" y="1071753"/>
                  </a:lnTo>
                  <a:lnTo>
                    <a:pt x="0" y="107175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64941" r="0" b="-36494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2823424" cy="11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4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"Ver no significa tener permiso para divulgar"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397153" y="4306128"/>
            <a:ext cx="2970638" cy="855717"/>
          </a:xfrm>
          <a:custGeom>
            <a:avLst/>
            <a:gdLst/>
            <a:ahLst/>
            <a:cxnLst/>
            <a:rect r="r" b="b" t="t" l="l"/>
            <a:pathLst>
              <a:path h="855717" w="2970638">
                <a:moveTo>
                  <a:pt x="0" y="0"/>
                </a:moveTo>
                <a:lnTo>
                  <a:pt x="2970639" y="0"/>
                </a:lnTo>
                <a:lnTo>
                  <a:pt x="2970639" y="855718"/>
                </a:lnTo>
                <a:lnTo>
                  <a:pt x="0" y="85571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408715" y="4317690"/>
            <a:ext cx="2947567" cy="832646"/>
            <a:chOff x="0" y="0"/>
            <a:chExt cx="4315968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15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29" r="0" b="-1892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408715" y="4291670"/>
            <a:ext cx="2947567" cy="858666"/>
            <a:chOff x="0" y="0"/>
            <a:chExt cx="4315968" cy="12573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15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886" r="0" b="-1688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315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Confidencialidad total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397153" y="5172080"/>
            <a:ext cx="2970638" cy="2437745"/>
          </a:xfrm>
          <a:custGeom>
            <a:avLst/>
            <a:gdLst/>
            <a:ahLst/>
            <a:cxnLst/>
            <a:rect r="r" b="b" t="t" l="l"/>
            <a:pathLst>
              <a:path h="2437745" w="2970638">
                <a:moveTo>
                  <a:pt x="0" y="0"/>
                </a:moveTo>
                <a:lnTo>
                  <a:pt x="2970639" y="0"/>
                </a:lnTo>
                <a:lnTo>
                  <a:pt x="2970639" y="2437745"/>
                </a:lnTo>
                <a:lnTo>
                  <a:pt x="0" y="24377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591900" y="5367834"/>
            <a:ext cx="2581203" cy="1449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Nunca compartir información sensible fuera del entorno autorizado, ni con personas no involucradas.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4527903" y="4306128"/>
            <a:ext cx="2970638" cy="855717"/>
          </a:xfrm>
          <a:custGeom>
            <a:avLst/>
            <a:gdLst/>
            <a:ahLst/>
            <a:cxnLst/>
            <a:rect r="r" b="b" t="t" l="l"/>
            <a:pathLst>
              <a:path h="855717" w="2970638">
                <a:moveTo>
                  <a:pt x="0" y="0"/>
                </a:moveTo>
                <a:lnTo>
                  <a:pt x="2970638" y="0"/>
                </a:lnTo>
                <a:lnTo>
                  <a:pt x="2970638" y="855718"/>
                </a:lnTo>
                <a:lnTo>
                  <a:pt x="0" y="85571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4539464" y="4317690"/>
            <a:ext cx="2947567" cy="832646"/>
            <a:chOff x="0" y="0"/>
            <a:chExt cx="4315968" cy="1219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15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29" r="0" b="-18929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539464" y="4291670"/>
            <a:ext cx="2947567" cy="858666"/>
            <a:chOff x="0" y="0"/>
            <a:chExt cx="4315968" cy="12573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15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886" r="0" b="-1688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315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Uso estrictamente profesional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4527903" y="5172080"/>
            <a:ext cx="2970638" cy="2437745"/>
          </a:xfrm>
          <a:custGeom>
            <a:avLst/>
            <a:gdLst/>
            <a:ahLst/>
            <a:cxnLst/>
            <a:rect r="r" b="b" t="t" l="l"/>
            <a:pathLst>
              <a:path h="2437745" w="2970638">
                <a:moveTo>
                  <a:pt x="0" y="0"/>
                </a:moveTo>
                <a:lnTo>
                  <a:pt x="2970638" y="0"/>
                </a:lnTo>
                <a:lnTo>
                  <a:pt x="2970638" y="2437745"/>
                </a:lnTo>
                <a:lnTo>
                  <a:pt x="0" y="24377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4722649" y="5367834"/>
            <a:ext cx="2581203" cy="108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Acceder a datos solo cuando es necesario para realizar una tarea asignada.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7658652" y="4306128"/>
            <a:ext cx="2970638" cy="855717"/>
          </a:xfrm>
          <a:custGeom>
            <a:avLst/>
            <a:gdLst/>
            <a:ahLst/>
            <a:cxnLst/>
            <a:rect r="r" b="b" t="t" l="l"/>
            <a:pathLst>
              <a:path h="855717" w="2970638">
                <a:moveTo>
                  <a:pt x="0" y="0"/>
                </a:moveTo>
                <a:lnTo>
                  <a:pt x="2970639" y="0"/>
                </a:lnTo>
                <a:lnTo>
                  <a:pt x="2970639" y="855718"/>
                </a:lnTo>
                <a:lnTo>
                  <a:pt x="0" y="85571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7670214" y="4317690"/>
            <a:ext cx="2947567" cy="832646"/>
            <a:chOff x="0" y="0"/>
            <a:chExt cx="4315968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15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29" r="0" b="-18929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70214" y="4291670"/>
            <a:ext cx="2947567" cy="858666"/>
            <a:chOff x="0" y="0"/>
            <a:chExt cx="4315968" cy="12573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15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886" r="0" b="-1688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315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Evitar la curiosidad digital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7658652" y="5172080"/>
            <a:ext cx="2970638" cy="2437745"/>
          </a:xfrm>
          <a:custGeom>
            <a:avLst/>
            <a:gdLst/>
            <a:ahLst/>
            <a:cxnLst/>
            <a:rect r="r" b="b" t="t" l="l"/>
            <a:pathLst>
              <a:path h="2437745" w="2970638">
                <a:moveTo>
                  <a:pt x="0" y="0"/>
                </a:moveTo>
                <a:lnTo>
                  <a:pt x="2970639" y="0"/>
                </a:lnTo>
                <a:lnTo>
                  <a:pt x="2970639" y="2437745"/>
                </a:lnTo>
                <a:lnTo>
                  <a:pt x="0" y="24377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7853399" y="5367834"/>
            <a:ext cx="2581203" cy="108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No explorar información 'por interés' si no hay un motivo profesional válido.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10789402" y="4306128"/>
            <a:ext cx="2970638" cy="855717"/>
          </a:xfrm>
          <a:custGeom>
            <a:avLst/>
            <a:gdLst/>
            <a:ahLst/>
            <a:cxnLst/>
            <a:rect r="r" b="b" t="t" l="l"/>
            <a:pathLst>
              <a:path h="855717" w="2970638">
                <a:moveTo>
                  <a:pt x="0" y="0"/>
                </a:moveTo>
                <a:lnTo>
                  <a:pt x="2970638" y="0"/>
                </a:lnTo>
                <a:lnTo>
                  <a:pt x="2970638" y="855718"/>
                </a:lnTo>
                <a:lnTo>
                  <a:pt x="0" y="85571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0800963" y="4317690"/>
            <a:ext cx="2947567" cy="832646"/>
            <a:chOff x="0" y="0"/>
            <a:chExt cx="4315968" cy="12192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15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29" r="0" b="-18929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800963" y="4291670"/>
            <a:ext cx="2947567" cy="858666"/>
            <a:chOff x="0" y="0"/>
            <a:chExt cx="4315968" cy="12573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15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886" r="0" b="-1688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4315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Cumplimiento de políticas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10789402" y="5172080"/>
            <a:ext cx="2970638" cy="2437745"/>
          </a:xfrm>
          <a:custGeom>
            <a:avLst/>
            <a:gdLst/>
            <a:ahLst/>
            <a:cxnLst/>
            <a:rect r="r" b="b" t="t" l="l"/>
            <a:pathLst>
              <a:path h="2437745" w="2970638">
                <a:moveTo>
                  <a:pt x="0" y="0"/>
                </a:moveTo>
                <a:lnTo>
                  <a:pt x="2970638" y="0"/>
                </a:lnTo>
                <a:lnTo>
                  <a:pt x="2970638" y="2437745"/>
                </a:lnTo>
                <a:lnTo>
                  <a:pt x="0" y="24377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0984148" y="5367834"/>
            <a:ext cx="2581203" cy="108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Seguir NDAs, normativas de la organización y cualquier marco legal aplicable.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3920151" y="4306128"/>
            <a:ext cx="2970638" cy="855717"/>
          </a:xfrm>
          <a:custGeom>
            <a:avLst/>
            <a:gdLst/>
            <a:ahLst/>
            <a:cxnLst/>
            <a:rect r="r" b="b" t="t" l="l"/>
            <a:pathLst>
              <a:path h="855717" w="2970638">
                <a:moveTo>
                  <a:pt x="0" y="0"/>
                </a:moveTo>
                <a:lnTo>
                  <a:pt x="2970638" y="0"/>
                </a:lnTo>
                <a:lnTo>
                  <a:pt x="2970638" y="855718"/>
                </a:lnTo>
                <a:lnTo>
                  <a:pt x="0" y="85571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3931713" y="4317690"/>
            <a:ext cx="2947567" cy="832646"/>
            <a:chOff x="0" y="0"/>
            <a:chExt cx="4315968" cy="12192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15968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929" r="0" b="-18929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931713" y="4291670"/>
            <a:ext cx="2947567" cy="858666"/>
            <a:chOff x="0" y="0"/>
            <a:chExt cx="4315968" cy="12573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315968" cy="1257300"/>
            </a:xfrm>
            <a:custGeom>
              <a:avLst/>
              <a:gdLst/>
              <a:ahLst/>
              <a:cxnLst/>
              <a:rect r="r" b="b" t="t" l="l"/>
              <a:pathLst>
                <a:path h="1257300" w="4315968">
                  <a:moveTo>
                    <a:pt x="0" y="0"/>
                  </a:moveTo>
                  <a:lnTo>
                    <a:pt x="4315968" y="0"/>
                  </a:lnTo>
                  <a:lnTo>
                    <a:pt x="4315968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6886" r="0" b="-1688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315968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Principio de mínimo privilegio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3920151" y="5172080"/>
            <a:ext cx="2970638" cy="2437745"/>
          </a:xfrm>
          <a:custGeom>
            <a:avLst/>
            <a:gdLst/>
            <a:ahLst/>
            <a:cxnLst/>
            <a:rect r="r" b="b" t="t" l="l"/>
            <a:pathLst>
              <a:path h="2437745" w="2970638">
                <a:moveTo>
                  <a:pt x="0" y="0"/>
                </a:moveTo>
                <a:lnTo>
                  <a:pt x="2970638" y="0"/>
                </a:lnTo>
                <a:lnTo>
                  <a:pt x="2970638" y="2437745"/>
                </a:lnTo>
                <a:lnTo>
                  <a:pt x="0" y="24377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14114897" y="5367834"/>
            <a:ext cx="2581203" cy="108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Usar solo los accesos necesarios y no solicitar privilegios innecesarios.</a:t>
            </a:r>
          </a:p>
        </p:txBody>
      </p:sp>
      <p:sp>
        <p:nvSpPr>
          <p:cNvPr name="Freeform 71" id="71"/>
          <p:cNvSpPr/>
          <p:nvPr/>
        </p:nvSpPr>
        <p:spPr>
          <a:xfrm flipH="false" flipV="false" rot="0">
            <a:off x="2499676" y="8339098"/>
            <a:ext cx="13593764" cy="919202"/>
          </a:xfrm>
          <a:custGeom>
            <a:avLst/>
            <a:gdLst/>
            <a:ahLst/>
            <a:cxnLst/>
            <a:rect r="r" b="b" t="t" l="l"/>
            <a:pathLst>
              <a:path h="919202" w="13593764">
                <a:moveTo>
                  <a:pt x="0" y="0"/>
                </a:moveTo>
                <a:lnTo>
                  <a:pt x="13593764" y="0"/>
                </a:lnTo>
                <a:lnTo>
                  <a:pt x="13593764" y="919202"/>
                </a:lnTo>
                <a:lnTo>
                  <a:pt x="0" y="91920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2" id="72"/>
          <p:cNvGrpSpPr/>
          <p:nvPr/>
        </p:nvGrpSpPr>
        <p:grpSpPr>
          <a:xfrm rot="0">
            <a:off x="2770776" y="8349166"/>
            <a:ext cx="13051609" cy="899111"/>
            <a:chOff x="0" y="0"/>
            <a:chExt cx="21945600" cy="151180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945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650" r="0" b="-232651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2770776" y="8320843"/>
            <a:ext cx="13051609" cy="927435"/>
            <a:chOff x="0" y="0"/>
            <a:chExt cx="21945600" cy="155943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945600" cy="1559433"/>
            </a:xfrm>
            <a:custGeom>
              <a:avLst/>
              <a:gdLst/>
              <a:ahLst/>
              <a:cxnLst/>
              <a:rect r="r" b="b" t="t" l="l"/>
              <a:pathLst>
                <a:path h="155943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59433"/>
                  </a:lnTo>
                  <a:lnTo>
                    <a:pt x="0" y="15594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209" r="0" b="-22420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1945600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8"/>
                </a:lnSpc>
              </a:pPr>
              <a:r>
                <a:rPr lang="en-US" sz="16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Como analista L1, vas a ser muchas veces la primera persona que ve lo que otros no ven. </a:t>
              </a:r>
              <a:r>
                <a:rPr lang="en-US" sz="16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vos depende manejar esa información con seriedad, respeto y profesionalismo.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p.37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1.5  |  Acciones permitidas vs. acciones prohibidas en el SOC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512153" y="2456408"/>
            <a:ext cx="6528451" cy="797835"/>
          </a:xfrm>
          <a:custGeom>
            <a:avLst/>
            <a:gdLst/>
            <a:ahLst/>
            <a:cxnLst/>
            <a:rect r="r" b="b" t="t" l="l"/>
            <a:pathLst>
              <a:path h="797835" w="6528451">
                <a:moveTo>
                  <a:pt x="0" y="0"/>
                </a:moveTo>
                <a:lnTo>
                  <a:pt x="6528451" y="0"/>
                </a:lnTo>
                <a:lnTo>
                  <a:pt x="6528451" y="797835"/>
                </a:lnTo>
                <a:lnTo>
                  <a:pt x="0" y="79783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521977" y="2466232"/>
            <a:ext cx="6508848" cy="778232"/>
            <a:chOff x="0" y="0"/>
            <a:chExt cx="1121664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16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2852" r="0" b="-11285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521977" y="2444123"/>
            <a:ext cx="6508848" cy="800341"/>
            <a:chOff x="0" y="0"/>
            <a:chExt cx="11216640" cy="13792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16640" cy="1379220"/>
            </a:xfrm>
            <a:custGeom>
              <a:avLst/>
              <a:gdLst/>
              <a:ahLst/>
              <a:cxnLst/>
              <a:rect r="r" b="b" t="t" l="l"/>
              <a:pathLst>
                <a:path h="13792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379220"/>
                  </a:lnTo>
                  <a:lnTo>
                    <a:pt x="0" y="1379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8463" r="0" b="-10846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1216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✔  ACCESO / ACCIÓN PERMITIDA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247396" y="2456408"/>
            <a:ext cx="6528451" cy="797835"/>
          </a:xfrm>
          <a:custGeom>
            <a:avLst/>
            <a:gdLst/>
            <a:ahLst/>
            <a:cxnLst/>
            <a:rect r="r" b="b" t="t" l="l"/>
            <a:pathLst>
              <a:path h="797835" w="6528451">
                <a:moveTo>
                  <a:pt x="0" y="0"/>
                </a:moveTo>
                <a:lnTo>
                  <a:pt x="6528451" y="0"/>
                </a:lnTo>
                <a:lnTo>
                  <a:pt x="6528451" y="797835"/>
                </a:lnTo>
                <a:lnTo>
                  <a:pt x="0" y="7978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257219" y="2466232"/>
            <a:ext cx="6508848" cy="778232"/>
            <a:chOff x="0" y="0"/>
            <a:chExt cx="112166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166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2852" r="0" b="-112852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257219" y="2444123"/>
            <a:ext cx="6508848" cy="800341"/>
            <a:chOff x="0" y="0"/>
            <a:chExt cx="11216640" cy="13792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16640" cy="1379220"/>
            </a:xfrm>
            <a:custGeom>
              <a:avLst/>
              <a:gdLst/>
              <a:ahLst/>
              <a:cxnLst/>
              <a:rect r="r" b="b" t="t" l="l"/>
              <a:pathLst>
                <a:path h="13792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379220"/>
                  </a:lnTo>
                  <a:lnTo>
                    <a:pt x="0" y="13792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8463" r="0" b="-10846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21664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✘  ACCIÓN PROHIBIDA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2512153" y="3376137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4"/>
                </a:lnTo>
                <a:lnTo>
                  <a:pt x="0" y="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705923" y="3385961"/>
            <a:ext cx="6197555" cy="806531"/>
            <a:chOff x="0" y="0"/>
            <a:chExt cx="10680192" cy="13898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705923" y="3363852"/>
            <a:ext cx="6197555" cy="828640"/>
            <a:chOff x="0" y="0"/>
            <a:chExt cx="10680192" cy="142798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E6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 Ver logs como parte del análisis asignado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9247396" y="3376137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4"/>
                </a:lnTo>
                <a:lnTo>
                  <a:pt x="0" y="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427015" y="3385961"/>
            <a:ext cx="6197555" cy="806531"/>
            <a:chOff x="0" y="0"/>
            <a:chExt cx="10680192" cy="13898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27015" y="3363852"/>
            <a:ext cx="6197555" cy="828640"/>
            <a:chOff x="0" y="0"/>
            <a:chExt cx="10680192" cy="14279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6A8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✘  Compartir capturas o logs por fuera del SOC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2512153" y="4324165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4"/>
                </a:lnTo>
                <a:lnTo>
                  <a:pt x="0" y="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2705923" y="4333988"/>
            <a:ext cx="6197555" cy="806531"/>
            <a:chOff x="0" y="0"/>
            <a:chExt cx="10680192" cy="13898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705923" y="4311880"/>
            <a:ext cx="6197555" cy="828640"/>
            <a:chOff x="0" y="0"/>
            <a:chExt cx="10680192" cy="14279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E6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 Analizar un incidente que te fue asignado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9247396" y="4324165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4"/>
                </a:lnTo>
                <a:lnTo>
                  <a:pt x="0" y="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9427015" y="4333988"/>
            <a:ext cx="6197555" cy="806531"/>
            <a:chOff x="0" y="0"/>
            <a:chExt cx="10680192" cy="138988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427015" y="4311880"/>
            <a:ext cx="6197555" cy="828640"/>
            <a:chOff x="0" y="0"/>
            <a:chExt cx="10680192" cy="142798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6A8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✘  Comentar datos sensibles con amigos o en redes sociales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2512153" y="5272193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4"/>
                </a:lnTo>
                <a:lnTo>
                  <a:pt x="0" y="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2705923" y="5282016"/>
            <a:ext cx="6197555" cy="806531"/>
            <a:chOff x="0" y="0"/>
            <a:chExt cx="10680192" cy="13898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2705923" y="5259907"/>
            <a:ext cx="6197555" cy="828640"/>
            <a:chOff x="0" y="0"/>
            <a:chExt cx="10680192" cy="14279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E6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 Reportar hallazgos al equipo / Team Lead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247396" y="5272193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4"/>
                </a:lnTo>
                <a:lnTo>
                  <a:pt x="0" y="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9427015" y="5282016"/>
            <a:ext cx="6197555" cy="806531"/>
            <a:chOff x="0" y="0"/>
            <a:chExt cx="10680192" cy="13898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427015" y="5259907"/>
            <a:ext cx="6197555" cy="828640"/>
            <a:chOff x="0" y="0"/>
            <a:chExt cx="10680192" cy="14279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6A8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✘  Investigar información por curiosidad personal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2512153" y="6220220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5"/>
                </a:lnTo>
                <a:lnTo>
                  <a:pt x="0" y="82613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2705923" y="6230044"/>
            <a:ext cx="6197555" cy="806531"/>
            <a:chOff x="0" y="0"/>
            <a:chExt cx="10680192" cy="138988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705923" y="6207935"/>
            <a:ext cx="6197555" cy="828640"/>
            <a:chOff x="0" y="0"/>
            <a:chExt cx="10680192" cy="142798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E6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 Usar herramientas según el procedimiento establecido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9247396" y="6220220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5"/>
                </a:lnTo>
                <a:lnTo>
                  <a:pt x="0" y="8261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9427015" y="6230044"/>
            <a:ext cx="6197555" cy="806531"/>
            <a:chOff x="0" y="0"/>
            <a:chExt cx="10680192" cy="138988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427015" y="6207935"/>
            <a:ext cx="6197555" cy="828640"/>
            <a:chOff x="0" y="0"/>
            <a:chExt cx="10680192" cy="1427988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6A8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✘  Copiar información a dispositivos externos no autorizados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2512153" y="7168248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4"/>
                </a:lnTo>
                <a:lnTo>
                  <a:pt x="0" y="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2705923" y="7178072"/>
            <a:ext cx="6197555" cy="806531"/>
            <a:chOff x="0" y="0"/>
            <a:chExt cx="10680192" cy="13898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2705923" y="7155963"/>
            <a:ext cx="6197555" cy="828640"/>
            <a:chOff x="0" y="0"/>
            <a:chExt cx="10680192" cy="14279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A8E6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✔  Escalar con contexto claro y documentado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9247396" y="7168248"/>
            <a:ext cx="6528451" cy="826134"/>
          </a:xfrm>
          <a:custGeom>
            <a:avLst/>
            <a:gdLst/>
            <a:ahLst/>
            <a:cxnLst/>
            <a:rect r="r" b="b" t="t" l="l"/>
            <a:pathLst>
              <a:path h="826134" w="6528451">
                <a:moveTo>
                  <a:pt x="0" y="0"/>
                </a:moveTo>
                <a:lnTo>
                  <a:pt x="6528451" y="0"/>
                </a:lnTo>
                <a:lnTo>
                  <a:pt x="6528451" y="826134"/>
                </a:lnTo>
                <a:lnTo>
                  <a:pt x="0" y="82613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9427015" y="7178072"/>
            <a:ext cx="6197555" cy="806531"/>
            <a:chOff x="0" y="0"/>
            <a:chExt cx="10680192" cy="138988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680192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9622" r="0" b="-99623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427015" y="7155963"/>
            <a:ext cx="6197555" cy="828640"/>
            <a:chOff x="0" y="0"/>
            <a:chExt cx="10680192" cy="142798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680192" cy="1427988"/>
            </a:xfrm>
            <a:custGeom>
              <a:avLst/>
              <a:gdLst/>
              <a:ahLst/>
              <a:cxnLst/>
              <a:rect r="r" b="b" t="t" l="l"/>
              <a:pathLst>
                <a:path h="14279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427988"/>
                  </a:lnTo>
                  <a:lnTo>
                    <a:pt x="0" y="14279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5732" r="0" b="-9573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10680192" cy="1466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E6A8A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✘  Acceder a información de otros equipos sin necesidad operativa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572548" y="8586454"/>
            <a:ext cx="17142904" cy="466306"/>
          </a:xfrm>
          <a:custGeom>
            <a:avLst/>
            <a:gdLst/>
            <a:ahLst/>
            <a:cxnLst/>
            <a:rect r="r" b="b" t="t" l="l"/>
            <a:pathLst>
              <a:path h="466306" w="17142904">
                <a:moveTo>
                  <a:pt x="0" y="0"/>
                </a:moveTo>
                <a:lnTo>
                  <a:pt x="17142904" y="0"/>
                </a:lnTo>
                <a:lnTo>
                  <a:pt x="17142904" y="466306"/>
                </a:lnTo>
                <a:lnTo>
                  <a:pt x="0" y="46630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914400" y="9144000"/>
            <a:ext cx="16459200" cy="544849"/>
            <a:chOff x="0" y="0"/>
            <a:chExt cx="21945600" cy="72646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945600" cy="726440"/>
            </a:xfrm>
            <a:custGeom>
              <a:avLst/>
              <a:gdLst/>
              <a:ahLst/>
              <a:cxnLst/>
              <a:rect r="r" b="b" t="t" l="l"/>
              <a:pathLst>
                <a:path h="726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26440"/>
                  </a:lnTo>
                  <a:lnTo>
                    <a:pt x="0" y="726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8227" r="0" b="-538232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14429" y="8563432"/>
            <a:ext cx="16459200" cy="580568"/>
            <a:chOff x="0" y="0"/>
            <a:chExt cx="21945600" cy="77409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1945600" cy="774096"/>
            </a:xfrm>
            <a:custGeom>
              <a:avLst/>
              <a:gdLst/>
              <a:ahLst/>
              <a:cxnLst/>
              <a:rect r="r" b="b" t="t" l="l"/>
              <a:pathLst>
                <a:path h="7740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74096"/>
                  </a:lnTo>
                  <a:lnTo>
                    <a:pt x="0" y="774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02400" r="0" b="-50240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21945600" cy="821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i="true">
                  <a:solidFill>
                    <a:srgbClr val="FFCCE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"Ser analista SOC no solo es detectar amenazas. Es también proteger la confianza de toda una organización."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p.38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1.5  |  Protocolos de confidencialidad en el SOC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73936"/>
            <a:ext cx="17007840" cy="1133856"/>
            <a:chOff x="0" y="0"/>
            <a:chExt cx="22677120" cy="1511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51" y="2067832"/>
            <a:ext cx="17007840" cy="1169575"/>
            <a:chOff x="0" y="0"/>
            <a:chExt cx="22677120" cy="15594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559433"/>
            </a:xfrm>
            <a:custGeom>
              <a:avLst/>
              <a:gdLst/>
              <a:ahLst/>
              <a:cxnLst/>
              <a:rect r="r" b="b" t="t" l="l"/>
              <a:pathLst>
                <a:path h="1559433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559433"/>
                  </a:lnTo>
                  <a:lnTo>
                    <a:pt x="0" y="15594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3349" r="0" b="-23334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6070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protocolos de confidencialidad son el conjunto de normas y procedimientos que regulan cómo debe manejarse la información dentro de un SOC. Son necesarios porque el SOC es un entorno de </a:t>
              </a: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alta exposición informativa</a:t>
              </a: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: una mala práctica puede poner en riesgo la seguridad, el cumplimiento normativo y la reputación de la organización.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06349" y="3661556"/>
            <a:ext cx="5142915" cy="694686"/>
          </a:xfrm>
          <a:custGeom>
            <a:avLst/>
            <a:gdLst/>
            <a:ahLst/>
            <a:cxnLst/>
            <a:rect r="r" b="b" t="t" l="l"/>
            <a:pathLst>
              <a:path h="694686" w="5142915">
                <a:moveTo>
                  <a:pt x="0" y="0"/>
                </a:moveTo>
                <a:lnTo>
                  <a:pt x="5142915" y="0"/>
                </a:lnTo>
                <a:lnTo>
                  <a:pt x="5142915" y="694686"/>
                </a:lnTo>
                <a:lnTo>
                  <a:pt x="0" y="69468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318003" y="3673209"/>
            <a:ext cx="5119660" cy="671431"/>
            <a:chOff x="0" y="0"/>
            <a:chExt cx="743712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7120" cy="975360"/>
            </a:xfrm>
            <a:custGeom>
              <a:avLst/>
              <a:gdLst/>
              <a:ahLst/>
              <a:cxnLst/>
              <a:rect r="r" b="b" t="t" l="l"/>
              <a:pathLst>
                <a:path h="9753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470" r="0" b="-9847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18003" y="3646982"/>
            <a:ext cx="5119660" cy="697659"/>
            <a:chOff x="0" y="0"/>
            <a:chExt cx="7437120" cy="10134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71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2987" r="0" b="-9298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4371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NDAs — Acuerdos de confidencialidad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306349" y="4366558"/>
            <a:ext cx="5142915" cy="1584332"/>
          </a:xfrm>
          <a:custGeom>
            <a:avLst/>
            <a:gdLst/>
            <a:ahLst/>
            <a:cxnLst/>
            <a:rect r="r" b="b" t="t" l="l"/>
            <a:pathLst>
              <a:path h="1584332" w="5142915">
                <a:moveTo>
                  <a:pt x="0" y="0"/>
                </a:moveTo>
                <a:lnTo>
                  <a:pt x="5142915" y="0"/>
                </a:lnTo>
                <a:lnTo>
                  <a:pt x="5142915" y="1584332"/>
                </a:lnTo>
                <a:lnTo>
                  <a:pt x="0" y="15843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544611" y="4547215"/>
            <a:ext cx="4666444" cy="94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74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Firmados al ingresar al equipo. Establecen obligaciones legales sobre la información manejada.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711367" y="3661556"/>
            <a:ext cx="5142915" cy="694686"/>
          </a:xfrm>
          <a:custGeom>
            <a:avLst/>
            <a:gdLst/>
            <a:ahLst/>
            <a:cxnLst/>
            <a:rect r="r" b="b" t="t" l="l"/>
            <a:pathLst>
              <a:path h="694686" w="5142915">
                <a:moveTo>
                  <a:pt x="0" y="0"/>
                </a:moveTo>
                <a:lnTo>
                  <a:pt x="5142915" y="0"/>
                </a:lnTo>
                <a:lnTo>
                  <a:pt x="5142915" y="694686"/>
                </a:lnTo>
                <a:lnTo>
                  <a:pt x="0" y="69468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6723021" y="3673209"/>
            <a:ext cx="5119660" cy="671431"/>
            <a:chOff x="0" y="0"/>
            <a:chExt cx="7437120" cy="975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37120" cy="975360"/>
            </a:xfrm>
            <a:custGeom>
              <a:avLst/>
              <a:gdLst/>
              <a:ahLst/>
              <a:cxnLst/>
              <a:rect r="r" b="b" t="t" l="l"/>
              <a:pathLst>
                <a:path h="9753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470" r="0" b="-9847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723021" y="3646982"/>
            <a:ext cx="5119660" cy="697659"/>
            <a:chOff x="0" y="0"/>
            <a:chExt cx="7437120" cy="10134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371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2987" r="0" b="-9298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4371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Clasificación de la información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711367" y="4366558"/>
            <a:ext cx="5142915" cy="1584332"/>
          </a:xfrm>
          <a:custGeom>
            <a:avLst/>
            <a:gdLst/>
            <a:ahLst/>
            <a:cxnLst/>
            <a:rect r="r" b="b" t="t" l="l"/>
            <a:pathLst>
              <a:path h="1584332" w="5142915">
                <a:moveTo>
                  <a:pt x="0" y="0"/>
                </a:moveTo>
                <a:lnTo>
                  <a:pt x="5142915" y="0"/>
                </a:lnTo>
                <a:lnTo>
                  <a:pt x="5142915" y="1584332"/>
                </a:lnTo>
                <a:lnTo>
                  <a:pt x="0" y="15843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949629" y="4547215"/>
            <a:ext cx="4666444" cy="94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74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Define qué es 'confidencial', 'interno' o 'público'. No toda la información tiene el mismo nivel de sensibilidad.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2116385" y="3661556"/>
            <a:ext cx="5142915" cy="694686"/>
          </a:xfrm>
          <a:custGeom>
            <a:avLst/>
            <a:gdLst/>
            <a:ahLst/>
            <a:cxnLst/>
            <a:rect r="r" b="b" t="t" l="l"/>
            <a:pathLst>
              <a:path h="694686" w="5142915">
                <a:moveTo>
                  <a:pt x="0" y="0"/>
                </a:moveTo>
                <a:lnTo>
                  <a:pt x="5142915" y="0"/>
                </a:lnTo>
                <a:lnTo>
                  <a:pt x="5142915" y="694686"/>
                </a:lnTo>
                <a:lnTo>
                  <a:pt x="0" y="69468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2128039" y="3673209"/>
            <a:ext cx="5119660" cy="671431"/>
            <a:chOff x="0" y="0"/>
            <a:chExt cx="7437120" cy="975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37120" cy="975360"/>
            </a:xfrm>
            <a:custGeom>
              <a:avLst/>
              <a:gdLst/>
              <a:ahLst/>
              <a:cxnLst/>
              <a:rect r="r" b="b" t="t" l="l"/>
              <a:pathLst>
                <a:path h="9753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470" r="0" b="-9847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128039" y="3646982"/>
            <a:ext cx="5119660" cy="697659"/>
            <a:chOff x="0" y="0"/>
            <a:chExt cx="7437120" cy="10134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371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2987" r="0" b="-9298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4371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Reglas de acceso y mínimo privilegio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2116385" y="4366558"/>
            <a:ext cx="5142915" cy="1584332"/>
          </a:xfrm>
          <a:custGeom>
            <a:avLst/>
            <a:gdLst/>
            <a:ahLst/>
            <a:cxnLst/>
            <a:rect r="r" b="b" t="t" l="l"/>
            <a:pathLst>
              <a:path h="1584332" w="5142915">
                <a:moveTo>
                  <a:pt x="0" y="0"/>
                </a:moveTo>
                <a:lnTo>
                  <a:pt x="5142915" y="0"/>
                </a:lnTo>
                <a:lnTo>
                  <a:pt x="5142915" y="1584332"/>
                </a:lnTo>
                <a:lnTo>
                  <a:pt x="0" y="15843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354647" y="4547215"/>
            <a:ext cx="4666444" cy="641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74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Se accede solo a lo necesario para la tarea. No se investiga ni explora información por curiosidad.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306349" y="6045135"/>
            <a:ext cx="5142915" cy="694686"/>
          </a:xfrm>
          <a:custGeom>
            <a:avLst/>
            <a:gdLst/>
            <a:ahLst/>
            <a:cxnLst/>
            <a:rect r="r" b="b" t="t" l="l"/>
            <a:pathLst>
              <a:path h="694686" w="5142915">
                <a:moveTo>
                  <a:pt x="0" y="0"/>
                </a:moveTo>
                <a:lnTo>
                  <a:pt x="5142915" y="0"/>
                </a:lnTo>
                <a:lnTo>
                  <a:pt x="5142915" y="694686"/>
                </a:lnTo>
                <a:lnTo>
                  <a:pt x="0" y="69468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318003" y="6056789"/>
            <a:ext cx="5119660" cy="671431"/>
            <a:chOff x="0" y="0"/>
            <a:chExt cx="7437120" cy="975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37120" cy="975360"/>
            </a:xfrm>
            <a:custGeom>
              <a:avLst/>
              <a:gdLst/>
              <a:ahLst/>
              <a:cxnLst/>
              <a:rect r="r" b="b" t="t" l="l"/>
              <a:pathLst>
                <a:path h="9753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470" r="0" b="-9847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18003" y="6030561"/>
            <a:ext cx="5119660" cy="697659"/>
            <a:chOff x="0" y="0"/>
            <a:chExt cx="7437120" cy="10134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371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2987" r="0" b="-929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4371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de dispositivos y medios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306349" y="6750137"/>
            <a:ext cx="5142915" cy="1584332"/>
          </a:xfrm>
          <a:custGeom>
            <a:avLst/>
            <a:gdLst/>
            <a:ahLst/>
            <a:cxnLst/>
            <a:rect r="r" b="b" t="t" l="l"/>
            <a:pathLst>
              <a:path h="1584332" w="5142915">
                <a:moveTo>
                  <a:pt x="0" y="0"/>
                </a:moveTo>
                <a:lnTo>
                  <a:pt x="5142915" y="0"/>
                </a:lnTo>
                <a:lnTo>
                  <a:pt x="5142915" y="1584332"/>
                </a:lnTo>
                <a:lnTo>
                  <a:pt x="0" y="15843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44611" y="6930794"/>
            <a:ext cx="4666444" cy="94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74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Prohibido copiar datos a dispositivos externos, hacer capturas no autorizadas o reenviar info por canales no oficiales.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6711367" y="6045135"/>
            <a:ext cx="5142915" cy="694686"/>
          </a:xfrm>
          <a:custGeom>
            <a:avLst/>
            <a:gdLst/>
            <a:ahLst/>
            <a:cxnLst/>
            <a:rect r="r" b="b" t="t" l="l"/>
            <a:pathLst>
              <a:path h="694686" w="5142915">
                <a:moveTo>
                  <a:pt x="0" y="0"/>
                </a:moveTo>
                <a:lnTo>
                  <a:pt x="5142915" y="0"/>
                </a:lnTo>
                <a:lnTo>
                  <a:pt x="5142915" y="694686"/>
                </a:lnTo>
                <a:lnTo>
                  <a:pt x="0" y="69468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6723021" y="6056789"/>
            <a:ext cx="5119660" cy="671431"/>
            <a:chOff x="0" y="0"/>
            <a:chExt cx="7437120" cy="9753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437120" cy="975360"/>
            </a:xfrm>
            <a:custGeom>
              <a:avLst/>
              <a:gdLst/>
              <a:ahLst/>
              <a:cxnLst/>
              <a:rect r="r" b="b" t="t" l="l"/>
              <a:pathLst>
                <a:path h="9753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470" r="0" b="-9847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723021" y="6030561"/>
            <a:ext cx="5119660" cy="697659"/>
            <a:chOff x="0" y="0"/>
            <a:chExt cx="7437120" cy="10134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4371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2987" r="0" b="-9298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4371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Canales autorizados de comunicación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6711367" y="6750137"/>
            <a:ext cx="5142915" cy="1584332"/>
          </a:xfrm>
          <a:custGeom>
            <a:avLst/>
            <a:gdLst/>
            <a:ahLst/>
            <a:cxnLst/>
            <a:rect r="r" b="b" t="t" l="l"/>
            <a:pathLst>
              <a:path h="1584332" w="5142915">
                <a:moveTo>
                  <a:pt x="0" y="0"/>
                </a:moveTo>
                <a:lnTo>
                  <a:pt x="5142915" y="0"/>
                </a:lnTo>
                <a:lnTo>
                  <a:pt x="5142915" y="1584332"/>
                </a:lnTo>
                <a:lnTo>
                  <a:pt x="0" y="15843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6949629" y="6930794"/>
            <a:ext cx="4666444" cy="94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74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Toda información sensible debe compartirse únicamente por canales corporativos seguros y autorizados.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2116385" y="6045135"/>
            <a:ext cx="5142915" cy="694686"/>
          </a:xfrm>
          <a:custGeom>
            <a:avLst/>
            <a:gdLst/>
            <a:ahLst/>
            <a:cxnLst/>
            <a:rect r="r" b="b" t="t" l="l"/>
            <a:pathLst>
              <a:path h="694686" w="5142915">
                <a:moveTo>
                  <a:pt x="0" y="0"/>
                </a:moveTo>
                <a:lnTo>
                  <a:pt x="5142915" y="0"/>
                </a:lnTo>
                <a:lnTo>
                  <a:pt x="5142915" y="694686"/>
                </a:lnTo>
                <a:lnTo>
                  <a:pt x="0" y="69468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128039" y="6056789"/>
            <a:ext cx="5119660" cy="671431"/>
            <a:chOff x="0" y="0"/>
            <a:chExt cx="7437120" cy="9753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437120" cy="975360"/>
            </a:xfrm>
            <a:custGeom>
              <a:avLst/>
              <a:gdLst/>
              <a:ahLst/>
              <a:cxnLst/>
              <a:rect r="r" b="b" t="t" l="l"/>
              <a:pathLst>
                <a:path h="9753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8470" r="0" b="-9847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128039" y="6030561"/>
            <a:ext cx="5119660" cy="697659"/>
            <a:chOff x="0" y="0"/>
            <a:chExt cx="7437120" cy="10134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437120" cy="1013460"/>
            </a:xfrm>
            <a:custGeom>
              <a:avLst/>
              <a:gdLst/>
              <a:ahLst/>
              <a:cxnLst/>
              <a:rect r="r" b="b" t="t" l="l"/>
              <a:pathLst>
                <a:path h="10134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2987" r="0" b="-9298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43712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Manejo de incidentes internos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2116385" y="6750137"/>
            <a:ext cx="5142915" cy="1584332"/>
          </a:xfrm>
          <a:custGeom>
            <a:avLst/>
            <a:gdLst/>
            <a:ahLst/>
            <a:cxnLst/>
            <a:rect r="r" b="b" t="t" l="l"/>
            <a:pathLst>
              <a:path h="1584332" w="5142915">
                <a:moveTo>
                  <a:pt x="0" y="0"/>
                </a:moveTo>
                <a:lnTo>
                  <a:pt x="5142915" y="0"/>
                </a:lnTo>
                <a:lnTo>
                  <a:pt x="5142915" y="1584332"/>
                </a:lnTo>
                <a:lnTo>
                  <a:pt x="0" y="158433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12354647" y="6930794"/>
            <a:ext cx="4666444" cy="946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1743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Si hay sospecha de violación de confidencialidad, el protocolo define cómo actuar, a quién informar y qué documentar.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p.39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1.5  |  Importancia del registro y la trazabilidad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73936"/>
            <a:ext cx="17007840" cy="1005840"/>
            <a:chOff x="0" y="0"/>
            <a:chExt cx="2267712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9245" r="0" b="-27924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0080" y="1738217"/>
            <a:ext cx="17007840" cy="1041559"/>
            <a:chOff x="0" y="0"/>
            <a:chExt cx="22677120" cy="13887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388745"/>
            </a:xfrm>
            <a:custGeom>
              <a:avLst/>
              <a:gdLst/>
              <a:ahLst/>
              <a:cxnLst/>
              <a:rect r="r" b="b" t="t" l="l"/>
              <a:pathLst>
                <a:path h="138874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8175" r="0" b="-2681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Registrar</a:t>
              </a:r>
              <a:r>
                <a:rPr lang="en-US" sz="21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significa documentar todo lo que ocurre durante el ciclo de vida de una alerta o incidente. </a:t>
              </a:r>
              <a:r>
                <a:rPr lang="en-US" sz="21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Trazabilidad</a:t>
              </a:r>
              <a:r>
                <a:rPr lang="en-US" sz="21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es la capacidad de reconstruir cada paso del proceso para auditar, responder a reguladores o mejorar procedimientos.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34278" y="3264176"/>
            <a:ext cx="2814128" cy="963853"/>
          </a:xfrm>
          <a:custGeom>
            <a:avLst/>
            <a:gdLst/>
            <a:ahLst/>
            <a:cxnLst/>
            <a:rect r="r" b="b" t="t" l="l"/>
            <a:pathLst>
              <a:path h="963853" w="2814128">
                <a:moveTo>
                  <a:pt x="0" y="0"/>
                </a:moveTo>
                <a:lnTo>
                  <a:pt x="2814127" y="0"/>
                </a:lnTo>
                <a:lnTo>
                  <a:pt x="2814127" y="963853"/>
                </a:lnTo>
                <a:lnTo>
                  <a:pt x="0" y="9638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645546" y="3275444"/>
            <a:ext cx="2791642" cy="941368"/>
            <a:chOff x="0" y="0"/>
            <a:chExt cx="4194048" cy="14142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94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43" r="0" b="-7742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45546" y="3250084"/>
            <a:ext cx="2791642" cy="966728"/>
            <a:chOff x="0" y="0"/>
            <a:chExt cx="4194048" cy="14523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94048" cy="1452372"/>
            </a:xfrm>
            <a:custGeom>
              <a:avLst/>
              <a:gdLst/>
              <a:ahLst/>
              <a:cxnLst/>
              <a:rect r="r" b="b" t="t" l="l"/>
              <a:pathLst>
                <a:path h="14523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52372"/>
                  </a:lnTo>
                  <a:lnTo>
                    <a:pt x="0" y="14523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267" r="0" b="-626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194048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Evita errores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repeticiones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634278" y="4238004"/>
            <a:ext cx="2814128" cy="2099987"/>
          </a:xfrm>
          <a:custGeom>
            <a:avLst/>
            <a:gdLst/>
            <a:ahLst/>
            <a:cxnLst/>
            <a:rect r="r" b="b" t="t" l="l"/>
            <a:pathLst>
              <a:path h="2099987" w="2814128">
                <a:moveTo>
                  <a:pt x="0" y="0"/>
                </a:moveTo>
                <a:lnTo>
                  <a:pt x="2814127" y="0"/>
                </a:lnTo>
                <a:lnTo>
                  <a:pt x="2814127" y="2099987"/>
                </a:lnTo>
                <a:lnTo>
                  <a:pt x="0" y="2099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824081" y="4384409"/>
            <a:ext cx="2434571" cy="157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59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Si el análisis no se documenta, el siguiente analista podría repetir el trabajo o pasar por alto un patrón ya identificado.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4685607" y="3264176"/>
            <a:ext cx="2814128" cy="963853"/>
          </a:xfrm>
          <a:custGeom>
            <a:avLst/>
            <a:gdLst/>
            <a:ahLst/>
            <a:cxnLst/>
            <a:rect r="r" b="b" t="t" l="l"/>
            <a:pathLst>
              <a:path h="963853" w="2814128">
                <a:moveTo>
                  <a:pt x="0" y="0"/>
                </a:moveTo>
                <a:lnTo>
                  <a:pt x="2814128" y="0"/>
                </a:lnTo>
                <a:lnTo>
                  <a:pt x="2814128" y="963853"/>
                </a:lnTo>
                <a:lnTo>
                  <a:pt x="0" y="96385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4696875" y="3275444"/>
            <a:ext cx="2791642" cy="941368"/>
            <a:chOff x="0" y="0"/>
            <a:chExt cx="4194048" cy="141427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94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43" r="0" b="-7742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696875" y="3250084"/>
            <a:ext cx="2791642" cy="966728"/>
            <a:chOff x="0" y="0"/>
            <a:chExt cx="4194048" cy="14523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94048" cy="1452372"/>
            </a:xfrm>
            <a:custGeom>
              <a:avLst/>
              <a:gdLst/>
              <a:ahLst/>
              <a:cxnLst/>
              <a:rect r="r" b="b" t="t" l="l"/>
              <a:pathLst>
                <a:path h="14523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52372"/>
                  </a:lnTo>
                  <a:lnTo>
                    <a:pt x="0" y="14523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267" r="0" b="-626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194048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Permite respuesta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coordinada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4685607" y="4238004"/>
            <a:ext cx="2814128" cy="2099987"/>
          </a:xfrm>
          <a:custGeom>
            <a:avLst/>
            <a:gdLst/>
            <a:ahLst/>
            <a:cxnLst/>
            <a:rect r="r" b="b" t="t" l="l"/>
            <a:pathLst>
              <a:path h="2099987" w="2814128">
                <a:moveTo>
                  <a:pt x="0" y="0"/>
                </a:moveTo>
                <a:lnTo>
                  <a:pt x="2814128" y="0"/>
                </a:lnTo>
                <a:lnTo>
                  <a:pt x="2814128" y="2099987"/>
                </a:lnTo>
                <a:lnTo>
                  <a:pt x="0" y="2099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4875411" y="4384409"/>
            <a:ext cx="2434571" cy="157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59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 un equipo 24/7, los turnos cambian constantemente. La única forma de mantener el contexto es a través de registros detallados.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7736936" y="3264176"/>
            <a:ext cx="2814128" cy="963853"/>
          </a:xfrm>
          <a:custGeom>
            <a:avLst/>
            <a:gdLst/>
            <a:ahLst/>
            <a:cxnLst/>
            <a:rect r="r" b="b" t="t" l="l"/>
            <a:pathLst>
              <a:path h="963853" w="2814128">
                <a:moveTo>
                  <a:pt x="0" y="0"/>
                </a:moveTo>
                <a:lnTo>
                  <a:pt x="2814128" y="0"/>
                </a:lnTo>
                <a:lnTo>
                  <a:pt x="2814128" y="963853"/>
                </a:lnTo>
                <a:lnTo>
                  <a:pt x="0" y="96385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748205" y="3275444"/>
            <a:ext cx="2791642" cy="941368"/>
            <a:chOff x="0" y="0"/>
            <a:chExt cx="4194048" cy="14142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194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43" r="0" b="-774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48205" y="3250084"/>
            <a:ext cx="2791642" cy="966728"/>
            <a:chOff x="0" y="0"/>
            <a:chExt cx="4194048" cy="14523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94048" cy="1452372"/>
            </a:xfrm>
            <a:custGeom>
              <a:avLst/>
              <a:gdLst/>
              <a:ahLst/>
              <a:cxnLst/>
              <a:rect r="r" b="b" t="t" l="l"/>
              <a:pathLst>
                <a:path h="14523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52372"/>
                  </a:lnTo>
                  <a:lnTo>
                    <a:pt x="0" y="14523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267" r="0" b="-626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194048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Facilita auditorías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compliance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7736936" y="4238004"/>
            <a:ext cx="2814128" cy="2099987"/>
          </a:xfrm>
          <a:custGeom>
            <a:avLst/>
            <a:gdLst/>
            <a:ahLst/>
            <a:cxnLst/>
            <a:rect r="r" b="b" t="t" l="l"/>
            <a:pathLst>
              <a:path h="2099987" w="2814128">
                <a:moveTo>
                  <a:pt x="0" y="0"/>
                </a:moveTo>
                <a:lnTo>
                  <a:pt x="2814128" y="0"/>
                </a:lnTo>
                <a:lnTo>
                  <a:pt x="2814128" y="2099987"/>
                </a:lnTo>
                <a:lnTo>
                  <a:pt x="0" y="2099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7926740" y="4384409"/>
            <a:ext cx="2434571" cy="126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59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Marcos como ISO 27001, GDPR y NIST exigen registros completos de incidentes de seguridad.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0788265" y="3264176"/>
            <a:ext cx="2814128" cy="963853"/>
          </a:xfrm>
          <a:custGeom>
            <a:avLst/>
            <a:gdLst/>
            <a:ahLst/>
            <a:cxnLst/>
            <a:rect r="r" b="b" t="t" l="l"/>
            <a:pathLst>
              <a:path h="963853" w="2814128">
                <a:moveTo>
                  <a:pt x="0" y="0"/>
                </a:moveTo>
                <a:lnTo>
                  <a:pt x="2814128" y="0"/>
                </a:lnTo>
                <a:lnTo>
                  <a:pt x="2814128" y="963853"/>
                </a:lnTo>
                <a:lnTo>
                  <a:pt x="0" y="96385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0799534" y="3275444"/>
            <a:ext cx="2791642" cy="941368"/>
            <a:chOff x="0" y="0"/>
            <a:chExt cx="4194048" cy="14142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94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43" r="0" b="-7742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799534" y="3250084"/>
            <a:ext cx="2791642" cy="966728"/>
            <a:chOff x="0" y="0"/>
            <a:chExt cx="4194048" cy="14523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194048" cy="1452372"/>
            </a:xfrm>
            <a:custGeom>
              <a:avLst/>
              <a:gdLst/>
              <a:ahLst/>
              <a:cxnLst/>
              <a:rect r="r" b="b" t="t" l="l"/>
              <a:pathLst>
                <a:path h="14523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52372"/>
                  </a:lnTo>
                  <a:lnTo>
                    <a:pt x="0" y="14523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267" r="0" b="-626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4194048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Protege al equipo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la organización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0788265" y="4238004"/>
            <a:ext cx="2814128" cy="2099987"/>
          </a:xfrm>
          <a:custGeom>
            <a:avLst/>
            <a:gdLst/>
            <a:ahLst/>
            <a:cxnLst/>
            <a:rect r="r" b="b" t="t" l="l"/>
            <a:pathLst>
              <a:path h="2099987" w="2814128">
                <a:moveTo>
                  <a:pt x="0" y="0"/>
                </a:moveTo>
                <a:lnTo>
                  <a:pt x="2814128" y="0"/>
                </a:lnTo>
                <a:lnTo>
                  <a:pt x="2814128" y="2099987"/>
                </a:lnTo>
                <a:lnTo>
                  <a:pt x="0" y="2099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0978069" y="4384409"/>
            <a:ext cx="2434571" cy="1263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59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Si algo sale mal, el registro sirve para demostrar que se actuó con criterio y dentro del protocolo.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13839595" y="3264176"/>
            <a:ext cx="2814128" cy="963853"/>
          </a:xfrm>
          <a:custGeom>
            <a:avLst/>
            <a:gdLst/>
            <a:ahLst/>
            <a:cxnLst/>
            <a:rect r="r" b="b" t="t" l="l"/>
            <a:pathLst>
              <a:path h="963853" w="2814128">
                <a:moveTo>
                  <a:pt x="0" y="0"/>
                </a:moveTo>
                <a:lnTo>
                  <a:pt x="2814127" y="0"/>
                </a:lnTo>
                <a:lnTo>
                  <a:pt x="2814127" y="963853"/>
                </a:lnTo>
                <a:lnTo>
                  <a:pt x="0" y="9638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3850863" y="3275444"/>
            <a:ext cx="2791642" cy="941368"/>
            <a:chOff x="0" y="0"/>
            <a:chExt cx="4194048" cy="14142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94048" cy="1414272"/>
            </a:xfrm>
            <a:custGeom>
              <a:avLst/>
              <a:gdLst/>
              <a:ahLst/>
              <a:cxnLst/>
              <a:rect r="r" b="b" t="t" l="l"/>
              <a:pathLst>
                <a:path h="14142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7743" r="0" b="-7742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850863" y="3250084"/>
            <a:ext cx="2791642" cy="966728"/>
            <a:chOff x="0" y="0"/>
            <a:chExt cx="4194048" cy="14523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94048" cy="1452372"/>
            </a:xfrm>
            <a:custGeom>
              <a:avLst/>
              <a:gdLst/>
              <a:ahLst/>
              <a:cxnLst/>
              <a:rect r="r" b="b" t="t" l="l"/>
              <a:pathLst>
                <a:path h="1452372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1452372"/>
                  </a:lnTo>
                  <a:lnTo>
                    <a:pt x="0" y="14523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267" r="0" b="-626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4194048" cy="1490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Mejora procesos</a:t>
              </a:r>
            </a:p>
            <a:p>
              <a:pPr algn="ctr">
                <a:lnSpc>
                  <a:spcPts val="2040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 detecciones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3839595" y="4238004"/>
            <a:ext cx="2814128" cy="2099987"/>
          </a:xfrm>
          <a:custGeom>
            <a:avLst/>
            <a:gdLst/>
            <a:ahLst/>
            <a:cxnLst/>
            <a:rect r="r" b="b" t="t" l="l"/>
            <a:pathLst>
              <a:path h="2099987" w="2814128">
                <a:moveTo>
                  <a:pt x="0" y="0"/>
                </a:moveTo>
                <a:lnTo>
                  <a:pt x="2814127" y="0"/>
                </a:lnTo>
                <a:lnTo>
                  <a:pt x="2814127" y="2099987"/>
                </a:lnTo>
                <a:lnTo>
                  <a:pt x="0" y="2099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4029398" y="4384409"/>
            <a:ext cx="2434571" cy="1577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"/>
              </a:lnSpc>
            </a:pPr>
            <a:r>
              <a:rPr lang="en-US" sz="159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La revisión de registros permite encontrar cuellos de botella, detectar falsas alarmas frecuentes y afinar las reglas del SIEM.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40080" y="6675120"/>
            <a:ext cx="17007840" cy="585216"/>
            <a:chOff x="0" y="0"/>
            <a:chExt cx="22677120" cy="78028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677120" cy="780288"/>
            </a:xfrm>
            <a:custGeom>
              <a:avLst/>
              <a:gdLst/>
              <a:ahLst/>
              <a:cxnLst/>
              <a:rect r="r" b="b" t="t" l="l"/>
              <a:pathLst>
                <a:path h="78028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5890" r="0" b="-51589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40080" y="6639401"/>
            <a:ext cx="17007840" cy="620935"/>
            <a:chOff x="0" y="0"/>
            <a:chExt cx="22677120" cy="82791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2677120" cy="827913"/>
            </a:xfrm>
            <a:custGeom>
              <a:avLst/>
              <a:gdLst/>
              <a:ahLst/>
              <a:cxnLst/>
              <a:rect r="r" b="b" t="t" l="l"/>
              <a:pathLst>
                <a:path h="827913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708" r="0" b="-48370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22677120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¿Qué se registra normalmente?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28700" y="7498461"/>
            <a:ext cx="8412480" cy="1379389"/>
            <a:chOff x="0" y="0"/>
            <a:chExt cx="11216640" cy="183918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216640" cy="1839186"/>
            </a:xfrm>
            <a:custGeom>
              <a:avLst/>
              <a:gdLst/>
              <a:ahLst/>
              <a:cxnLst/>
              <a:rect r="r" b="b" t="t" l="l"/>
              <a:pathLst>
                <a:path h="183918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39186"/>
                  </a:lnTo>
                  <a:lnTo>
                    <a:pt x="0" y="183918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4934" r="0" b="-10273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1216640" cy="1877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Hora de la alerta y quién la recibió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Tipo de incidente y clasificación asignada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Acciones tomadas (consultas, bloqueos, correlaciones)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Herramientas utilizadas durante el análisis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571383" y="7498461"/>
            <a:ext cx="8412480" cy="1379389"/>
            <a:chOff x="0" y="0"/>
            <a:chExt cx="11216640" cy="183918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1216640" cy="1839186"/>
            </a:xfrm>
            <a:custGeom>
              <a:avLst/>
              <a:gdLst/>
              <a:ahLst/>
              <a:cxnLst/>
              <a:rect r="r" b="b" t="t" l="l"/>
              <a:pathLst>
                <a:path h="1839186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39186"/>
                  </a:lnTo>
                  <a:lnTo>
                    <a:pt x="0" y="183918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4934" r="0" b="-10273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1216640" cy="18772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Justificación de las decisiones tomadas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quién se escaló, cuándo y con qué datos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Resultado final y lecciones aprendidas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DAHTbVDi7pY</dc:identifier>
  <dcterms:modified xsi:type="dcterms:W3CDTF">2011-08-01T06:04:30Z</dcterms:modified>
  <cp:revision>1</cp:revision>
  <dc:title>Modulo 01 - Modern SOC Operations</dc:title>
</cp:coreProperties>
</file>