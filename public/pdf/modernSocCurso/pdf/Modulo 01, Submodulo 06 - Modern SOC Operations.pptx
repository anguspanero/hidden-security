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1"/>
  </p:notesMasterIdLst>
  <p:sldIdLst>
    <p:sldId id="256" r:id="rId6"/>
    <p:sldId id="257" r:id="rId7"/>
    <p:sldId id="258" r:id="rId8"/>
    <p:sldId id="259" r:id="rId9"/>
    <p:sldId id="260" r:id="rId10"/>
  </p:sldIdLst>
  <p:sldSz cx="18288000" cy="10287000"/>
  <p:notesSz cx="6858000" cy="9144000"/>
  <p:embeddedFontLst>
    <p:embeddedFont>
      <p:font typeface="Calibri (MS) Bold" charset="1" panose="020F0702030404030204"/>
      <p:regular r:id="rId14"/>
    </p:embeddedFont>
    <p:embeddedFont>
      <p:font typeface="Calibri (MS)" charset="1" panose="020F0502020204030204"/>
      <p:regular r:id="rId15"/>
    </p:embeddedFont>
    <p:embeddedFont>
      <p:font typeface="Calibri (MS) Italics" charset="1" panose="020F05020202040A02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notesMasters/notesMaster1.xml" Type="http://schemas.openxmlformats.org/officeDocument/2006/relationships/notesMaster"/><Relationship Id="rId12" Target="theme/theme2.xml" Type="http://schemas.openxmlformats.org/officeDocument/2006/relationships/theme"/><Relationship Id="rId13" Target="notesSlides/notesSlide1.xml" Type="http://schemas.openxmlformats.org/officeDocument/2006/relationships/notesSlide"/><Relationship Id="rId14" Target="fonts/font14.fntdata" Type="http://schemas.openxmlformats.org/officeDocument/2006/relationships/font"/><Relationship Id="rId15" Target="fonts/font15.fntdata" Type="http://schemas.openxmlformats.org/officeDocument/2006/relationships/font"/><Relationship Id="rId16" Target="notesSlides/notesSlide2.xml" Type="http://schemas.openxmlformats.org/officeDocument/2006/relationships/notesSlide"/><Relationship Id="rId17" Target="notesSlides/notesSlide3.xml" Type="http://schemas.openxmlformats.org/officeDocument/2006/relationships/notesSlide"/><Relationship Id="rId18" Target="fonts/font18.fntdata" Type="http://schemas.openxmlformats.org/officeDocument/2006/relationships/font"/><Relationship Id="rId19" Target="notesSlides/notesSlide4.xml" Type="http://schemas.openxmlformats.org/officeDocument/2006/relationships/notesSlide"/><Relationship Id="rId2" Target="presProps.xml" Type="http://schemas.openxmlformats.org/officeDocument/2006/relationships/presProps"/><Relationship Id="rId20" Target="notesSlides/notesSlide5.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Introducí esta última sección motivacionalmente. Podés decir: 'Estamos terminando el módulo. Antes de cerrar, quiero mostrarte a dónde podés llegar desde este punto de partida. El rol L1 es una puerta de entrada, no un techo.'</a:t>
            </a:r>
          </a:p>
          <a:p>
            <a:r>
              <a:rPr lang="en-US"/>
              <a:t>40</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Este slide es motivacional pero también realista. El crecimiento en ciberseguridad es gradual y requiere tiempo. Pero partir desde el SOC L1 es una base sólida porque te da visibilidad de toda la operación de seguridad antes de especializarte. Muchos de los mejores profesionales del sector empezaron exactamente aquí.</a:t>
            </a:r>
          </a:p>
          <a:p>
            <a:r>
              <a:rPr lang="en-US"/>
              <a:t>41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Aclará que no todas las organizaciones exigen estas certificaciones, pero sí pueden marcar la diferencia en un proceso de selección. La BTL1 (Blue Team Level 1) es especialmente relevante para alguien que está comenzando en SOC, ya que tiene enfoque práctico orientado a operaciones defensivas.</a:t>
            </a:r>
          </a:p>
          <a:p>
            <a:r>
              <a:rPr lang="en-US"/>
              <a:t>42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Este slide muestra el panorama completo de posibilidades. Remarcá que el SOC L1 no es un destino final: es el punto de partida más sólido posible para una carrera en ciberseguridad, porque te da visibilidad real del ecosistema completo antes de especializarte.</a:t>
            </a:r>
          </a:p>
          <a:p>
            <a:r>
              <a:rPr lang="en-US"/>
              <a:t>43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Este slide cierra la sección con una perspectiva holística. Remarcá el punto del cuidado personal: el trabajo en SOC puede ser estresante (turnos, presión, ver cosas difíciles). Construir hábitos saludables desde el principio es tan importante como desarrollar habilidades técnicas.</a:t>
            </a:r>
          </a:p>
          <a:p>
            <a:r>
              <a:rPr lang="en-US"/>
              <a:t>44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11" Target="../media/image9.png" Type="http://schemas.openxmlformats.org/officeDocument/2006/relationships/image"/><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jpeg" Type="http://schemas.openxmlformats.org/officeDocument/2006/relationships/image"/><Relationship Id="rId8" Target="../media/image6.jpeg" Type="http://schemas.openxmlformats.org/officeDocument/2006/relationships/image"/><Relationship Id="rId9"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11" Target="../media/image14.png" Type="http://schemas.openxmlformats.org/officeDocument/2006/relationships/image"/><Relationship Id="rId12" Target="../media/image15.svg" Type="http://schemas.openxmlformats.org/officeDocument/2006/relationships/image"/><Relationship Id="rId13" Target="../media/image16.png" Type="http://schemas.openxmlformats.org/officeDocument/2006/relationships/image"/><Relationship Id="rId14" Target="../media/image17.svg" Type="http://schemas.openxmlformats.org/officeDocument/2006/relationships/image"/><Relationship Id="rId15" Target="../media/image18.png" Type="http://schemas.openxmlformats.org/officeDocument/2006/relationships/image"/><Relationship Id="rId16" Target="../media/image19.svg" Type="http://schemas.openxmlformats.org/officeDocument/2006/relationships/image"/><Relationship Id="rId17" Target="../media/image20.png" Type="http://schemas.openxmlformats.org/officeDocument/2006/relationships/image"/><Relationship Id="rId18" Target="../media/image21.svg" Type="http://schemas.openxmlformats.org/officeDocument/2006/relationships/image"/><Relationship Id="rId19" Target="../media/image22.png" Type="http://schemas.openxmlformats.org/officeDocument/2006/relationships/image"/><Relationship Id="rId2" Target="../notesSlides/notesSlide2.xml" Type="http://schemas.openxmlformats.org/officeDocument/2006/relationships/notesSlide"/><Relationship Id="rId20" Target="../media/image23.svg" Type="http://schemas.openxmlformats.org/officeDocument/2006/relationships/image"/><Relationship Id="rId21" Target="../media/image24.png" Type="http://schemas.openxmlformats.org/officeDocument/2006/relationships/image"/><Relationship Id="rId22" Target="../media/image25.svg" Type="http://schemas.openxmlformats.org/officeDocument/2006/relationships/image"/><Relationship Id="rId23" Target="../media/image26.png" Type="http://schemas.openxmlformats.org/officeDocument/2006/relationships/image"/><Relationship Id="rId24" Target="../media/image27.svg" Type="http://schemas.openxmlformats.org/officeDocument/2006/relationships/image"/><Relationship Id="rId25" Target="../media/image28.png" Type="http://schemas.openxmlformats.org/officeDocument/2006/relationships/image"/><Relationship Id="rId26" Target="../media/image29.svg" Type="http://schemas.openxmlformats.org/officeDocument/2006/relationships/image"/><Relationship Id="rId27" Target="../media/image30.png" Type="http://schemas.openxmlformats.org/officeDocument/2006/relationships/image"/><Relationship Id="rId28" Target="../media/image31.svg" Type="http://schemas.openxmlformats.org/officeDocument/2006/relationships/image"/><Relationship Id="rId29" Target="../media/image32.png" Type="http://schemas.openxmlformats.org/officeDocument/2006/relationships/image"/><Relationship Id="rId3" Target="../media/image10.png" Type="http://schemas.openxmlformats.org/officeDocument/2006/relationships/image"/><Relationship Id="rId30" Target="../media/image33.svg" Type="http://schemas.openxmlformats.org/officeDocument/2006/relationships/image"/><Relationship Id="rId31" Target="../media/image9.png" Type="http://schemas.openxmlformats.org/officeDocument/2006/relationships/image"/><Relationship Id="rId4" Target="../media/image11.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5.jpeg" Type="http://schemas.openxmlformats.org/officeDocument/2006/relationships/image"/><Relationship Id="rId8" Target="../media/image6.jpeg" Type="http://schemas.openxmlformats.org/officeDocument/2006/relationships/image"/><Relationship Id="rId9" Target="../media/image1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11" Target="../media/image34.png" Type="http://schemas.openxmlformats.org/officeDocument/2006/relationships/image"/><Relationship Id="rId12" Target="../media/image35.svg" Type="http://schemas.openxmlformats.org/officeDocument/2006/relationships/image"/><Relationship Id="rId13" Target="../media/image9.png" Type="http://schemas.openxmlformats.org/officeDocument/2006/relationships/image"/><Relationship Id="rId2" Target="../notesSlides/notesSlide3.xml" Type="http://schemas.openxmlformats.org/officeDocument/2006/relationships/notesSlide"/><Relationship Id="rId3" Target="../media/image10.png" Type="http://schemas.openxmlformats.org/officeDocument/2006/relationships/image"/><Relationship Id="rId4" Target="../media/image11.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5.jpeg" Type="http://schemas.openxmlformats.org/officeDocument/2006/relationships/image"/><Relationship Id="rId8" Target="../media/image6.jpeg" Type="http://schemas.openxmlformats.org/officeDocument/2006/relationships/image"/><Relationship Id="rId9" Target="../media/image1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svg" Type="http://schemas.openxmlformats.org/officeDocument/2006/relationships/image"/><Relationship Id="rId11" Target="../media/image40.png" Type="http://schemas.openxmlformats.org/officeDocument/2006/relationships/image"/><Relationship Id="rId12" Target="../media/image41.svg" Type="http://schemas.openxmlformats.org/officeDocument/2006/relationships/image"/><Relationship Id="rId13" Target="../media/image42.png" Type="http://schemas.openxmlformats.org/officeDocument/2006/relationships/image"/><Relationship Id="rId14" Target="../media/image43.svg" Type="http://schemas.openxmlformats.org/officeDocument/2006/relationships/image"/><Relationship Id="rId15" Target="../media/image44.png" Type="http://schemas.openxmlformats.org/officeDocument/2006/relationships/image"/><Relationship Id="rId16" Target="../media/image45.svg" Type="http://schemas.openxmlformats.org/officeDocument/2006/relationships/image"/><Relationship Id="rId17" Target="../media/image46.png" Type="http://schemas.openxmlformats.org/officeDocument/2006/relationships/image"/><Relationship Id="rId18" Target="../media/image47.svg" Type="http://schemas.openxmlformats.org/officeDocument/2006/relationships/image"/><Relationship Id="rId19" Target="../media/image48.png" Type="http://schemas.openxmlformats.org/officeDocument/2006/relationships/image"/><Relationship Id="rId2" Target="../notesSlides/notesSlide4.xml" Type="http://schemas.openxmlformats.org/officeDocument/2006/relationships/notesSlide"/><Relationship Id="rId20" Target="../media/image49.svg" Type="http://schemas.openxmlformats.org/officeDocument/2006/relationships/image"/><Relationship Id="rId21" Target="../media/image50.png" Type="http://schemas.openxmlformats.org/officeDocument/2006/relationships/image"/><Relationship Id="rId22" Target="../media/image51.svg" Type="http://schemas.openxmlformats.org/officeDocument/2006/relationships/image"/><Relationship Id="rId23" Target="../media/image52.png" Type="http://schemas.openxmlformats.org/officeDocument/2006/relationships/image"/><Relationship Id="rId24" Target="../media/image53.svg" Type="http://schemas.openxmlformats.org/officeDocument/2006/relationships/image"/><Relationship Id="rId25" Target="../media/image54.png" Type="http://schemas.openxmlformats.org/officeDocument/2006/relationships/image"/><Relationship Id="rId26" Target="../media/image55.svg" Type="http://schemas.openxmlformats.org/officeDocument/2006/relationships/image"/><Relationship Id="rId27" Target="../media/image9.pn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5.jpeg" Type="http://schemas.openxmlformats.org/officeDocument/2006/relationships/image"/><Relationship Id="rId6" Target="../media/image6.jpeg" Type="http://schemas.openxmlformats.org/officeDocument/2006/relationships/image"/><Relationship Id="rId7" Target="../media/image36.png" Type="http://schemas.openxmlformats.org/officeDocument/2006/relationships/image"/><Relationship Id="rId8" Target="../media/image37.svg" Type="http://schemas.openxmlformats.org/officeDocument/2006/relationships/image"/><Relationship Id="rId9" Target="../media/image3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11" Target="../media/image56.png" Type="http://schemas.openxmlformats.org/officeDocument/2006/relationships/image"/><Relationship Id="rId12" Target="../media/image57.svg" Type="http://schemas.openxmlformats.org/officeDocument/2006/relationships/image"/><Relationship Id="rId13" Target="../media/image58.png" Type="http://schemas.openxmlformats.org/officeDocument/2006/relationships/image"/><Relationship Id="rId14" Target="../media/image59.svg" Type="http://schemas.openxmlformats.org/officeDocument/2006/relationships/image"/><Relationship Id="rId15" Target="../media/image60.png" Type="http://schemas.openxmlformats.org/officeDocument/2006/relationships/image"/><Relationship Id="rId16" Target="../media/image61.svg" Type="http://schemas.openxmlformats.org/officeDocument/2006/relationships/image"/><Relationship Id="rId17" Target="../media/image62.png" Type="http://schemas.openxmlformats.org/officeDocument/2006/relationships/image"/><Relationship Id="rId18" Target="../media/image63.svg" Type="http://schemas.openxmlformats.org/officeDocument/2006/relationships/image"/><Relationship Id="rId19" Target="../media/image64.png" Type="http://schemas.openxmlformats.org/officeDocument/2006/relationships/image"/><Relationship Id="rId2" Target="../notesSlides/notesSlide5.xml" Type="http://schemas.openxmlformats.org/officeDocument/2006/relationships/notesSlide"/><Relationship Id="rId20" Target="../media/image65.svg" Type="http://schemas.openxmlformats.org/officeDocument/2006/relationships/image"/><Relationship Id="rId21" Target="../media/image66.png" Type="http://schemas.openxmlformats.org/officeDocument/2006/relationships/image"/><Relationship Id="rId22" Target="../media/image67.svg" Type="http://schemas.openxmlformats.org/officeDocument/2006/relationships/image"/><Relationship Id="rId23" Target="../media/image9.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5.jpeg" Type="http://schemas.openxmlformats.org/officeDocument/2006/relationships/image"/><Relationship Id="rId8" Target="../media/image6.jpeg" Type="http://schemas.openxmlformats.org/officeDocument/2006/relationships/image"/><Relationship Id="rId9" Target="../media/image1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D0D0D"/>
        </a:solidFill>
      </p:bgPr>
    </p:bg>
    <p:spTree>
      <p:nvGrpSpPr>
        <p:cNvPr id="1" name=""/>
        <p:cNvGrpSpPr/>
        <p:nvPr/>
      </p:nvGrpSpPr>
      <p:grpSpPr>
        <a:xfrm>
          <a:off x="0" y="0"/>
          <a:ext cx="0" cy="0"/>
          <a:chOff x="0" y="0"/>
          <a:chExt cx="0" cy="0"/>
        </a:xfrm>
      </p:grpSpPr>
      <p:sp>
        <p:nvSpPr>
          <p:cNvPr name="Freeform 2" id="2"/>
          <p:cNvSpPr/>
          <p:nvPr/>
        </p:nvSpPr>
        <p:spPr>
          <a:xfrm flipH="false" flipV="false" rot="0">
            <a:off x="-12697" y="-12697"/>
            <a:ext cx="939736" cy="10312337"/>
          </a:xfrm>
          <a:custGeom>
            <a:avLst/>
            <a:gdLst/>
            <a:ahLst/>
            <a:cxnLst/>
            <a:rect r="r" b="b" t="t" l="l"/>
            <a:pathLst>
              <a:path h="10312337" w="939736">
                <a:moveTo>
                  <a:pt x="0" y="0"/>
                </a:moveTo>
                <a:lnTo>
                  <a:pt x="939737" y="0"/>
                </a:lnTo>
                <a:lnTo>
                  <a:pt x="939737"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6936743"/>
            <a:ext cx="18313336" cy="3682936"/>
          </a:xfrm>
          <a:custGeom>
            <a:avLst/>
            <a:gdLst/>
            <a:ahLst/>
            <a:cxnLst/>
            <a:rect r="r" b="b" t="t" l="l"/>
            <a:pathLst>
              <a:path h="3682936" w="18313336">
                <a:moveTo>
                  <a:pt x="0" y="0"/>
                </a:moveTo>
                <a:lnTo>
                  <a:pt x="18313337" y="0"/>
                </a:lnTo>
                <a:lnTo>
                  <a:pt x="18313337" y="3682937"/>
                </a:lnTo>
                <a:lnTo>
                  <a:pt x="0" y="368293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1463040" y="1828800"/>
            <a:ext cx="14630400" cy="822960"/>
            <a:chOff x="0" y="0"/>
            <a:chExt cx="19507200" cy="1097280"/>
          </a:xfrm>
        </p:grpSpPr>
        <p:sp>
          <p:nvSpPr>
            <p:cNvPr name="Freeform 5" id="5"/>
            <p:cNvSpPr/>
            <p:nvPr/>
          </p:nvSpPr>
          <p:spPr>
            <a:xfrm flipH="false" flipV="false" rot="0">
              <a:off x="0" y="0"/>
              <a:ext cx="19507200" cy="1097280"/>
            </a:xfrm>
            <a:custGeom>
              <a:avLst/>
              <a:gdLst/>
              <a:ahLst/>
              <a:cxnLst/>
              <a:rect r="r" b="b" t="t" l="l"/>
              <a:pathLst>
                <a:path h="1097280" w="19507200">
                  <a:moveTo>
                    <a:pt x="0" y="0"/>
                  </a:moveTo>
                  <a:lnTo>
                    <a:pt x="19507200" y="0"/>
                  </a:lnTo>
                  <a:lnTo>
                    <a:pt x="19507200" y="1097280"/>
                  </a:lnTo>
                  <a:lnTo>
                    <a:pt x="0" y="1097280"/>
                  </a:lnTo>
                  <a:close/>
                </a:path>
              </a:pathLst>
            </a:custGeom>
            <a:blipFill>
              <a:blip r:embed="rId7">
                <a:alphaModFix amt="0"/>
              </a:blip>
              <a:stretch>
                <a:fillRect l="0" t="-296159" r="0" b="-296159"/>
              </a:stretch>
            </a:blipFill>
          </p:spPr>
        </p:sp>
      </p:grpSp>
      <p:grpSp>
        <p:nvGrpSpPr>
          <p:cNvPr name="Group 6" id="6"/>
          <p:cNvGrpSpPr/>
          <p:nvPr/>
        </p:nvGrpSpPr>
        <p:grpSpPr>
          <a:xfrm rot="0">
            <a:off x="1463040" y="1785938"/>
            <a:ext cx="14630400" cy="865823"/>
            <a:chOff x="0" y="0"/>
            <a:chExt cx="19507200" cy="1154430"/>
          </a:xfrm>
        </p:grpSpPr>
        <p:sp>
          <p:nvSpPr>
            <p:cNvPr name="Freeform 7" id="7"/>
            <p:cNvSpPr/>
            <p:nvPr/>
          </p:nvSpPr>
          <p:spPr>
            <a:xfrm flipH="false" flipV="false" rot="0">
              <a:off x="0" y="0"/>
              <a:ext cx="19507200" cy="1154430"/>
            </a:xfrm>
            <a:custGeom>
              <a:avLst/>
              <a:gdLst/>
              <a:ahLst/>
              <a:cxnLst/>
              <a:rect r="r" b="b" t="t" l="l"/>
              <a:pathLst>
                <a:path h="1154430" w="19507200">
                  <a:moveTo>
                    <a:pt x="0" y="0"/>
                  </a:moveTo>
                  <a:lnTo>
                    <a:pt x="19507200" y="0"/>
                  </a:lnTo>
                  <a:lnTo>
                    <a:pt x="19507200" y="1154430"/>
                  </a:lnTo>
                  <a:lnTo>
                    <a:pt x="0" y="1154430"/>
                  </a:lnTo>
                  <a:close/>
                </a:path>
              </a:pathLst>
            </a:custGeom>
            <a:blipFill>
              <a:blip r:embed="rId8">
                <a:alphaModFix amt="0"/>
              </a:blip>
              <a:stretch>
                <a:fillRect l="0" t="-279252" r="0" b="-279252"/>
              </a:stretch>
            </a:blipFill>
          </p:spPr>
        </p:sp>
        <p:sp>
          <p:nvSpPr>
            <p:cNvPr name="TextBox 8" id="8"/>
            <p:cNvSpPr txBox="true"/>
            <p:nvPr/>
          </p:nvSpPr>
          <p:spPr>
            <a:xfrm>
              <a:off x="0" y="-57150"/>
              <a:ext cx="19507200" cy="1211580"/>
            </a:xfrm>
            <a:prstGeom prst="rect">
              <a:avLst/>
            </a:prstGeom>
          </p:spPr>
          <p:txBody>
            <a:bodyPr anchor="ctr" rtlCol="false" tIns="0" lIns="0" bIns="0" rIns="0"/>
            <a:lstStyle/>
            <a:p>
              <a:pPr algn="l">
                <a:lnSpc>
                  <a:spcPts val="3120"/>
                </a:lnSpc>
              </a:pPr>
              <a:r>
                <a:rPr lang="en-US" b="true" sz="2600" spc="799">
                  <a:solidFill>
                    <a:srgbClr val="8A004F"/>
                  </a:solidFill>
                  <a:latin typeface="Calibri (MS) Bold"/>
                  <a:ea typeface="Calibri (MS) Bold"/>
                  <a:cs typeface="Calibri (MS) Bold"/>
                  <a:sym typeface="Calibri (MS) Bold"/>
                </a:rPr>
                <a:t>SECCIÓN 1.6</a:t>
              </a:r>
            </a:p>
          </p:txBody>
        </p:sp>
      </p:grpSp>
      <p:grpSp>
        <p:nvGrpSpPr>
          <p:cNvPr name="Group 9" id="9"/>
          <p:cNvGrpSpPr/>
          <p:nvPr/>
        </p:nvGrpSpPr>
        <p:grpSpPr>
          <a:xfrm rot="0">
            <a:off x="1463040" y="2743200"/>
            <a:ext cx="15544800" cy="2560320"/>
            <a:chOff x="0" y="0"/>
            <a:chExt cx="20726400" cy="3413760"/>
          </a:xfrm>
        </p:grpSpPr>
        <p:sp>
          <p:nvSpPr>
            <p:cNvPr name="Freeform 10" id="10"/>
            <p:cNvSpPr/>
            <p:nvPr/>
          </p:nvSpPr>
          <p:spPr>
            <a:xfrm flipH="false" flipV="false" rot="0">
              <a:off x="0" y="0"/>
              <a:ext cx="20726400" cy="3413760"/>
            </a:xfrm>
            <a:custGeom>
              <a:avLst/>
              <a:gdLst/>
              <a:ahLst/>
              <a:cxnLst/>
              <a:rect r="r" b="b" t="t" l="l"/>
              <a:pathLst>
                <a:path h="3413760" w="20726400">
                  <a:moveTo>
                    <a:pt x="0" y="0"/>
                  </a:moveTo>
                  <a:lnTo>
                    <a:pt x="20726400" y="0"/>
                  </a:lnTo>
                  <a:lnTo>
                    <a:pt x="20726400" y="3413760"/>
                  </a:lnTo>
                  <a:lnTo>
                    <a:pt x="0" y="3413760"/>
                  </a:lnTo>
                  <a:close/>
                </a:path>
              </a:pathLst>
            </a:custGeom>
            <a:blipFill>
              <a:blip r:embed="rId7">
                <a:alphaModFix amt="0"/>
              </a:blip>
              <a:stretch>
                <a:fillRect l="0" t="-68219" r="0" b="-68219"/>
              </a:stretch>
            </a:blipFill>
          </p:spPr>
        </p:sp>
      </p:grpSp>
      <p:grpSp>
        <p:nvGrpSpPr>
          <p:cNvPr name="Group 11" id="11"/>
          <p:cNvGrpSpPr/>
          <p:nvPr/>
        </p:nvGrpSpPr>
        <p:grpSpPr>
          <a:xfrm rot="0">
            <a:off x="1463040" y="2657475"/>
            <a:ext cx="15544800" cy="2646045"/>
            <a:chOff x="0" y="0"/>
            <a:chExt cx="20726400" cy="3528060"/>
          </a:xfrm>
        </p:grpSpPr>
        <p:sp>
          <p:nvSpPr>
            <p:cNvPr name="Freeform 12" id="12"/>
            <p:cNvSpPr/>
            <p:nvPr/>
          </p:nvSpPr>
          <p:spPr>
            <a:xfrm flipH="false" flipV="false" rot="0">
              <a:off x="0" y="0"/>
              <a:ext cx="20726400" cy="3528060"/>
            </a:xfrm>
            <a:custGeom>
              <a:avLst/>
              <a:gdLst/>
              <a:ahLst/>
              <a:cxnLst/>
              <a:rect r="r" b="b" t="t" l="l"/>
              <a:pathLst>
                <a:path h="3528060" w="20726400">
                  <a:moveTo>
                    <a:pt x="0" y="0"/>
                  </a:moveTo>
                  <a:lnTo>
                    <a:pt x="20726400" y="0"/>
                  </a:lnTo>
                  <a:lnTo>
                    <a:pt x="20726400" y="3528060"/>
                  </a:lnTo>
                  <a:lnTo>
                    <a:pt x="0" y="3528060"/>
                  </a:lnTo>
                  <a:close/>
                </a:path>
              </a:pathLst>
            </a:custGeom>
            <a:blipFill>
              <a:blip r:embed="rId8">
                <a:alphaModFix amt="0"/>
              </a:blip>
              <a:stretch>
                <a:fillRect l="0" t="-64469" r="0" b="-64469"/>
              </a:stretch>
            </a:blipFill>
          </p:spPr>
        </p:sp>
        <p:sp>
          <p:nvSpPr>
            <p:cNvPr name="TextBox 13" id="13"/>
            <p:cNvSpPr txBox="true"/>
            <p:nvPr/>
          </p:nvSpPr>
          <p:spPr>
            <a:xfrm>
              <a:off x="0" y="-114300"/>
              <a:ext cx="20726400" cy="3642360"/>
            </a:xfrm>
            <a:prstGeom prst="rect">
              <a:avLst/>
            </a:prstGeom>
          </p:spPr>
          <p:txBody>
            <a:bodyPr anchor="ctr" rtlCol="false" tIns="0" lIns="0" bIns="0" rIns="0"/>
            <a:lstStyle/>
            <a:p>
              <a:pPr algn="l">
                <a:lnSpc>
                  <a:spcPts val="6720"/>
                </a:lnSpc>
              </a:pPr>
              <a:r>
                <a:rPr lang="en-US" sz="5600" b="true">
                  <a:solidFill>
                    <a:srgbClr val="FFFFFF"/>
                  </a:solidFill>
                  <a:latin typeface="Calibri (MS) Bold"/>
                  <a:ea typeface="Calibri (MS) Bold"/>
                  <a:cs typeface="Calibri (MS) Bold"/>
                  <a:sym typeface="Calibri (MS) Bold"/>
                </a:rPr>
                <a:t>Proyección profesional</a:t>
              </a:r>
            </a:p>
            <a:p>
              <a:pPr algn="l">
                <a:lnSpc>
                  <a:spcPts val="6720"/>
                </a:lnSpc>
              </a:pPr>
              <a:r>
                <a:rPr lang="en-US" sz="5600" b="true">
                  <a:solidFill>
                    <a:srgbClr val="FFFFFF"/>
                  </a:solidFill>
                  <a:latin typeface="Calibri (MS) Bold"/>
                  <a:ea typeface="Calibri (MS) Bold"/>
                  <a:cs typeface="Calibri (MS) Bold"/>
                  <a:sym typeface="Calibri (MS) Bold"/>
                </a:rPr>
                <a:t>y desarrollo en el SOC</a:t>
              </a:r>
            </a:p>
          </p:txBody>
        </p:sp>
      </p:grpSp>
      <p:grpSp>
        <p:nvGrpSpPr>
          <p:cNvPr name="Group 14" id="14"/>
          <p:cNvGrpSpPr/>
          <p:nvPr/>
        </p:nvGrpSpPr>
        <p:grpSpPr>
          <a:xfrm rot="0">
            <a:off x="1463040" y="7040880"/>
            <a:ext cx="15544800" cy="585216"/>
            <a:chOff x="0" y="0"/>
            <a:chExt cx="20726400" cy="780288"/>
          </a:xfrm>
        </p:grpSpPr>
        <p:sp>
          <p:nvSpPr>
            <p:cNvPr name="Freeform 15" id="15"/>
            <p:cNvSpPr/>
            <p:nvPr/>
          </p:nvSpPr>
          <p:spPr>
            <a:xfrm flipH="false" flipV="false" rot="0">
              <a:off x="0" y="0"/>
              <a:ext cx="20726400" cy="780288"/>
            </a:xfrm>
            <a:custGeom>
              <a:avLst/>
              <a:gdLst/>
              <a:ahLst/>
              <a:cxnLst/>
              <a:rect r="r" b="b" t="t" l="l"/>
              <a:pathLst>
                <a:path h="780288" w="20726400">
                  <a:moveTo>
                    <a:pt x="0" y="0"/>
                  </a:moveTo>
                  <a:lnTo>
                    <a:pt x="20726400" y="0"/>
                  </a:lnTo>
                  <a:lnTo>
                    <a:pt x="20726400" y="780288"/>
                  </a:lnTo>
                  <a:lnTo>
                    <a:pt x="0" y="780288"/>
                  </a:lnTo>
                  <a:close/>
                </a:path>
              </a:pathLst>
            </a:custGeom>
            <a:blipFill>
              <a:blip r:embed="rId7">
                <a:alphaModFix amt="0"/>
              </a:blip>
              <a:stretch>
                <a:fillRect l="0" t="-467211" r="0" b="-467210"/>
              </a:stretch>
            </a:blipFill>
          </p:spPr>
        </p:sp>
      </p:grpSp>
      <p:grpSp>
        <p:nvGrpSpPr>
          <p:cNvPr name="Group 16" id="16"/>
          <p:cNvGrpSpPr/>
          <p:nvPr/>
        </p:nvGrpSpPr>
        <p:grpSpPr>
          <a:xfrm rot="0">
            <a:off x="1463040" y="7005161"/>
            <a:ext cx="15544800" cy="620935"/>
            <a:chOff x="0" y="0"/>
            <a:chExt cx="20726400" cy="827913"/>
          </a:xfrm>
        </p:grpSpPr>
        <p:sp>
          <p:nvSpPr>
            <p:cNvPr name="Freeform 17" id="17"/>
            <p:cNvSpPr/>
            <p:nvPr/>
          </p:nvSpPr>
          <p:spPr>
            <a:xfrm flipH="false" flipV="false" rot="0">
              <a:off x="0" y="0"/>
              <a:ext cx="20726400" cy="827913"/>
            </a:xfrm>
            <a:custGeom>
              <a:avLst/>
              <a:gdLst/>
              <a:ahLst/>
              <a:cxnLst/>
              <a:rect r="r" b="b" t="t" l="l"/>
              <a:pathLst>
                <a:path h="827913" w="20726400">
                  <a:moveTo>
                    <a:pt x="0" y="0"/>
                  </a:moveTo>
                  <a:lnTo>
                    <a:pt x="20726400" y="0"/>
                  </a:lnTo>
                  <a:lnTo>
                    <a:pt x="20726400" y="827913"/>
                  </a:lnTo>
                  <a:lnTo>
                    <a:pt x="0" y="827913"/>
                  </a:lnTo>
                  <a:close/>
                </a:path>
              </a:pathLst>
            </a:custGeom>
            <a:blipFill>
              <a:blip r:embed="rId8">
                <a:alphaModFix amt="0"/>
              </a:blip>
              <a:stretch>
                <a:fillRect l="0" t="-437798" r="0" b="-437798"/>
              </a:stretch>
            </a:blipFill>
          </p:spPr>
        </p:sp>
        <p:sp>
          <p:nvSpPr>
            <p:cNvPr name="TextBox 18" id="18"/>
            <p:cNvSpPr txBox="true"/>
            <p:nvPr/>
          </p:nvSpPr>
          <p:spPr>
            <a:xfrm>
              <a:off x="0" y="-47625"/>
              <a:ext cx="20726400" cy="875538"/>
            </a:xfrm>
            <a:prstGeom prst="rect">
              <a:avLst/>
            </a:prstGeom>
          </p:spPr>
          <p:txBody>
            <a:bodyPr anchor="ctr" rtlCol="false" tIns="0" lIns="0" bIns="0" rIns="0"/>
            <a:lstStyle/>
            <a:p>
              <a:pPr algn="l">
                <a:lnSpc>
                  <a:spcPts val="2520"/>
                </a:lnSpc>
              </a:pPr>
              <a:r>
                <a:rPr lang="en-US" sz="2100" b="true">
                  <a:solidFill>
                    <a:srgbClr val="8A004F"/>
                  </a:solidFill>
                  <a:latin typeface="Calibri (MS) Bold"/>
                  <a:ea typeface="Calibri (MS) Bold"/>
                  <a:cs typeface="Calibri (MS) Bold"/>
                  <a:sym typeface="Calibri (MS) Bold"/>
                </a:rPr>
                <a:t>Temas de esta sección:</a:t>
              </a:r>
            </a:p>
          </p:txBody>
        </p:sp>
      </p:grpSp>
      <p:grpSp>
        <p:nvGrpSpPr>
          <p:cNvPr name="Group 19" id="19"/>
          <p:cNvGrpSpPr/>
          <p:nvPr/>
        </p:nvGrpSpPr>
        <p:grpSpPr>
          <a:xfrm rot="0">
            <a:off x="1463040" y="7680960"/>
            <a:ext cx="15544800" cy="2011680"/>
            <a:chOff x="0" y="0"/>
            <a:chExt cx="20726400" cy="2682240"/>
          </a:xfrm>
        </p:grpSpPr>
        <p:sp>
          <p:nvSpPr>
            <p:cNvPr name="Freeform 20" id="20"/>
            <p:cNvSpPr/>
            <p:nvPr/>
          </p:nvSpPr>
          <p:spPr>
            <a:xfrm flipH="false" flipV="false" rot="0">
              <a:off x="0" y="0"/>
              <a:ext cx="20726400" cy="2682240"/>
            </a:xfrm>
            <a:custGeom>
              <a:avLst/>
              <a:gdLst/>
              <a:ahLst/>
              <a:cxnLst/>
              <a:rect r="r" b="b" t="t" l="l"/>
              <a:pathLst>
                <a:path h="2682240" w="20726400">
                  <a:moveTo>
                    <a:pt x="0" y="0"/>
                  </a:moveTo>
                  <a:lnTo>
                    <a:pt x="20726400" y="0"/>
                  </a:lnTo>
                  <a:lnTo>
                    <a:pt x="20726400" y="2682240"/>
                  </a:lnTo>
                  <a:lnTo>
                    <a:pt x="0" y="2682240"/>
                  </a:lnTo>
                  <a:close/>
                </a:path>
              </a:pathLst>
            </a:custGeom>
            <a:blipFill>
              <a:blip r:embed="rId7">
                <a:alphaModFix amt="0"/>
              </a:blip>
              <a:stretch>
                <a:fillRect l="0" t="-100461" r="0" b="-100461"/>
              </a:stretch>
            </a:blipFill>
          </p:spPr>
        </p:sp>
      </p:grpSp>
      <p:grpSp>
        <p:nvGrpSpPr>
          <p:cNvPr name="Group 21" id="21"/>
          <p:cNvGrpSpPr/>
          <p:nvPr/>
        </p:nvGrpSpPr>
        <p:grpSpPr>
          <a:xfrm rot="0">
            <a:off x="1463040" y="7652385"/>
            <a:ext cx="15544800" cy="2040255"/>
            <a:chOff x="0" y="0"/>
            <a:chExt cx="20726400" cy="2720340"/>
          </a:xfrm>
        </p:grpSpPr>
        <p:sp>
          <p:nvSpPr>
            <p:cNvPr name="Freeform 22" id="22"/>
            <p:cNvSpPr/>
            <p:nvPr/>
          </p:nvSpPr>
          <p:spPr>
            <a:xfrm flipH="false" flipV="false" rot="0">
              <a:off x="0" y="0"/>
              <a:ext cx="20726400" cy="2720340"/>
            </a:xfrm>
            <a:custGeom>
              <a:avLst/>
              <a:gdLst/>
              <a:ahLst/>
              <a:cxnLst/>
              <a:rect r="r" b="b" t="t" l="l"/>
              <a:pathLst>
                <a:path h="2720340" w="20726400">
                  <a:moveTo>
                    <a:pt x="0" y="0"/>
                  </a:moveTo>
                  <a:lnTo>
                    <a:pt x="20726400" y="0"/>
                  </a:lnTo>
                  <a:lnTo>
                    <a:pt x="20726400" y="2720340"/>
                  </a:lnTo>
                  <a:lnTo>
                    <a:pt x="0" y="2720340"/>
                  </a:lnTo>
                  <a:close/>
                </a:path>
              </a:pathLst>
            </a:custGeom>
            <a:blipFill>
              <a:blip r:embed="rId8">
                <a:alphaModFix amt="0"/>
              </a:blip>
              <a:stretch>
                <a:fillRect l="0" t="-98457" r="0" b="-98457"/>
              </a:stretch>
            </a:blipFill>
          </p:spPr>
        </p:sp>
        <p:sp>
          <p:nvSpPr>
            <p:cNvPr name="TextBox 23" id="23"/>
            <p:cNvSpPr txBox="true"/>
            <p:nvPr/>
          </p:nvSpPr>
          <p:spPr>
            <a:xfrm>
              <a:off x="0" y="-38100"/>
              <a:ext cx="20726400" cy="2758440"/>
            </a:xfrm>
            <a:prstGeom prst="rect">
              <a:avLst/>
            </a:prstGeom>
          </p:spPr>
          <p:txBody>
            <a:bodyPr anchor="ctr" rtlCol="false" tIns="0" lIns="0" bIns="0" rIns="0"/>
            <a:lstStyle/>
            <a:p>
              <a:pPr algn="l" marL="458349" indent="-152783" lvl="2">
                <a:lnSpc>
                  <a:spcPts val="2279"/>
                </a:lnSpc>
                <a:buFont typeface="Arial"/>
                <a:buChar char="⚬"/>
              </a:pPr>
              <a:r>
                <a:rPr lang="en-US" sz="1899">
                  <a:solidFill>
                    <a:srgbClr val="CCCCCC"/>
                  </a:solidFill>
                  <a:latin typeface="Calibri (MS)"/>
                  <a:ea typeface="Calibri (MS)"/>
                  <a:cs typeface="Calibri (MS)"/>
                  <a:sym typeface="Calibri (MS)"/>
                </a:rPr>
                <a:t>¿Hacia dónde puede crecer un analista SOC moderno?</a:t>
              </a:r>
            </a:p>
            <a:p>
              <a:pPr algn="l" marL="458349" indent="-152783" lvl="2">
                <a:lnSpc>
                  <a:spcPts val="2279"/>
                </a:lnSpc>
                <a:buFont typeface="Arial"/>
                <a:buChar char="⚬"/>
              </a:pPr>
              <a:r>
                <a:rPr lang="en-US" sz="1899">
                  <a:solidFill>
                    <a:srgbClr val="CCCCCC"/>
                  </a:solidFill>
                  <a:latin typeface="Calibri (MS)"/>
                  <a:ea typeface="Calibri (MS)"/>
                  <a:cs typeface="Calibri (MS)"/>
                  <a:sym typeface="Calibri (MS)"/>
                </a:rPr>
                <a:t>Certificaciones y conocimientos relevantes</a:t>
              </a:r>
            </a:p>
            <a:p>
              <a:pPr algn="l" marL="458349" indent="-152783" lvl="2">
                <a:lnSpc>
                  <a:spcPts val="2279"/>
                </a:lnSpc>
                <a:buFont typeface="Arial"/>
                <a:buChar char="⚬"/>
              </a:pPr>
              <a:r>
                <a:rPr lang="en-US" sz="1899">
                  <a:solidFill>
                    <a:srgbClr val="CCCCCC"/>
                  </a:solidFill>
                  <a:latin typeface="Calibri (MS)"/>
                  <a:ea typeface="Calibri (MS)"/>
                  <a:cs typeface="Calibri (MS)"/>
                  <a:sym typeface="Calibri (MS)"/>
                </a:rPr>
                <a:t>Salidas laborales dentro y fuera del SOC</a:t>
              </a:r>
            </a:p>
            <a:p>
              <a:pPr algn="l" marL="458349" indent="-152783" lvl="2">
                <a:lnSpc>
                  <a:spcPts val="2279"/>
                </a:lnSpc>
                <a:buFont typeface="Arial"/>
                <a:buChar char="⚬"/>
              </a:pPr>
              <a:r>
                <a:rPr lang="en-US" sz="1899">
                  <a:solidFill>
                    <a:srgbClr val="CCCCCC"/>
                  </a:solidFill>
                  <a:latin typeface="Calibri (MS)"/>
                  <a:ea typeface="Calibri (MS)"/>
                  <a:cs typeface="Calibri (MS)"/>
                  <a:sym typeface="Calibri (MS)"/>
                </a:rPr>
                <a:t>Cómo construir una carrera sostenible en ciberseguridad</a:t>
              </a:r>
            </a:p>
          </p:txBody>
        </p:sp>
      </p:grpSp>
      <p:sp>
        <p:nvSpPr>
          <p:cNvPr name="Freeform 24" id="24"/>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5" id="25"/>
          <p:cNvGrpSpPr/>
          <p:nvPr/>
        </p:nvGrpSpPr>
        <p:grpSpPr>
          <a:xfrm rot="0">
            <a:off x="548640" y="9784080"/>
            <a:ext cx="15544800" cy="512064"/>
            <a:chOff x="0" y="0"/>
            <a:chExt cx="20726400" cy="682752"/>
          </a:xfrm>
        </p:grpSpPr>
        <p:sp>
          <p:nvSpPr>
            <p:cNvPr name="Freeform 26" id="26"/>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27" id="27"/>
          <p:cNvGrpSpPr/>
          <p:nvPr/>
        </p:nvGrpSpPr>
        <p:grpSpPr>
          <a:xfrm rot="0">
            <a:off x="548640" y="9762649"/>
            <a:ext cx="15544800" cy="533495"/>
            <a:chOff x="0" y="0"/>
            <a:chExt cx="20726400" cy="711327"/>
          </a:xfrm>
        </p:grpSpPr>
        <p:sp>
          <p:nvSpPr>
            <p:cNvPr name="Freeform 28" id="28"/>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29" id="29"/>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30" id="30"/>
          <p:cNvGrpSpPr/>
          <p:nvPr/>
        </p:nvGrpSpPr>
        <p:grpSpPr>
          <a:xfrm rot="0">
            <a:off x="16824960" y="9784080"/>
            <a:ext cx="1280160" cy="512064"/>
            <a:chOff x="0" y="0"/>
            <a:chExt cx="1706880" cy="682752"/>
          </a:xfrm>
        </p:grpSpPr>
        <p:sp>
          <p:nvSpPr>
            <p:cNvPr name="Freeform 31" id="31"/>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32" id="32"/>
          <p:cNvGrpSpPr/>
          <p:nvPr/>
        </p:nvGrpSpPr>
        <p:grpSpPr>
          <a:xfrm rot="0">
            <a:off x="16824960" y="9762649"/>
            <a:ext cx="1280160" cy="533495"/>
            <a:chOff x="0" y="0"/>
            <a:chExt cx="1706880" cy="711327"/>
          </a:xfrm>
        </p:grpSpPr>
        <p:sp>
          <p:nvSpPr>
            <p:cNvPr name="Freeform 33" id="33"/>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34" id="34"/>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p.40</a:t>
              </a:r>
            </a:p>
          </p:txBody>
        </p:sp>
      </p:grpSp>
      <p:grpSp>
        <p:nvGrpSpPr>
          <p:cNvPr name="Group 35" id="35"/>
          <p:cNvGrpSpPr/>
          <p:nvPr/>
        </p:nvGrpSpPr>
        <p:grpSpPr>
          <a:xfrm rot="0">
            <a:off x="15076686" y="1046103"/>
            <a:ext cx="2388354" cy="2388354"/>
            <a:chOff x="0" y="0"/>
            <a:chExt cx="5852160" cy="5852160"/>
          </a:xfrm>
        </p:grpSpPr>
        <p:sp>
          <p:nvSpPr>
            <p:cNvPr name="Freeform 36" id="36"/>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11"/>
              <a:stretch>
                <a:fillRect l="0" t="0" r="0"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p.41</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50006"/>
            <a:ext cx="16824960" cy="1695926"/>
            <a:chOff x="0" y="0"/>
            <a:chExt cx="22433280" cy="2261235"/>
          </a:xfrm>
        </p:grpSpPr>
        <p:sp>
          <p:nvSpPr>
            <p:cNvPr name="Freeform 18" id="18"/>
            <p:cNvSpPr/>
            <p:nvPr/>
          </p:nvSpPr>
          <p:spPr>
            <a:xfrm flipH="false" flipV="false" rot="0">
              <a:off x="0" y="0"/>
              <a:ext cx="22433280" cy="2261235"/>
            </a:xfrm>
            <a:custGeom>
              <a:avLst/>
              <a:gdLst/>
              <a:ahLst/>
              <a:cxnLst/>
              <a:rect r="r" b="b" t="t" l="l"/>
              <a:pathLst>
                <a:path h="2261235" w="22433280">
                  <a:moveTo>
                    <a:pt x="0" y="0"/>
                  </a:moveTo>
                  <a:lnTo>
                    <a:pt x="22433280" y="0"/>
                  </a:lnTo>
                  <a:lnTo>
                    <a:pt x="22433280" y="2261235"/>
                  </a:lnTo>
                  <a:lnTo>
                    <a:pt x="0" y="2261235"/>
                  </a:lnTo>
                  <a:close/>
                </a:path>
              </a:pathLst>
            </a:custGeom>
            <a:blipFill>
              <a:blip r:embed="rId8">
                <a:alphaModFix amt="0"/>
              </a:blip>
              <a:stretch>
                <a:fillRect l="0" t="-143307" r="0" b="-143307"/>
              </a:stretch>
            </a:blipFill>
          </p:spPr>
        </p:sp>
        <p:sp>
          <p:nvSpPr>
            <p:cNvPr name="TextBox 19" id="19"/>
            <p:cNvSpPr txBox="true"/>
            <p:nvPr/>
          </p:nvSpPr>
          <p:spPr>
            <a:xfrm>
              <a:off x="0" y="-66675"/>
              <a:ext cx="22433280" cy="2327910"/>
            </a:xfrm>
            <a:prstGeom prst="rect">
              <a:avLst/>
            </a:prstGeom>
          </p:spPr>
          <p:txBody>
            <a:bodyPr anchor="ctr" rtlCol="false" tIns="0" lIns="0" bIns="0" rIns="0"/>
            <a:lstStyle/>
            <a:p>
              <a:pPr algn="l">
                <a:lnSpc>
                  <a:spcPts val="3358"/>
                </a:lnSpc>
              </a:pPr>
              <a:r>
                <a:rPr lang="en-US" sz="2799" b="true">
                  <a:solidFill>
                    <a:srgbClr val="FFFFFF"/>
                  </a:solidFill>
                  <a:latin typeface="Calibri (MS) Bold"/>
                  <a:ea typeface="Calibri (MS) Bold"/>
                  <a:cs typeface="Calibri (MS) Bold"/>
                  <a:sym typeface="Calibri (MS) Bold"/>
                </a:rPr>
                <a:t>1.6  |  Rutas de crecimiento desde el SOC Moderno</a:t>
              </a:r>
            </a:p>
          </p:txBody>
        </p:sp>
      </p:grpSp>
      <p:grpSp>
        <p:nvGrpSpPr>
          <p:cNvPr name="Group 20" id="20"/>
          <p:cNvGrpSpPr/>
          <p:nvPr/>
        </p:nvGrpSpPr>
        <p:grpSpPr>
          <a:xfrm rot="0">
            <a:off x="640080" y="1773936"/>
            <a:ext cx="17007840" cy="950976"/>
            <a:chOff x="0" y="0"/>
            <a:chExt cx="22677120" cy="1267968"/>
          </a:xfrm>
        </p:grpSpPr>
        <p:sp>
          <p:nvSpPr>
            <p:cNvPr name="Freeform 21" id="21"/>
            <p:cNvSpPr/>
            <p:nvPr/>
          </p:nvSpPr>
          <p:spPr>
            <a:xfrm flipH="false" flipV="false" rot="0">
              <a:off x="0" y="0"/>
              <a:ext cx="22677120" cy="1267968"/>
            </a:xfrm>
            <a:custGeom>
              <a:avLst/>
              <a:gdLst/>
              <a:ahLst/>
              <a:cxnLst/>
              <a:rect r="r" b="b" t="t" l="l"/>
              <a:pathLst>
                <a:path h="1267968" w="22677120">
                  <a:moveTo>
                    <a:pt x="0" y="0"/>
                  </a:moveTo>
                  <a:lnTo>
                    <a:pt x="22677120" y="0"/>
                  </a:lnTo>
                  <a:lnTo>
                    <a:pt x="22677120" y="1267968"/>
                  </a:lnTo>
                  <a:lnTo>
                    <a:pt x="0" y="1267968"/>
                  </a:lnTo>
                  <a:close/>
                </a:path>
              </a:pathLst>
            </a:custGeom>
            <a:blipFill>
              <a:blip r:embed="rId7">
                <a:alphaModFix amt="0"/>
              </a:blip>
              <a:stretch>
                <a:fillRect l="0" t="-298240" r="0" b="-298240"/>
              </a:stretch>
            </a:blipFill>
          </p:spPr>
        </p:sp>
      </p:grpSp>
      <p:grpSp>
        <p:nvGrpSpPr>
          <p:cNvPr name="Group 22" id="22"/>
          <p:cNvGrpSpPr/>
          <p:nvPr/>
        </p:nvGrpSpPr>
        <p:grpSpPr>
          <a:xfrm rot="0">
            <a:off x="640080" y="1902809"/>
            <a:ext cx="17007840" cy="986695"/>
            <a:chOff x="0" y="0"/>
            <a:chExt cx="22677120" cy="1315593"/>
          </a:xfrm>
        </p:grpSpPr>
        <p:sp>
          <p:nvSpPr>
            <p:cNvPr name="Freeform 23" id="23"/>
            <p:cNvSpPr/>
            <p:nvPr/>
          </p:nvSpPr>
          <p:spPr>
            <a:xfrm flipH="false" flipV="false" rot="0">
              <a:off x="0" y="0"/>
              <a:ext cx="22677120" cy="1315593"/>
            </a:xfrm>
            <a:custGeom>
              <a:avLst/>
              <a:gdLst/>
              <a:ahLst/>
              <a:cxnLst/>
              <a:rect r="r" b="b" t="t" l="l"/>
              <a:pathLst>
                <a:path h="1315593" w="22677120">
                  <a:moveTo>
                    <a:pt x="0" y="0"/>
                  </a:moveTo>
                  <a:lnTo>
                    <a:pt x="22677120" y="0"/>
                  </a:lnTo>
                  <a:lnTo>
                    <a:pt x="22677120" y="1315593"/>
                  </a:lnTo>
                  <a:lnTo>
                    <a:pt x="0" y="1315593"/>
                  </a:lnTo>
                  <a:close/>
                </a:path>
              </a:pathLst>
            </a:custGeom>
            <a:blipFill>
              <a:blip r:embed="rId8">
                <a:alphaModFix amt="0"/>
              </a:blip>
              <a:stretch>
                <a:fillRect l="0" t="-285867" r="0" b="-285867"/>
              </a:stretch>
            </a:blipFill>
          </p:spPr>
        </p:sp>
        <p:sp>
          <p:nvSpPr>
            <p:cNvPr name="TextBox 24" id="24"/>
            <p:cNvSpPr txBox="true"/>
            <p:nvPr/>
          </p:nvSpPr>
          <p:spPr>
            <a:xfrm>
              <a:off x="0" y="-47625"/>
              <a:ext cx="22677120" cy="1363218"/>
            </a:xfrm>
            <a:prstGeom prst="rect">
              <a:avLst/>
            </a:prstGeom>
          </p:spPr>
          <p:txBody>
            <a:bodyPr anchor="ctr" rtlCol="false" tIns="0" lIns="0" bIns="0" rIns="0"/>
            <a:lstStyle/>
            <a:p>
              <a:pPr algn="l">
                <a:lnSpc>
                  <a:spcPts val="2520"/>
                </a:lnSpc>
              </a:pPr>
              <a:r>
                <a:rPr lang="en-US" sz="2100">
                  <a:solidFill>
                    <a:srgbClr val="6B6B6B"/>
                  </a:solidFill>
                  <a:latin typeface="Calibri (MS)"/>
                  <a:ea typeface="Calibri (MS)"/>
                  <a:cs typeface="Calibri (MS)"/>
                  <a:sym typeface="Calibri (MS)"/>
                </a:rPr>
                <a:t>El SOC es la puerta de entrada al mundo profesional de la ciberseguridad. Desde aquí podés crecer en múltiples direcciones. En el SOC moderno, las rutas no son lineales: la especialización temprana es cada vez más valorada.</a:t>
              </a:r>
            </a:p>
          </p:txBody>
        </p:sp>
      </p:grpSp>
      <p:grpSp>
        <p:nvGrpSpPr>
          <p:cNvPr name="Group 25" id="25"/>
          <p:cNvGrpSpPr/>
          <p:nvPr/>
        </p:nvGrpSpPr>
        <p:grpSpPr>
          <a:xfrm rot="0">
            <a:off x="640080" y="2889504"/>
            <a:ext cx="17007840" cy="585216"/>
            <a:chOff x="0" y="0"/>
            <a:chExt cx="22677120" cy="780288"/>
          </a:xfrm>
        </p:grpSpPr>
        <p:sp>
          <p:nvSpPr>
            <p:cNvPr name="Freeform 26" id="26"/>
            <p:cNvSpPr/>
            <p:nvPr/>
          </p:nvSpPr>
          <p:spPr>
            <a:xfrm flipH="false" flipV="false" rot="0">
              <a:off x="0" y="0"/>
              <a:ext cx="22677120" cy="780288"/>
            </a:xfrm>
            <a:custGeom>
              <a:avLst/>
              <a:gdLst/>
              <a:ahLst/>
              <a:cxnLst/>
              <a:rect r="r" b="b" t="t" l="l"/>
              <a:pathLst>
                <a:path h="780288" w="22677120">
                  <a:moveTo>
                    <a:pt x="0" y="0"/>
                  </a:moveTo>
                  <a:lnTo>
                    <a:pt x="22677120" y="0"/>
                  </a:lnTo>
                  <a:lnTo>
                    <a:pt x="22677120" y="780288"/>
                  </a:lnTo>
                  <a:lnTo>
                    <a:pt x="0" y="780288"/>
                  </a:lnTo>
                  <a:close/>
                </a:path>
              </a:pathLst>
            </a:custGeom>
            <a:blipFill>
              <a:blip r:embed="rId7">
                <a:alphaModFix amt="0"/>
              </a:blip>
              <a:stretch>
                <a:fillRect l="0" t="-515890" r="0" b="-515890"/>
              </a:stretch>
            </a:blipFill>
          </p:spPr>
        </p:sp>
      </p:grpSp>
      <p:grpSp>
        <p:nvGrpSpPr>
          <p:cNvPr name="Group 27" id="27"/>
          <p:cNvGrpSpPr/>
          <p:nvPr/>
        </p:nvGrpSpPr>
        <p:grpSpPr>
          <a:xfrm rot="0">
            <a:off x="640080" y="2853785"/>
            <a:ext cx="17007840" cy="620935"/>
            <a:chOff x="0" y="0"/>
            <a:chExt cx="22677120" cy="827913"/>
          </a:xfrm>
        </p:grpSpPr>
        <p:sp>
          <p:nvSpPr>
            <p:cNvPr name="Freeform 28" id="28"/>
            <p:cNvSpPr/>
            <p:nvPr/>
          </p:nvSpPr>
          <p:spPr>
            <a:xfrm flipH="false" flipV="false" rot="0">
              <a:off x="0" y="0"/>
              <a:ext cx="22677120" cy="827913"/>
            </a:xfrm>
            <a:custGeom>
              <a:avLst/>
              <a:gdLst/>
              <a:ahLst/>
              <a:cxnLst/>
              <a:rect r="r" b="b" t="t" l="l"/>
              <a:pathLst>
                <a:path h="827913" w="22677120">
                  <a:moveTo>
                    <a:pt x="0" y="0"/>
                  </a:moveTo>
                  <a:lnTo>
                    <a:pt x="22677120" y="0"/>
                  </a:lnTo>
                  <a:lnTo>
                    <a:pt x="22677120" y="827913"/>
                  </a:lnTo>
                  <a:lnTo>
                    <a:pt x="0" y="827913"/>
                  </a:lnTo>
                  <a:close/>
                </a:path>
              </a:pathLst>
            </a:custGeom>
            <a:blipFill>
              <a:blip r:embed="rId8">
                <a:alphaModFix amt="0"/>
              </a:blip>
              <a:stretch>
                <a:fillRect l="0" t="-483708" r="0" b="-483708"/>
              </a:stretch>
            </a:blipFill>
          </p:spPr>
        </p:sp>
        <p:sp>
          <p:nvSpPr>
            <p:cNvPr name="TextBox 29" id="29"/>
            <p:cNvSpPr txBox="true"/>
            <p:nvPr/>
          </p:nvSpPr>
          <p:spPr>
            <a:xfrm>
              <a:off x="0" y="-47625"/>
              <a:ext cx="22677120" cy="875538"/>
            </a:xfrm>
            <a:prstGeom prst="rect">
              <a:avLst/>
            </a:prstGeom>
          </p:spPr>
          <p:txBody>
            <a:bodyPr anchor="ctr" rtlCol="false" tIns="0" lIns="0" bIns="0" rIns="0"/>
            <a:lstStyle/>
            <a:p>
              <a:pPr algn="l">
                <a:lnSpc>
                  <a:spcPts val="2520"/>
                </a:lnSpc>
              </a:pPr>
              <a:r>
                <a:rPr lang="en-US" sz="2100" b="true">
                  <a:solidFill>
                    <a:srgbClr val="8A004F"/>
                  </a:solidFill>
                  <a:latin typeface="Calibri (MS) Bold"/>
                  <a:ea typeface="Calibri (MS) Bold"/>
                  <a:cs typeface="Calibri (MS) Bold"/>
                  <a:sym typeface="Calibri (MS) Bold"/>
                </a:rPr>
                <a:t>Rutas de crecimiento en el SOC moderno:</a:t>
              </a:r>
            </a:p>
          </p:txBody>
        </p:sp>
      </p:grpSp>
      <p:sp>
        <p:nvSpPr>
          <p:cNvPr name="Freeform 30" id="30"/>
          <p:cNvSpPr/>
          <p:nvPr/>
        </p:nvSpPr>
        <p:spPr>
          <a:xfrm flipH="false" flipV="false" rot="0">
            <a:off x="1918314" y="3670792"/>
            <a:ext cx="3504700" cy="1228327"/>
          </a:xfrm>
          <a:custGeom>
            <a:avLst/>
            <a:gdLst/>
            <a:ahLst/>
            <a:cxnLst/>
            <a:rect r="r" b="b" t="t" l="l"/>
            <a:pathLst>
              <a:path h="1228327" w="3504700">
                <a:moveTo>
                  <a:pt x="0" y="0"/>
                </a:moveTo>
                <a:lnTo>
                  <a:pt x="3504699" y="0"/>
                </a:lnTo>
                <a:lnTo>
                  <a:pt x="3504699" y="1228328"/>
                </a:lnTo>
                <a:lnTo>
                  <a:pt x="0" y="122832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31" id="31"/>
          <p:cNvGrpSpPr/>
          <p:nvPr/>
        </p:nvGrpSpPr>
        <p:grpSpPr>
          <a:xfrm rot="0">
            <a:off x="1929934" y="3682413"/>
            <a:ext cx="3481511" cy="1205138"/>
            <a:chOff x="0" y="0"/>
            <a:chExt cx="5071872" cy="1755648"/>
          </a:xfrm>
        </p:grpSpPr>
        <p:sp>
          <p:nvSpPr>
            <p:cNvPr name="Freeform 32" id="32"/>
            <p:cNvSpPr/>
            <p:nvPr/>
          </p:nvSpPr>
          <p:spPr>
            <a:xfrm flipH="false" flipV="false" rot="0">
              <a:off x="0" y="0"/>
              <a:ext cx="5071872" cy="1755648"/>
            </a:xfrm>
            <a:custGeom>
              <a:avLst/>
              <a:gdLst/>
              <a:ahLst/>
              <a:cxnLst/>
              <a:rect r="r" b="b" t="t" l="l"/>
              <a:pathLst>
                <a:path h="1755648" w="5071872">
                  <a:moveTo>
                    <a:pt x="0" y="0"/>
                  </a:moveTo>
                  <a:lnTo>
                    <a:pt x="5071872" y="0"/>
                  </a:lnTo>
                  <a:lnTo>
                    <a:pt x="5071872" y="1755648"/>
                  </a:lnTo>
                  <a:lnTo>
                    <a:pt x="0" y="1755648"/>
                  </a:lnTo>
                  <a:close/>
                </a:path>
              </a:pathLst>
            </a:custGeom>
            <a:blipFill>
              <a:blip r:embed="rId7">
                <a:alphaModFix amt="0"/>
              </a:blip>
              <a:stretch>
                <a:fillRect l="0" t="-6250" r="0" b="-6251"/>
              </a:stretch>
            </a:blipFill>
          </p:spPr>
        </p:sp>
      </p:grpSp>
      <p:grpSp>
        <p:nvGrpSpPr>
          <p:cNvPr name="Group 33" id="33"/>
          <p:cNvGrpSpPr/>
          <p:nvPr/>
        </p:nvGrpSpPr>
        <p:grpSpPr>
          <a:xfrm rot="0">
            <a:off x="1929934" y="3656260"/>
            <a:ext cx="3481511" cy="1231291"/>
            <a:chOff x="0" y="0"/>
            <a:chExt cx="5071872" cy="1793748"/>
          </a:xfrm>
        </p:grpSpPr>
        <p:sp>
          <p:nvSpPr>
            <p:cNvPr name="Freeform 34" id="34"/>
            <p:cNvSpPr/>
            <p:nvPr/>
          </p:nvSpPr>
          <p:spPr>
            <a:xfrm flipH="false" flipV="false" rot="0">
              <a:off x="0" y="0"/>
              <a:ext cx="5071872" cy="1793748"/>
            </a:xfrm>
            <a:custGeom>
              <a:avLst/>
              <a:gdLst/>
              <a:ahLst/>
              <a:cxnLst/>
              <a:rect r="r" b="b" t="t" l="l"/>
              <a:pathLst>
                <a:path h="1793748" w="5071872">
                  <a:moveTo>
                    <a:pt x="0" y="0"/>
                  </a:moveTo>
                  <a:lnTo>
                    <a:pt x="5071872" y="0"/>
                  </a:lnTo>
                  <a:lnTo>
                    <a:pt x="5071872" y="1793748"/>
                  </a:lnTo>
                  <a:lnTo>
                    <a:pt x="0" y="1793748"/>
                  </a:lnTo>
                  <a:close/>
                </a:path>
              </a:pathLst>
            </a:custGeom>
            <a:blipFill>
              <a:blip r:embed="rId8">
                <a:alphaModFix amt="0"/>
              </a:blip>
              <a:stretch>
                <a:fillRect l="0" t="-5094" r="0" b="-5094"/>
              </a:stretch>
            </a:blipFill>
          </p:spPr>
        </p:sp>
        <p:sp>
          <p:nvSpPr>
            <p:cNvPr name="TextBox 35" id="35"/>
            <p:cNvSpPr txBox="true"/>
            <p:nvPr/>
          </p:nvSpPr>
          <p:spPr>
            <a:xfrm>
              <a:off x="0" y="-38100"/>
              <a:ext cx="5071872" cy="1831848"/>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Analista SOC</a:t>
              </a:r>
            </a:p>
            <a:p>
              <a:pPr algn="ctr">
                <a:lnSpc>
                  <a:spcPts val="2279"/>
                </a:lnSpc>
              </a:pPr>
              <a:r>
                <a:rPr lang="en-US" sz="1899" b="true">
                  <a:solidFill>
                    <a:srgbClr val="FFFFFF"/>
                  </a:solidFill>
                  <a:latin typeface="Calibri (MS) Bold"/>
                  <a:ea typeface="Calibri (MS) Bold"/>
                  <a:cs typeface="Calibri (MS) Bold"/>
                  <a:sym typeface="Calibri (MS) Bold"/>
                </a:rPr>
                <a:t>(Punto de partida)</a:t>
              </a:r>
            </a:p>
          </p:txBody>
        </p:sp>
      </p:grpSp>
      <p:sp>
        <p:nvSpPr>
          <p:cNvPr name="Freeform 36" id="36"/>
          <p:cNvSpPr/>
          <p:nvPr/>
        </p:nvSpPr>
        <p:spPr>
          <a:xfrm flipH="false" flipV="false" rot="0">
            <a:off x="1918314" y="4909407"/>
            <a:ext cx="3504700" cy="1496136"/>
          </a:xfrm>
          <a:custGeom>
            <a:avLst/>
            <a:gdLst/>
            <a:ahLst/>
            <a:cxnLst/>
            <a:rect r="r" b="b" t="t" l="l"/>
            <a:pathLst>
              <a:path h="1496136" w="3504700">
                <a:moveTo>
                  <a:pt x="0" y="0"/>
                </a:moveTo>
                <a:lnTo>
                  <a:pt x="3504699" y="0"/>
                </a:lnTo>
                <a:lnTo>
                  <a:pt x="3504699" y="1496136"/>
                </a:lnTo>
                <a:lnTo>
                  <a:pt x="0" y="149613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7" id="37"/>
          <p:cNvSpPr txBox="true"/>
          <p:nvPr/>
        </p:nvSpPr>
        <p:spPr>
          <a:xfrm rot="0">
            <a:off x="2130736" y="5120220"/>
            <a:ext cx="3079798" cy="1285322"/>
          </a:xfrm>
          <a:prstGeom prst="rect">
            <a:avLst/>
          </a:prstGeom>
        </p:spPr>
        <p:txBody>
          <a:bodyPr anchor="t" rtlCol="false" tIns="0" lIns="0" bIns="0" rIns="0">
            <a:spAutoFit/>
          </a:bodyPr>
          <a:lstStyle/>
          <a:p>
            <a:pPr algn="l">
              <a:lnSpc>
                <a:spcPts val="1976"/>
              </a:lnSpc>
            </a:pPr>
            <a:r>
              <a:rPr lang="en-US" sz="1647">
                <a:solidFill>
                  <a:srgbClr val="333333"/>
                </a:solidFill>
                <a:latin typeface="Calibri (MS)"/>
                <a:ea typeface="Calibri (MS)"/>
                <a:cs typeface="Calibri (MS)"/>
                <a:sym typeface="Calibri (MS)"/>
              </a:rPr>
              <a:t>Análisis, validación, escalamiento, documentación. Criterio operativo.</a:t>
            </a:r>
          </a:p>
        </p:txBody>
      </p:sp>
      <p:grpSp>
        <p:nvGrpSpPr>
          <p:cNvPr name="Group 38" id="38"/>
          <p:cNvGrpSpPr/>
          <p:nvPr/>
        </p:nvGrpSpPr>
        <p:grpSpPr>
          <a:xfrm rot="0">
            <a:off x="5444921" y="3682413"/>
            <a:ext cx="636045" cy="1205138"/>
            <a:chOff x="0" y="0"/>
            <a:chExt cx="926592" cy="1755648"/>
          </a:xfrm>
        </p:grpSpPr>
        <p:sp>
          <p:nvSpPr>
            <p:cNvPr name="Freeform 39" id="39"/>
            <p:cNvSpPr/>
            <p:nvPr/>
          </p:nvSpPr>
          <p:spPr>
            <a:xfrm flipH="false" flipV="false" rot="0">
              <a:off x="0" y="0"/>
              <a:ext cx="926592" cy="1755648"/>
            </a:xfrm>
            <a:custGeom>
              <a:avLst/>
              <a:gdLst/>
              <a:ahLst/>
              <a:cxnLst/>
              <a:rect r="r" b="b" t="t" l="l"/>
              <a:pathLst>
                <a:path h="1755648" w="926592">
                  <a:moveTo>
                    <a:pt x="0" y="0"/>
                  </a:moveTo>
                  <a:lnTo>
                    <a:pt x="926592" y="0"/>
                  </a:lnTo>
                  <a:lnTo>
                    <a:pt x="926592" y="1755648"/>
                  </a:lnTo>
                  <a:lnTo>
                    <a:pt x="0" y="1755648"/>
                  </a:lnTo>
                  <a:close/>
                </a:path>
              </a:pathLst>
            </a:custGeom>
            <a:blipFill>
              <a:blip r:embed="rId7">
                <a:alphaModFix amt="0"/>
              </a:blip>
              <a:stretch>
                <a:fillRect l="-193270" t="0" r="-193271" b="0"/>
              </a:stretch>
            </a:blipFill>
          </p:spPr>
        </p:sp>
      </p:grpSp>
      <p:grpSp>
        <p:nvGrpSpPr>
          <p:cNvPr name="Group 40" id="40"/>
          <p:cNvGrpSpPr/>
          <p:nvPr/>
        </p:nvGrpSpPr>
        <p:grpSpPr>
          <a:xfrm rot="0">
            <a:off x="5444921" y="3636645"/>
            <a:ext cx="636045" cy="1250906"/>
            <a:chOff x="0" y="0"/>
            <a:chExt cx="926592" cy="1822323"/>
          </a:xfrm>
        </p:grpSpPr>
        <p:sp>
          <p:nvSpPr>
            <p:cNvPr name="Freeform 41" id="41"/>
            <p:cNvSpPr/>
            <p:nvPr/>
          </p:nvSpPr>
          <p:spPr>
            <a:xfrm flipH="false" flipV="false" rot="0">
              <a:off x="0" y="0"/>
              <a:ext cx="926592" cy="1822323"/>
            </a:xfrm>
            <a:custGeom>
              <a:avLst/>
              <a:gdLst/>
              <a:ahLst/>
              <a:cxnLst/>
              <a:rect r="r" b="b" t="t" l="l"/>
              <a:pathLst>
                <a:path h="1822323" w="926592">
                  <a:moveTo>
                    <a:pt x="0" y="0"/>
                  </a:moveTo>
                  <a:lnTo>
                    <a:pt x="926592" y="0"/>
                  </a:lnTo>
                  <a:lnTo>
                    <a:pt x="926592" y="1822323"/>
                  </a:lnTo>
                  <a:lnTo>
                    <a:pt x="0" y="1822323"/>
                  </a:lnTo>
                  <a:close/>
                </a:path>
              </a:pathLst>
            </a:custGeom>
            <a:blipFill>
              <a:blip r:embed="rId8">
                <a:alphaModFix amt="0"/>
              </a:blip>
              <a:stretch>
                <a:fillRect l="-202333" t="0" r="-202333" b="0"/>
              </a:stretch>
            </a:blipFill>
          </p:spPr>
        </p:sp>
        <p:sp>
          <p:nvSpPr>
            <p:cNvPr name="TextBox 42" id="42"/>
            <p:cNvSpPr txBox="true"/>
            <p:nvPr/>
          </p:nvSpPr>
          <p:spPr>
            <a:xfrm>
              <a:off x="0" y="-66675"/>
              <a:ext cx="926592" cy="1888998"/>
            </a:xfrm>
            <a:prstGeom prst="rect">
              <a:avLst/>
            </a:prstGeom>
          </p:spPr>
          <p:txBody>
            <a:bodyPr anchor="ctr" rtlCol="false" tIns="0" lIns="0" bIns="0" rIns="0"/>
            <a:lstStyle/>
            <a:p>
              <a:pPr algn="ctr">
                <a:lnSpc>
                  <a:spcPts val="3358"/>
                </a:lnSpc>
              </a:pPr>
              <a:r>
                <a:rPr lang="en-US" sz="2799">
                  <a:solidFill>
                    <a:srgbClr val="6B6B6B"/>
                  </a:solidFill>
                  <a:latin typeface="Calibri (MS)"/>
                  <a:ea typeface="Calibri (MS)"/>
                  <a:cs typeface="Calibri (MS)"/>
                  <a:sym typeface="Calibri (MS)"/>
                </a:rPr>
                <a:t>→</a:t>
              </a:r>
            </a:p>
          </p:txBody>
        </p:sp>
      </p:grpSp>
      <p:sp>
        <p:nvSpPr>
          <p:cNvPr name="Freeform 43" id="43"/>
          <p:cNvSpPr/>
          <p:nvPr/>
        </p:nvSpPr>
        <p:spPr>
          <a:xfrm flipH="false" flipV="false" rot="0">
            <a:off x="5567205" y="3670792"/>
            <a:ext cx="3504700" cy="1228327"/>
          </a:xfrm>
          <a:custGeom>
            <a:avLst/>
            <a:gdLst/>
            <a:ahLst/>
            <a:cxnLst/>
            <a:rect r="r" b="b" t="t" l="l"/>
            <a:pathLst>
              <a:path h="1228327" w="3504700">
                <a:moveTo>
                  <a:pt x="0" y="0"/>
                </a:moveTo>
                <a:lnTo>
                  <a:pt x="3504699" y="0"/>
                </a:lnTo>
                <a:lnTo>
                  <a:pt x="3504699" y="1228328"/>
                </a:lnTo>
                <a:lnTo>
                  <a:pt x="0" y="122832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44" id="44"/>
          <p:cNvGrpSpPr/>
          <p:nvPr/>
        </p:nvGrpSpPr>
        <p:grpSpPr>
          <a:xfrm rot="0">
            <a:off x="5578825" y="3682413"/>
            <a:ext cx="3481511" cy="1205138"/>
            <a:chOff x="0" y="0"/>
            <a:chExt cx="5071872" cy="1755648"/>
          </a:xfrm>
        </p:grpSpPr>
        <p:sp>
          <p:nvSpPr>
            <p:cNvPr name="Freeform 45" id="45"/>
            <p:cNvSpPr/>
            <p:nvPr/>
          </p:nvSpPr>
          <p:spPr>
            <a:xfrm flipH="false" flipV="false" rot="0">
              <a:off x="0" y="0"/>
              <a:ext cx="5071872" cy="1755648"/>
            </a:xfrm>
            <a:custGeom>
              <a:avLst/>
              <a:gdLst/>
              <a:ahLst/>
              <a:cxnLst/>
              <a:rect r="r" b="b" t="t" l="l"/>
              <a:pathLst>
                <a:path h="1755648" w="5071872">
                  <a:moveTo>
                    <a:pt x="0" y="0"/>
                  </a:moveTo>
                  <a:lnTo>
                    <a:pt x="5071872" y="0"/>
                  </a:lnTo>
                  <a:lnTo>
                    <a:pt x="5071872" y="1755648"/>
                  </a:lnTo>
                  <a:lnTo>
                    <a:pt x="0" y="1755648"/>
                  </a:lnTo>
                  <a:close/>
                </a:path>
              </a:pathLst>
            </a:custGeom>
            <a:blipFill>
              <a:blip r:embed="rId7">
                <a:alphaModFix amt="0"/>
              </a:blip>
              <a:stretch>
                <a:fillRect l="0" t="-6250" r="0" b="-6251"/>
              </a:stretch>
            </a:blipFill>
          </p:spPr>
        </p:sp>
      </p:grpSp>
      <p:grpSp>
        <p:nvGrpSpPr>
          <p:cNvPr name="Group 46" id="46"/>
          <p:cNvGrpSpPr/>
          <p:nvPr/>
        </p:nvGrpSpPr>
        <p:grpSpPr>
          <a:xfrm rot="0">
            <a:off x="5578825" y="3656260"/>
            <a:ext cx="3481511" cy="1231291"/>
            <a:chOff x="0" y="0"/>
            <a:chExt cx="5071872" cy="1793748"/>
          </a:xfrm>
        </p:grpSpPr>
        <p:sp>
          <p:nvSpPr>
            <p:cNvPr name="Freeform 47" id="47"/>
            <p:cNvSpPr/>
            <p:nvPr/>
          </p:nvSpPr>
          <p:spPr>
            <a:xfrm flipH="false" flipV="false" rot="0">
              <a:off x="0" y="0"/>
              <a:ext cx="5071872" cy="1793748"/>
            </a:xfrm>
            <a:custGeom>
              <a:avLst/>
              <a:gdLst/>
              <a:ahLst/>
              <a:cxnLst/>
              <a:rect r="r" b="b" t="t" l="l"/>
              <a:pathLst>
                <a:path h="1793748" w="5071872">
                  <a:moveTo>
                    <a:pt x="0" y="0"/>
                  </a:moveTo>
                  <a:lnTo>
                    <a:pt x="5071872" y="0"/>
                  </a:lnTo>
                  <a:lnTo>
                    <a:pt x="5071872" y="1793748"/>
                  </a:lnTo>
                  <a:lnTo>
                    <a:pt x="0" y="1793748"/>
                  </a:lnTo>
                  <a:close/>
                </a:path>
              </a:pathLst>
            </a:custGeom>
            <a:blipFill>
              <a:blip r:embed="rId8">
                <a:alphaModFix amt="0"/>
              </a:blip>
              <a:stretch>
                <a:fillRect l="0" t="-5094" r="0" b="-5094"/>
              </a:stretch>
            </a:blipFill>
          </p:spPr>
        </p:sp>
        <p:sp>
          <p:nvSpPr>
            <p:cNvPr name="TextBox 48" id="48"/>
            <p:cNvSpPr txBox="true"/>
            <p:nvPr/>
          </p:nvSpPr>
          <p:spPr>
            <a:xfrm>
              <a:off x="0" y="-38100"/>
              <a:ext cx="5071872" cy="1831848"/>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SOC L2</a:t>
              </a:r>
            </a:p>
            <a:p>
              <a:pPr algn="ctr">
                <a:lnSpc>
                  <a:spcPts val="2279"/>
                </a:lnSpc>
              </a:pPr>
              <a:r>
                <a:rPr lang="en-US" sz="1899" b="true">
                  <a:solidFill>
                    <a:srgbClr val="FFFFFF"/>
                  </a:solidFill>
                  <a:latin typeface="Calibri (MS) Bold"/>
                  <a:ea typeface="Calibri (MS) Bold"/>
                  <a:cs typeface="Calibri (MS) Bold"/>
                  <a:sym typeface="Calibri (MS) Bold"/>
                </a:rPr>
                <a:t>Analyst</a:t>
              </a:r>
            </a:p>
          </p:txBody>
        </p:sp>
      </p:grpSp>
      <p:sp>
        <p:nvSpPr>
          <p:cNvPr name="Freeform 49" id="49"/>
          <p:cNvSpPr/>
          <p:nvPr/>
        </p:nvSpPr>
        <p:spPr>
          <a:xfrm flipH="false" flipV="false" rot="0">
            <a:off x="5567205" y="4909407"/>
            <a:ext cx="3504700" cy="1496136"/>
          </a:xfrm>
          <a:custGeom>
            <a:avLst/>
            <a:gdLst/>
            <a:ahLst/>
            <a:cxnLst/>
            <a:rect r="r" b="b" t="t" l="l"/>
            <a:pathLst>
              <a:path h="1496136" w="3504700">
                <a:moveTo>
                  <a:pt x="0" y="0"/>
                </a:moveTo>
                <a:lnTo>
                  <a:pt x="3504699" y="0"/>
                </a:lnTo>
                <a:lnTo>
                  <a:pt x="3504699" y="1496136"/>
                </a:lnTo>
                <a:lnTo>
                  <a:pt x="0" y="149613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50" id="50"/>
          <p:cNvSpPr txBox="true"/>
          <p:nvPr/>
        </p:nvSpPr>
        <p:spPr>
          <a:xfrm rot="0">
            <a:off x="5779627" y="5120220"/>
            <a:ext cx="3079798" cy="1285322"/>
          </a:xfrm>
          <a:prstGeom prst="rect">
            <a:avLst/>
          </a:prstGeom>
        </p:spPr>
        <p:txBody>
          <a:bodyPr anchor="t" rtlCol="false" tIns="0" lIns="0" bIns="0" rIns="0">
            <a:spAutoFit/>
          </a:bodyPr>
          <a:lstStyle/>
          <a:p>
            <a:pPr algn="l">
              <a:lnSpc>
                <a:spcPts val="1976"/>
              </a:lnSpc>
            </a:pPr>
            <a:r>
              <a:rPr lang="en-US" sz="1647">
                <a:solidFill>
                  <a:srgbClr val="333333"/>
                </a:solidFill>
                <a:latin typeface="Calibri (MS)"/>
                <a:ea typeface="Calibri (MS)"/>
                <a:cs typeface="Calibri (MS)"/>
                <a:sym typeface="Calibri (MS)"/>
              </a:rPr>
              <a:t>Investigación profunda. Respuesta a incidentes complejos. Contención.</a:t>
            </a:r>
          </a:p>
        </p:txBody>
      </p:sp>
      <p:grpSp>
        <p:nvGrpSpPr>
          <p:cNvPr name="Group 51" id="51"/>
          <p:cNvGrpSpPr/>
          <p:nvPr/>
        </p:nvGrpSpPr>
        <p:grpSpPr>
          <a:xfrm rot="0">
            <a:off x="9093812" y="3682413"/>
            <a:ext cx="636045" cy="1205138"/>
            <a:chOff x="0" y="0"/>
            <a:chExt cx="926592" cy="1755648"/>
          </a:xfrm>
        </p:grpSpPr>
        <p:sp>
          <p:nvSpPr>
            <p:cNvPr name="Freeform 52" id="52"/>
            <p:cNvSpPr/>
            <p:nvPr/>
          </p:nvSpPr>
          <p:spPr>
            <a:xfrm flipH="false" flipV="false" rot="0">
              <a:off x="0" y="0"/>
              <a:ext cx="926592" cy="1755648"/>
            </a:xfrm>
            <a:custGeom>
              <a:avLst/>
              <a:gdLst/>
              <a:ahLst/>
              <a:cxnLst/>
              <a:rect r="r" b="b" t="t" l="l"/>
              <a:pathLst>
                <a:path h="1755648" w="926592">
                  <a:moveTo>
                    <a:pt x="0" y="0"/>
                  </a:moveTo>
                  <a:lnTo>
                    <a:pt x="926592" y="0"/>
                  </a:lnTo>
                  <a:lnTo>
                    <a:pt x="926592" y="1755648"/>
                  </a:lnTo>
                  <a:lnTo>
                    <a:pt x="0" y="1755648"/>
                  </a:lnTo>
                  <a:close/>
                </a:path>
              </a:pathLst>
            </a:custGeom>
            <a:blipFill>
              <a:blip r:embed="rId7">
                <a:alphaModFix amt="0"/>
              </a:blip>
              <a:stretch>
                <a:fillRect l="-193270" t="0" r="-193271" b="0"/>
              </a:stretch>
            </a:blipFill>
          </p:spPr>
        </p:sp>
      </p:grpSp>
      <p:grpSp>
        <p:nvGrpSpPr>
          <p:cNvPr name="Group 53" id="53"/>
          <p:cNvGrpSpPr/>
          <p:nvPr/>
        </p:nvGrpSpPr>
        <p:grpSpPr>
          <a:xfrm rot="0">
            <a:off x="9093812" y="3636645"/>
            <a:ext cx="636045" cy="1250906"/>
            <a:chOff x="0" y="0"/>
            <a:chExt cx="926592" cy="1822323"/>
          </a:xfrm>
        </p:grpSpPr>
        <p:sp>
          <p:nvSpPr>
            <p:cNvPr name="Freeform 54" id="54"/>
            <p:cNvSpPr/>
            <p:nvPr/>
          </p:nvSpPr>
          <p:spPr>
            <a:xfrm flipH="false" flipV="false" rot="0">
              <a:off x="0" y="0"/>
              <a:ext cx="926592" cy="1822323"/>
            </a:xfrm>
            <a:custGeom>
              <a:avLst/>
              <a:gdLst/>
              <a:ahLst/>
              <a:cxnLst/>
              <a:rect r="r" b="b" t="t" l="l"/>
              <a:pathLst>
                <a:path h="1822323" w="926592">
                  <a:moveTo>
                    <a:pt x="0" y="0"/>
                  </a:moveTo>
                  <a:lnTo>
                    <a:pt x="926592" y="0"/>
                  </a:lnTo>
                  <a:lnTo>
                    <a:pt x="926592" y="1822323"/>
                  </a:lnTo>
                  <a:lnTo>
                    <a:pt x="0" y="1822323"/>
                  </a:lnTo>
                  <a:close/>
                </a:path>
              </a:pathLst>
            </a:custGeom>
            <a:blipFill>
              <a:blip r:embed="rId8">
                <a:alphaModFix amt="0"/>
              </a:blip>
              <a:stretch>
                <a:fillRect l="-202333" t="0" r="-202333" b="0"/>
              </a:stretch>
            </a:blipFill>
          </p:spPr>
        </p:sp>
        <p:sp>
          <p:nvSpPr>
            <p:cNvPr name="TextBox 55" id="55"/>
            <p:cNvSpPr txBox="true"/>
            <p:nvPr/>
          </p:nvSpPr>
          <p:spPr>
            <a:xfrm>
              <a:off x="0" y="-66675"/>
              <a:ext cx="926592" cy="1888998"/>
            </a:xfrm>
            <a:prstGeom prst="rect">
              <a:avLst/>
            </a:prstGeom>
          </p:spPr>
          <p:txBody>
            <a:bodyPr anchor="ctr" rtlCol="false" tIns="0" lIns="0" bIns="0" rIns="0"/>
            <a:lstStyle/>
            <a:p>
              <a:pPr algn="ctr">
                <a:lnSpc>
                  <a:spcPts val="3358"/>
                </a:lnSpc>
              </a:pPr>
              <a:r>
                <a:rPr lang="en-US" sz="2799">
                  <a:solidFill>
                    <a:srgbClr val="6B6B6B"/>
                  </a:solidFill>
                  <a:latin typeface="Calibri (MS)"/>
                  <a:ea typeface="Calibri (MS)"/>
                  <a:cs typeface="Calibri (MS)"/>
                  <a:sym typeface="Calibri (MS)"/>
                </a:rPr>
                <a:t>→</a:t>
              </a:r>
            </a:p>
          </p:txBody>
        </p:sp>
      </p:grpSp>
      <p:sp>
        <p:nvSpPr>
          <p:cNvPr name="Freeform 56" id="56"/>
          <p:cNvSpPr/>
          <p:nvPr/>
        </p:nvSpPr>
        <p:spPr>
          <a:xfrm flipH="false" flipV="false" rot="0">
            <a:off x="9216096" y="3670792"/>
            <a:ext cx="3504700" cy="1228327"/>
          </a:xfrm>
          <a:custGeom>
            <a:avLst/>
            <a:gdLst/>
            <a:ahLst/>
            <a:cxnLst/>
            <a:rect r="r" b="b" t="t" l="l"/>
            <a:pathLst>
              <a:path h="1228327" w="3504700">
                <a:moveTo>
                  <a:pt x="0" y="0"/>
                </a:moveTo>
                <a:lnTo>
                  <a:pt x="3504699" y="0"/>
                </a:lnTo>
                <a:lnTo>
                  <a:pt x="3504699" y="1228328"/>
                </a:lnTo>
                <a:lnTo>
                  <a:pt x="0" y="1228328"/>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57" id="57"/>
          <p:cNvGrpSpPr/>
          <p:nvPr/>
        </p:nvGrpSpPr>
        <p:grpSpPr>
          <a:xfrm rot="0">
            <a:off x="9227716" y="3682413"/>
            <a:ext cx="3481511" cy="1205138"/>
            <a:chOff x="0" y="0"/>
            <a:chExt cx="5071872" cy="1755648"/>
          </a:xfrm>
        </p:grpSpPr>
        <p:sp>
          <p:nvSpPr>
            <p:cNvPr name="Freeform 58" id="58"/>
            <p:cNvSpPr/>
            <p:nvPr/>
          </p:nvSpPr>
          <p:spPr>
            <a:xfrm flipH="false" flipV="false" rot="0">
              <a:off x="0" y="0"/>
              <a:ext cx="5071872" cy="1755648"/>
            </a:xfrm>
            <a:custGeom>
              <a:avLst/>
              <a:gdLst/>
              <a:ahLst/>
              <a:cxnLst/>
              <a:rect r="r" b="b" t="t" l="l"/>
              <a:pathLst>
                <a:path h="1755648" w="5071872">
                  <a:moveTo>
                    <a:pt x="0" y="0"/>
                  </a:moveTo>
                  <a:lnTo>
                    <a:pt x="5071872" y="0"/>
                  </a:lnTo>
                  <a:lnTo>
                    <a:pt x="5071872" y="1755648"/>
                  </a:lnTo>
                  <a:lnTo>
                    <a:pt x="0" y="1755648"/>
                  </a:lnTo>
                  <a:close/>
                </a:path>
              </a:pathLst>
            </a:custGeom>
            <a:blipFill>
              <a:blip r:embed="rId7">
                <a:alphaModFix amt="0"/>
              </a:blip>
              <a:stretch>
                <a:fillRect l="0" t="-6250" r="0" b="-6251"/>
              </a:stretch>
            </a:blipFill>
          </p:spPr>
        </p:sp>
      </p:grpSp>
      <p:grpSp>
        <p:nvGrpSpPr>
          <p:cNvPr name="Group 59" id="59"/>
          <p:cNvGrpSpPr/>
          <p:nvPr/>
        </p:nvGrpSpPr>
        <p:grpSpPr>
          <a:xfrm rot="0">
            <a:off x="9227716" y="3656260"/>
            <a:ext cx="3481511" cy="1231291"/>
            <a:chOff x="0" y="0"/>
            <a:chExt cx="5071872" cy="1793748"/>
          </a:xfrm>
        </p:grpSpPr>
        <p:sp>
          <p:nvSpPr>
            <p:cNvPr name="Freeform 60" id="60"/>
            <p:cNvSpPr/>
            <p:nvPr/>
          </p:nvSpPr>
          <p:spPr>
            <a:xfrm flipH="false" flipV="false" rot="0">
              <a:off x="0" y="0"/>
              <a:ext cx="5071872" cy="1793748"/>
            </a:xfrm>
            <a:custGeom>
              <a:avLst/>
              <a:gdLst/>
              <a:ahLst/>
              <a:cxnLst/>
              <a:rect r="r" b="b" t="t" l="l"/>
              <a:pathLst>
                <a:path h="1793748" w="5071872">
                  <a:moveTo>
                    <a:pt x="0" y="0"/>
                  </a:moveTo>
                  <a:lnTo>
                    <a:pt x="5071872" y="0"/>
                  </a:lnTo>
                  <a:lnTo>
                    <a:pt x="5071872" y="1793748"/>
                  </a:lnTo>
                  <a:lnTo>
                    <a:pt x="0" y="1793748"/>
                  </a:lnTo>
                  <a:close/>
                </a:path>
              </a:pathLst>
            </a:custGeom>
            <a:blipFill>
              <a:blip r:embed="rId8">
                <a:alphaModFix amt="0"/>
              </a:blip>
              <a:stretch>
                <a:fillRect l="0" t="-5094" r="0" b="-5094"/>
              </a:stretch>
            </a:blipFill>
          </p:spPr>
        </p:sp>
        <p:sp>
          <p:nvSpPr>
            <p:cNvPr name="TextBox 61" id="61"/>
            <p:cNvSpPr txBox="true"/>
            <p:nvPr/>
          </p:nvSpPr>
          <p:spPr>
            <a:xfrm>
              <a:off x="0" y="-38100"/>
              <a:ext cx="5071872" cy="1831848"/>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SOC L3</a:t>
              </a:r>
            </a:p>
            <a:p>
              <a:pPr algn="ctr">
                <a:lnSpc>
                  <a:spcPts val="2279"/>
                </a:lnSpc>
              </a:pPr>
              <a:r>
                <a:rPr lang="en-US" sz="1899" b="true">
                  <a:solidFill>
                    <a:srgbClr val="FFFFFF"/>
                  </a:solidFill>
                  <a:latin typeface="Calibri (MS) Bold"/>
                  <a:ea typeface="Calibri (MS) Bold"/>
                  <a:cs typeface="Calibri (MS) Bold"/>
                  <a:sym typeface="Calibri (MS) Bold"/>
                </a:rPr>
                <a:t>Senior/TH</a:t>
              </a:r>
            </a:p>
          </p:txBody>
        </p:sp>
      </p:grpSp>
      <p:sp>
        <p:nvSpPr>
          <p:cNvPr name="Freeform 62" id="62"/>
          <p:cNvSpPr/>
          <p:nvPr/>
        </p:nvSpPr>
        <p:spPr>
          <a:xfrm flipH="false" flipV="false" rot="0">
            <a:off x="9216096" y="4909407"/>
            <a:ext cx="3504700" cy="1496136"/>
          </a:xfrm>
          <a:custGeom>
            <a:avLst/>
            <a:gdLst/>
            <a:ahLst/>
            <a:cxnLst/>
            <a:rect r="r" b="b" t="t" l="l"/>
            <a:pathLst>
              <a:path h="1496136" w="3504700">
                <a:moveTo>
                  <a:pt x="0" y="0"/>
                </a:moveTo>
                <a:lnTo>
                  <a:pt x="3504699" y="0"/>
                </a:lnTo>
                <a:lnTo>
                  <a:pt x="3504699" y="1496136"/>
                </a:lnTo>
                <a:lnTo>
                  <a:pt x="0" y="149613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63" id="63"/>
          <p:cNvSpPr txBox="true"/>
          <p:nvPr/>
        </p:nvSpPr>
        <p:spPr>
          <a:xfrm rot="0">
            <a:off x="9428518" y="5120220"/>
            <a:ext cx="3079798" cy="1285322"/>
          </a:xfrm>
          <a:prstGeom prst="rect">
            <a:avLst/>
          </a:prstGeom>
        </p:spPr>
        <p:txBody>
          <a:bodyPr anchor="t" rtlCol="false" tIns="0" lIns="0" bIns="0" rIns="0">
            <a:spAutoFit/>
          </a:bodyPr>
          <a:lstStyle/>
          <a:p>
            <a:pPr algn="l">
              <a:lnSpc>
                <a:spcPts val="1976"/>
              </a:lnSpc>
            </a:pPr>
            <a:r>
              <a:rPr lang="en-US" sz="1647">
                <a:solidFill>
                  <a:srgbClr val="333333"/>
                </a:solidFill>
                <a:latin typeface="Calibri (MS)"/>
                <a:ea typeface="Calibri (MS)"/>
                <a:cs typeface="Calibri (MS)"/>
                <a:sym typeface="Calibri (MS)"/>
              </a:rPr>
              <a:t>Hunting proactivo, análisis forense, CTI, desarrollo de reglas.</a:t>
            </a:r>
          </a:p>
        </p:txBody>
      </p:sp>
      <p:grpSp>
        <p:nvGrpSpPr>
          <p:cNvPr name="Group 64" id="64"/>
          <p:cNvGrpSpPr/>
          <p:nvPr/>
        </p:nvGrpSpPr>
        <p:grpSpPr>
          <a:xfrm rot="0">
            <a:off x="12742703" y="3682413"/>
            <a:ext cx="636045" cy="1205138"/>
            <a:chOff x="0" y="0"/>
            <a:chExt cx="926592" cy="1755648"/>
          </a:xfrm>
        </p:grpSpPr>
        <p:sp>
          <p:nvSpPr>
            <p:cNvPr name="Freeform 65" id="65"/>
            <p:cNvSpPr/>
            <p:nvPr/>
          </p:nvSpPr>
          <p:spPr>
            <a:xfrm flipH="false" flipV="false" rot="0">
              <a:off x="0" y="0"/>
              <a:ext cx="926592" cy="1755648"/>
            </a:xfrm>
            <a:custGeom>
              <a:avLst/>
              <a:gdLst/>
              <a:ahLst/>
              <a:cxnLst/>
              <a:rect r="r" b="b" t="t" l="l"/>
              <a:pathLst>
                <a:path h="1755648" w="926592">
                  <a:moveTo>
                    <a:pt x="0" y="0"/>
                  </a:moveTo>
                  <a:lnTo>
                    <a:pt x="926592" y="0"/>
                  </a:lnTo>
                  <a:lnTo>
                    <a:pt x="926592" y="1755648"/>
                  </a:lnTo>
                  <a:lnTo>
                    <a:pt x="0" y="1755648"/>
                  </a:lnTo>
                  <a:close/>
                </a:path>
              </a:pathLst>
            </a:custGeom>
            <a:blipFill>
              <a:blip r:embed="rId7">
                <a:alphaModFix amt="0"/>
              </a:blip>
              <a:stretch>
                <a:fillRect l="-193270" t="0" r="-193271" b="0"/>
              </a:stretch>
            </a:blipFill>
          </p:spPr>
        </p:sp>
      </p:grpSp>
      <p:grpSp>
        <p:nvGrpSpPr>
          <p:cNvPr name="Group 66" id="66"/>
          <p:cNvGrpSpPr/>
          <p:nvPr/>
        </p:nvGrpSpPr>
        <p:grpSpPr>
          <a:xfrm rot="0">
            <a:off x="12742703" y="3636645"/>
            <a:ext cx="636045" cy="1250906"/>
            <a:chOff x="0" y="0"/>
            <a:chExt cx="926592" cy="1822323"/>
          </a:xfrm>
        </p:grpSpPr>
        <p:sp>
          <p:nvSpPr>
            <p:cNvPr name="Freeform 67" id="67"/>
            <p:cNvSpPr/>
            <p:nvPr/>
          </p:nvSpPr>
          <p:spPr>
            <a:xfrm flipH="false" flipV="false" rot="0">
              <a:off x="0" y="0"/>
              <a:ext cx="926592" cy="1822323"/>
            </a:xfrm>
            <a:custGeom>
              <a:avLst/>
              <a:gdLst/>
              <a:ahLst/>
              <a:cxnLst/>
              <a:rect r="r" b="b" t="t" l="l"/>
              <a:pathLst>
                <a:path h="1822323" w="926592">
                  <a:moveTo>
                    <a:pt x="0" y="0"/>
                  </a:moveTo>
                  <a:lnTo>
                    <a:pt x="926592" y="0"/>
                  </a:lnTo>
                  <a:lnTo>
                    <a:pt x="926592" y="1822323"/>
                  </a:lnTo>
                  <a:lnTo>
                    <a:pt x="0" y="1822323"/>
                  </a:lnTo>
                  <a:close/>
                </a:path>
              </a:pathLst>
            </a:custGeom>
            <a:blipFill>
              <a:blip r:embed="rId8">
                <a:alphaModFix amt="0"/>
              </a:blip>
              <a:stretch>
                <a:fillRect l="-202333" t="0" r="-202333" b="0"/>
              </a:stretch>
            </a:blipFill>
          </p:spPr>
        </p:sp>
        <p:sp>
          <p:nvSpPr>
            <p:cNvPr name="TextBox 68" id="68"/>
            <p:cNvSpPr txBox="true"/>
            <p:nvPr/>
          </p:nvSpPr>
          <p:spPr>
            <a:xfrm>
              <a:off x="0" y="-66675"/>
              <a:ext cx="926592" cy="1888998"/>
            </a:xfrm>
            <a:prstGeom prst="rect">
              <a:avLst/>
            </a:prstGeom>
          </p:spPr>
          <p:txBody>
            <a:bodyPr anchor="ctr" rtlCol="false" tIns="0" lIns="0" bIns="0" rIns="0"/>
            <a:lstStyle/>
            <a:p>
              <a:pPr algn="ctr">
                <a:lnSpc>
                  <a:spcPts val="3358"/>
                </a:lnSpc>
              </a:pPr>
              <a:r>
                <a:rPr lang="en-US" sz="2799">
                  <a:solidFill>
                    <a:srgbClr val="6B6B6B"/>
                  </a:solidFill>
                  <a:latin typeface="Calibri (MS)"/>
                  <a:ea typeface="Calibri (MS)"/>
                  <a:cs typeface="Calibri (MS)"/>
                  <a:sym typeface="Calibri (MS)"/>
                </a:rPr>
                <a:t>→</a:t>
              </a:r>
            </a:p>
          </p:txBody>
        </p:sp>
      </p:grpSp>
      <p:sp>
        <p:nvSpPr>
          <p:cNvPr name="Freeform 69" id="69"/>
          <p:cNvSpPr/>
          <p:nvPr/>
        </p:nvSpPr>
        <p:spPr>
          <a:xfrm flipH="false" flipV="false" rot="0">
            <a:off x="12864987" y="3670792"/>
            <a:ext cx="3504700" cy="1228327"/>
          </a:xfrm>
          <a:custGeom>
            <a:avLst/>
            <a:gdLst/>
            <a:ahLst/>
            <a:cxnLst/>
            <a:rect r="r" b="b" t="t" l="l"/>
            <a:pathLst>
              <a:path h="1228327" w="3504700">
                <a:moveTo>
                  <a:pt x="0" y="0"/>
                </a:moveTo>
                <a:lnTo>
                  <a:pt x="3504699" y="0"/>
                </a:lnTo>
                <a:lnTo>
                  <a:pt x="3504699" y="1228328"/>
                </a:lnTo>
                <a:lnTo>
                  <a:pt x="0" y="122832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70" id="70"/>
          <p:cNvGrpSpPr/>
          <p:nvPr/>
        </p:nvGrpSpPr>
        <p:grpSpPr>
          <a:xfrm rot="0">
            <a:off x="12876607" y="3682413"/>
            <a:ext cx="3481511" cy="1205138"/>
            <a:chOff x="0" y="0"/>
            <a:chExt cx="5071872" cy="1755648"/>
          </a:xfrm>
        </p:grpSpPr>
        <p:sp>
          <p:nvSpPr>
            <p:cNvPr name="Freeform 71" id="71"/>
            <p:cNvSpPr/>
            <p:nvPr/>
          </p:nvSpPr>
          <p:spPr>
            <a:xfrm flipH="false" flipV="false" rot="0">
              <a:off x="0" y="0"/>
              <a:ext cx="5071872" cy="1755648"/>
            </a:xfrm>
            <a:custGeom>
              <a:avLst/>
              <a:gdLst/>
              <a:ahLst/>
              <a:cxnLst/>
              <a:rect r="r" b="b" t="t" l="l"/>
              <a:pathLst>
                <a:path h="1755648" w="5071872">
                  <a:moveTo>
                    <a:pt x="0" y="0"/>
                  </a:moveTo>
                  <a:lnTo>
                    <a:pt x="5071872" y="0"/>
                  </a:lnTo>
                  <a:lnTo>
                    <a:pt x="5071872" y="1755648"/>
                  </a:lnTo>
                  <a:lnTo>
                    <a:pt x="0" y="1755648"/>
                  </a:lnTo>
                  <a:close/>
                </a:path>
              </a:pathLst>
            </a:custGeom>
            <a:blipFill>
              <a:blip r:embed="rId7">
                <a:alphaModFix amt="0"/>
              </a:blip>
              <a:stretch>
                <a:fillRect l="0" t="-6250" r="0" b="-6251"/>
              </a:stretch>
            </a:blipFill>
          </p:spPr>
        </p:sp>
      </p:grpSp>
      <p:grpSp>
        <p:nvGrpSpPr>
          <p:cNvPr name="Group 72" id="72"/>
          <p:cNvGrpSpPr/>
          <p:nvPr/>
        </p:nvGrpSpPr>
        <p:grpSpPr>
          <a:xfrm rot="0">
            <a:off x="12876607" y="3656260"/>
            <a:ext cx="3481511" cy="1231291"/>
            <a:chOff x="0" y="0"/>
            <a:chExt cx="5071872" cy="1793748"/>
          </a:xfrm>
        </p:grpSpPr>
        <p:sp>
          <p:nvSpPr>
            <p:cNvPr name="Freeform 73" id="73"/>
            <p:cNvSpPr/>
            <p:nvPr/>
          </p:nvSpPr>
          <p:spPr>
            <a:xfrm flipH="false" flipV="false" rot="0">
              <a:off x="0" y="0"/>
              <a:ext cx="5071872" cy="1793748"/>
            </a:xfrm>
            <a:custGeom>
              <a:avLst/>
              <a:gdLst/>
              <a:ahLst/>
              <a:cxnLst/>
              <a:rect r="r" b="b" t="t" l="l"/>
              <a:pathLst>
                <a:path h="1793748" w="5071872">
                  <a:moveTo>
                    <a:pt x="0" y="0"/>
                  </a:moveTo>
                  <a:lnTo>
                    <a:pt x="5071872" y="0"/>
                  </a:lnTo>
                  <a:lnTo>
                    <a:pt x="5071872" y="1793748"/>
                  </a:lnTo>
                  <a:lnTo>
                    <a:pt x="0" y="1793748"/>
                  </a:lnTo>
                  <a:close/>
                </a:path>
              </a:pathLst>
            </a:custGeom>
            <a:blipFill>
              <a:blip r:embed="rId8">
                <a:alphaModFix amt="0"/>
              </a:blip>
              <a:stretch>
                <a:fillRect l="0" t="-5094" r="0" b="-5094"/>
              </a:stretch>
            </a:blipFill>
          </p:spPr>
        </p:sp>
        <p:sp>
          <p:nvSpPr>
            <p:cNvPr name="TextBox 74" id="74"/>
            <p:cNvSpPr txBox="true"/>
            <p:nvPr/>
          </p:nvSpPr>
          <p:spPr>
            <a:xfrm>
              <a:off x="0" y="-38100"/>
              <a:ext cx="5071872" cy="1831848"/>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Team Lead /</a:t>
              </a:r>
            </a:p>
            <a:p>
              <a:pPr algn="ctr">
                <a:lnSpc>
                  <a:spcPts val="2279"/>
                </a:lnSpc>
              </a:pPr>
              <a:r>
                <a:rPr lang="en-US" sz="1899" b="true">
                  <a:solidFill>
                    <a:srgbClr val="FFFFFF"/>
                  </a:solidFill>
                  <a:latin typeface="Calibri (MS) Bold"/>
                  <a:ea typeface="Calibri (MS) Bold"/>
                  <a:cs typeface="Calibri (MS) Bold"/>
                  <a:sym typeface="Calibri (MS) Bold"/>
                </a:rPr>
                <a:t>SOC Manager</a:t>
              </a:r>
            </a:p>
          </p:txBody>
        </p:sp>
      </p:grpSp>
      <p:sp>
        <p:nvSpPr>
          <p:cNvPr name="Freeform 75" id="75"/>
          <p:cNvSpPr/>
          <p:nvPr/>
        </p:nvSpPr>
        <p:spPr>
          <a:xfrm flipH="false" flipV="false" rot="0">
            <a:off x="12864987" y="4909407"/>
            <a:ext cx="3504700" cy="1496136"/>
          </a:xfrm>
          <a:custGeom>
            <a:avLst/>
            <a:gdLst/>
            <a:ahLst/>
            <a:cxnLst/>
            <a:rect r="r" b="b" t="t" l="l"/>
            <a:pathLst>
              <a:path h="1496136" w="3504700">
                <a:moveTo>
                  <a:pt x="0" y="0"/>
                </a:moveTo>
                <a:lnTo>
                  <a:pt x="3504699" y="0"/>
                </a:lnTo>
                <a:lnTo>
                  <a:pt x="3504699" y="1496136"/>
                </a:lnTo>
                <a:lnTo>
                  <a:pt x="0" y="149613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76" id="76"/>
          <p:cNvSpPr txBox="true"/>
          <p:nvPr/>
        </p:nvSpPr>
        <p:spPr>
          <a:xfrm rot="0">
            <a:off x="13077409" y="5120220"/>
            <a:ext cx="3079798" cy="1285322"/>
          </a:xfrm>
          <a:prstGeom prst="rect">
            <a:avLst/>
          </a:prstGeom>
        </p:spPr>
        <p:txBody>
          <a:bodyPr anchor="t" rtlCol="false" tIns="0" lIns="0" bIns="0" rIns="0">
            <a:spAutoFit/>
          </a:bodyPr>
          <a:lstStyle/>
          <a:p>
            <a:pPr algn="l">
              <a:lnSpc>
                <a:spcPts val="1976"/>
              </a:lnSpc>
            </a:pPr>
            <a:r>
              <a:rPr lang="en-US" sz="1647">
                <a:solidFill>
                  <a:srgbClr val="333333"/>
                </a:solidFill>
                <a:latin typeface="Calibri (MS)"/>
                <a:ea typeface="Calibri (MS)"/>
                <a:cs typeface="Calibri (MS)"/>
                <a:sym typeface="Calibri (MS)"/>
              </a:rPr>
              <a:t>Liderazgo operativo, coordinación del equipo, reportes a management.</a:t>
            </a:r>
          </a:p>
        </p:txBody>
      </p:sp>
      <p:grpSp>
        <p:nvGrpSpPr>
          <p:cNvPr name="Group 77" id="77"/>
          <p:cNvGrpSpPr/>
          <p:nvPr/>
        </p:nvGrpSpPr>
        <p:grpSpPr>
          <a:xfrm rot="0">
            <a:off x="640080" y="6803136"/>
            <a:ext cx="17007840" cy="585216"/>
            <a:chOff x="0" y="0"/>
            <a:chExt cx="22677120" cy="780288"/>
          </a:xfrm>
        </p:grpSpPr>
        <p:sp>
          <p:nvSpPr>
            <p:cNvPr name="Freeform 78" id="78"/>
            <p:cNvSpPr/>
            <p:nvPr/>
          </p:nvSpPr>
          <p:spPr>
            <a:xfrm flipH="false" flipV="false" rot="0">
              <a:off x="0" y="0"/>
              <a:ext cx="22677120" cy="780288"/>
            </a:xfrm>
            <a:custGeom>
              <a:avLst/>
              <a:gdLst/>
              <a:ahLst/>
              <a:cxnLst/>
              <a:rect r="r" b="b" t="t" l="l"/>
              <a:pathLst>
                <a:path h="780288" w="22677120">
                  <a:moveTo>
                    <a:pt x="0" y="0"/>
                  </a:moveTo>
                  <a:lnTo>
                    <a:pt x="22677120" y="0"/>
                  </a:lnTo>
                  <a:lnTo>
                    <a:pt x="22677120" y="780288"/>
                  </a:lnTo>
                  <a:lnTo>
                    <a:pt x="0" y="780288"/>
                  </a:lnTo>
                  <a:close/>
                </a:path>
              </a:pathLst>
            </a:custGeom>
            <a:blipFill>
              <a:blip r:embed="rId7">
                <a:alphaModFix amt="0"/>
              </a:blip>
              <a:stretch>
                <a:fillRect l="0" t="-515890" r="0" b="-515890"/>
              </a:stretch>
            </a:blipFill>
          </p:spPr>
        </p:sp>
      </p:grpSp>
      <p:grpSp>
        <p:nvGrpSpPr>
          <p:cNvPr name="Group 79" id="79"/>
          <p:cNvGrpSpPr/>
          <p:nvPr/>
        </p:nvGrpSpPr>
        <p:grpSpPr>
          <a:xfrm rot="0">
            <a:off x="640080" y="6767417"/>
            <a:ext cx="17007840" cy="620935"/>
            <a:chOff x="0" y="0"/>
            <a:chExt cx="22677120" cy="827913"/>
          </a:xfrm>
        </p:grpSpPr>
        <p:sp>
          <p:nvSpPr>
            <p:cNvPr name="Freeform 80" id="80"/>
            <p:cNvSpPr/>
            <p:nvPr/>
          </p:nvSpPr>
          <p:spPr>
            <a:xfrm flipH="false" flipV="false" rot="0">
              <a:off x="0" y="0"/>
              <a:ext cx="22677120" cy="827913"/>
            </a:xfrm>
            <a:custGeom>
              <a:avLst/>
              <a:gdLst/>
              <a:ahLst/>
              <a:cxnLst/>
              <a:rect r="r" b="b" t="t" l="l"/>
              <a:pathLst>
                <a:path h="827913" w="22677120">
                  <a:moveTo>
                    <a:pt x="0" y="0"/>
                  </a:moveTo>
                  <a:lnTo>
                    <a:pt x="22677120" y="0"/>
                  </a:lnTo>
                  <a:lnTo>
                    <a:pt x="22677120" y="827913"/>
                  </a:lnTo>
                  <a:lnTo>
                    <a:pt x="0" y="827913"/>
                  </a:lnTo>
                  <a:close/>
                </a:path>
              </a:pathLst>
            </a:custGeom>
            <a:blipFill>
              <a:blip r:embed="rId8">
                <a:alphaModFix amt="0"/>
              </a:blip>
              <a:stretch>
                <a:fillRect l="0" t="-483708" r="0" b="-483708"/>
              </a:stretch>
            </a:blipFill>
          </p:spPr>
        </p:sp>
        <p:sp>
          <p:nvSpPr>
            <p:cNvPr name="TextBox 81" id="81"/>
            <p:cNvSpPr txBox="true"/>
            <p:nvPr/>
          </p:nvSpPr>
          <p:spPr>
            <a:xfrm>
              <a:off x="0" y="-47625"/>
              <a:ext cx="22677120" cy="875538"/>
            </a:xfrm>
            <a:prstGeom prst="rect">
              <a:avLst/>
            </a:prstGeom>
          </p:spPr>
          <p:txBody>
            <a:bodyPr anchor="ctr" rtlCol="false" tIns="0" lIns="0" bIns="0" rIns="0"/>
            <a:lstStyle/>
            <a:p>
              <a:pPr algn="l">
                <a:lnSpc>
                  <a:spcPts val="2520"/>
                </a:lnSpc>
              </a:pPr>
              <a:r>
                <a:rPr lang="en-US" sz="2100" b="true">
                  <a:solidFill>
                    <a:srgbClr val="8A004F"/>
                  </a:solidFill>
                  <a:latin typeface="Calibri (MS) Bold"/>
                  <a:ea typeface="Calibri (MS) Bold"/>
                  <a:cs typeface="Calibri (MS) Bold"/>
                  <a:sym typeface="Calibri (MS) Bold"/>
                </a:rPr>
                <a:t>Especializaciones posibles desde el SOC:</a:t>
              </a:r>
            </a:p>
          </p:txBody>
        </p:sp>
      </p:grpSp>
      <p:sp>
        <p:nvSpPr>
          <p:cNvPr name="Freeform 82" id="82"/>
          <p:cNvSpPr/>
          <p:nvPr/>
        </p:nvSpPr>
        <p:spPr>
          <a:xfrm flipH="false" flipV="false" rot="0">
            <a:off x="1918314" y="7649320"/>
            <a:ext cx="3472583" cy="634821"/>
          </a:xfrm>
          <a:custGeom>
            <a:avLst/>
            <a:gdLst/>
            <a:ahLst/>
            <a:cxnLst/>
            <a:rect r="r" b="b" t="t" l="l"/>
            <a:pathLst>
              <a:path h="634821" w="3472583">
                <a:moveTo>
                  <a:pt x="0" y="0"/>
                </a:moveTo>
                <a:lnTo>
                  <a:pt x="3472583" y="0"/>
                </a:lnTo>
                <a:lnTo>
                  <a:pt x="3472583" y="634821"/>
                </a:lnTo>
                <a:lnTo>
                  <a:pt x="0" y="634821"/>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83" id="83"/>
          <p:cNvGrpSpPr/>
          <p:nvPr/>
        </p:nvGrpSpPr>
        <p:grpSpPr>
          <a:xfrm rot="0">
            <a:off x="1928963" y="7659970"/>
            <a:ext cx="3451332" cy="613570"/>
            <a:chOff x="0" y="0"/>
            <a:chExt cx="5486400" cy="975360"/>
          </a:xfrm>
        </p:grpSpPr>
        <p:sp>
          <p:nvSpPr>
            <p:cNvPr name="Freeform 84" id="84"/>
            <p:cNvSpPr/>
            <p:nvPr/>
          </p:nvSpPr>
          <p:spPr>
            <a:xfrm flipH="false" flipV="false" rot="0">
              <a:off x="0" y="0"/>
              <a:ext cx="5486400" cy="975360"/>
            </a:xfrm>
            <a:custGeom>
              <a:avLst/>
              <a:gdLst/>
              <a:ahLst/>
              <a:cxnLst/>
              <a:rect r="r" b="b" t="t" l="l"/>
              <a:pathLst>
                <a:path h="975360" w="5486400">
                  <a:moveTo>
                    <a:pt x="0" y="0"/>
                  </a:moveTo>
                  <a:lnTo>
                    <a:pt x="5486400" y="0"/>
                  </a:lnTo>
                  <a:lnTo>
                    <a:pt x="5486400" y="975360"/>
                  </a:lnTo>
                  <a:lnTo>
                    <a:pt x="0" y="975360"/>
                  </a:lnTo>
                  <a:close/>
                </a:path>
              </a:pathLst>
            </a:custGeom>
            <a:blipFill>
              <a:blip r:embed="rId7">
                <a:alphaModFix amt="0"/>
              </a:blip>
              <a:stretch>
                <a:fillRect l="0" t="-59527" r="0" b="-59527"/>
              </a:stretch>
            </a:blipFill>
          </p:spPr>
        </p:sp>
      </p:grpSp>
      <p:grpSp>
        <p:nvGrpSpPr>
          <p:cNvPr name="Group 85" id="85"/>
          <p:cNvGrpSpPr/>
          <p:nvPr/>
        </p:nvGrpSpPr>
        <p:grpSpPr>
          <a:xfrm rot="0">
            <a:off x="1928963" y="7636002"/>
            <a:ext cx="3451332" cy="637538"/>
            <a:chOff x="0" y="0"/>
            <a:chExt cx="5486400" cy="1013460"/>
          </a:xfrm>
        </p:grpSpPr>
        <p:sp>
          <p:nvSpPr>
            <p:cNvPr name="Freeform 86" id="86"/>
            <p:cNvSpPr/>
            <p:nvPr/>
          </p:nvSpPr>
          <p:spPr>
            <a:xfrm flipH="false" flipV="false" rot="0">
              <a:off x="0" y="0"/>
              <a:ext cx="5486400" cy="1013460"/>
            </a:xfrm>
            <a:custGeom>
              <a:avLst/>
              <a:gdLst/>
              <a:ahLst/>
              <a:cxnLst/>
              <a:rect r="r" b="b" t="t" l="l"/>
              <a:pathLst>
                <a:path h="1013460" w="5486400">
                  <a:moveTo>
                    <a:pt x="0" y="0"/>
                  </a:moveTo>
                  <a:lnTo>
                    <a:pt x="5486400" y="0"/>
                  </a:lnTo>
                  <a:lnTo>
                    <a:pt x="5486400" y="1013460"/>
                  </a:lnTo>
                  <a:lnTo>
                    <a:pt x="0" y="1013460"/>
                  </a:lnTo>
                  <a:close/>
                </a:path>
              </a:pathLst>
            </a:custGeom>
            <a:blipFill>
              <a:blip r:embed="rId8">
                <a:alphaModFix amt="0"/>
              </a:blip>
              <a:stretch>
                <a:fillRect l="0" t="-55482" r="0" b="-55482"/>
              </a:stretch>
            </a:blipFill>
          </p:spPr>
        </p:sp>
        <p:sp>
          <p:nvSpPr>
            <p:cNvPr name="TextBox 87" id="87"/>
            <p:cNvSpPr txBox="true"/>
            <p:nvPr/>
          </p:nvSpPr>
          <p:spPr>
            <a:xfrm>
              <a:off x="0" y="-38100"/>
              <a:ext cx="5486400" cy="1051560"/>
            </a:xfrm>
            <a:prstGeom prst="rect">
              <a:avLst/>
            </a:prstGeom>
          </p:spPr>
          <p:txBody>
            <a:bodyPr anchor="ctr" rtlCol="false" tIns="0" lIns="0" bIns="0" rIns="0"/>
            <a:lstStyle/>
            <a:p>
              <a:pPr algn="ctr">
                <a:lnSpc>
                  <a:spcPts val="2040"/>
                </a:lnSpc>
              </a:pPr>
              <a:r>
                <a:rPr lang="en-US" sz="1700" b="true">
                  <a:solidFill>
                    <a:srgbClr val="FFFFFF"/>
                  </a:solidFill>
                  <a:latin typeface="Calibri (MS) Bold"/>
                  <a:ea typeface="Calibri (MS) Bold"/>
                  <a:cs typeface="Calibri (MS) Bold"/>
                  <a:sym typeface="Calibri (MS) Bold"/>
                </a:rPr>
                <a:t>Ingeniería de Seguridad</a:t>
              </a:r>
            </a:p>
          </p:txBody>
        </p:sp>
      </p:grpSp>
      <p:sp>
        <p:nvSpPr>
          <p:cNvPr name="Freeform 88" id="88"/>
          <p:cNvSpPr/>
          <p:nvPr/>
        </p:nvSpPr>
        <p:spPr>
          <a:xfrm flipH="false" flipV="false" rot="0">
            <a:off x="1918314" y="8293569"/>
            <a:ext cx="3472583" cy="1125678"/>
          </a:xfrm>
          <a:custGeom>
            <a:avLst/>
            <a:gdLst/>
            <a:ahLst/>
            <a:cxnLst/>
            <a:rect r="r" b="b" t="t" l="l"/>
            <a:pathLst>
              <a:path h="1125678" w="3472583">
                <a:moveTo>
                  <a:pt x="0" y="0"/>
                </a:moveTo>
                <a:lnTo>
                  <a:pt x="3472583" y="0"/>
                </a:lnTo>
                <a:lnTo>
                  <a:pt x="3472583" y="1125677"/>
                </a:lnTo>
                <a:lnTo>
                  <a:pt x="0" y="1125677"/>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TextBox 89" id="89"/>
          <p:cNvSpPr txBox="true"/>
          <p:nvPr/>
        </p:nvSpPr>
        <p:spPr>
          <a:xfrm rot="0">
            <a:off x="2130736" y="8425852"/>
            <a:ext cx="3067851" cy="944394"/>
          </a:xfrm>
          <a:prstGeom prst="rect">
            <a:avLst/>
          </a:prstGeom>
        </p:spPr>
        <p:txBody>
          <a:bodyPr anchor="t" rtlCol="false" tIns="0" lIns="0" bIns="0" rIns="0">
            <a:spAutoFit/>
          </a:bodyPr>
          <a:lstStyle/>
          <a:p>
            <a:pPr algn="l">
              <a:lnSpc>
                <a:spcPts val="1811"/>
              </a:lnSpc>
            </a:pPr>
            <a:r>
              <a:rPr lang="en-US" sz="1509">
                <a:solidFill>
                  <a:srgbClr val="444444"/>
                </a:solidFill>
                <a:latin typeface="Calibri (MS)"/>
                <a:ea typeface="Calibri (MS)"/>
                <a:cs typeface="Calibri (MS)"/>
                <a:sym typeface="Calibri (MS)"/>
              </a:rPr>
              <a:t>SIEM, SOAR, automatización, arquitecturas seguras</a:t>
            </a:r>
          </a:p>
        </p:txBody>
      </p:sp>
      <p:sp>
        <p:nvSpPr>
          <p:cNvPr name="Freeform 90" id="90"/>
          <p:cNvSpPr/>
          <p:nvPr/>
        </p:nvSpPr>
        <p:spPr>
          <a:xfrm flipH="false" flipV="false" rot="0">
            <a:off x="5599734" y="7649320"/>
            <a:ext cx="3472583" cy="634821"/>
          </a:xfrm>
          <a:custGeom>
            <a:avLst/>
            <a:gdLst/>
            <a:ahLst/>
            <a:cxnLst/>
            <a:rect r="r" b="b" t="t" l="l"/>
            <a:pathLst>
              <a:path h="634821" w="3472583">
                <a:moveTo>
                  <a:pt x="0" y="0"/>
                </a:moveTo>
                <a:lnTo>
                  <a:pt x="3472584" y="0"/>
                </a:lnTo>
                <a:lnTo>
                  <a:pt x="3472584" y="634821"/>
                </a:lnTo>
                <a:lnTo>
                  <a:pt x="0" y="634821"/>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grpSp>
        <p:nvGrpSpPr>
          <p:cNvPr name="Group 91" id="91"/>
          <p:cNvGrpSpPr/>
          <p:nvPr/>
        </p:nvGrpSpPr>
        <p:grpSpPr>
          <a:xfrm rot="0">
            <a:off x="5610384" y="7659970"/>
            <a:ext cx="3451332" cy="613570"/>
            <a:chOff x="0" y="0"/>
            <a:chExt cx="5486400" cy="975360"/>
          </a:xfrm>
        </p:grpSpPr>
        <p:sp>
          <p:nvSpPr>
            <p:cNvPr name="Freeform 92" id="92"/>
            <p:cNvSpPr/>
            <p:nvPr/>
          </p:nvSpPr>
          <p:spPr>
            <a:xfrm flipH="false" flipV="false" rot="0">
              <a:off x="0" y="0"/>
              <a:ext cx="5486400" cy="975360"/>
            </a:xfrm>
            <a:custGeom>
              <a:avLst/>
              <a:gdLst/>
              <a:ahLst/>
              <a:cxnLst/>
              <a:rect r="r" b="b" t="t" l="l"/>
              <a:pathLst>
                <a:path h="975360" w="5486400">
                  <a:moveTo>
                    <a:pt x="0" y="0"/>
                  </a:moveTo>
                  <a:lnTo>
                    <a:pt x="5486400" y="0"/>
                  </a:lnTo>
                  <a:lnTo>
                    <a:pt x="5486400" y="975360"/>
                  </a:lnTo>
                  <a:lnTo>
                    <a:pt x="0" y="975360"/>
                  </a:lnTo>
                  <a:close/>
                </a:path>
              </a:pathLst>
            </a:custGeom>
            <a:blipFill>
              <a:blip r:embed="rId7">
                <a:alphaModFix amt="0"/>
              </a:blip>
              <a:stretch>
                <a:fillRect l="0" t="-59527" r="0" b="-59527"/>
              </a:stretch>
            </a:blipFill>
          </p:spPr>
        </p:sp>
      </p:grpSp>
      <p:grpSp>
        <p:nvGrpSpPr>
          <p:cNvPr name="Group 93" id="93"/>
          <p:cNvGrpSpPr/>
          <p:nvPr/>
        </p:nvGrpSpPr>
        <p:grpSpPr>
          <a:xfrm rot="0">
            <a:off x="5610384" y="7636002"/>
            <a:ext cx="3451332" cy="637538"/>
            <a:chOff x="0" y="0"/>
            <a:chExt cx="5486400" cy="1013460"/>
          </a:xfrm>
        </p:grpSpPr>
        <p:sp>
          <p:nvSpPr>
            <p:cNvPr name="Freeform 94" id="94"/>
            <p:cNvSpPr/>
            <p:nvPr/>
          </p:nvSpPr>
          <p:spPr>
            <a:xfrm flipH="false" flipV="false" rot="0">
              <a:off x="0" y="0"/>
              <a:ext cx="5486400" cy="1013460"/>
            </a:xfrm>
            <a:custGeom>
              <a:avLst/>
              <a:gdLst/>
              <a:ahLst/>
              <a:cxnLst/>
              <a:rect r="r" b="b" t="t" l="l"/>
              <a:pathLst>
                <a:path h="1013460" w="5486400">
                  <a:moveTo>
                    <a:pt x="0" y="0"/>
                  </a:moveTo>
                  <a:lnTo>
                    <a:pt x="5486400" y="0"/>
                  </a:lnTo>
                  <a:lnTo>
                    <a:pt x="5486400" y="1013460"/>
                  </a:lnTo>
                  <a:lnTo>
                    <a:pt x="0" y="1013460"/>
                  </a:lnTo>
                  <a:close/>
                </a:path>
              </a:pathLst>
            </a:custGeom>
            <a:blipFill>
              <a:blip r:embed="rId8">
                <a:alphaModFix amt="0"/>
              </a:blip>
              <a:stretch>
                <a:fillRect l="0" t="-55482" r="0" b="-55482"/>
              </a:stretch>
            </a:blipFill>
          </p:spPr>
        </p:sp>
        <p:sp>
          <p:nvSpPr>
            <p:cNvPr name="TextBox 95" id="95"/>
            <p:cNvSpPr txBox="true"/>
            <p:nvPr/>
          </p:nvSpPr>
          <p:spPr>
            <a:xfrm>
              <a:off x="0" y="-38100"/>
              <a:ext cx="5486400" cy="1051560"/>
            </a:xfrm>
            <a:prstGeom prst="rect">
              <a:avLst/>
            </a:prstGeom>
          </p:spPr>
          <p:txBody>
            <a:bodyPr anchor="ctr" rtlCol="false" tIns="0" lIns="0" bIns="0" rIns="0"/>
            <a:lstStyle/>
            <a:p>
              <a:pPr algn="ctr">
                <a:lnSpc>
                  <a:spcPts val="2040"/>
                </a:lnSpc>
              </a:pPr>
              <a:r>
                <a:rPr lang="en-US" sz="1700" b="true">
                  <a:solidFill>
                    <a:srgbClr val="FFFFFF"/>
                  </a:solidFill>
                  <a:latin typeface="Calibri (MS) Bold"/>
                  <a:ea typeface="Calibri (MS) Bold"/>
                  <a:cs typeface="Calibri (MS) Bold"/>
                  <a:sym typeface="Calibri (MS) Bold"/>
                </a:rPr>
                <a:t>Forense Digital / IR</a:t>
              </a:r>
            </a:p>
          </p:txBody>
        </p:sp>
      </p:grpSp>
      <p:sp>
        <p:nvSpPr>
          <p:cNvPr name="Freeform 96" id="96"/>
          <p:cNvSpPr/>
          <p:nvPr/>
        </p:nvSpPr>
        <p:spPr>
          <a:xfrm flipH="false" flipV="false" rot="0">
            <a:off x="5599734" y="8293569"/>
            <a:ext cx="3472583" cy="1125678"/>
          </a:xfrm>
          <a:custGeom>
            <a:avLst/>
            <a:gdLst/>
            <a:ahLst/>
            <a:cxnLst/>
            <a:rect r="r" b="b" t="t" l="l"/>
            <a:pathLst>
              <a:path h="1125678" w="3472583">
                <a:moveTo>
                  <a:pt x="0" y="0"/>
                </a:moveTo>
                <a:lnTo>
                  <a:pt x="3472584" y="0"/>
                </a:lnTo>
                <a:lnTo>
                  <a:pt x="3472584" y="1125677"/>
                </a:lnTo>
                <a:lnTo>
                  <a:pt x="0" y="1125677"/>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TextBox 97" id="97"/>
          <p:cNvSpPr txBox="true"/>
          <p:nvPr/>
        </p:nvSpPr>
        <p:spPr>
          <a:xfrm rot="0">
            <a:off x="5812157" y="8425852"/>
            <a:ext cx="3067851" cy="944394"/>
          </a:xfrm>
          <a:prstGeom prst="rect">
            <a:avLst/>
          </a:prstGeom>
        </p:spPr>
        <p:txBody>
          <a:bodyPr anchor="t" rtlCol="false" tIns="0" lIns="0" bIns="0" rIns="0">
            <a:spAutoFit/>
          </a:bodyPr>
          <a:lstStyle/>
          <a:p>
            <a:pPr algn="l">
              <a:lnSpc>
                <a:spcPts val="1811"/>
              </a:lnSpc>
            </a:pPr>
            <a:r>
              <a:rPr lang="en-US" sz="1509">
                <a:solidFill>
                  <a:srgbClr val="444444"/>
                </a:solidFill>
                <a:latin typeface="Calibri (MS)"/>
                <a:ea typeface="Calibri (MS)"/>
                <a:cs typeface="Calibri (MS)"/>
                <a:sym typeface="Calibri (MS)"/>
              </a:rPr>
              <a:t>Análisis de malware, memoria, logs complejos, CSIRT</a:t>
            </a:r>
          </a:p>
        </p:txBody>
      </p:sp>
      <p:sp>
        <p:nvSpPr>
          <p:cNvPr name="Freeform 98" id="98"/>
          <p:cNvSpPr/>
          <p:nvPr/>
        </p:nvSpPr>
        <p:spPr>
          <a:xfrm flipH="false" flipV="false" rot="0">
            <a:off x="9281155" y="7649320"/>
            <a:ext cx="3472583" cy="634821"/>
          </a:xfrm>
          <a:custGeom>
            <a:avLst/>
            <a:gdLst/>
            <a:ahLst/>
            <a:cxnLst/>
            <a:rect r="r" b="b" t="t" l="l"/>
            <a:pathLst>
              <a:path h="634821" w="3472583">
                <a:moveTo>
                  <a:pt x="0" y="0"/>
                </a:moveTo>
                <a:lnTo>
                  <a:pt x="3472584" y="0"/>
                </a:lnTo>
                <a:lnTo>
                  <a:pt x="3472584" y="634821"/>
                </a:lnTo>
                <a:lnTo>
                  <a:pt x="0" y="634821"/>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grpSp>
        <p:nvGrpSpPr>
          <p:cNvPr name="Group 99" id="99"/>
          <p:cNvGrpSpPr/>
          <p:nvPr/>
        </p:nvGrpSpPr>
        <p:grpSpPr>
          <a:xfrm rot="0">
            <a:off x="9291805" y="7659970"/>
            <a:ext cx="3451332" cy="613570"/>
            <a:chOff x="0" y="0"/>
            <a:chExt cx="5486400" cy="975360"/>
          </a:xfrm>
        </p:grpSpPr>
        <p:sp>
          <p:nvSpPr>
            <p:cNvPr name="Freeform 100" id="100"/>
            <p:cNvSpPr/>
            <p:nvPr/>
          </p:nvSpPr>
          <p:spPr>
            <a:xfrm flipH="false" flipV="false" rot="0">
              <a:off x="0" y="0"/>
              <a:ext cx="5486400" cy="975360"/>
            </a:xfrm>
            <a:custGeom>
              <a:avLst/>
              <a:gdLst/>
              <a:ahLst/>
              <a:cxnLst/>
              <a:rect r="r" b="b" t="t" l="l"/>
              <a:pathLst>
                <a:path h="975360" w="5486400">
                  <a:moveTo>
                    <a:pt x="0" y="0"/>
                  </a:moveTo>
                  <a:lnTo>
                    <a:pt x="5486400" y="0"/>
                  </a:lnTo>
                  <a:lnTo>
                    <a:pt x="5486400" y="975360"/>
                  </a:lnTo>
                  <a:lnTo>
                    <a:pt x="0" y="975360"/>
                  </a:lnTo>
                  <a:close/>
                </a:path>
              </a:pathLst>
            </a:custGeom>
            <a:blipFill>
              <a:blip r:embed="rId7">
                <a:alphaModFix amt="0"/>
              </a:blip>
              <a:stretch>
                <a:fillRect l="0" t="-59527" r="0" b="-59527"/>
              </a:stretch>
            </a:blipFill>
          </p:spPr>
        </p:sp>
      </p:grpSp>
      <p:grpSp>
        <p:nvGrpSpPr>
          <p:cNvPr name="Group 101" id="101"/>
          <p:cNvGrpSpPr/>
          <p:nvPr/>
        </p:nvGrpSpPr>
        <p:grpSpPr>
          <a:xfrm rot="0">
            <a:off x="9291805" y="7636002"/>
            <a:ext cx="3451332" cy="637538"/>
            <a:chOff x="0" y="0"/>
            <a:chExt cx="5486400" cy="1013460"/>
          </a:xfrm>
        </p:grpSpPr>
        <p:sp>
          <p:nvSpPr>
            <p:cNvPr name="Freeform 102" id="102"/>
            <p:cNvSpPr/>
            <p:nvPr/>
          </p:nvSpPr>
          <p:spPr>
            <a:xfrm flipH="false" flipV="false" rot="0">
              <a:off x="0" y="0"/>
              <a:ext cx="5486400" cy="1013460"/>
            </a:xfrm>
            <a:custGeom>
              <a:avLst/>
              <a:gdLst/>
              <a:ahLst/>
              <a:cxnLst/>
              <a:rect r="r" b="b" t="t" l="l"/>
              <a:pathLst>
                <a:path h="1013460" w="5486400">
                  <a:moveTo>
                    <a:pt x="0" y="0"/>
                  </a:moveTo>
                  <a:lnTo>
                    <a:pt x="5486400" y="0"/>
                  </a:lnTo>
                  <a:lnTo>
                    <a:pt x="5486400" y="1013460"/>
                  </a:lnTo>
                  <a:lnTo>
                    <a:pt x="0" y="1013460"/>
                  </a:lnTo>
                  <a:close/>
                </a:path>
              </a:pathLst>
            </a:custGeom>
            <a:blipFill>
              <a:blip r:embed="rId8">
                <a:alphaModFix amt="0"/>
              </a:blip>
              <a:stretch>
                <a:fillRect l="0" t="-55482" r="0" b="-55482"/>
              </a:stretch>
            </a:blipFill>
          </p:spPr>
        </p:sp>
        <p:sp>
          <p:nvSpPr>
            <p:cNvPr name="TextBox 103" id="103"/>
            <p:cNvSpPr txBox="true"/>
            <p:nvPr/>
          </p:nvSpPr>
          <p:spPr>
            <a:xfrm>
              <a:off x="0" y="-38100"/>
              <a:ext cx="5486400" cy="1051560"/>
            </a:xfrm>
            <a:prstGeom prst="rect">
              <a:avLst/>
            </a:prstGeom>
          </p:spPr>
          <p:txBody>
            <a:bodyPr anchor="ctr" rtlCol="false" tIns="0" lIns="0" bIns="0" rIns="0"/>
            <a:lstStyle/>
            <a:p>
              <a:pPr algn="ctr">
                <a:lnSpc>
                  <a:spcPts val="2040"/>
                </a:lnSpc>
              </a:pPr>
              <a:r>
                <a:rPr lang="en-US" sz="1700" b="true">
                  <a:solidFill>
                    <a:srgbClr val="FFFFFF"/>
                  </a:solidFill>
                  <a:latin typeface="Calibri (MS) Bold"/>
                  <a:ea typeface="Calibri (MS) Bold"/>
                  <a:cs typeface="Calibri (MS) Bold"/>
                  <a:sym typeface="Calibri (MS) Bold"/>
                </a:rPr>
                <a:t>Threat Intelligence</a:t>
              </a:r>
            </a:p>
          </p:txBody>
        </p:sp>
      </p:grpSp>
      <p:sp>
        <p:nvSpPr>
          <p:cNvPr name="Freeform 104" id="104"/>
          <p:cNvSpPr/>
          <p:nvPr/>
        </p:nvSpPr>
        <p:spPr>
          <a:xfrm flipH="false" flipV="false" rot="0">
            <a:off x="9281155" y="8293569"/>
            <a:ext cx="3472583" cy="1125678"/>
          </a:xfrm>
          <a:custGeom>
            <a:avLst/>
            <a:gdLst/>
            <a:ahLst/>
            <a:cxnLst/>
            <a:rect r="r" b="b" t="t" l="l"/>
            <a:pathLst>
              <a:path h="1125678" w="3472583">
                <a:moveTo>
                  <a:pt x="0" y="0"/>
                </a:moveTo>
                <a:lnTo>
                  <a:pt x="3472584" y="0"/>
                </a:lnTo>
                <a:lnTo>
                  <a:pt x="3472584" y="1125677"/>
                </a:lnTo>
                <a:lnTo>
                  <a:pt x="0" y="1125677"/>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TextBox 105" id="105"/>
          <p:cNvSpPr txBox="true"/>
          <p:nvPr/>
        </p:nvSpPr>
        <p:spPr>
          <a:xfrm rot="0">
            <a:off x="9493578" y="8425852"/>
            <a:ext cx="3067851" cy="944394"/>
          </a:xfrm>
          <a:prstGeom prst="rect">
            <a:avLst/>
          </a:prstGeom>
        </p:spPr>
        <p:txBody>
          <a:bodyPr anchor="t" rtlCol="false" tIns="0" lIns="0" bIns="0" rIns="0">
            <a:spAutoFit/>
          </a:bodyPr>
          <a:lstStyle/>
          <a:p>
            <a:pPr algn="l">
              <a:lnSpc>
                <a:spcPts val="1811"/>
              </a:lnSpc>
            </a:pPr>
            <a:r>
              <a:rPr lang="en-US" sz="1509">
                <a:solidFill>
                  <a:srgbClr val="444444"/>
                </a:solidFill>
                <a:latin typeface="Calibri (MS)"/>
                <a:ea typeface="Calibri (MS)"/>
                <a:cs typeface="Calibri (MS)"/>
                <a:sym typeface="Calibri (MS)"/>
              </a:rPr>
              <a:t>Análisis de APTs, campañas maliciosas, OSINT</a:t>
            </a:r>
          </a:p>
        </p:txBody>
      </p:sp>
      <p:sp>
        <p:nvSpPr>
          <p:cNvPr name="Freeform 106" id="106"/>
          <p:cNvSpPr/>
          <p:nvPr/>
        </p:nvSpPr>
        <p:spPr>
          <a:xfrm flipH="false" flipV="false" rot="0">
            <a:off x="12962576" y="7649320"/>
            <a:ext cx="3472583" cy="634821"/>
          </a:xfrm>
          <a:custGeom>
            <a:avLst/>
            <a:gdLst/>
            <a:ahLst/>
            <a:cxnLst/>
            <a:rect r="r" b="b" t="t" l="l"/>
            <a:pathLst>
              <a:path h="634821" w="3472583">
                <a:moveTo>
                  <a:pt x="0" y="0"/>
                </a:moveTo>
                <a:lnTo>
                  <a:pt x="3472584" y="0"/>
                </a:lnTo>
                <a:lnTo>
                  <a:pt x="3472584" y="634821"/>
                </a:lnTo>
                <a:lnTo>
                  <a:pt x="0" y="634821"/>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grpSp>
        <p:nvGrpSpPr>
          <p:cNvPr name="Group 107" id="107"/>
          <p:cNvGrpSpPr/>
          <p:nvPr/>
        </p:nvGrpSpPr>
        <p:grpSpPr>
          <a:xfrm rot="0">
            <a:off x="12973226" y="7659970"/>
            <a:ext cx="3451332" cy="613570"/>
            <a:chOff x="0" y="0"/>
            <a:chExt cx="5486400" cy="975360"/>
          </a:xfrm>
        </p:grpSpPr>
        <p:sp>
          <p:nvSpPr>
            <p:cNvPr name="Freeform 108" id="108"/>
            <p:cNvSpPr/>
            <p:nvPr/>
          </p:nvSpPr>
          <p:spPr>
            <a:xfrm flipH="false" flipV="false" rot="0">
              <a:off x="0" y="0"/>
              <a:ext cx="5486400" cy="975360"/>
            </a:xfrm>
            <a:custGeom>
              <a:avLst/>
              <a:gdLst/>
              <a:ahLst/>
              <a:cxnLst/>
              <a:rect r="r" b="b" t="t" l="l"/>
              <a:pathLst>
                <a:path h="975360" w="5486400">
                  <a:moveTo>
                    <a:pt x="0" y="0"/>
                  </a:moveTo>
                  <a:lnTo>
                    <a:pt x="5486400" y="0"/>
                  </a:lnTo>
                  <a:lnTo>
                    <a:pt x="5486400" y="975360"/>
                  </a:lnTo>
                  <a:lnTo>
                    <a:pt x="0" y="975360"/>
                  </a:lnTo>
                  <a:close/>
                </a:path>
              </a:pathLst>
            </a:custGeom>
            <a:blipFill>
              <a:blip r:embed="rId7">
                <a:alphaModFix amt="0"/>
              </a:blip>
              <a:stretch>
                <a:fillRect l="0" t="-59527" r="0" b="-59527"/>
              </a:stretch>
            </a:blipFill>
          </p:spPr>
        </p:sp>
      </p:grpSp>
      <p:grpSp>
        <p:nvGrpSpPr>
          <p:cNvPr name="Group 109" id="109"/>
          <p:cNvGrpSpPr/>
          <p:nvPr/>
        </p:nvGrpSpPr>
        <p:grpSpPr>
          <a:xfrm rot="0">
            <a:off x="12973226" y="7636002"/>
            <a:ext cx="3451332" cy="637538"/>
            <a:chOff x="0" y="0"/>
            <a:chExt cx="5486400" cy="1013460"/>
          </a:xfrm>
        </p:grpSpPr>
        <p:sp>
          <p:nvSpPr>
            <p:cNvPr name="Freeform 110" id="110"/>
            <p:cNvSpPr/>
            <p:nvPr/>
          </p:nvSpPr>
          <p:spPr>
            <a:xfrm flipH="false" flipV="false" rot="0">
              <a:off x="0" y="0"/>
              <a:ext cx="5486400" cy="1013460"/>
            </a:xfrm>
            <a:custGeom>
              <a:avLst/>
              <a:gdLst/>
              <a:ahLst/>
              <a:cxnLst/>
              <a:rect r="r" b="b" t="t" l="l"/>
              <a:pathLst>
                <a:path h="1013460" w="5486400">
                  <a:moveTo>
                    <a:pt x="0" y="0"/>
                  </a:moveTo>
                  <a:lnTo>
                    <a:pt x="5486400" y="0"/>
                  </a:lnTo>
                  <a:lnTo>
                    <a:pt x="5486400" y="1013460"/>
                  </a:lnTo>
                  <a:lnTo>
                    <a:pt x="0" y="1013460"/>
                  </a:lnTo>
                  <a:close/>
                </a:path>
              </a:pathLst>
            </a:custGeom>
            <a:blipFill>
              <a:blip r:embed="rId8">
                <a:alphaModFix amt="0"/>
              </a:blip>
              <a:stretch>
                <a:fillRect l="0" t="-55482" r="0" b="-55482"/>
              </a:stretch>
            </a:blipFill>
          </p:spPr>
        </p:sp>
        <p:sp>
          <p:nvSpPr>
            <p:cNvPr name="TextBox 111" id="111"/>
            <p:cNvSpPr txBox="true"/>
            <p:nvPr/>
          </p:nvSpPr>
          <p:spPr>
            <a:xfrm>
              <a:off x="0" y="-38100"/>
              <a:ext cx="5486400" cy="1051560"/>
            </a:xfrm>
            <a:prstGeom prst="rect">
              <a:avLst/>
            </a:prstGeom>
          </p:spPr>
          <p:txBody>
            <a:bodyPr anchor="ctr" rtlCol="false" tIns="0" lIns="0" bIns="0" rIns="0"/>
            <a:lstStyle/>
            <a:p>
              <a:pPr algn="ctr">
                <a:lnSpc>
                  <a:spcPts val="2040"/>
                </a:lnSpc>
              </a:pPr>
              <a:r>
                <a:rPr lang="en-US" sz="1700" b="true">
                  <a:solidFill>
                    <a:srgbClr val="FFFFFF"/>
                  </a:solidFill>
                  <a:latin typeface="Calibri (MS) Bold"/>
                  <a:ea typeface="Calibri (MS) Bold"/>
                  <a:cs typeface="Calibri (MS) Bold"/>
                  <a:sym typeface="Calibri (MS) Bold"/>
                </a:rPr>
                <a:t>Red Team / Pentesting</a:t>
              </a:r>
            </a:p>
          </p:txBody>
        </p:sp>
      </p:grpSp>
      <p:sp>
        <p:nvSpPr>
          <p:cNvPr name="Freeform 112" id="112"/>
          <p:cNvSpPr/>
          <p:nvPr/>
        </p:nvSpPr>
        <p:spPr>
          <a:xfrm flipH="false" flipV="false" rot="0">
            <a:off x="12962576" y="8293569"/>
            <a:ext cx="3472583" cy="1125678"/>
          </a:xfrm>
          <a:custGeom>
            <a:avLst/>
            <a:gdLst/>
            <a:ahLst/>
            <a:cxnLst/>
            <a:rect r="r" b="b" t="t" l="l"/>
            <a:pathLst>
              <a:path h="1125678" w="3472583">
                <a:moveTo>
                  <a:pt x="0" y="0"/>
                </a:moveTo>
                <a:lnTo>
                  <a:pt x="3472584" y="0"/>
                </a:lnTo>
                <a:lnTo>
                  <a:pt x="3472584" y="1125677"/>
                </a:lnTo>
                <a:lnTo>
                  <a:pt x="0" y="1125677"/>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TextBox 113" id="113"/>
          <p:cNvSpPr txBox="true"/>
          <p:nvPr/>
        </p:nvSpPr>
        <p:spPr>
          <a:xfrm rot="0">
            <a:off x="13174999" y="8425852"/>
            <a:ext cx="3067851" cy="944394"/>
          </a:xfrm>
          <a:prstGeom prst="rect">
            <a:avLst/>
          </a:prstGeom>
        </p:spPr>
        <p:txBody>
          <a:bodyPr anchor="t" rtlCol="false" tIns="0" lIns="0" bIns="0" rIns="0">
            <a:spAutoFit/>
          </a:bodyPr>
          <a:lstStyle/>
          <a:p>
            <a:pPr algn="l">
              <a:lnSpc>
                <a:spcPts val="1811"/>
              </a:lnSpc>
            </a:pPr>
            <a:r>
              <a:rPr lang="en-US" sz="1509">
                <a:solidFill>
                  <a:srgbClr val="444444"/>
                </a:solidFill>
                <a:latin typeface="Calibri (MS)"/>
                <a:ea typeface="Calibri (MS)"/>
                <a:cs typeface="Calibri (MS)"/>
                <a:sym typeface="Calibri (MS)"/>
              </a:rPr>
              <a:t>Ethical hacking, simulación de ataques, defensa proactiva</a:t>
            </a:r>
          </a:p>
        </p:txBody>
      </p:sp>
      <p:grpSp>
        <p:nvGrpSpPr>
          <p:cNvPr name="Group 114" id="114"/>
          <p:cNvGrpSpPr/>
          <p:nvPr/>
        </p:nvGrpSpPr>
        <p:grpSpPr>
          <a:xfrm rot="0">
            <a:off x="15983863" y="24203"/>
            <a:ext cx="1855079" cy="1855079"/>
            <a:chOff x="0" y="0"/>
            <a:chExt cx="5852160" cy="5852160"/>
          </a:xfrm>
        </p:grpSpPr>
        <p:sp>
          <p:nvSpPr>
            <p:cNvPr name="Freeform 115" id="115"/>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31"/>
              <a:stretch>
                <a:fillRect l="0" t="0" r="0"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p.42</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50006"/>
            <a:ext cx="16824960" cy="1695926"/>
            <a:chOff x="0" y="0"/>
            <a:chExt cx="22433280" cy="2261235"/>
          </a:xfrm>
        </p:grpSpPr>
        <p:sp>
          <p:nvSpPr>
            <p:cNvPr name="Freeform 18" id="18"/>
            <p:cNvSpPr/>
            <p:nvPr/>
          </p:nvSpPr>
          <p:spPr>
            <a:xfrm flipH="false" flipV="false" rot="0">
              <a:off x="0" y="0"/>
              <a:ext cx="22433280" cy="2261235"/>
            </a:xfrm>
            <a:custGeom>
              <a:avLst/>
              <a:gdLst/>
              <a:ahLst/>
              <a:cxnLst/>
              <a:rect r="r" b="b" t="t" l="l"/>
              <a:pathLst>
                <a:path h="2261235" w="22433280">
                  <a:moveTo>
                    <a:pt x="0" y="0"/>
                  </a:moveTo>
                  <a:lnTo>
                    <a:pt x="22433280" y="0"/>
                  </a:lnTo>
                  <a:lnTo>
                    <a:pt x="22433280" y="2261235"/>
                  </a:lnTo>
                  <a:lnTo>
                    <a:pt x="0" y="2261235"/>
                  </a:lnTo>
                  <a:close/>
                </a:path>
              </a:pathLst>
            </a:custGeom>
            <a:blipFill>
              <a:blip r:embed="rId8">
                <a:alphaModFix amt="0"/>
              </a:blip>
              <a:stretch>
                <a:fillRect l="0" t="-143307" r="0" b="-143307"/>
              </a:stretch>
            </a:blipFill>
          </p:spPr>
        </p:sp>
        <p:sp>
          <p:nvSpPr>
            <p:cNvPr name="TextBox 19" id="19"/>
            <p:cNvSpPr txBox="true"/>
            <p:nvPr/>
          </p:nvSpPr>
          <p:spPr>
            <a:xfrm>
              <a:off x="0" y="-66675"/>
              <a:ext cx="22433280" cy="2327910"/>
            </a:xfrm>
            <a:prstGeom prst="rect">
              <a:avLst/>
            </a:prstGeom>
          </p:spPr>
          <p:txBody>
            <a:bodyPr anchor="ctr" rtlCol="false" tIns="0" lIns="0" bIns="0" rIns="0"/>
            <a:lstStyle/>
            <a:p>
              <a:pPr algn="l">
                <a:lnSpc>
                  <a:spcPts val="3358"/>
                </a:lnSpc>
              </a:pPr>
              <a:r>
                <a:rPr lang="en-US" sz="2799" b="true">
                  <a:solidFill>
                    <a:srgbClr val="FFFFFF"/>
                  </a:solidFill>
                  <a:latin typeface="Calibri (MS) Bold"/>
                  <a:ea typeface="Calibri (MS) Bold"/>
                  <a:cs typeface="Calibri (MS) Bold"/>
                  <a:sym typeface="Calibri (MS) Bold"/>
                </a:rPr>
                <a:t>1.6  |  Certificaciones y conocimientos relevantes</a:t>
              </a:r>
            </a:p>
          </p:txBody>
        </p:sp>
      </p:grpSp>
      <p:grpSp>
        <p:nvGrpSpPr>
          <p:cNvPr name="Group 20" id="20"/>
          <p:cNvGrpSpPr/>
          <p:nvPr/>
        </p:nvGrpSpPr>
        <p:grpSpPr>
          <a:xfrm rot="0">
            <a:off x="640080" y="1773936"/>
            <a:ext cx="17007840" cy="822960"/>
            <a:chOff x="0" y="0"/>
            <a:chExt cx="22677120" cy="1097280"/>
          </a:xfrm>
        </p:grpSpPr>
        <p:sp>
          <p:nvSpPr>
            <p:cNvPr name="Freeform 21" id="21"/>
            <p:cNvSpPr/>
            <p:nvPr/>
          </p:nvSpPr>
          <p:spPr>
            <a:xfrm flipH="false" flipV="false" rot="0">
              <a:off x="0" y="0"/>
              <a:ext cx="22677120" cy="1097280"/>
            </a:xfrm>
            <a:custGeom>
              <a:avLst/>
              <a:gdLst/>
              <a:ahLst/>
              <a:cxnLst/>
              <a:rect r="r" b="b" t="t" l="l"/>
              <a:pathLst>
                <a:path h="1097280" w="22677120">
                  <a:moveTo>
                    <a:pt x="0" y="0"/>
                  </a:moveTo>
                  <a:lnTo>
                    <a:pt x="22677120" y="0"/>
                  </a:lnTo>
                  <a:lnTo>
                    <a:pt x="22677120" y="1097280"/>
                  </a:lnTo>
                  <a:lnTo>
                    <a:pt x="0" y="1097280"/>
                  </a:lnTo>
                  <a:close/>
                </a:path>
              </a:pathLst>
            </a:custGeom>
            <a:blipFill>
              <a:blip r:embed="rId7">
                <a:alphaModFix amt="0"/>
              </a:blip>
              <a:stretch>
                <a:fillRect l="0" t="-352410" r="0" b="-352410"/>
              </a:stretch>
            </a:blipFill>
          </p:spPr>
        </p:sp>
      </p:grpSp>
      <p:grpSp>
        <p:nvGrpSpPr>
          <p:cNvPr name="Group 22" id="22"/>
          <p:cNvGrpSpPr/>
          <p:nvPr/>
        </p:nvGrpSpPr>
        <p:grpSpPr>
          <a:xfrm rot="0">
            <a:off x="665416" y="2167557"/>
            <a:ext cx="17007840" cy="858679"/>
            <a:chOff x="0" y="0"/>
            <a:chExt cx="22677120" cy="1144905"/>
          </a:xfrm>
        </p:grpSpPr>
        <p:sp>
          <p:nvSpPr>
            <p:cNvPr name="Freeform 23" id="23"/>
            <p:cNvSpPr/>
            <p:nvPr/>
          </p:nvSpPr>
          <p:spPr>
            <a:xfrm flipH="false" flipV="false" rot="0">
              <a:off x="0" y="0"/>
              <a:ext cx="22677120" cy="1144905"/>
            </a:xfrm>
            <a:custGeom>
              <a:avLst/>
              <a:gdLst/>
              <a:ahLst/>
              <a:cxnLst/>
              <a:rect r="r" b="b" t="t" l="l"/>
              <a:pathLst>
                <a:path h="1144905" w="22677120">
                  <a:moveTo>
                    <a:pt x="0" y="0"/>
                  </a:moveTo>
                  <a:lnTo>
                    <a:pt x="22677120" y="0"/>
                  </a:lnTo>
                  <a:lnTo>
                    <a:pt x="22677120" y="1144905"/>
                  </a:lnTo>
                  <a:lnTo>
                    <a:pt x="0" y="1144905"/>
                  </a:lnTo>
                  <a:close/>
                </a:path>
              </a:pathLst>
            </a:custGeom>
            <a:blipFill>
              <a:blip r:embed="rId8">
                <a:alphaModFix amt="0"/>
              </a:blip>
              <a:stretch>
                <a:fillRect l="0" t="-335939" r="0" b="-335939"/>
              </a:stretch>
            </a:blipFill>
          </p:spPr>
        </p:sp>
        <p:sp>
          <p:nvSpPr>
            <p:cNvPr name="TextBox 24" id="24"/>
            <p:cNvSpPr txBox="true"/>
            <p:nvPr/>
          </p:nvSpPr>
          <p:spPr>
            <a:xfrm>
              <a:off x="0" y="-47625"/>
              <a:ext cx="22677120" cy="1192530"/>
            </a:xfrm>
            <a:prstGeom prst="rect">
              <a:avLst/>
            </a:prstGeom>
          </p:spPr>
          <p:txBody>
            <a:bodyPr anchor="ctr" rtlCol="false" tIns="0" lIns="0" bIns="0" rIns="0"/>
            <a:lstStyle/>
            <a:p>
              <a:pPr algn="l">
                <a:lnSpc>
                  <a:spcPts val="2520"/>
                </a:lnSpc>
              </a:pPr>
              <a:r>
                <a:rPr lang="en-US" sz="2100">
                  <a:solidFill>
                    <a:srgbClr val="6B6B6B"/>
                  </a:solidFill>
                  <a:latin typeface="Calibri (MS)"/>
                  <a:ea typeface="Calibri (MS)"/>
                  <a:cs typeface="Calibri (MS)"/>
                  <a:sym typeface="Calibri (MS)"/>
                </a:rPr>
                <a:t>Para avanzar profesionalmente en ciberseguridad, las certificaciones internacionales validan tus habilidades, dan acceso a roles más avanzados y te diferencian en el mercado laboral.</a:t>
              </a:r>
            </a:p>
          </p:txBody>
        </p:sp>
      </p:grpSp>
      <p:graphicFrame>
        <p:nvGraphicFramePr>
          <p:cNvPr name="Table 25" id="25"/>
          <p:cNvGraphicFramePr>
            <a:graphicFrameLocks noGrp="true"/>
          </p:cNvGraphicFramePr>
          <p:nvPr/>
        </p:nvGraphicFramePr>
        <p:xfrm>
          <a:off x="1504887" y="3418517"/>
          <a:ext cx="15278169" cy="4584175"/>
        </p:xfrm>
        <a:graphic>
          <a:graphicData uri="http://schemas.openxmlformats.org/drawingml/2006/table">
            <a:tbl>
              <a:tblPr/>
              <a:tblGrid>
                <a:gridCol w="4606436"/>
                <a:gridCol w="5741105"/>
                <a:gridCol w="4930628"/>
              </a:tblGrid>
              <a:tr h="735357">
                <a:tc>
                  <a:txBody>
                    <a:bodyPr anchor="t" rtlCol="false"/>
                    <a:lstStyle/>
                    <a:p>
                      <a:pPr algn="ctr">
                        <a:lnSpc>
                          <a:spcPts val="2400"/>
                        </a:lnSpc>
                        <a:defRPr/>
                      </a:pPr>
                      <a:r>
                        <a:rPr lang="en-US" sz="2000" b="true">
                          <a:solidFill>
                            <a:srgbClr val="FFFFFF"/>
                          </a:solidFill>
                          <a:latin typeface="Calibri (MS) Bold"/>
                          <a:ea typeface="Calibri (MS) Bold"/>
                          <a:cs typeface="Calibri (MS) Bold"/>
                          <a:sym typeface="Calibri (MS) Bold"/>
                        </a:rPr>
                        <a:t>Certificación</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8A004F"/>
                    </a:solidFill>
                  </a:tcPr>
                </a:tc>
                <a:tc>
                  <a:txBody>
                    <a:bodyPr anchor="t" rtlCol="false"/>
                    <a:lstStyle/>
                    <a:p>
                      <a:pPr algn="ctr">
                        <a:lnSpc>
                          <a:spcPts val="2400"/>
                        </a:lnSpc>
                        <a:defRPr/>
                      </a:pPr>
                      <a:r>
                        <a:rPr lang="en-US" sz="2000" b="true">
                          <a:solidFill>
                            <a:srgbClr val="FFFFFF"/>
                          </a:solidFill>
                          <a:latin typeface="Calibri (MS) Bold"/>
                          <a:ea typeface="Calibri (MS) Bold"/>
                          <a:cs typeface="Calibri (MS) Bold"/>
                          <a:sym typeface="Calibri (MS) Bold"/>
                        </a:rPr>
                        <a:t>Enfoque Principal</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8A004F"/>
                    </a:solidFill>
                  </a:tcPr>
                </a:tc>
                <a:tc>
                  <a:txBody>
                    <a:bodyPr anchor="t" rtlCol="false"/>
                    <a:lstStyle/>
                    <a:p>
                      <a:pPr algn="ctr">
                        <a:lnSpc>
                          <a:spcPts val="2400"/>
                        </a:lnSpc>
                        <a:defRPr/>
                      </a:pPr>
                      <a:r>
                        <a:rPr lang="en-US" sz="2000" b="true">
                          <a:solidFill>
                            <a:srgbClr val="FFFFFF"/>
                          </a:solidFill>
                          <a:latin typeface="Calibri (MS) Bold"/>
                          <a:ea typeface="Calibri (MS) Bold"/>
                          <a:cs typeface="Calibri (MS) Bold"/>
                          <a:sym typeface="Calibri (MS) Bold"/>
                        </a:rPr>
                        <a:t>Recomendada para...</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8A004F"/>
                    </a:solidFill>
                  </a:tcPr>
                </a:tc>
              </a:tr>
              <a:tr h="735357">
                <a:tc>
                  <a:txBody>
                    <a:bodyPr anchor="t" rtlCol="false"/>
                    <a:lstStyle/>
                    <a:p>
                      <a:pPr algn="l">
                        <a:lnSpc>
                          <a:spcPts val="2400"/>
                        </a:lnSpc>
                        <a:defRPr/>
                      </a:pPr>
                      <a:r>
                        <a:rPr lang="en-US" sz="2000" b="true">
                          <a:solidFill>
                            <a:srgbClr val="1A73C0"/>
                          </a:solidFill>
                          <a:latin typeface="Calibri (MS) Bold"/>
                          <a:ea typeface="Calibri (MS) Bold"/>
                          <a:cs typeface="Calibri (MS) Bold"/>
                          <a:sym typeface="Calibri (MS) Bold"/>
                        </a:rPr>
                        <a:t>CompTIA Security+</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400"/>
                        </a:lnSpc>
                        <a:defRPr/>
                      </a:pPr>
                      <a:r>
                        <a:rPr lang="en-US" sz="2000">
                          <a:solidFill>
                            <a:srgbClr val="222222"/>
                          </a:solidFill>
                          <a:latin typeface="Calibri (MS)"/>
                          <a:ea typeface="Calibri (MS)"/>
                          <a:cs typeface="Calibri (MS)"/>
                          <a:sym typeface="Calibri (MS)"/>
                        </a:rPr>
                        <a:t>Fundamentos de seguridad, redes y amenazas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400"/>
                        </a:lnSpc>
                        <a:defRPr/>
                      </a:pPr>
                      <a:r>
                        <a:rPr lang="en-US" sz="2000" i="true">
                          <a:solidFill>
                            <a:srgbClr val="444444"/>
                          </a:solidFill>
                          <a:latin typeface="Calibri (MS) Italics"/>
                          <a:ea typeface="Calibri (MS) Italics"/>
                          <a:cs typeface="Calibri (MS) Italics"/>
                          <a:sym typeface="Calibri (MS) Italics"/>
                        </a:rPr>
                        <a:t>Primeras entrevistas técnicas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r>
              <a:tr h="907389">
                <a:tc>
                  <a:txBody>
                    <a:bodyPr anchor="t" rtlCol="false"/>
                    <a:lstStyle/>
                    <a:p>
                      <a:pPr algn="l">
                        <a:lnSpc>
                          <a:spcPts val="2400"/>
                        </a:lnSpc>
                        <a:defRPr/>
                      </a:pPr>
                      <a:r>
                        <a:rPr lang="en-US" sz="2000" b="true">
                          <a:solidFill>
                            <a:srgbClr val="0E7B8C"/>
                          </a:solidFill>
                          <a:latin typeface="Calibri (MS) Bold"/>
                          <a:ea typeface="Calibri (MS) Bold"/>
                          <a:cs typeface="Calibri (MS) Bold"/>
                          <a:sym typeface="Calibri (MS) Bold"/>
                        </a:rPr>
                        <a:t>Microsoft SC-200</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400"/>
                        </a:lnSpc>
                        <a:defRPr/>
                      </a:pPr>
                      <a:r>
                        <a:rPr lang="en-US" sz="2000">
                          <a:solidFill>
                            <a:srgbClr val="222222"/>
                          </a:solidFill>
                          <a:latin typeface="Calibri (MS)"/>
                          <a:ea typeface="Calibri (MS)"/>
                          <a:cs typeface="Calibri (MS)"/>
                          <a:sym typeface="Calibri (MS)"/>
                        </a:rPr>
                        <a:t>Operación de SOC en entornos con Microsoft Sentinel</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400"/>
                        </a:lnSpc>
                        <a:defRPr/>
                      </a:pPr>
                      <a:r>
                        <a:rPr lang="en-US" sz="2000" i="true">
                          <a:solidFill>
                            <a:srgbClr val="444444"/>
                          </a:solidFill>
                          <a:latin typeface="Calibri (MS) Italics"/>
                          <a:ea typeface="Calibri (MS) Italics"/>
                          <a:cs typeface="Calibri (MS) Italics"/>
                          <a:sym typeface="Calibri (MS) Italics"/>
                        </a:rPr>
                        <a:t>Analistas SOC en entornos MS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r>
              <a:tr h="735357">
                <a:tc>
                  <a:txBody>
                    <a:bodyPr anchor="t" rtlCol="false"/>
                    <a:lstStyle/>
                    <a:p>
                      <a:pPr algn="l">
                        <a:lnSpc>
                          <a:spcPts val="2400"/>
                        </a:lnSpc>
                        <a:defRPr/>
                      </a:pPr>
                      <a:r>
                        <a:rPr lang="en-US" sz="2000" b="true">
                          <a:solidFill>
                            <a:srgbClr val="22A05B"/>
                          </a:solidFill>
                          <a:latin typeface="Calibri (MS) Bold"/>
                          <a:ea typeface="Calibri (MS) Bold"/>
                          <a:cs typeface="Calibri (MS) Bold"/>
                          <a:sym typeface="Calibri (MS) Bold"/>
                        </a:rPr>
                        <a:t>Google Cybersecurity Certificate</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400"/>
                        </a:lnSpc>
                        <a:defRPr/>
                      </a:pPr>
                      <a:r>
                        <a:rPr lang="en-US" sz="2000">
                          <a:solidFill>
                            <a:srgbClr val="222222"/>
                          </a:solidFill>
                          <a:latin typeface="Calibri (MS)"/>
                          <a:ea typeface="Calibri (MS)"/>
                          <a:cs typeface="Calibri (MS)"/>
                          <a:sym typeface="Calibri (MS)"/>
                        </a:rPr>
                        <a:t>Formación general, práctica y accesible</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400"/>
                        </a:lnSpc>
                        <a:defRPr/>
                      </a:pPr>
                      <a:r>
                        <a:rPr lang="en-US" sz="2000" i="true">
                          <a:solidFill>
                            <a:srgbClr val="444444"/>
                          </a:solidFill>
                          <a:latin typeface="Calibri (MS) Italics"/>
                          <a:ea typeface="Calibri (MS) Italics"/>
                          <a:cs typeface="Calibri (MS) Italics"/>
                          <a:sym typeface="Calibri (MS) Italics"/>
                        </a:rPr>
                        <a:t>Transición desde otros perfiles</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r>
              <a:tr h="735357">
                <a:tc>
                  <a:txBody>
                    <a:bodyPr anchor="t" rtlCol="false"/>
                    <a:lstStyle/>
                    <a:p>
                      <a:pPr algn="l">
                        <a:lnSpc>
                          <a:spcPts val="2400"/>
                        </a:lnSpc>
                        <a:defRPr/>
                      </a:pPr>
                      <a:r>
                        <a:rPr lang="en-US" sz="2000" b="true">
                          <a:solidFill>
                            <a:srgbClr val="E07B00"/>
                          </a:solidFill>
                          <a:latin typeface="Calibri (MS) Bold"/>
                          <a:ea typeface="Calibri (MS) Bold"/>
                          <a:cs typeface="Calibri (MS) Bold"/>
                          <a:sym typeface="Calibri (MS) Bold"/>
                        </a:rPr>
                        <a:t>Fortinet NSE 1-3</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400"/>
                        </a:lnSpc>
                        <a:defRPr/>
                      </a:pPr>
                      <a:r>
                        <a:rPr lang="en-US" sz="2000">
                          <a:solidFill>
                            <a:srgbClr val="222222"/>
                          </a:solidFill>
                          <a:latin typeface="Calibri (MS)"/>
                          <a:ea typeface="Calibri (MS)"/>
                          <a:cs typeface="Calibri (MS)"/>
                          <a:sym typeface="Calibri (MS)"/>
                        </a:rPr>
                        <a:t>Conceptos básicos y uso de productos Fortinet</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400"/>
                        </a:lnSpc>
                        <a:defRPr/>
                      </a:pPr>
                      <a:r>
                        <a:rPr lang="en-US" sz="2000" i="true">
                          <a:solidFill>
                            <a:srgbClr val="444444"/>
                          </a:solidFill>
                          <a:latin typeface="Calibri (MS) Italics"/>
                          <a:ea typeface="Calibri (MS) Italics"/>
                          <a:cs typeface="Calibri (MS) Italics"/>
                          <a:sym typeface="Calibri (MS) Italics"/>
                        </a:rPr>
                        <a:t>SOCs con herramientas Fortinet</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r>
              <a:tr h="735357">
                <a:tc>
                  <a:txBody>
                    <a:bodyPr anchor="t" rtlCol="false"/>
                    <a:lstStyle/>
                    <a:p>
                      <a:pPr algn="l">
                        <a:lnSpc>
                          <a:spcPts val="2400"/>
                        </a:lnSpc>
                        <a:defRPr/>
                      </a:pPr>
                      <a:r>
                        <a:rPr lang="en-US" sz="2000" b="true">
                          <a:solidFill>
                            <a:srgbClr val="8A004F"/>
                          </a:solidFill>
                          <a:latin typeface="Calibri (MS) Bold"/>
                          <a:ea typeface="Calibri (MS) Bold"/>
                          <a:cs typeface="Calibri (MS) Bold"/>
                          <a:sym typeface="Calibri (MS) Bold"/>
                        </a:rPr>
                        <a:t>Blue Team Level 1 (BTL1)</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400"/>
                        </a:lnSpc>
                        <a:defRPr/>
                      </a:pPr>
                      <a:r>
                        <a:rPr lang="en-US" sz="2000">
                          <a:solidFill>
                            <a:srgbClr val="222222"/>
                          </a:solidFill>
                          <a:latin typeface="Calibri (MS)"/>
                          <a:ea typeface="Calibri (MS)"/>
                          <a:cs typeface="Calibri (MS)"/>
                          <a:sym typeface="Calibri (MS)"/>
                        </a:rPr>
                        <a:t>Enfoque práctico orientado a SOC</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c>
                  <a:txBody>
                    <a:bodyPr anchor="t" rtlCol="false"/>
                    <a:lstStyle/>
                    <a:p>
                      <a:pPr algn="l">
                        <a:lnSpc>
                          <a:spcPts val="2400"/>
                        </a:lnSpc>
                        <a:defRPr/>
                      </a:pPr>
                      <a:r>
                        <a:rPr lang="en-US" sz="2000" i="true">
                          <a:solidFill>
                            <a:srgbClr val="444444"/>
                          </a:solidFill>
                          <a:latin typeface="Calibri (MS) Italics"/>
                          <a:ea typeface="Calibri (MS) Italics"/>
                          <a:cs typeface="Calibri (MS) Italics"/>
                          <a:sym typeface="Calibri (MS) Italics"/>
                        </a:rPr>
                        <a:t>Buen complemento técnico inicial</a:t>
                      </a:r>
                      <a:endParaRPr lang="en-US" sz="1100"/>
                    </a:p>
                  </a:txBody>
                  <a:tcPr marL="91440" marR="91440" marT="91440" marB="91440" anchor="ctr">
                    <a:lnL cmpd="sng" algn="ctr" cap="flat" w="12700">
                      <a:solidFill>
                        <a:srgbClr val="DDDDDD"/>
                      </a:solidFill>
                      <a:prstDash val="solid"/>
                      <a:round/>
                      <a:headEnd type="none" w="med" len="med"/>
                      <a:tailEnd type="none" w="med" len="med"/>
                    </a:lnL>
                    <a:lnR cmpd="sng" algn="ctr" cap="flat" w="12700">
                      <a:solidFill>
                        <a:srgbClr val="DDDDDD"/>
                      </a:solidFill>
                      <a:prstDash val="solid"/>
                      <a:round/>
                      <a:headEnd type="none" w="med" len="med"/>
                      <a:tailEnd type="none" w="med" len="med"/>
                    </a:lnR>
                    <a:lnT cmpd="sng" algn="ctr" cap="flat" w="12700">
                      <a:solidFill>
                        <a:srgbClr val="DDDDDD"/>
                      </a:solidFill>
                      <a:prstDash val="solid"/>
                      <a:round/>
                      <a:headEnd type="none" w="med" len="med"/>
                      <a:tailEnd type="none" w="med" len="med"/>
                    </a:lnT>
                    <a:lnB cmpd="sng" algn="ctr" cap="flat" w="12700">
                      <a:solidFill>
                        <a:srgbClr val="DDDDDD"/>
                      </a:solidFill>
                      <a:prstDash val="solid"/>
                      <a:round/>
                      <a:headEnd type="none" w="med" len="med"/>
                      <a:tailEnd type="none" w="med" len="med"/>
                    </a:lnB>
                    <a:solidFill>
                      <a:srgbClr val="F4F4F4"/>
                    </a:solidFill>
                  </a:tcPr>
                </a:tc>
              </a:tr>
            </a:tbl>
          </a:graphicData>
        </a:graphic>
      </p:graphicFrame>
      <p:sp>
        <p:nvSpPr>
          <p:cNvPr name="Freeform 26" id="26"/>
          <p:cNvSpPr/>
          <p:nvPr/>
        </p:nvSpPr>
        <p:spPr>
          <a:xfrm flipH="false" flipV="false" rot="0">
            <a:off x="1908448" y="8550659"/>
            <a:ext cx="14521777" cy="614081"/>
          </a:xfrm>
          <a:custGeom>
            <a:avLst/>
            <a:gdLst/>
            <a:ahLst/>
            <a:cxnLst/>
            <a:rect r="r" b="b" t="t" l="l"/>
            <a:pathLst>
              <a:path h="614081" w="14521777">
                <a:moveTo>
                  <a:pt x="0" y="0"/>
                </a:moveTo>
                <a:lnTo>
                  <a:pt x="14521777" y="0"/>
                </a:lnTo>
                <a:lnTo>
                  <a:pt x="14521777" y="614081"/>
                </a:lnTo>
                <a:lnTo>
                  <a:pt x="0" y="61408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7" id="27"/>
          <p:cNvGrpSpPr/>
          <p:nvPr/>
        </p:nvGrpSpPr>
        <p:grpSpPr>
          <a:xfrm rot="0">
            <a:off x="2195465" y="8534781"/>
            <a:ext cx="14005163" cy="723519"/>
            <a:chOff x="0" y="0"/>
            <a:chExt cx="18673551" cy="964692"/>
          </a:xfrm>
        </p:grpSpPr>
        <p:sp>
          <p:nvSpPr>
            <p:cNvPr name="Freeform 28" id="28"/>
            <p:cNvSpPr/>
            <p:nvPr/>
          </p:nvSpPr>
          <p:spPr>
            <a:xfrm flipH="false" flipV="false" rot="0">
              <a:off x="0" y="0"/>
              <a:ext cx="18673550" cy="964692"/>
            </a:xfrm>
            <a:custGeom>
              <a:avLst/>
              <a:gdLst/>
              <a:ahLst/>
              <a:cxnLst/>
              <a:rect r="r" b="b" t="t" l="l"/>
              <a:pathLst>
                <a:path h="964692" w="18673550">
                  <a:moveTo>
                    <a:pt x="0" y="0"/>
                  </a:moveTo>
                  <a:lnTo>
                    <a:pt x="18673550" y="0"/>
                  </a:lnTo>
                  <a:lnTo>
                    <a:pt x="18673550" y="964692"/>
                  </a:lnTo>
                  <a:lnTo>
                    <a:pt x="0" y="964692"/>
                  </a:lnTo>
                  <a:close/>
                </a:path>
              </a:pathLst>
            </a:custGeom>
            <a:blipFill>
              <a:blip r:embed="rId8">
                <a:alphaModFix amt="0"/>
              </a:blip>
              <a:stretch>
                <a:fillRect l="0" t="-398186" r="-18828" b="-398186"/>
              </a:stretch>
            </a:blipFill>
          </p:spPr>
        </p:sp>
        <p:sp>
          <p:nvSpPr>
            <p:cNvPr name="TextBox 29" id="29"/>
            <p:cNvSpPr txBox="true"/>
            <p:nvPr/>
          </p:nvSpPr>
          <p:spPr>
            <a:xfrm>
              <a:off x="0" y="-38100"/>
              <a:ext cx="18673551" cy="1002792"/>
            </a:xfrm>
            <a:prstGeom prst="rect">
              <a:avLst/>
            </a:prstGeom>
          </p:spPr>
          <p:txBody>
            <a:bodyPr anchor="ctr" rtlCol="false" tIns="0" lIns="0" bIns="0" rIns="0"/>
            <a:lstStyle/>
            <a:p>
              <a:pPr algn="l">
                <a:lnSpc>
                  <a:spcPts val="2400"/>
                </a:lnSpc>
              </a:pPr>
              <a:r>
                <a:rPr lang="en-US" sz="2000" i="true">
                  <a:solidFill>
                    <a:srgbClr val="1A73C0"/>
                  </a:solidFill>
                  <a:latin typeface="Calibri (MS) Italics"/>
                  <a:ea typeface="Calibri (MS) Italics"/>
                  <a:cs typeface="Calibri (MS) Italics"/>
                  <a:sym typeface="Calibri (MS) Italics"/>
                </a:rPr>
                <a:t>Estas certificaciones no requieren experiencia previa y son una buena forma de demostrar compromiso con la disciplina desde el inicio.</a:t>
              </a:r>
            </a:p>
          </p:txBody>
        </p:sp>
      </p:grpSp>
      <p:grpSp>
        <p:nvGrpSpPr>
          <p:cNvPr name="Group 30" id="30"/>
          <p:cNvGrpSpPr/>
          <p:nvPr/>
        </p:nvGrpSpPr>
        <p:grpSpPr>
          <a:xfrm rot="0">
            <a:off x="15983863" y="24203"/>
            <a:ext cx="1855079" cy="1855079"/>
            <a:chOff x="0" y="0"/>
            <a:chExt cx="5852160" cy="5852160"/>
          </a:xfrm>
        </p:grpSpPr>
        <p:sp>
          <p:nvSpPr>
            <p:cNvPr name="Freeform 31" id="31"/>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13"/>
              <a:stretch>
                <a:fillRect l="0" t="0" r="0"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D0D1A"/>
        </a:solidFill>
      </p:bgPr>
    </p:bg>
    <p:spTree>
      <p:nvGrpSpPr>
        <p:cNvPr id="1" name=""/>
        <p:cNvGrpSpPr/>
        <p:nvPr/>
      </p:nvGrpSpPr>
      <p:grpSpPr>
        <a:xfrm>
          <a:off x="0" y="0"/>
          <a:ext cx="0" cy="0"/>
          <a:chOff x="0" y="0"/>
          <a:chExt cx="0" cy="0"/>
        </a:xfrm>
      </p:grpSpPr>
      <p:sp>
        <p:nvSpPr>
          <p:cNvPr name="Freeform 2" id="2"/>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548640" y="9784080"/>
            <a:ext cx="15544800" cy="512064"/>
            <a:chOff x="0" y="0"/>
            <a:chExt cx="20726400" cy="682752"/>
          </a:xfrm>
        </p:grpSpPr>
        <p:sp>
          <p:nvSpPr>
            <p:cNvPr name="Freeform 4" id="4"/>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5">
                <a:alphaModFix amt="0"/>
              </a:blip>
              <a:stretch>
                <a:fillRect l="0" t="-541099" r="0" b="-541097"/>
              </a:stretch>
            </a:blipFill>
          </p:spPr>
        </p:sp>
      </p:grpSp>
      <p:grpSp>
        <p:nvGrpSpPr>
          <p:cNvPr name="Group 5" id="5"/>
          <p:cNvGrpSpPr/>
          <p:nvPr/>
        </p:nvGrpSpPr>
        <p:grpSpPr>
          <a:xfrm rot="0">
            <a:off x="548640" y="9762649"/>
            <a:ext cx="15544800" cy="533495"/>
            <a:chOff x="0" y="0"/>
            <a:chExt cx="20726400" cy="711327"/>
          </a:xfrm>
        </p:grpSpPr>
        <p:sp>
          <p:nvSpPr>
            <p:cNvPr name="Freeform 6" id="6"/>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6">
                <a:alphaModFix amt="0"/>
              </a:blip>
              <a:stretch>
                <a:fillRect l="0" t="-517748" r="0" b="-517748"/>
              </a:stretch>
            </a:blipFill>
          </p:spPr>
        </p:sp>
        <p:sp>
          <p:nvSpPr>
            <p:cNvPr name="TextBox 7" id="7"/>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8" id="8"/>
          <p:cNvGrpSpPr/>
          <p:nvPr/>
        </p:nvGrpSpPr>
        <p:grpSpPr>
          <a:xfrm rot="0">
            <a:off x="16824960" y="9784080"/>
            <a:ext cx="1280160" cy="512064"/>
            <a:chOff x="0" y="0"/>
            <a:chExt cx="1706880" cy="682752"/>
          </a:xfrm>
        </p:grpSpPr>
        <p:sp>
          <p:nvSpPr>
            <p:cNvPr name="Freeform 9" id="9"/>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5">
                <a:alphaModFix amt="0"/>
              </a:blip>
              <a:stretch>
                <a:fillRect l="-1357" t="0" r="-1357" b="0"/>
              </a:stretch>
            </a:blipFill>
          </p:spPr>
        </p:sp>
      </p:grpSp>
      <p:grpSp>
        <p:nvGrpSpPr>
          <p:cNvPr name="Group 10" id="10"/>
          <p:cNvGrpSpPr/>
          <p:nvPr/>
        </p:nvGrpSpPr>
        <p:grpSpPr>
          <a:xfrm rot="0">
            <a:off x="16824960" y="9762649"/>
            <a:ext cx="1280160" cy="533495"/>
            <a:chOff x="0" y="0"/>
            <a:chExt cx="1706880" cy="711327"/>
          </a:xfrm>
        </p:grpSpPr>
        <p:sp>
          <p:nvSpPr>
            <p:cNvPr name="Freeform 11" id="11"/>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6">
                <a:alphaModFix amt="0"/>
              </a:blip>
              <a:stretch>
                <a:fillRect l="-3469" t="0" r="-3469" b="0"/>
              </a:stretch>
            </a:blipFill>
          </p:spPr>
        </p:sp>
        <p:sp>
          <p:nvSpPr>
            <p:cNvPr name="TextBox 12" id="12"/>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p.43</a:t>
              </a:r>
            </a:p>
          </p:txBody>
        </p:sp>
      </p:grpSp>
      <p:sp>
        <p:nvSpPr>
          <p:cNvPr name="Freeform 13" id="13"/>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4" id="14"/>
          <p:cNvGrpSpPr/>
          <p:nvPr/>
        </p:nvGrpSpPr>
        <p:grpSpPr>
          <a:xfrm rot="0">
            <a:off x="731520" y="0"/>
            <a:ext cx="16824960" cy="1645920"/>
            <a:chOff x="0" y="0"/>
            <a:chExt cx="22433280" cy="2194560"/>
          </a:xfrm>
        </p:grpSpPr>
        <p:sp>
          <p:nvSpPr>
            <p:cNvPr name="Freeform 15" id="15"/>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5">
                <a:alphaModFix amt="0"/>
              </a:blip>
              <a:stretch>
                <a:fillRect l="0" t="-149041" r="0" b="-149042"/>
              </a:stretch>
            </a:blipFill>
          </p:spPr>
        </p:sp>
      </p:grpSp>
      <p:grpSp>
        <p:nvGrpSpPr>
          <p:cNvPr name="Group 16" id="16"/>
          <p:cNvGrpSpPr/>
          <p:nvPr/>
        </p:nvGrpSpPr>
        <p:grpSpPr>
          <a:xfrm rot="0">
            <a:off x="731520" y="-50006"/>
            <a:ext cx="16824960" cy="1695926"/>
            <a:chOff x="0" y="0"/>
            <a:chExt cx="22433280" cy="2261235"/>
          </a:xfrm>
        </p:grpSpPr>
        <p:sp>
          <p:nvSpPr>
            <p:cNvPr name="Freeform 17" id="17"/>
            <p:cNvSpPr/>
            <p:nvPr/>
          </p:nvSpPr>
          <p:spPr>
            <a:xfrm flipH="false" flipV="false" rot="0">
              <a:off x="0" y="0"/>
              <a:ext cx="22433280" cy="2261235"/>
            </a:xfrm>
            <a:custGeom>
              <a:avLst/>
              <a:gdLst/>
              <a:ahLst/>
              <a:cxnLst/>
              <a:rect r="r" b="b" t="t" l="l"/>
              <a:pathLst>
                <a:path h="2261235" w="22433280">
                  <a:moveTo>
                    <a:pt x="0" y="0"/>
                  </a:moveTo>
                  <a:lnTo>
                    <a:pt x="22433280" y="0"/>
                  </a:lnTo>
                  <a:lnTo>
                    <a:pt x="22433280" y="2261235"/>
                  </a:lnTo>
                  <a:lnTo>
                    <a:pt x="0" y="2261235"/>
                  </a:lnTo>
                  <a:close/>
                </a:path>
              </a:pathLst>
            </a:custGeom>
            <a:blipFill>
              <a:blip r:embed="rId6">
                <a:alphaModFix amt="0"/>
              </a:blip>
              <a:stretch>
                <a:fillRect l="0" t="-143307" r="0" b="-143307"/>
              </a:stretch>
            </a:blipFill>
          </p:spPr>
        </p:sp>
        <p:sp>
          <p:nvSpPr>
            <p:cNvPr name="TextBox 18" id="18"/>
            <p:cNvSpPr txBox="true"/>
            <p:nvPr/>
          </p:nvSpPr>
          <p:spPr>
            <a:xfrm>
              <a:off x="0" y="-66675"/>
              <a:ext cx="22433280" cy="2327910"/>
            </a:xfrm>
            <a:prstGeom prst="rect">
              <a:avLst/>
            </a:prstGeom>
          </p:spPr>
          <p:txBody>
            <a:bodyPr anchor="ctr" rtlCol="false" tIns="0" lIns="0" bIns="0" rIns="0"/>
            <a:lstStyle/>
            <a:p>
              <a:pPr algn="l">
                <a:lnSpc>
                  <a:spcPts val="3358"/>
                </a:lnSpc>
              </a:pPr>
              <a:r>
                <a:rPr lang="en-US" sz="2799" b="true">
                  <a:solidFill>
                    <a:srgbClr val="FFFFFF"/>
                  </a:solidFill>
                  <a:latin typeface="Calibri (MS) Bold"/>
                  <a:ea typeface="Calibri (MS) Bold"/>
                  <a:cs typeface="Calibri (MS) Bold"/>
                  <a:sym typeface="Calibri (MS) Bold"/>
                </a:rPr>
                <a:t>1.6  |  Salidas laborales dentro y fuera del SOC</a:t>
              </a:r>
            </a:p>
          </p:txBody>
        </p:sp>
      </p:grpSp>
      <p:grpSp>
        <p:nvGrpSpPr>
          <p:cNvPr name="Group 19" id="19"/>
          <p:cNvGrpSpPr/>
          <p:nvPr/>
        </p:nvGrpSpPr>
        <p:grpSpPr>
          <a:xfrm rot="0">
            <a:off x="640080" y="1828800"/>
            <a:ext cx="17007840" cy="640080"/>
            <a:chOff x="0" y="0"/>
            <a:chExt cx="22677120" cy="853440"/>
          </a:xfrm>
        </p:grpSpPr>
        <p:sp>
          <p:nvSpPr>
            <p:cNvPr name="Freeform 20" id="20"/>
            <p:cNvSpPr/>
            <p:nvPr/>
          </p:nvSpPr>
          <p:spPr>
            <a:xfrm flipH="false" flipV="false" rot="0">
              <a:off x="0" y="0"/>
              <a:ext cx="22677120" cy="853440"/>
            </a:xfrm>
            <a:custGeom>
              <a:avLst/>
              <a:gdLst/>
              <a:ahLst/>
              <a:cxnLst/>
              <a:rect r="r" b="b" t="t" l="l"/>
              <a:pathLst>
                <a:path h="853440" w="22677120">
                  <a:moveTo>
                    <a:pt x="0" y="0"/>
                  </a:moveTo>
                  <a:lnTo>
                    <a:pt x="22677120" y="0"/>
                  </a:lnTo>
                  <a:lnTo>
                    <a:pt x="22677120" y="853440"/>
                  </a:lnTo>
                  <a:lnTo>
                    <a:pt x="0" y="853440"/>
                  </a:lnTo>
                  <a:close/>
                </a:path>
              </a:pathLst>
            </a:custGeom>
            <a:blipFill>
              <a:blip r:embed="rId5">
                <a:alphaModFix amt="0"/>
              </a:blip>
              <a:stretch>
                <a:fillRect l="0" t="-467385" r="0" b="-467385"/>
              </a:stretch>
            </a:blipFill>
          </p:spPr>
        </p:sp>
      </p:grpSp>
      <p:grpSp>
        <p:nvGrpSpPr>
          <p:cNvPr name="Group 21" id="21"/>
          <p:cNvGrpSpPr/>
          <p:nvPr/>
        </p:nvGrpSpPr>
        <p:grpSpPr>
          <a:xfrm rot="0">
            <a:off x="640080" y="1879282"/>
            <a:ext cx="17007840" cy="675799"/>
            <a:chOff x="0" y="0"/>
            <a:chExt cx="22677120" cy="901065"/>
          </a:xfrm>
        </p:grpSpPr>
        <p:sp>
          <p:nvSpPr>
            <p:cNvPr name="Freeform 22" id="22"/>
            <p:cNvSpPr/>
            <p:nvPr/>
          </p:nvSpPr>
          <p:spPr>
            <a:xfrm flipH="false" flipV="false" rot="0">
              <a:off x="0" y="0"/>
              <a:ext cx="22677120" cy="901065"/>
            </a:xfrm>
            <a:custGeom>
              <a:avLst/>
              <a:gdLst/>
              <a:ahLst/>
              <a:cxnLst/>
              <a:rect r="r" b="b" t="t" l="l"/>
              <a:pathLst>
                <a:path h="901065" w="22677120">
                  <a:moveTo>
                    <a:pt x="0" y="0"/>
                  </a:moveTo>
                  <a:lnTo>
                    <a:pt x="22677120" y="0"/>
                  </a:lnTo>
                  <a:lnTo>
                    <a:pt x="22677120" y="901065"/>
                  </a:lnTo>
                  <a:lnTo>
                    <a:pt x="0" y="901065"/>
                  </a:lnTo>
                  <a:close/>
                </a:path>
              </a:pathLst>
            </a:custGeom>
            <a:blipFill>
              <a:blip r:embed="rId6">
                <a:alphaModFix amt="0"/>
              </a:blip>
              <a:stretch>
                <a:fillRect l="0" t="-440380" r="0" b="-440380"/>
              </a:stretch>
            </a:blipFill>
          </p:spPr>
        </p:sp>
        <p:sp>
          <p:nvSpPr>
            <p:cNvPr name="TextBox 23" id="23"/>
            <p:cNvSpPr txBox="true"/>
            <p:nvPr/>
          </p:nvSpPr>
          <p:spPr>
            <a:xfrm>
              <a:off x="0" y="-47625"/>
              <a:ext cx="22677120" cy="948690"/>
            </a:xfrm>
            <a:prstGeom prst="rect">
              <a:avLst/>
            </a:prstGeom>
          </p:spPr>
          <p:txBody>
            <a:bodyPr anchor="ctr" rtlCol="false" tIns="0" lIns="0" bIns="0" rIns="0"/>
            <a:lstStyle/>
            <a:p>
              <a:pPr algn="l">
                <a:lnSpc>
                  <a:spcPts val="2638"/>
                </a:lnSpc>
              </a:pPr>
              <a:r>
                <a:rPr lang="en-US" sz="2199" b="true">
                  <a:solidFill>
                    <a:srgbClr val="F5C518"/>
                  </a:solidFill>
                  <a:latin typeface="Calibri (MS) Bold"/>
                  <a:ea typeface="Calibri (MS) Bold"/>
                  <a:cs typeface="Calibri (MS) Bold"/>
                  <a:sym typeface="Calibri (MS) Bold"/>
                </a:rPr>
                <a:t>Dentro del SOC</a:t>
              </a:r>
            </a:p>
          </p:txBody>
        </p:sp>
      </p:grpSp>
      <p:sp>
        <p:nvSpPr>
          <p:cNvPr name="Freeform 24" id="24"/>
          <p:cNvSpPr/>
          <p:nvPr/>
        </p:nvSpPr>
        <p:spPr>
          <a:xfrm flipH="false" flipV="false" rot="0">
            <a:off x="1585791" y="2616040"/>
            <a:ext cx="4873234" cy="690070"/>
          </a:xfrm>
          <a:custGeom>
            <a:avLst/>
            <a:gdLst/>
            <a:ahLst/>
            <a:cxnLst/>
            <a:rect r="r" b="b" t="t" l="l"/>
            <a:pathLst>
              <a:path h="690070" w="4873234">
                <a:moveTo>
                  <a:pt x="0" y="0"/>
                </a:moveTo>
                <a:lnTo>
                  <a:pt x="4873233" y="0"/>
                </a:lnTo>
                <a:lnTo>
                  <a:pt x="4873233" y="690069"/>
                </a:lnTo>
                <a:lnTo>
                  <a:pt x="0" y="69006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5" id="25"/>
          <p:cNvGrpSpPr/>
          <p:nvPr/>
        </p:nvGrpSpPr>
        <p:grpSpPr>
          <a:xfrm rot="0">
            <a:off x="1596834" y="2627082"/>
            <a:ext cx="4851198" cy="668034"/>
            <a:chOff x="0" y="0"/>
            <a:chExt cx="7437120" cy="1024128"/>
          </a:xfrm>
        </p:grpSpPr>
        <p:sp>
          <p:nvSpPr>
            <p:cNvPr name="Freeform 26" id="26"/>
            <p:cNvSpPr/>
            <p:nvPr/>
          </p:nvSpPr>
          <p:spPr>
            <a:xfrm flipH="false" flipV="false" rot="0">
              <a:off x="0" y="0"/>
              <a:ext cx="7437120" cy="1024128"/>
            </a:xfrm>
            <a:custGeom>
              <a:avLst/>
              <a:gdLst/>
              <a:ahLst/>
              <a:cxnLst/>
              <a:rect r="r" b="b" t="t" l="l"/>
              <a:pathLst>
                <a:path h="1024128" w="7437120">
                  <a:moveTo>
                    <a:pt x="0" y="0"/>
                  </a:moveTo>
                  <a:lnTo>
                    <a:pt x="7437120" y="0"/>
                  </a:lnTo>
                  <a:lnTo>
                    <a:pt x="7437120" y="1024128"/>
                  </a:lnTo>
                  <a:lnTo>
                    <a:pt x="0" y="1024128"/>
                  </a:lnTo>
                  <a:close/>
                </a:path>
              </a:pathLst>
            </a:custGeom>
            <a:blipFill>
              <a:blip r:embed="rId5">
                <a:alphaModFix amt="0"/>
              </a:blip>
              <a:stretch>
                <a:fillRect l="0" t="-91400" r="0" b="-91400"/>
              </a:stretch>
            </a:blipFill>
          </p:spPr>
        </p:sp>
      </p:grpSp>
      <p:grpSp>
        <p:nvGrpSpPr>
          <p:cNvPr name="Group 27" id="27"/>
          <p:cNvGrpSpPr/>
          <p:nvPr/>
        </p:nvGrpSpPr>
        <p:grpSpPr>
          <a:xfrm rot="0">
            <a:off x="1596834" y="2602230"/>
            <a:ext cx="4851198" cy="692886"/>
            <a:chOff x="0" y="0"/>
            <a:chExt cx="7437120" cy="1062228"/>
          </a:xfrm>
        </p:grpSpPr>
        <p:sp>
          <p:nvSpPr>
            <p:cNvPr name="Freeform 28" id="28"/>
            <p:cNvSpPr/>
            <p:nvPr/>
          </p:nvSpPr>
          <p:spPr>
            <a:xfrm flipH="false" flipV="false" rot="0">
              <a:off x="0" y="0"/>
              <a:ext cx="7437120" cy="1062228"/>
            </a:xfrm>
            <a:custGeom>
              <a:avLst/>
              <a:gdLst/>
              <a:ahLst/>
              <a:cxnLst/>
              <a:rect r="r" b="b" t="t" l="l"/>
              <a:pathLst>
                <a:path h="1062228" w="7437120">
                  <a:moveTo>
                    <a:pt x="0" y="0"/>
                  </a:moveTo>
                  <a:lnTo>
                    <a:pt x="7437120" y="0"/>
                  </a:lnTo>
                  <a:lnTo>
                    <a:pt x="7437120" y="1062228"/>
                  </a:lnTo>
                  <a:lnTo>
                    <a:pt x="0" y="1062228"/>
                  </a:lnTo>
                  <a:close/>
                </a:path>
              </a:pathLst>
            </a:custGeom>
            <a:blipFill>
              <a:blip r:embed="rId6">
                <a:alphaModFix amt="0"/>
              </a:blip>
              <a:stretch>
                <a:fillRect l="0" t="-86423" r="0" b="-86423"/>
              </a:stretch>
            </a:blipFill>
          </p:spPr>
        </p:sp>
        <p:sp>
          <p:nvSpPr>
            <p:cNvPr name="TextBox 29" id="29"/>
            <p:cNvSpPr txBox="true"/>
            <p:nvPr/>
          </p:nvSpPr>
          <p:spPr>
            <a:xfrm>
              <a:off x="0" y="-38100"/>
              <a:ext cx="7437120" cy="1100328"/>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Escalada técnica</a:t>
              </a:r>
            </a:p>
          </p:txBody>
        </p:sp>
      </p:grpSp>
      <p:sp>
        <p:nvSpPr>
          <p:cNvPr name="Freeform 30" id="30"/>
          <p:cNvSpPr/>
          <p:nvPr/>
        </p:nvSpPr>
        <p:spPr>
          <a:xfrm flipH="false" flipV="false" rot="0">
            <a:off x="1585791" y="3315885"/>
            <a:ext cx="4873234" cy="1167237"/>
          </a:xfrm>
          <a:custGeom>
            <a:avLst/>
            <a:gdLst/>
            <a:ahLst/>
            <a:cxnLst/>
            <a:rect r="r" b="b" t="t" l="l"/>
            <a:pathLst>
              <a:path h="1167237" w="4873234">
                <a:moveTo>
                  <a:pt x="0" y="0"/>
                </a:moveTo>
                <a:lnTo>
                  <a:pt x="4873233" y="0"/>
                </a:lnTo>
                <a:lnTo>
                  <a:pt x="4873233" y="1167236"/>
                </a:lnTo>
                <a:lnTo>
                  <a:pt x="0" y="116723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31" id="31"/>
          <p:cNvSpPr txBox="true"/>
          <p:nvPr/>
        </p:nvSpPr>
        <p:spPr>
          <a:xfrm rot="0">
            <a:off x="1892574" y="3448984"/>
            <a:ext cx="4374031" cy="1000140"/>
          </a:xfrm>
          <a:prstGeom prst="rect">
            <a:avLst/>
          </a:prstGeom>
        </p:spPr>
        <p:txBody>
          <a:bodyPr anchor="t" rtlCol="false" tIns="0" lIns="0" bIns="0" rIns="0">
            <a:spAutoFit/>
          </a:bodyPr>
          <a:lstStyle/>
          <a:p>
            <a:pPr algn="l" marL="398639" indent="-132880" lvl="2">
              <a:lnSpc>
                <a:spcPts val="1982"/>
              </a:lnSpc>
              <a:buFont typeface="Arial"/>
              <a:buChar char="⚬"/>
            </a:pPr>
            <a:r>
              <a:rPr lang="en-US" sz="1651">
                <a:solidFill>
                  <a:srgbClr val="DDDDDD"/>
                </a:solidFill>
                <a:latin typeface="Calibri (MS)"/>
                <a:ea typeface="Calibri (MS)"/>
                <a:cs typeface="Calibri (MS)"/>
                <a:sym typeface="Calibri (MS)"/>
              </a:rPr>
              <a:t>L2: Respuesta a incidentes</a:t>
            </a:r>
          </a:p>
          <a:p>
            <a:pPr algn="l" marL="398639" indent="-132880" lvl="2">
              <a:lnSpc>
                <a:spcPts val="1982"/>
              </a:lnSpc>
              <a:buFont typeface="Arial"/>
              <a:buChar char="⚬"/>
            </a:pPr>
            <a:r>
              <a:rPr lang="en-US" sz="1651">
                <a:solidFill>
                  <a:srgbClr val="DDDDDD"/>
                </a:solidFill>
                <a:latin typeface="Calibri (MS)"/>
                <a:ea typeface="Calibri (MS)"/>
                <a:cs typeface="Calibri (MS)"/>
                <a:sym typeface="Calibri (MS)"/>
              </a:rPr>
              <a:t>L3: Inteligencia, hunting, forense</a:t>
            </a:r>
          </a:p>
        </p:txBody>
      </p:sp>
      <p:sp>
        <p:nvSpPr>
          <p:cNvPr name="Freeform 32" id="32"/>
          <p:cNvSpPr/>
          <p:nvPr/>
        </p:nvSpPr>
        <p:spPr>
          <a:xfrm flipH="false" flipV="false" rot="0">
            <a:off x="6707383" y="2616040"/>
            <a:ext cx="4873234" cy="690070"/>
          </a:xfrm>
          <a:custGeom>
            <a:avLst/>
            <a:gdLst/>
            <a:ahLst/>
            <a:cxnLst/>
            <a:rect r="r" b="b" t="t" l="l"/>
            <a:pathLst>
              <a:path h="690070" w="4873234">
                <a:moveTo>
                  <a:pt x="0" y="0"/>
                </a:moveTo>
                <a:lnTo>
                  <a:pt x="4873234" y="0"/>
                </a:lnTo>
                <a:lnTo>
                  <a:pt x="4873234" y="690069"/>
                </a:lnTo>
                <a:lnTo>
                  <a:pt x="0" y="69006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33" id="33"/>
          <p:cNvGrpSpPr/>
          <p:nvPr/>
        </p:nvGrpSpPr>
        <p:grpSpPr>
          <a:xfrm rot="0">
            <a:off x="6718426" y="2627082"/>
            <a:ext cx="4851198" cy="668034"/>
            <a:chOff x="0" y="0"/>
            <a:chExt cx="7437120" cy="1024128"/>
          </a:xfrm>
        </p:grpSpPr>
        <p:sp>
          <p:nvSpPr>
            <p:cNvPr name="Freeform 34" id="34"/>
            <p:cNvSpPr/>
            <p:nvPr/>
          </p:nvSpPr>
          <p:spPr>
            <a:xfrm flipH="false" flipV="false" rot="0">
              <a:off x="0" y="0"/>
              <a:ext cx="7437120" cy="1024128"/>
            </a:xfrm>
            <a:custGeom>
              <a:avLst/>
              <a:gdLst/>
              <a:ahLst/>
              <a:cxnLst/>
              <a:rect r="r" b="b" t="t" l="l"/>
              <a:pathLst>
                <a:path h="1024128" w="7437120">
                  <a:moveTo>
                    <a:pt x="0" y="0"/>
                  </a:moveTo>
                  <a:lnTo>
                    <a:pt x="7437120" y="0"/>
                  </a:lnTo>
                  <a:lnTo>
                    <a:pt x="7437120" y="1024128"/>
                  </a:lnTo>
                  <a:lnTo>
                    <a:pt x="0" y="1024128"/>
                  </a:lnTo>
                  <a:close/>
                </a:path>
              </a:pathLst>
            </a:custGeom>
            <a:blipFill>
              <a:blip r:embed="rId5">
                <a:alphaModFix amt="0"/>
              </a:blip>
              <a:stretch>
                <a:fillRect l="0" t="-91400" r="0" b="-91400"/>
              </a:stretch>
            </a:blipFill>
          </p:spPr>
        </p:sp>
      </p:grpSp>
      <p:grpSp>
        <p:nvGrpSpPr>
          <p:cNvPr name="Group 35" id="35"/>
          <p:cNvGrpSpPr/>
          <p:nvPr/>
        </p:nvGrpSpPr>
        <p:grpSpPr>
          <a:xfrm rot="0">
            <a:off x="6718426" y="2602230"/>
            <a:ext cx="4851198" cy="692886"/>
            <a:chOff x="0" y="0"/>
            <a:chExt cx="7437120" cy="1062228"/>
          </a:xfrm>
        </p:grpSpPr>
        <p:sp>
          <p:nvSpPr>
            <p:cNvPr name="Freeform 36" id="36"/>
            <p:cNvSpPr/>
            <p:nvPr/>
          </p:nvSpPr>
          <p:spPr>
            <a:xfrm flipH="false" flipV="false" rot="0">
              <a:off x="0" y="0"/>
              <a:ext cx="7437120" cy="1062228"/>
            </a:xfrm>
            <a:custGeom>
              <a:avLst/>
              <a:gdLst/>
              <a:ahLst/>
              <a:cxnLst/>
              <a:rect r="r" b="b" t="t" l="l"/>
              <a:pathLst>
                <a:path h="1062228" w="7437120">
                  <a:moveTo>
                    <a:pt x="0" y="0"/>
                  </a:moveTo>
                  <a:lnTo>
                    <a:pt x="7437120" y="0"/>
                  </a:lnTo>
                  <a:lnTo>
                    <a:pt x="7437120" y="1062228"/>
                  </a:lnTo>
                  <a:lnTo>
                    <a:pt x="0" y="1062228"/>
                  </a:lnTo>
                  <a:close/>
                </a:path>
              </a:pathLst>
            </a:custGeom>
            <a:blipFill>
              <a:blip r:embed="rId6">
                <a:alphaModFix amt="0"/>
              </a:blip>
              <a:stretch>
                <a:fillRect l="0" t="-86423" r="0" b="-86423"/>
              </a:stretch>
            </a:blipFill>
          </p:spPr>
        </p:sp>
        <p:sp>
          <p:nvSpPr>
            <p:cNvPr name="TextBox 37" id="37"/>
            <p:cNvSpPr txBox="true"/>
            <p:nvPr/>
          </p:nvSpPr>
          <p:spPr>
            <a:xfrm>
              <a:off x="0" y="-38100"/>
              <a:ext cx="7437120" cy="1100328"/>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Infraestructura de seguridad</a:t>
              </a:r>
            </a:p>
          </p:txBody>
        </p:sp>
      </p:grpSp>
      <p:sp>
        <p:nvSpPr>
          <p:cNvPr name="Freeform 38" id="38"/>
          <p:cNvSpPr/>
          <p:nvPr/>
        </p:nvSpPr>
        <p:spPr>
          <a:xfrm flipH="false" flipV="false" rot="0">
            <a:off x="6707383" y="3315885"/>
            <a:ext cx="4873234" cy="1167237"/>
          </a:xfrm>
          <a:custGeom>
            <a:avLst/>
            <a:gdLst/>
            <a:ahLst/>
            <a:cxnLst/>
            <a:rect r="r" b="b" t="t" l="l"/>
            <a:pathLst>
              <a:path h="1167237" w="4873234">
                <a:moveTo>
                  <a:pt x="0" y="0"/>
                </a:moveTo>
                <a:lnTo>
                  <a:pt x="4873234" y="0"/>
                </a:lnTo>
                <a:lnTo>
                  <a:pt x="4873234" y="1167236"/>
                </a:lnTo>
                <a:lnTo>
                  <a:pt x="0" y="116723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39" id="39"/>
          <p:cNvSpPr txBox="true"/>
          <p:nvPr/>
        </p:nvSpPr>
        <p:spPr>
          <a:xfrm rot="0">
            <a:off x="6994027" y="3471945"/>
            <a:ext cx="4374031" cy="1000140"/>
          </a:xfrm>
          <a:prstGeom prst="rect">
            <a:avLst/>
          </a:prstGeom>
        </p:spPr>
        <p:txBody>
          <a:bodyPr anchor="t" rtlCol="false" tIns="0" lIns="0" bIns="0" rIns="0">
            <a:spAutoFit/>
          </a:bodyPr>
          <a:lstStyle/>
          <a:p>
            <a:pPr algn="l" marL="398639" indent="-132880" lvl="2">
              <a:lnSpc>
                <a:spcPts val="1982"/>
              </a:lnSpc>
              <a:buFont typeface="Arial"/>
              <a:buChar char="⚬"/>
            </a:pPr>
            <a:r>
              <a:rPr lang="en-US" sz="1651">
                <a:solidFill>
                  <a:srgbClr val="DDDDDD"/>
                </a:solidFill>
                <a:latin typeface="Calibri (MS)"/>
                <a:ea typeface="Calibri (MS)"/>
                <a:cs typeface="Calibri (MS)"/>
                <a:sym typeface="Calibri (MS)"/>
              </a:rPr>
              <a:t>Ingeniería de SIEM y SOAR</a:t>
            </a:r>
          </a:p>
          <a:p>
            <a:pPr algn="l" marL="398639" indent="-132880" lvl="2">
              <a:lnSpc>
                <a:spcPts val="1982"/>
              </a:lnSpc>
              <a:buFont typeface="Arial"/>
              <a:buChar char="⚬"/>
            </a:pPr>
            <a:r>
              <a:rPr lang="en-US" sz="1651">
                <a:solidFill>
                  <a:srgbClr val="DDDDDD"/>
                </a:solidFill>
                <a:latin typeface="Calibri (MS)"/>
                <a:ea typeface="Calibri (MS)"/>
                <a:cs typeface="Calibri (MS)"/>
                <a:sym typeface="Calibri (MS)"/>
              </a:rPr>
              <a:t>Automatización y arquitectura</a:t>
            </a:r>
          </a:p>
        </p:txBody>
      </p:sp>
      <p:sp>
        <p:nvSpPr>
          <p:cNvPr name="Freeform 40" id="40"/>
          <p:cNvSpPr/>
          <p:nvPr/>
        </p:nvSpPr>
        <p:spPr>
          <a:xfrm flipH="false" flipV="false" rot="0">
            <a:off x="11828976" y="2616040"/>
            <a:ext cx="4873234" cy="690070"/>
          </a:xfrm>
          <a:custGeom>
            <a:avLst/>
            <a:gdLst/>
            <a:ahLst/>
            <a:cxnLst/>
            <a:rect r="r" b="b" t="t" l="l"/>
            <a:pathLst>
              <a:path h="690070" w="4873234">
                <a:moveTo>
                  <a:pt x="0" y="0"/>
                </a:moveTo>
                <a:lnTo>
                  <a:pt x="4873233" y="0"/>
                </a:lnTo>
                <a:lnTo>
                  <a:pt x="4873233" y="690069"/>
                </a:lnTo>
                <a:lnTo>
                  <a:pt x="0" y="69006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41" id="41"/>
          <p:cNvGrpSpPr/>
          <p:nvPr/>
        </p:nvGrpSpPr>
        <p:grpSpPr>
          <a:xfrm rot="0">
            <a:off x="11840018" y="2627082"/>
            <a:ext cx="4851198" cy="668034"/>
            <a:chOff x="0" y="0"/>
            <a:chExt cx="7437120" cy="1024128"/>
          </a:xfrm>
        </p:grpSpPr>
        <p:sp>
          <p:nvSpPr>
            <p:cNvPr name="Freeform 42" id="42"/>
            <p:cNvSpPr/>
            <p:nvPr/>
          </p:nvSpPr>
          <p:spPr>
            <a:xfrm flipH="false" flipV="false" rot="0">
              <a:off x="0" y="0"/>
              <a:ext cx="7437120" cy="1024128"/>
            </a:xfrm>
            <a:custGeom>
              <a:avLst/>
              <a:gdLst/>
              <a:ahLst/>
              <a:cxnLst/>
              <a:rect r="r" b="b" t="t" l="l"/>
              <a:pathLst>
                <a:path h="1024128" w="7437120">
                  <a:moveTo>
                    <a:pt x="0" y="0"/>
                  </a:moveTo>
                  <a:lnTo>
                    <a:pt x="7437120" y="0"/>
                  </a:lnTo>
                  <a:lnTo>
                    <a:pt x="7437120" y="1024128"/>
                  </a:lnTo>
                  <a:lnTo>
                    <a:pt x="0" y="1024128"/>
                  </a:lnTo>
                  <a:close/>
                </a:path>
              </a:pathLst>
            </a:custGeom>
            <a:blipFill>
              <a:blip r:embed="rId5">
                <a:alphaModFix amt="0"/>
              </a:blip>
              <a:stretch>
                <a:fillRect l="0" t="-91400" r="0" b="-91400"/>
              </a:stretch>
            </a:blipFill>
          </p:spPr>
        </p:sp>
      </p:grpSp>
      <p:grpSp>
        <p:nvGrpSpPr>
          <p:cNvPr name="Group 43" id="43"/>
          <p:cNvGrpSpPr/>
          <p:nvPr/>
        </p:nvGrpSpPr>
        <p:grpSpPr>
          <a:xfrm rot="0">
            <a:off x="11840018" y="2602230"/>
            <a:ext cx="4851198" cy="692886"/>
            <a:chOff x="0" y="0"/>
            <a:chExt cx="7437120" cy="1062228"/>
          </a:xfrm>
        </p:grpSpPr>
        <p:sp>
          <p:nvSpPr>
            <p:cNvPr name="Freeform 44" id="44"/>
            <p:cNvSpPr/>
            <p:nvPr/>
          </p:nvSpPr>
          <p:spPr>
            <a:xfrm flipH="false" flipV="false" rot="0">
              <a:off x="0" y="0"/>
              <a:ext cx="7437120" cy="1062228"/>
            </a:xfrm>
            <a:custGeom>
              <a:avLst/>
              <a:gdLst/>
              <a:ahLst/>
              <a:cxnLst/>
              <a:rect r="r" b="b" t="t" l="l"/>
              <a:pathLst>
                <a:path h="1062228" w="7437120">
                  <a:moveTo>
                    <a:pt x="0" y="0"/>
                  </a:moveTo>
                  <a:lnTo>
                    <a:pt x="7437120" y="0"/>
                  </a:lnTo>
                  <a:lnTo>
                    <a:pt x="7437120" y="1062228"/>
                  </a:lnTo>
                  <a:lnTo>
                    <a:pt x="0" y="1062228"/>
                  </a:lnTo>
                  <a:close/>
                </a:path>
              </a:pathLst>
            </a:custGeom>
            <a:blipFill>
              <a:blip r:embed="rId6">
                <a:alphaModFix amt="0"/>
              </a:blip>
              <a:stretch>
                <a:fillRect l="0" t="-86423" r="0" b="-86423"/>
              </a:stretch>
            </a:blipFill>
          </p:spPr>
        </p:sp>
        <p:sp>
          <p:nvSpPr>
            <p:cNvPr name="TextBox 45" id="45"/>
            <p:cNvSpPr txBox="true"/>
            <p:nvPr/>
          </p:nvSpPr>
          <p:spPr>
            <a:xfrm>
              <a:off x="0" y="-38100"/>
              <a:ext cx="7437120" cy="1100328"/>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Gestión operativa</a:t>
              </a:r>
            </a:p>
          </p:txBody>
        </p:sp>
      </p:grpSp>
      <p:sp>
        <p:nvSpPr>
          <p:cNvPr name="Freeform 46" id="46"/>
          <p:cNvSpPr/>
          <p:nvPr/>
        </p:nvSpPr>
        <p:spPr>
          <a:xfrm flipH="false" flipV="false" rot="0">
            <a:off x="11828976" y="3315885"/>
            <a:ext cx="4873234" cy="1167237"/>
          </a:xfrm>
          <a:custGeom>
            <a:avLst/>
            <a:gdLst/>
            <a:ahLst/>
            <a:cxnLst/>
            <a:rect r="r" b="b" t="t" l="l"/>
            <a:pathLst>
              <a:path h="1167237" w="4873234">
                <a:moveTo>
                  <a:pt x="0" y="0"/>
                </a:moveTo>
                <a:lnTo>
                  <a:pt x="4873233" y="0"/>
                </a:lnTo>
                <a:lnTo>
                  <a:pt x="4873233" y="1167236"/>
                </a:lnTo>
                <a:lnTo>
                  <a:pt x="0" y="116723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47" id="47"/>
          <p:cNvSpPr txBox="true"/>
          <p:nvPr/>
        </p:nvSpPr>
        <p:spPr>
          <a:xfrm rot="0">
            <a:off x="12115620" y="3471945"/>
            <a:ext cx="4374031" cy="1000140"/>
          </a:xfrm>
          <a:prstGeom prst="rect">
            <a:avLst/>
          </a:prstGeom>
        </p:spPr>
        <p:txBody>
          <a:bodyPr anchor="t" rtlCol="false" tIns="0" lIns="0" bIns="0" rIns="0">
            <a:spAutoFit/>
          </a:bodyPr>
          <a:lstStyle/>
          <a:p>
            <a:pPr algn="l" marL="398639" indent="-132880" lvl="2">
              <a:lnSpc>
                <a:spcPts val="1982"/>
              </a:lnSpc>
              <a:buFont typeface="Arial"/>
              <a:buChar char="⚬"/>
            </a:pPr>
            <a:r>
              <a:rPr lang="en-US" sz="1651">
                <a:solidFill>
                  <a:srgbClr val="DDDDDD"/>
                </a:solidFill>
                <a:latin typeface="Calibri (MS)"/>
                <a:ea typeface="Calibri (MS)"/>
                <a:cs typeface="Calibri (MS)"/>
                <a:sym typeface="Calibri (MS)"/>
              </a:rPr>
              <a:t>Coordinador de turno</a:t>
            </a:r>
          </a:p>
          <a:p>
            <a:pPr algn="l" marL="398639" indent="-132880" lvl="2">
              <a:lnSpc>
                <a:spcPts val="1982"/>
              </a:lnSpc>
              <a:buFont typeface="Arial"/>
              <a:buChar char="⚬"/>
            </a:pPr>
            <a:r>
              <a:rPr lang="en-US" sz="1651">
                <a:solidFill>
                  <a:srgbClr val="DDDDDD"/>
                </a:solidFill>
                <a:latin typeface="Calibri (MS)"/>
                <a:ea typeface="Calibri (MS)"/>
                <a:cs typeface="Calibri (MS)"/>
                <a:sym typeface="Calibri (MS)"/>
              </a:rPr>
              <a:t>Team Lead / SOC Manager</a:t>
            </a:r>
          </a:p>
        </p:txBody>
      </p:sp>
      <p:grpSp>
        <p:nvGrpSpPr>
          <p:cNvPr name="Group 48" id="48"/>
          <p:cNvGrpSpPr/>
          <p:nvPr/>
        </p:nvGrpSpPr>
        <p:grpSpPr>
          <a:xfrm rot="0">
            <a:off x="640080" y="5029200"/>
            <a:ext cx="17007840" cy="640080"/>
            <a:chOff x="0" y="0"/>
            <a:chExt cx="22677120" cy="853440"/>
          </a:xfrm>
        </p:grpSpPr>
        <p:sp>
          <p:nvSpPr>
            <p:cNvPr name="Freeform 49" id="49"/>
            <p:cNvSpPr/>
            <p:nvPr/>
          </p:nvSpPr>
          <p:spPr>
            <a:xfrm flipH="false" flipV="false" rot="0">
              <a:off x="0" y="0"/>
              <a:ext cx="22677120" cy="853440"/>
            </a:xfrm>
            <a:custGeom>
              <a:avLst/>
              <a:gdLst/>
              <a:ahLst/>
              <a:cxnLst/>
              <a:rect r="r" b="b" t="t" l="l"/>
              <a:pathLst>
                <a:path h="853440" w="22677120">
                  <a:moveTo>
                    <a:pt x="0" y="0"/>
                  </a:moveTo>
                  <a:lnTo>
                    <a:pt x="22677120" y="0"/>
                  </a:lnTo>
                  <a:lnTo>
                    <a:pt x="22677120" y="853440"/>
                  </a:lnTo>
                  <a:lnTo>
                    <a:pt x="0" y="853440"/>
                  </a:lnTo>
                  <a:close/>
                </a:path>
              </a:pathLst>
            </a:custGeom>
            <a:blipFill>
              <a:blip r:embed="rId5">
                <a:alphaModFix amt="0"/>
              </a:blip>
              <a:stretch>
                <a:fillRect l="0" t="-467385" r="0" b="-467385"/>
              </a:stretch>
            </a:blipFill>
          </p:spPr>
        </p:sp>
      </p:grpSp>
      <p:grpSp>
        <p:nvGrpSpPr>
          <p:cNvPr name="Group 50" id="50"/>
          <p:cNvGrpSpPr/>
          <p:nvPr/>
        </p:nvGrpSpPr>
        <p:grpSpPr>
          <a:xfrm rot="0">
            <a:off x="640080" y="5111683"/>
            <a:ext cx="17007840" cy="675799"/>
            <a:chOff x="0" y="0"/>
            <a:chExt cx="22677120" cy="901065"/>
          </a:xfrm>
        </p:grpSpPr>
        <p:sp>
          <p:nvSpPr>
            <p:cNvPr name="Freeform 51" id="51"/>
            <p:cNvSpPr/>
            <p:nvPr/>
          </p:nvSpPr>
          <p:spPr>
            <a:xfrm flipH="false" flipV="false" rot="0">
              <a:off x="0" y="0"/>
              <a:ext cx="22677120" cy="901065"/>
            </a:xfrm>
            <a:custGeom>
              <a:avLst/>
              <a:gdLst/>
              <a:ahLst/>
              <a:cxnLst/>
              <a:rect r="r" b="b" t="t" l="l"/>
              <a:pathLst>
                <a:path h="901065" w="22677120">
                  <a:moveTo>
                    <a:pt x="0" y="0"/>
                  </a:moveTo>
                  <a:lnTo>
                    <a:pt x="22677120" y="0"/>
                  </a:lnTo>
                  <a:lnTo>
                    <a:pt x="22677120" y="901065"/>
                  </a:lnTo>
                  <a:lnTo>
                    <a:pt x="0" y="901065"/>
                  </a:lnTo>
                  <a:close/>
                </a:path>
              </a:pathLst>
            </a:custGeom>
            <a:blipFill>
              <a:blip r:embed="rId6">
                <a:alphaModFix amt="0"/>
              </a:blip>
              <a:stretch>
                <a:fillRect l="0" t="-440380" r="0" b="-440380"/>
              </a:stretch>
            </a:blipFill>
          </p:spPr>
        </p:sp>
        <p:sp>
          <p:nvSpPr>
            <p:cNvPr name="TextBox 52" id="52"/>
            <p:cNvSpPr txBox="true"/>
            <p:nvPr/>
          </p:nvSpPr>
          <p:spPr>
            <a:xfrm>
              <a:off x="0" y="-47625"/>
              <a:ext cx="22677120" cy="948690"/>
            </a:xfrm>
            <a:prstGeom prst="rect">
              <a:avLst/>
            </a:prstGeom>
          </p:spPr>
          <p:txBody>
            <a:bodyPr anchor="ctr" rtlCol="false" tIns="0" lIns="0" bIns="0" rIns="0"/>
            <a:lstStyle/>
            <a:p>
              <a:pPr algn="l">
                <a:lnSpc>
                  <a:spcPts val="2638"/>
                </a:lnSpc>
              </a:pPr>
              <a:r>
                <a:rPr lang="en-US" sz="2199" b="true">
                  <a:solidFill>
                    <a:srgbClr val="F5C518"/>
                  </a:solidFill>
                  <a:latin typeface="Calibri (MS) Bold"/>
                  <a:ea typeface="Calibri (MS) Bold"/>
                  <a:cs typeface="Calibri (MS) Bold"/>
                  <a:sym typeface="Calibri (MS) Bold"/>
                </a:rPr>
                <a:t>Fuera del SOC</a:t>
              </a:r>
            </a:p>
          </p:txBody>
        </p:sp>
      </p:grpSp>
      <p:sp>
        <p:nvSpPr>
          <p:cNvPr name="Freeform 53" id="53"/>
          <p:cNvSpPr/>
          <p:nvPr/>
        </p:nvSpPr>
        <p:spPr>
          <a:xfrm flipH="false" flipV="false" rot="0">
            <a:off x="1596834" y="5820321"/>
            <a:ext cx="4866130" cy="625534"/>
          </a:xfrm>
          <a:custGeom>
            <a:avLst/>
            <a:gdLst/>
            <a:ahLst/>
            <a:cxnLst/>
            <a:rect r="r" b="b" t="t" l="l"/>
            <a:pathLst>
              <a:path h="625534" w="4866130">
                <a:moveTo>
                  <a:pt x="0" y="0"/>
                </a:moveTo>
                <a:lnTo>
                  <a:pt x="4866129" y="0"/>
                </a:lnTo>
                <a:lnTo>
                  <a:pt x="4866129" y="625535"/>
                </a:lnTo>
                <a:lnTo>
                  <a:pt x="0" y="62553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54" id="54"/>
          <p:cNvGrpSpPr/>
          <p:nvPr/>
        </p:nvGrpSpPr>
        <p:grpSpPr>
          <a:xfrm rot="0">
            <a:off x="1607860" y="5831348"/>
            <a:ext cx="4844126" cy="603530"/>
            <a:chOff x="0" y="0"/>
            <a:chExt cx="7437120" cy="926592"/>
          </a:xfrm>
        </p:grpSpPr>
        <p:sp>
          <p:nvSpPr>
            <p:cNvPr name="Freeform 55" id="55"/>
            <p:cNvSpPr/>
            <p:nvPr/>
          </p:nvSpPr>
          <p:spPr>
            <a:xfrm flipH="false" flipV="false" rot="0">
              <a:off x="0" y="0"/>
              <a:ext cx="7437120" cy="926592"/>
            </a:xfrm>
            <a:custGeom>
              <a:avLst/>
              <a:gdLst/>
              <a:ahLst/>
              <a:cxnLst/>
              <a:rect r="r" b="b" t="t" l="l"/>
              <a:pathLst>
                <a:path h="926592" w="7437120">
                  <a:moveTo>
                    <a:pt x="0" y="0"/>
                  </a:moveTo>
                  <a:lnTo>
                    <a:pt x="7437120" y="0"/>
                  </a:lnTo>
                  <a:lnTo>
                    <a:pt x="7437120" y="926592"/>
                  </a:lnTo>
                  <a:lnTo>
                    <a:pt x="0" y="926592"/>
                  </a:lnTo>
                  <a:close/>
                </a:path>
              </a:pathLst>
            </a:custGeom>
            <a:blipFill>
              <a:blip r:embed="rId5">
                <a:alphaModFix amt="0"/>
              </a:blip>
              <a:stretch>
                <a:fillRect l="0" t="-106284" r="0" b="-106284"/>
              </a:stretch>
            </a:blipFill>
          </p:spPr>
        </p:sp>
      </p:grpSp>
      <p:grpSp>
        <p:nvGrpSpPr>
          <p:cNvPr name="Group 56" id="56"/>
          <p:cNvGrpSpPr/>
          <p:nvPr/>
        </p:nvGrpSpPr>
        <p:grpSpPr>
          <a:xfrm rot="0">
            <a:off x="1607860" y="5806532"/>
            <a:ext cx="4844126" cy="628347"/>
            <a:chOff x="0" y="0"/>
            <a:chExt cx="7437120" cy="964692"/>
          </a:xfrm>
        </p:grpSpPr>
        <p:sp>
          <p:nvSpPr>
            <p:cNvPr name="Freeform 57" id="57"/>
            <p:cNvSpPr/>
            <p:nvPr/>
          </p:nvSpPr>
          <p:spPr>
            <a:xfrm flipH="false" flipV="false" rot="0">
              <a:off x="0" y="0"/>
              <a:ext cx="7437120" cy="964692"/>
            </a:xfrm>
            <a:custGeom>
              <a:avLst/>
              <a:gdLst/>
              <a:ahLst/>
              <a:cxnLst/>
              <a:rect r="r" b="b" t="t" l="l"/>
              <a:pathLst>
                <a:path h="964692" w="7437120">
                  <a:moveTo>
                    <a:pt x="0" y="0"/>
                  </a:moveTo>
                  <a:lnTo>
                    <a:pt x="7437120" y="0"/>
                  </a:lnTo>
                  <a:lnTo>
                    <a:pt x="7437120" y="964692"/>
                  </a:lnTo>
                  <a:lnTo>
                    <a:pt x="0" y="964692"/>
                  </a:lnTo>
                  <a:close/>
                </a:path>
              </a:pathLst>
            </a:custGeom>
            <a:blipFill>
              <a:blip r:embed="rId6">
                <a:alphaModFix amt="0"/>
              </a:blip>
              <a:stretch>
                <a:fillRect l="0" t="-100216" r="0" b="-100216"/>
              </a:stretch>
            </a:blipFill>
          </p:spPr>
        </p:sp>
        <p:sp>
          <p:nvSpPr>
            <p:cNvPr name="TextBox 58" id="58"/>
            <p:cNvSpPr txBox="true"/>
            <p:nvPr/>
          </p:nvSpPr>
          <p:spPr>
            <a:xfrm>
              <a:off x="0" y="-38100"/>
              <a:ext cx="7437120" cy="1002792"/>
            </a:xfrm>
            <a:prstGeom prst="rect">
              <a:avLst/>
            </a:prstGeom>
          </p:spPr>
          <p:txBody>
            <a:bodyPr anchor="ctr" rtlCol="false" tIns="0" lIns="0" bIns="0" rIns="0"/>
            <a:lstStyle/>
            <a:p>
              <a:pPr algn="ctr">
                <a:lnSpc>
                  <a:spcPts val="2040"/>
                </a:lnSpc>
              </a:pPr>
              <a:r>
                <a:rPr lang="en-US" sz="1700" b="true">
                  <a:solidFill>
                    <a:srgbClr val="FFFFFF"/>
                  </a:solidFill>
                  <a:latin typeface="Calibri (MS) Bold"/>
                  <a:ea typeface="Calibri (MS) Bold"/>
                  <a:cs typeface="Calibri (MS) Bold"/>
                  <a:sym typeface="Calibri (MS) Bold"/>
                </a:rPr>
                <a:t>Red Team / Pentesting</a:t>
              </a:r>
            </a:p>
          </p:txBody>
        </p:sp>
      </p:grpSp>
      <p:sp>
        <p:nvSpPr>
          <p:cNvPr name="Freeform 59" id="59"/>
          <p:cNvSpPr/>
          <p:nvPr/>
        </p:nvSpPr>
        <p:spPr>
          <a:xfrm flipH="false" flipV="false" rot="0">
            <a:off x="1596834" y="6455617"/>
            <a:ext cx="4866130" cy="1006711"/>
          </a:xfrm>
          <a:custGeom>
            <a:avLst/>
            <a:gdLst/>
            <a:ahLst/>
            <a:cxnLst/>
            <a:rect r="r" b="b" t="t" l="l"/>
            <a:pathLst>
              <a:path h="1006711" w="4866130">
                <a:moveTo>
                  <a:pt x="0" y="0"/>
                </a:moveTo>
                <a:lnTo>
                  <a:pt x="4866129" y="0"/>
                </a:lnTo>
                <a:lnTo>
                  <a:pt x="4866129" y="1006711"/>
                </a:lnTo>
                <a:lnTo>
                  <a:pt x="0" y="100671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60" id="60"/>
          <p:cNvSpPr txBox="true"/>
          <p:nvPr/>
        </p:nvSpPr>
        <p:spPr>
          <a:xfrm rot="0">
            <a:off x="1806312" y="6564441"/>
            <a:ext cx="4447066" cy="855782"/>
          </a:xfrm>
          <a:prstGeom prst="rect">
            <a:avLst/>
          </a:prstGeom>
        </p:spPr>
        <p:txBody>
          <a:bodyPr anchor="t" rtlCol="false" tIns="0" lIns="0" bIns="0" rIns="0">
            <a:spAutoFit/>
          </a:bodyPr>
          <a:lstStyle/>
          <a:p>
            <a:pPr algn="l">
              <a:lnSpc>
                <a:spcPts val="1771"/>
              </a:lnSpc>
            </a:pPr>
            <a:r>
              <a:rPr lang="en-US" sz="1476">
                <a:solidFill>
                  <a:srgbClr val="CCCCCC"/>
                </a:solidFill>
                <a:latin typeface="Calibri (MS)"/>
                <a:ea typeface="Calibri (MS)"/>
                <a:cs typeface="Calibri (MS)"/>
                <a:sym typeface="Calibri (MS)"/>
              </a:rPr>
              <a:t>Ethical hacking, pruebas de penetración, adversarial emulation. Para quienes se interesan por el enfoque ofensivo.</a:t>
            </a:r>
          </a:p>
        </p:txBody>
      </p:sp>
      <p:sp>
        <p:nvSpPr>
          <p:cNvPr name="Freeform 61" id="61"/>
          <p:cNvSpPr/>
          <p:nvPr/>
        </p:nvSpPr>
        <p:spPr>
          <a:xfrm flipH="false" flipV="false" rot="0">
            <a:off x="6710960" y="5820321"/>
            <a:ext cx="4866130" cy="625534"/>
          </a:xfrm>
          <a:custGeom>
            <a:avLst/>
            <a:gdLst/>
            <a:ahLst/>
            <a:cxnLst/>
            <a:rect r="r" b="b" t="t" l="l"/>
            <a:pathLst>
              <a:path h="625534" w="4866130">
                <a:moveTo>
                  <a:pt x="0" y="0"/>
                </a:moveTo>
                <a:lnTo>
                  <a:pt x="4866130" y="0"/>
                </a:lnTo>
                <a:lnTo>
                  <a:pt x="4866130" y="625535"/>
                </a:lnTo>
                <a:lnTo>
                  <a:pt x="0" y="62553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62" id="62"/>
          <p:cNvGrpSpPr/>
          <p:nvPr/>
        </p:nvGrpSpPr>
        <p:grpSpPr>
          <a:xfrm rot="0">
            <a:off x="6721987" y="5831348"/>
            <a:ext cx="4844126" cy="603530"/>
            <a:chOff x="0" y="0"/>
            <a:chExt cx="7437120" cy="926592"/>
          </a:xfrm>
        </p:grpSpPr>
        <p:sp>
          <p:nvSpPr>
            <p:cNvPr name="Freeform 63" id="63"/>
            <p:cNvSpPr/>
            <p:nvPr/>
          </p:nvSpPr>
          <p:spPr>
            <a:xfrm flipH="false" flipV="false" rot="0">
              <a:off x="0" y="0"/>
              <a:ext cx="7437120" cy="926592"/>
            </a:xfrm>
            <a:custGeom>
              <a:avLst/>
              <a:gdLst/>
              <a:ahLst/>
              <a:cxnLst/>
              <a:rect r="r" b="b" t="t" l="l"/>
              <a:pathLst>
                <a:path h="926592" w="7437120">
                  <a:moveTo>
                    <a:pt x="0" y="0"/>
                  </a:moveTo>
                  <a:lnTo>
                    <a:pt x="7437120" y="0"/>
                  </a:lnTo>
                  <a:lnTo>
                    <a:pt x="7437120" y="926592"/>
                  </a:lnTo>
                  <a:lnTo>
                    <a:pt x="0" y="926592"/>
                  </a:lnTo>
                  <a:close/>
                </a:path>
              </a:pathLst>
            </a:custGeom>
            <a:blipFill>
              <a:blip r:embed="rId5">
                <a:alphaModFix amt="0"/>
              </a:blip>
              <a:stretch>
                <a:fillRect l="0" t="-106284" r="0" b="-106284"/>
              </a:stretch>
            </a:blipFill>
          </p:spPr>
        </p:sp>
      </p:grpSp>
      <p:grpSp>
        <p:nvGrpSpPr>
          <p:cNvPr name="Group 64" id="64"/>
          <p:cNvGrpSpPr/>
          <p:nvPr/>
        </p:nvGrpSpPr>
        <p:grpSpPr>
          <a:xfrm rot="0">
            <a:off x="6721987" y="5806532"/>
            <a:ext cx="4844126" cy="628347"/>
            <a:chOff x="0" y="0"/>
            <a:chExt cx="7437120" cy="964692"/>
          </a:xfrm>
        </p:grpSpPr>
        <p:sp>
          <p:nvSpPr>
            <p:cNvPr name="Freeform 65" id="65"/>
            <p:cNvSpPr/>
            <p:nvPr/>
          </p:nvSpPr>
          <p:spPr>
            <a:xfrm flipH="false" flipV="false" rot="0">
              <a:off x="0" y="0"/>
              <a:ext cx="7437120" cy="964692"/>
            </a:xfrm>
            <a:custGeom>
              <a:avLst/>
              <a:gdLst/>
              <a:ahLst/>
              <a:cxnLst/>
              <a:rect r="r" b="b" t="t" l="l"/>
              <a:pathLst>
                <a:path h="964692" w="7437120">
                  <a:moveTo>
                    <a:pt x="0" y="0"/>
                  </a:moveTo>
                  <a:lnTo>
                    <a:pt x="7437120" y="0"/>
                  </a:lnTo>
                  <a:lnTo>
                    <a:pt x="7437120" y="964692"/>
                  </a:lnTo>
                  <a:lnTo>
                    <a:pt x="0" y="964692"/>
                  </a:lnTo>
                  <a:close/>
                </a:path>
              </a:pathLst>
            </a:custGeom>
            <a:blipFill>
              <a:blip r:embed="rId6">
                <a:alphaModFix amt="0"/>
              </a:blip>
              <a:stretch>
                <a:fillRect l="0" t="-100216" r="0" b="-100216"/>
              </a:stretch>
            </a:blipFill>
          </p:spPr>
        </p:sp>
        <p:sp>
          <p:nvSpPr>
            <p:cNvPr name="TextBox 66" id="66"/>
            <p:cNvSpPr txBox="true"/>
            <p:nvPr/>
          </p:nvSpPr>
          <p:spPr>
            <a:xfrm>
              <a:off x="0" y="-38100"/>
              <a:ext cx="7437120" cy="1002792"/>
            </a:xfrm>
            <a:prstGeom prst="rect">
              <a:avLst/>
            </a:prstGeom>
          </p:spPr>
          <p:txBody>
            <a:bodyPr anchor="ctr" rtlCol="false" tIns="0" lIns="0" bIns="0" rIns="0"/>
            <a:lstStyle/>
            <a:p>
              <a:pPr algn="ctr">
                <a:lnSpc>
                  <a:spcPts val="2040"/>
                </a:lnSpc>
              </a:pPr>
              <a:r>
                <a:rPr lang="en-US" sz="1700" b="true">
                  <a:solidFill>
                    <a:srgbClr val="FFFFFF"/>
                  </a:solidFill>
                  <a:latin typeface="Calibri (MS) Bold"/>
                  <a:ea typeface="Calibri (MS) Bold"/>
                  <a:cs typeface="Calibri (MS) Bold"/>
                  <a:sym typeface="Calibri (MS) Bold"/>
                </a:rPr>
                <a:t>CSIRT / CERT</a:t>
              </a:r>
            </a:p>
          </p:txBody>
        </p:sp>
      </p:grpSp>
      <p:sp>
        <p:nvSpPr>
          <p:cNvPr name="Freeform 67" id="67"/>
          <p:cNvSpPr/>
          <p:nvPr/>
        </p:nvSpPr>
        <p:spPr>
          <a:xfrm flipH="false" flipV="false" rot="0">
            <a:off x="6710960" y="6455617"/>
            <a:ext cx="4866130" cy="1006711"/>
          </a:xfrm>
          <a:custGeom>
            <a:avLst/>
            <a:gdLst/>
            <a:ahLst/>
            <a:cxnLst/>
            <a:rect r="r" b="b" t="t" l="l"/>
            <a:pathLst>
              <a:path h="1006711" w="4866130">
                <a:moveTo>
                  <a:pt x="0" y="0"/>
                </a:moveTo>
                <a:lnTo>
                  <a:pt x="4866130" y="0"/>
                </a:lnTo>
                <a:lnTo>
                  <a:pt x="4866130" y="1006711"/>
                </a:lnTo>
                <a:lnTo>
                  <a:pt x="0" y="100671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68" id="68"/>
          <p:cNvSpPr txBox="true"/>
          <p:nvPr/>
        </p:nvSpPr>
        <p:spPr>
          <a:xfrm rot="0">
            <a:off x="6920438" y="6564441"/>
            <a:ext cx="4447066" cy="855782"/>
          </a:xfrm>
          <a:prstGeom prst="rect">
            <a:avLst/>
          </a:prstGeom>
        </p:spPr>
        <p:txBody>
          <a:bodyPr anchor="t" rtlCol="false" tIns="0" lIns="0" bIns="0" rIns="0">
            <a:spAutoFit/>
          </a:bodyPr>
          <a:lstStyle/>
          <a:p>
            <a:pPr algn="l">
              <a:lnSpc>
                <a:spcPts val="1771"/>
              </a:lnSpc>
            </a:pPr>
            <a:r>
              <a:rPr lang="en-US" sz="1476">
                <a:solidFill>
                  <a:srgbClr val="CCCCCC"/>
                </a:solidFill>
                <a:latin typeface="Calibri (MS)"/>
                <a:ea typeface="Calibri (MS)"/>
                <a:cs typeface="Calibri (MS)"/>
                <a:sym typeface="Calibri (MS)"/>
              </a:rPr>
              <a:t>Respuesta a incidentes críticos en equipos nacionales, sectoriales o empresariales de alto impacto.</a:t>
            </a:r>
          </a:p>
        </p:txBody>
      </p:sp>
      <p:sp>
        <p:nvSpPr>
          <p:cNvPr name="Freeform 69" id="69"/>
          <p:cNvSpPr/>
          <p:nvPr/>
        </p:nvSpPr>
        <p:spPr>
          <a:xfrm flipH="false" flipV="false" rot="0">
            <a:off x="11825086" y="5820321"/>
            <a:ext cx="4866130" cy="625534"/>
          </a:xfrm>
          <a:custGeom>
            <a:avLst/>
            <a:gdLst/>
            <a:ahLst/>
            <a:cxnLst/>
            <a:rect r="r" b="b" t="t" l="l"/>
            <a:pathLst>
              <a:path h="625534" w="4866130">
                <a:moveTo>
                  <a:pt x="0" y="0"/>
                </a:moveTo>
                <a:lnTo>
                  <a:pt x="4866130" y="0"/>
                </a:lnTo>
                <a:lnTo>
                  <a:pt x="4866130" y="625535"/>
                </a:lnTo>
                <a:lnTo>
                  <a:pt x="0" y="625535"/>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70" id="70"/>
          <p:cNvGrpSpPr/>
          <p:nvPr/>
        </p:nvGrpSpPr>
        <p:grpSpPr>
          <a:xfrm rot="0">
            <a:off x="11836113" y="5831348"/>
            <a:ext cx="4844126" cy="603530"/>
            <a:chOff x="0" y="0"/>
            <a:chExt cx="7437120" cy="926592"/>
          </a:xfrm>
        </p:grpSpPr>
        <p:sp>
          <p:nvSpPr>
            <p:cNvPr name="Freeform 71" id="71"/>
            <p:cNvSpPr/>
            <p:nvPr/>
          </p:nvSpPr>
          <p:spPr>
            <a:xfrm flipH="false" flipV="false" rot="0">
              <a:off x="0" y="0"/>
              <a:ext cx="7437120" cy="926592"/>
            </a:xfrm>
            <a:custGeom>
              <a:avLst/>
              <a:gdLst/>
              <a:ahLst/>
              <a:cxnLst/>
              <a:rect r="r" b="b" t="t" l="l"/>
              <a:pathLst>
                <a:path h="926592" w="7437120">
                  <a:moveTo>
                    <a:pt x="0" y="0"/>
                  </a:moveTo>
                  <a:lnTo>
                    <a:pt x="7437120" y="0"/>
                  </a:lnTo>
                  <a:lnTo>
                    <a:pt x="7437120" y="926592"/>
                  </a:lnTo>
                  <a:lnTo>
                    <a:pt x="0" y="926592"/>
                  </a:lnTo>
                  <a:close/>
                </a:path>
              </a:pathLst>
            </a:custGeom>
            <a:blipFill>
              <a:blip r:embed="rId5">
                <a:alphaModFix amt="0"/>
              </a:blip>
              <a:stretch>
                <a:fillRect l="0" t="-106284" r="0" b="-106284"/>
              </a:stretch>
            </a:blipFill>
          </p:spPr>
        </p:sp>
      </p:grpSp>
      <p:grpSp>
        <p:nvGrpSpPr>
          <p:cNvPr name="Group 72" id="72"/>
          <p:cNvGrpSpPr/>
          <p:nvPr/>
        </p:nvGrpSpPr>
        <p:grpSpPr>
          <a:xfrm rot="0">
            <a:off x="11836113" y="5806532"/>
            <a:ext cx="4844126" cy="628347"/>
            <a:chOff x="0" y="0"/>
            <a:chExt cx="7437120" cy="964692"/>
          </a:xfrm>
        </p:grpSpPr>
        <p:sp>
          <p:nvSpPr>
            <p:cNvPr name="Freeform 73" id="73"/>
            <p:cNvSpPr/>
            <p:nvPr/>
          </p:nvSpPr>
          <p:spPr>
            <a:xfrm flipH="false" flipV="false" rot="0">
              <a:off x="0" y="0"/>
              <a:ext cx="7437120" cy="964692"/>
            </a:xfrm>
            <a:custGeom>
              <a:avLst/>
              <a:gdLst/>
              <a:ahLst/>
              <a:cxnLst/>
              <a:rect r="r" b="b" t="t" l="l"/>
              <a:pathLst>
                <a:path h="964692" w="7437120">
                  <a:moveTo>
                    <a:pt x="0" y="0"/>
                  </a:moveTo>
                  <a:lnTo>
                    <a:pt x="7437120" y="0"/>
                  </a:lnTo>
                  <a:lnTo>
                    <a:pt x="7437120" y="964692"/>
                  </a:lnTo>
                  <a:lnTo>
                    <a:pt x="0" y="964692"/>
                  </a:lnTo>
                  <a:close/>
                </a:path>
              </a:pathLst>
            </a:custGeom>
            <a:blipFill>
              <a:blip r:embed="rId6">
                <a:alphaModFix amt="0"/>
              </a:blip>
              <a:stretch>
                <a:fillRect l="0" t="-100216" r="0" b="-100216"/>
              </a:stretch>
            </a:blipFill>
          </p:spPr>
        </p:sp>
        <p:sp>
          <p:nvSpPr>
            <p:cNvPr name="TextBox 74" id="74"/>
            <p:cNvSpPr txBox="true"/>
            <p:nvPr/>
          </p:nvSpPr>
          <p:spPr>
            <a:xfrm>
              <a:off x="0" y="-38100"/>
              <a:ext cx="7437120" cy="1002792"/>
            </a:xfrm>
            <a:prstGeom prst="rect">
              <a:avLst/>
            </a:prstGeom>
          </p:spPr>
          <p:txBody>
            <a:bodyPr anchor="ctr" rtlCol="false" tIns="0" lIns="0" bIns="0" rIns="0"/>
            <a:lstStyle/>
            <a:p>
              <a:pPr algn="ctr">
                <a:lnSpc>
                  <a:spcPts val="2040"/>
                </a:lnSpc>
              </a:pPr>
              <a:r>
                <a:rPr lang="en-US" sz="1700" b="true">
                  <a:solidFill>
                    <a:srgbClr val="FFFFFF"/>
                  </a:solidFill>
                  <a:latin typeface="Calibri (MS) Bold"/>
                  <a:ea typeface="Calibri (MS) Bold"/>
                  <a:cs typeface="Calibri (MS) Bold"/>
                  <a:sym typeface="Calibri (MS) Bold"/>
                </a:rPr>
                <a:t>Threat Intelligence (CTI)</a:t>
              </a:r>
            </a:p>
          </p:txBody>
        </p:sp>
      </p:grpSp>
      <p:sp>
        <p:nvSpPr>
          <p:cNvPr name="Freeform 75" id="75"/>
          <p:cNvSpPr/>
          <p:nvPr/>
        </p:nvSpPr>
        <p:spPr>
          <a:xfrm flipH="false" flipV="false" rot="0">
            <a:off x="11825086" y="6455617"/>
            <a:ext cx="4866130" cy="1006711"/>
          </a:xfrm>
          <a:custGeom>
            <a:avLst/>
            <a:gdLst/>
            <a:ahLst/>
            <a:cxnLst/>
            <a:rect r="r" b="b" t="t" l="l"/>
            <a:pathLst>
              <a:path h="1006711" w="4866130">
                <a:moveTo>
                  <a:pt x="0" y="0"/>
                </a:moveTo>
                <a:lnTo>
                  <a:pt x="4866130" y="0"/>
                </a:lnTo>
                <a:lnTo>
                  <a:pt x="4866130" y="1006711"/>
                </a:lnTo>
                <a:lnTo>
                  <a:pt x="0" y="100671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76" id="76"/>
          <p:cNvSpPr txBox="true"/>
          <p:nvPr/>
        </p:nvSpPr>
        <p:spPr>
          <a:xfrm rot="0">
            <a:off x="12034565" y="6564441"/>
            <a:ext cx="4447066" cy="855782"/>
          </a:xfrm>
          <a:prstGeom prst="rect">
            <a:avLst/>
          </a:prstGeom>
        </p:spPr>
        <p:txBody>
          <a:bodyPr anchor="t" rtlCol="false" tIns="0" lIns="0" bIns="0" rIns="0">
            <a:spAutoFit/>
          </a:bodyPr>
          <a:lstStyle/>
          <a:p>
            <a:pPr algn="l">
              <a:lnSpc>
                <a:spcPts val="1771"/>
              </a:lnSpc>
            </a:pPr>
            <a:r>
              <a:rPr lang="en-US" sz="1476">
                <a:solidFill>
                  <a:srgbClr val="CCCCCC"/>
                </a:solidFill>
                <a:latin typeface="Calibri (MS)"/>
                <a:ea typeface="Calibri (MS)"/>
                <a:cs typeface="Calibri (MS)"/>
                <a:sym typeface="Calibri (MS)"/>
              </a:rPr>
              <a:t>Análisis de grupos APT, campañas maliciosas, fuentes OSINT y contextos geopolíticos.</a:t>
            </a:r>
          </a:p>
        </p:txBody>
      </p:sp>
      <p:sp>
        <p:nvSpPr>
          <p:cNvPr name="Freeform 77" id="77"/>
          <p:cNvSpPr/>
          <p:nvPr/>
        </p:nvSpPr>
        <p:spPr>
          <a:xfrm flipH="false" flipV="false" rot="0">
            <a:off x="1596834" y="7567383"/>
            <a:ext cx="4866130" cy="625534"/>
          </a:xfrm>
          <a:custGeom>
            <a:avLst/>
            <a:gdLst/>
            <a:ahLst/>
            <a:cxnLst/>
            <a:rect r="r" b="b" t="t" l="l"/>
            <a:pathLst>
              <a:path h="625534" w="4866130">
                <a:moveTo>
                  <a:pt x="0" y="0"/>
                </a:moveTo>
                <a:lnTo>
                  <a:pt x="4866129" y="0"/>
                </a:lnTo>
                <a:lnTo>
                  <a:pt x="4866129" y="625534"/>
                </a:lnTo>
                <a:lnTo>
                  <a:pt x="0" y="625534"/>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78" id="78"/>
          <p:cNvGrpSpPr/>
          <p:nvPr/>
        </p:nvGrpSpPr>
        <p:grpSpPr>
          <a:xfrm rot="0">
            <a:off x="1607860" y="7578410"/>
            <a:ext cx="4844126" cy="603530"/>
            <a:chOff x="0" y="0"/>
            <a:chExt cx="7437120" cy="926592"/>
          </a:xfrm>
        </p:grpSpPr>
        <p:sp>
          <p:nvSpPr>
            <p:cNvPr name="Freeform 79" id="79"/>
            <p:cNvSpPr/>
            <p:nvPr/>
          </p:nvSpPr>
          <p:spPr>
            <a:xfrm flipH="false" flipV="false" rot="0">
              <a:off x="0" y="0"/>
              <a:ext cx="7437120" cy="926592"/>
            </a:xfrm>
            <a:custGeom>
              <a:avLst/>
              <a:gdLst/>
              <a:ahLst/>
              <a:cxnLst/>
              <a:rect r="r" b="b" t="t" l="l"/>
              <a:pathLst>
                <a:path h="926592" w="7437120">
                  <a:moveTo>
                    <a:pt x="0" y="0"/>
                  </a:moveTo>
                  <a:lnTo>
                    <a:pt x="7437120" y="0"/>
                  </a:lnTo>
                  <a:lnTo>
                    <a:pt x="7437120" y="926592"/>
                  </a:lnTo>
                  <a:lnTo>
                    <a:pt x="0" y="926592"/>
                  </a:lnTo>
                  <a:close/>
                </a:path>
              </a:pathLst>
            </a:custGeom>
            <a:blipFill>
              <a:blip r:embed="rId5">
                <a:alphaModFix amt="0"/>
              </a:blip>
              <a:stretch>
                <a:fillRect l="0" t="-106284" r="0" b="-106284"/>
              </a:stretch>
            </a:blipFill>
          </p:spPr>
        </p:sp>
      </p:grpSp>
      <p:grpSp>
        <p:nvGrpSpPr>
          <p:cNvPr name="Group 80" id="80"/>
          <p:cNvGrpSpPr/>
          <p:nvPr/>
        </p:nvGrpSpPr>
        <p:grpSpPr>
          <a:xfrm rot="0">
            <a:off x="1607860" y="7553594"/>
            <a:ext cx="4844126" cy="628347"/>
            <a:chOff x="0" y="0"/>
            <a:chExt cx="7437120" cy="964692"/>
          </a:xfrm>
        </p:grpSpPr>
        <p:sp>
          <p:nvSpPr>
            <p:cNvPr name="Freeform 81" id="81"/>
            <p:cNvSpPr/>
            <p:nvPr/>
          </p:nvSpPr>
          <p:spPr>
            <a:xfrm flipH="false" flipV="false" rot="0">
              <a:off x="0" y="0"/>
              <a:ext cx="7437120" cy="964692"/>
            </a:xfrm>
            <a:custGeom>
              <a:avLst/>
              <a:gdLst/>
              <a:ahLst/>
              <a:cxnLst/>
              <a:rect r="r" b="b" t="t" l="l"/>
              <a:pathLst>
                <a:path h="964692" w="7437120">
                  <a:moveTo>
                    <a:pt x="0" y="0"/>
                  </a:moveTo>
                  <a:lnTo>
                    <a:pt x="7437120" y="0"/>
                  </a:lnTo>
                  <a:lnTo>
                    <a:pt x="7437120" y="964692"/>
                  </a:lnTo>
                  <a:lnTo>
                    <a:pt x="0" y="964692"/>
                  </a:lnTo>
                  <a:close/>
                </a:path>
              </a:pathLst>
            </a:custGeom>
            <a:blipFill>
              <a:blip r:embed="rId6">
                <a:alphaModFix amt="0"/>
              </a:blip>
              <a:stretch>
                <a:fillRect l="0" t="-100216" r="0" b="-100216"/>
              </a:stretch>
            </a:blipFill>
          </p:spPr>
        </p:sp>
        <p:sp>
          <p:nvSpPr>
            <p:cNvPr name="TextBox 82" id="82"/>
            <p:cNvSpPr txBox="true"/>
            <p:nvPr/>
          </p:nvSpPr>
          <p:spPr>
            <a:xfrm>
              <a:off x="0" y="-38100"/>
              <a:ext cx="7437120" cy="1002792"/>
            </a:xfrm>
            <a:prstGeom prst="rect">
              <a:avLst/>
            </a:prstGeom>
          </p:spPr>
          <p:txBody>
            <a:bodyPr anchor="ctr" rtlCol="false" tIns="0" lIns="0" bIns="0" rIns="0"/>
            <a:lstStyle/>
            <a:p>
              <a:pPr algn="ctr">
                <a:lnSpc>
                  <a:spcPts val="2040"/>
                </a:lnSpc>
              </a:pPr>
              <a:r>
                <a:rPr lang="en-US" sz="1700" b="true">
                  <a:solidFill>
                    <a:srgbClr val="FFFFFF"/>
                  </a:solidFill>
                  <a:latin typeface="Calibri (MS) Bold"/>
                  <a:ea typeface="Calibri (MS) Bold"/>
                  <a:cs typeface="Calibri (MS) Bold"/>
                  <a:sym typeface="Calibri (MS) Bold"/>
                </a:rPr>
                <a:t>Cloud Security</a:t>
              </a:r>
            </a:p>
          </p:txBody>
        </p:sp>
      </p:grpSp>
      <p:sp>
        <p:nvSpPr>
          <p:cNvPr name="Freeform 83" id="83"/>
          <p:cNvSpPr/>
          <p:nvPr/>
        </p:nvSpPr>
        <p:spPr>
          <a:xfrm flipH="false" flipV="false" rot="0">
            <a:off x="1596834" y="8202678"/>
            <a:ext cx="4866130" cy="1006711"/>
          </a:xfrm>
          <a:custGeom>
            <a:avLst/>
            <a:gdLst/>
            <a:ahLst/>
            <a:cxnLst/>
            <a:rect r="r" b="b" t="t" l="l"/>
            <a:pathLst>
              <a:path h="1006711" w="4866130">
                <a:moveTo>
                  <a:pt x="0" y="0"/>
                </a:moveTo>
                <a:lnTo>
                  <a:pt x="4866129" y="0"/>
                </a:lnTo>
                <a:lnTo>
                  <a:pt x="4866129" y="1006712"/>
                </a:lnTo>
                <a:lnTo>
                  <a:pt x="0" y="100671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84" id="84"/>
          <p:cNvSpPr txBox="true"/>
          <p:nvPr/>
        </p:nvSpPr>
        <p:spPr>
          <a:xfrm rot="0">
            <a:off x="1806312" y="8311502"/>
            <a:ext cx="4447066" cy="855782"/>
          </a:xfrm>
          <a:prstGeom prst="rect">
            <a:avLst/>
          </a:prstGeom>
        </p:spPr>
        <p:txBody>
          <a:bodyPr anchor="t" rtlCol="false" tIns="0" lIns="0" bIns="0" rIns="0">
            <a:spAutoFit/>
          </a:bodyPr>
          <a:lstStyle/>
          <a:p>
            <a:pPr algn="l">
              <a:lnSpc>
                <a:spcPts val="1771"/>
              </a:lnSpc>
            </a:pPr>
            <a:r>
              <a:rPr lang="en-US" sz="1476">
                <a:solidFill>
                  <a:srgbClr val="CCCCCC"/>
                </a:solidFill>
                <a:latin typeface="Calibri (MS)"/>
                <a:ea typeface="Calibri (MS)"/>
                <a:cs typeface="Calibri (MS)"/>
                <a:sym typeface="Calibri (MS)"/>
              </a:rPr>
              <a:t>Seguridad en entornos cloud: auditorías, configuración segura, logs en entornos distribuidos.</a:t>
            </a:r>
          </a:p>
        </p:txBody>
      </p:sp>
      <p:sp>
        <p:nvSpPr>
          <p:cNvPr name="Freeform 85" id="85"/>
          <p:cNvSpPr/>
          <p:nvPr/>
        </p:nvSpPr>
        <p:spPr>
          <a:xfrm flipH="false" flipV="false" rot="0">
            <a:off x="6710960" y="7567383"/>
            <a:ext cx="4866130" cy="625534"/>
          </a:xfrm>
          <a:custGeom>
            <a:avLst/>
            <a:gdLst/>
            <a:ahLst/>
            <a:cxnLst/>
            <a:rect r="r" b="b" t="t" l="l"/>
            <a:pathLst>
              <a:path h="625534" w="4866130">
                <a:moveTo>
                  <a:pt x="0" y="0"/>
                </a:moveTo>
                <a:lnTo>
                  <a:pt x="4866130" y="0"/>
                </a:lnTo>
                <a:lnTo>
                  <a:pt x="4866130" y="625534"/>
                </a:lnTo>
                <a:lnTo>
                  <a:pt x="0" y="625534"/>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86" id="86"/>
          <p:cNvGrpSpPr/>
          <p:nvPr/>
        </p:nvGrpSpPr>
        <p:grpSpPr>
          <a:xfrm rot="0">
            <a:off x="6721987" y="7578410"/>
            <a:ext cx="4844126" cy="603530"/>
            <a:chOff x="0" y="0"/>
            <a:chExt cx="7437120" cy="926592"/>
          </a:xfrm>
        </p:grpSpPr>
        <p:sp>
          <p:nvSpPr>
            <p:cNvPr name="Freeform 87" id="87"/>
            <p:cNvSpPr/>
            <p:nvPr/>
          </p:nvSpPr>
          <p:spPr>
            <a:xfrm flipH="false" flipV="false" rot="0">
              <a:off x="0" y="0"/>
              <a:ext cx="7437120" cy="926592"/>
            </a:xfrm>
            <a:custGeom>
              <a:avLst/>
              <a:gdLst/>
              <a:ahLst/>
              <a:cxnLst/>
              <a:rect r="r" b="b" t="t" l="l"/>
              <a:pathLst>
                <a:path h="926592" w="7437120">
                  <a:moveTo>
                    <a:pt x="0" y="0"/>
                  </a:moveTo>
                  <a:lnTo>
                    <a:pt x="7437120" y="0"/>
                  </a:lnTo>
                  <a:lnTo>
                    <a:pt x="7437120" y="926592"/>
                  </a:lnTo>
                  <a:lnTo>
                    <a:pt x="0" y="926592"/>
                  </a:lnTo>
                  <a:close/>
                </a:path>
              </a:pathLst>
            </a:custGeom>
            <a:blipFill>
              <a:blip r:embed="rId5">
                <a:alphaModFix amt="0"/>
              </a:blip>
              <a:stretch>
                <a:fillRect l="0" t="-106284" r="0" b="-106284"/>
              </a:stretch>
            </a:blipFill>
          </p:spPr>
        </p:sp>
      </p:grpSp>
      <p:grpSp>
        <p:nvGrpSpPr>
          <p:cNvPr name="Group 88" id="88"/>
          <p:cNvGrpSpPr/>
          <p:nvPr/>
        </p:nvGrpSpPr>
        <p:grpSpPr>
          <a:xfrm rot="0">
            <a:off x="6721987" y="7553594"/>
            <a:ext cx="4844126" cy="628347"/>
            <a:chOff x="0" y="0"/>
            <a:chExt cx="7437120" cy="964692"/>
          </a:xfrm>
        </p:grpSpPr>
        <p:sp>
          <p:nvSpPr>
            <p:cNvPr name="Freeform 89" id="89"/>
            <p:cNvSpPr/>
            <p:nvPr/>
          </p:nvSpPr>
          <p:spPr>
            <a:xfrm flipH="false" flipV="false" rot="0">
              <a:off x="0" y="0"/>
              <a:ext cx="7437120" cy="964692"/>
            </a:xfrm>
            <a:custGeom>
              <a:avLst/>
              <a:gdLst/>
              <a:ahLst/>
              <a:cxnLst/>
              <a:rect r="r" b="b" t="t" l="l"/>
              <a:pathLst>
                <a:path h="964692" w="7437120">
                  <a:moveTo>
                    <a:pt x="0" y="0"/>
                  </a:moveTo>
                  <a:lnTo>
                    <a:pt x="7437120" y="0"/>
                  </a:lnTo>
                  <a:lnTo>
                    <a:pt x="7437120" y="964692"/>
                  </a:lnTo>
                  <a:lnTo>
                    <a:pt x="0" y="964692"/>
                  </a:lnTo>
                  <a:close/>
                </a:path>
              </a:pathLst>
            </a:custGeom>
            <a:blipFill>
              <a:blip r:embed="rId6">
                <a:alphaModFix amt="0"/>
              </a:blip>
              <a:stretch>
                <a:fillRect l="0" t="-100216" r="0" b="-100216"/>
              </a:stretch>
            </a:blipFill>
          </p:spPr>
        </p:sp>
        <p:sp>
          <p:nvSpPr>
            <p:cNvPr name="TextBox 90" id="90"/>
            <p:cNvSpPr txBox="true"/>
            <p:nvPr/>
          </p:nvSpPr>
          <p:spPr>
            <a:xfrm>
              <a:off x="0" y="-38100"/>
              <a:ext cx="7437120" cy="1002792"/>
            </a:xfrm>
            <a:prstGeom prst="rect">
              <a:avLst/>
            </a:prstGeom>
          </p:spPr>
          <p:txBody>
            <a:bodyPr anchor="ctr" rtlCol="false" tIns="0" lIns="0" bIns="0" rIns="0"/>
            <a:lstStyle/>
            <a:p>
              <a:pPr algn="ctr">
                <a:lnSpc>
                  <a:spcPts val="2040"/>
                </a:lnSpc>
              </a:pPr>
              <a:r>
                <a:rPr lang="en-US" sz="1700" b="true">
                  <a:solidFill>
                    <a:srgbClr val="FFFFFF"/>
                  </a:solidFill>
                  <a:latin typeface="Calibri (MS) Bold"/>
                  <a:ea typeface="Calibri (MS) Bold"/>
                  <a:cs typeface="Calibri (MS) Bold"/>
                  <a:sym typeface="Calibri (MS) Bold"/>
                </a:rPr>
                <a:t>GRC — Gobernanza, Riesgo y Cumplimiento</a:t>
              </a:r>
            </a:p>
          </p:txBody>
        </p:sp>
      </p:grpSp>
      <p:sp>
        <p:nvSpPr>
          <p:cNvPr name="Freeform 91" id="91"/>
          <p:cNvSpPr/>
          <p:nvPr/>
        </p:nvSpPr>
        <p:spPr>
          <a:xfrm flipH="false" flipV="false" rot="0">
            <a:off x="6710960" y="8202678"/>
            <a:ext cx="4866130" cy="1006711"/>
          </a:xfrm>
          <a:custGeom>
            <a:avLst/>
            <a:gdLst/>
            <a:ahLst/>
            <a:cxnLst/>
            <a:rect r="r" b="b" t="t" l="l"/>
            <a:pathLst>
              <a:path h="1006711" w="4866130">
                <a:moveTo>
                  <a:pt x="0" y="0"/>
                </a:moveTo>
                <a:lnTo>
                  <a:pt x="4866130" y="0"/>
                </a:lnTo>
                <a:lnTo>
                  <a:pt x="4866130" y="1006712"/>
                </a:lnTo>
                <a:lnTo>
                  <a:pt x="0" y="100671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92" id="92"/>
          <p:cNvSpPr txBox="true"/>
          <p:nvPr/>
        </p:nvSpPr>
        <p:spPr>
          <a:xfrm rot="0">
            <a:off x="6920438" y="8311502"/>
            <a:ext cx="4447066" cy="855782"/>
          </a:xfrm>
          <a:prstGeom prst="rect">
            <a:avLst/>
          </a:prstGeom>
        </p:spPr>
        <p:txBody>
          <a:bodyPr anchor="t" rtlCol="false" tIns="0" lIns="0" bIns="0" rIns="0">
            <a:spAutoFit/>
          </a:bodyPr>
          <a:lstStyle/>
          <a:p>
            <a:pPr algn="l">
              <a:lnSpc>
                <a:spcPts val="1771"/>
              </a:lnSpc>
            </a:pPr>
            <a:r>
              <a:rPr lang="en-US" sz="1476">
                <a:solidFill>
                  <a:srgbClr val="CCCCCC"/>
                </a:solidFill>
                <a:latin typeface="Calibri (MS)"/>
                <a:ea typeface="Calibri (MS)"/>
                <a:cs typeface="Calibri (MS)"/>
                <a:sym typeface="Calibri (MS)"/>
              </a:rPr>
              <a:t>Políticas, auditorías, cumplimiento normativo (ISO 27001, GDPR, NIST).</a:t>
            </a:r>
          </a:p>
        </p:txBody>
      </p:sp>
      <p:sp>
        <p:nvSpPr>
          <p:cNvPr name="Freeform 93" id="93"/>
          <p:cNvSpPr/>
          <p:nvPr/>
        </p:nvSpPr>
        <p:spPr>
          <a:xfrm flipH="false" flipV="false" rot="0">
            <a:off x="11825086" y="7567383"/>
            <a:ext cx="4866130" cy="625534"/>
          </a:xfrm>
          <a:custGeom>
            <a:avLst/>
            <a:gdLst/>
            <a:ahLst/>
            <a:cxnLst/>
            <a:rect r="r" b="b" t="t" l="l"/>
            <a:pathLst>
              <a:path h="625534" w="4866130">
                <a:moveTo>
                  <a:pt x="0" y="0"/>
                </a:moveTo>
                <a:lnTo>
                  <a:pt x="4866130" y="0"/>
                </a:lnTo>
                <a:lnTo>
                  <a:pt x="4866130" y="625534"/>
                </a:lnTo>
                <a:lnTo>
                  <a:pt x="0" y="625534"/>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grpSp>
        <p:nvGrpSpPr>
          <p:cNvPr name="Group 94" id="94"/>
          <p:cNvGrpSpPr/>
          <p:nvPr/>
        </p:nvGrpSpPr>
        <p:grpSpPr>
          <a:xfrm rot="0">
            <a:off x="11836113" y="7578410"/>
            <a:ext cx="4844126" cy="603530"/>
            <a:chOff x="0" y="0"/>
            <a:chExt cx="7437120" cy="926592"/>
          </a:xfrm>
        </p:grpSpPr>
        <p:sp>
          <p:nvSpPr>
            <p:cNvPr name="Freeform 95" id="95"/>
            <p:cNvSpPr/>
            <p:nvPr/>
          </p:nvSpPr>
          <p:spPr>
            <a:xfrm flipH="false" flipV="false" rot="0">
              <a:off x="0" y="0"/>
              <a:ext cx="7437120" cy="926592"/>
            </a:xfrm>
            <a:custGeom>
              <a:avLst/>
              <a:gdLst/>
              <a:ahLst/>
              <a:cxnLst/>
              <a:rect r="r" b="b" t="t" l="l"/>
              <a:pathLst>
                <a:path h="926592" w="7437120">
                  <a:moveTo>
                    <a:pt x="0" y="0"/>
                  </a:moveTo>
                  <a:lnTo>
                    <a:pt x="7437120" y="0"/>
                  </a:lnTo>
                  <a:lnTo>
                    <a:pt x="7437120" y="926592"/>
                  </a:lnTo>
                  <a:lnTo>
                    <a:pt x="0" y="926592"/>
                  </a:lnTo>
                  <a:close/>
                </a:path>
              </a:pathLst>
            </a:custGeom>
            <a:blipFill>
              <a:blip r:embed="rId5">
                <a:alphaModFix amt="0"/>
              </a:blip>
              <a:stretch>
                <a:fillRect l="0" t="-106284" r="0" b="-106284"/>
              </a:stretch>
            </a:blipFill>
          </p:spPr>
        </p:sp>
      </p:grpSp>
      <p:grpSp>
        <p:nvGrpSpPr>
          <p:cNvPr name="Group 96" id="96"/>
          <p:cNvGrpSpPr/>
          <p:nvPr/>
        </p:nvGrpSpPr>
        <p:grpSpPr>
          <a:xfrm rot="0">
            <a:off x="11836113" y="7553594"/>
            <a:ext cx="4844126" cy="628347"/>
            <a:chOff x="0" y="0"/>
            <a:chExt cx="7437120" cy="964692"/>
          </a:xfrm>
        </p:grpSpPr>
        <p:sp>
          <p:nvSpPr>
            <p:cNvPr name="Freeform 97" id="97"/>
            <p:cNvSpPr/>
            <p:nvPr/>
          </p:nvSpPr>
          <p:spPr>
            <a:xfrm flipH="false" flipV="false" rot="0">
              <a:off x="0" y="0"/>
              <a:ext cx="7437120" cy="964692"/>
            </a:xfrm>
            <a:custGeom>
              <a:avLst/>
              <a:gdLst/>
              <a:ahLst/>
              <a:cxnLst/>
              <a:rect r="r" b="b" t="t" l="l"/>
              <a:pathLst>
                <a:path h="964692" w="7437120">
                  <a:moveTo>
                    <a:pt x="0" y="0"/>
                  </a:moveTo>
                  <a:lnTo>
                    <a:pt x="7437120" y="0"/>
                  </a:lnTo>
                  <a:lnTo>
                    <a:pt x="7437120" y="964692"/>
                  </a:lnTo>
                  <a:lnTo>
                    <a:pt x="0" y="964692"/>
                  </a:lnTo>
                  <a:close/>
                </a:path>
              </a:pathLst>
            </a:custGeom>
            <a:blipFill>
              <a:blip r:embed="rId6">
                <a:alphaModFix amt="0"/>
              </a:blip>
              <a:stretch>
                <a:fillRect l="0" t="-100216" r="0" b="-100216"/>
              </a:stretch>
            </a:blipFill>
          </p:spPr>
        </p:sp>
        <p:sp>
          <p:nvSpPr>
            <p:cNvPr name="TextBox 98" id="98"/>
            <p:cNvSpPr txBox="true"/>
            <p:nvPr/>
          </p:nvSpPr>
          <p:spPr>
            <a:xfrm>
              <a:off x="0" y="-38100"/>
              <a:ext cx="7437120" cy="1002792"/>
            </a:xfrm>
            <a:prstGeom prst="rect">
              <a:avLst/>
            </a:prstGeom>
          </p:spPr>
          <p:txBody>
            <a:bodyPr anchor="ctr" rtlCol="false" tIns="0" lIns="0" bIns="0" rIns="0"/>
            <a:lstStyle/>
            <a:p>
              <a:pPr algn="ctr">
                <a:lnSpc>
                  <a:spcPts val="2040"/>
                </a:lnSpc>
              </a:pPr>
              <a:r>
                <a:rPr lang="en-US" sz="1700" b="true">
                  <a:solidFill>
                    <a:srgbClr val="FFFFFF"/>
                  </a:solidFill>
                  <a:latin typeface="Calibri (MS) Bold"/>
                  <a:ea typeface="Calibri (MS) Bold"/>
                  <a:cs typeface="Calibri (MS) Bold"/>
                  <a:sym typeface="Calibri (MS) Bold"/>
                </a:rPr>
                <a:t>DevSecOps</a:t>
              </a:r>
            </a:p>
          </p:txBody>
        </p:sp>
      </p:grpSp>
      <p:sp>
        <p:nvSpPr>
          <p:cNvPr name="Freeform 99" id="99"/>
          <p:cNvSpPr/>
          <p:nvPr/>
        </p:nvSpPr>
        <p:spPr>
          <a:xfrm flipH="false" flipV="false" rot="0">
            <a:off x="11825086" y="8202678"/>
            <a:ext cx="4866130" cy="1006711"/>
          </a:xfrm>
          <a:custGeom>
            <a:avLst/>
            <a:gdLst/>
            <a:ahLst/>
            <a:cxnLst/>
            <a:rect r="r" b="b" t="t" l="l"/>
            <a:pathLst>
              <a:path h="1006711" w="4866130">
                <a:moveTo>
                  <a:pt x="0" y="0"/>
                </a:moveTo>
                <a:lnTo>
                  <a:pt x="4866130" y="0"/>
                </a:lnTo>
                <a:lnTo>
                  <a:pt x="4866130" y="1006712"/>
                </a:lnTo>
                <a:lnTo>
                  <a:pt x="0" y="100671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00" id="100"/>
          <p:cNvSpPr txBox="true"/>
          <p:nvPr/>
        </p:nvSpPr>
        <p:spPr>
          <a:xfrm rot="0">
            <a:off x="12034565" y="8311502"/>
            <a:ext cx="4447066" cy="855782"/>
          </a:xfrm>
          <a:prstGeom prst="rect">
            <a:avLst/>
          </a:prstGeom>
        </p:spPr>
        <p:txBody>
          <a:bodyPr anchor="t" rtlCol="false" tIns="0" lIns="0" bIns="0" rIns="0">
            <a:spAutoFit/>
          </a:bodyPr>
          <a:lstStyle/>
          <a:p>
            <a:pPr algn="l">
              <a:lnSpc>
                <a:spcPts val="1771"/>
              </a:lnSpc>
            </a:pPr>
            <a:r>
              <a:rPr lang="en-US" sz="1476">
                <a:solidFill>
                  <a:srgbClr val="CCCCCC"/>
                </a:solidFill>
                <a:latin typeface="Calibri (MS)"/>
                <a:ea typeface="Calibri (MS)"/>
                <a:cs typeface="Calibri (MS)"/>
                <a:sym typeface="Calibri (MS)"/>
              </a:rPr>
              <a:t>Integración de seguridad en el ciclo de desarrollo de software y operaciones de TI.</a:t>
            </a:r>
          </a:p>
        </p:txBody>
      </p:sp>
      <p:grpSp>
        <p:nvGrpSpPr>
          <p:cNvPr name="Group 101" id="101"/>
          <p:cNvGrpSpPr/>
          <p:nvPr/>
        </p:nvGrpSpPr>
        <p:grpSpPr>
          <a:xfrm rot="0">
            <a:off x="15983863" y="24203"/>
            <a:ext cx="1855079" cy="1855079"/>
            <a:chOff x="0" y="0"/>
            <a:chExt cx="5852160" cy="5852160"/>
          </a:xfrm>
        </p:grpSpPr>
        <p:sp>
          <p:nvSpPr>
            <p:cNvPr name="Freeform 102" id="102"/>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27"/>
              <a:stretch>
                <a:fillRect l="0" t="0" r="0"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697" y="-12697"/>
            <a:ext cx="427672" cy="10312337"/>
          </a:xfrm>
          <a:custGeom>
            <a:avLst/>
            <a:gdLst/>
            <a:ahLst/>
            <a:cxnLst/>
            <a:rect r="r" b="b" t="t" l="l"/>
            <a:pathLst>
              <a:path h="10312337" w="427672">
                <a:moveTo>
                  <a:pt x="0" y="0"/>
                </a:moveTo>
                <a:lnTo>
                  <a:pt x="427673" y="0"/>
                </a:lnTo>
                <a:lnTo>
                  <a:pt x="427673" y="10312337"/>
                </a:lnTo>
                <a:lnTo>
                  <a:pt x="0" y="10312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697" y="9771383"/>
            <a:ext cx="18313336" cy="537401"/>
          </a:xfrm>
          <a:custGeom>
            <a:avLst/>
            <a:gdLst/>
            <a:ahLst/>
            <a:cxnLst/>
            <a:rect r="r" b="b" t="t" l="l"/>
            <a:pathLst>
              <a:path h="537401" w="18313336">
                <a:moveTo>
                  <a:pt x="0" y="0"/>
                </a:moveTo>
                <a:lnTo>
                  <a:pt x="18313337" y="0"/>
                </a:lnTo>
                <a:lnTo>
                  <a:pt x="18313337" y="537401"/>
                </a:lnTo>
                <a:lnTo>
                  <a:pt x="0" y="5374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548640" y="9784080"/>
            <a:ext cx="15544800" cy="512064"/>
            <a:chOff x="0" y="0"/>
            <a:chExt cx="20726400" cy="682752"/>
          </a:xfrm>
        </p:grpSpPr>
        <p:sp>
          <p:nvSpPr>
            <p:cNvPr name="Freeform 5" id="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7">
                <a:alphaModFix amt="0"/>
              </a:blip>
              <a:stretch>
                <a:fillRect l="0" t="-541099" r="0" b="-541097"/>
              </a:stretch>
            </a:blipFill>
          </p:spPr>
        </p:sp>
      </p:grpSp>
      <p:grpSp>
        <p:nvGrpSpPr>
          <p:cNvPr name="Group 6" id="6"/>
          <p:cNvGrpSpPr/>
          <p:nvPr/>
        </p:nvGrpSpPr>
        <p:grpSpPr>
          <a:xfrm rot="0">
            <a:off x="548640" y="9762649"/>
            <a:ext cx="15544800" cy="533495"/>
            <a:chOff x="0" y="0"/>
            <a:chExt cx="20726400" cy="711327"/>
          </a:xfrm>
        </p:grpSpPr>
        <p:sp>
          <p:nvSpPr>
            <p:cNvPr name="Freeform 7" id="7"/>
            <p:cNvSpPr/>
            <p:nvPr/>
          </p:nvSpPr>
          <p:spPr>
            <a:xfrm flipH="false" flipV="false" rot="0">
              <a:off x="0" y="0"/>
              <a:ext cx="20726400" cy="711327"/>
            </a:xfrm>
            <a:custGeom>
              <a:avLst/>
              <a:gdLst/>
              <a:ahLst/>
              <a:cxnLst/>
              <a:rect r="r" b="b" t="t" l="l"/>
              <a:pathLst>
                <a:path h="711327" w="20726400">
                  <a:moveTo>
                    <a:pt x="0" y="0"/>
                  </a:moveTo>
                  <a:lnTo>
                    <a:pt x="20726400" y="0"/>
                  </a:lnTo>
                  <a:lnTo>
                    <a:pt x="20726400" y="711327"/>
                  </a:lnTo>
                  <a:lnTo>
                    <a:pt x="0" y="711327"/>
                  </a:lnTo>
                  <a:close/>
                </a:path>
              </a:pathLst>
            </a:custGeom>
            <a:blipFill>
              <a:blip r:embed="rId8">
                <a:alphaModFix amt="0"/>
              </a:blip>
              <a:stretch>
                <a:fillRect l="0" t="-517748" r="0" b="-517748"/>
              </a:stretch>
            </a:blipFill>
          </p:spPr>
        </p:sp>
        <p:sp>
          <p:nvSpPr>
            <p:cNvPr name="TextBox 8" id="8"/>
            <p:cNvSpPr txBox="true"/>
            <p:nvPr/>
          </p:nvSpPr>
          <p:spPr>
            <a:xfrm>
              <a:off x="0" y="-28575"/>
              <a:ext cx="20726400" cy="739902"/>
            </a:xfrm>
            <a:prstGeom prst="rect">
              <a:avLst/>
            </a:prstGeom>
          </p:spPr>
          <p:txBody>
            <a:bodyPr anchor="ctr" rtlCol="false" tIns="0" lIns="0" bIns="0" rIns="0"/>
            <a:lstStyle/>
            <a:p>
              <a:pPr algn="l">
                <a:lnSpc>
                  <a:spcPts val="1919"/>
                </a:lnSpc>
              </a:pPr>
              <a:r>
                <a:rPr lang="en-US" sz="1599">
                  <a:solidFill>
                    <a:srgbClr val="FFCCEE"/>
                  </a:solidFill>
                  <a:latin typeface="Calibri (MS)"/>
                  <a:ea typeface="Calibri (MS)"/>
                  <a:cs typeface="Calibri (MS)"/>
                  <a:sym typeface="Calibri (MS)"/>
                </a:rPr>
                <a:t>Modern SOC Operations  |  Módulo 1  -  Hidden Security ® 2026</a:t>
              </a:r>
            </a:p>
          </p:txBody>
        </p:sp>
      </p:grpSp>
      <p:grpSp>
        <p:nvGrpSpPr>
          <p:cNvPr name="Group 9" id="9"/>
          <p:cNvGrpSpPr/>
          <p:nvPr/>
        </p:nvGrpSpPr>
        <p:grpSpPr>
          <a:xfrm rot="0">
            <a:off x="16824960" y="9784080"/>
            <a:ext cx="1280160" cy="512064"/>
            <a:chOff x="0" y="0"/>
            <a:chExt cx="1706880" cy="682752"/>
          </a:xfrm>
        </p:grpSpPr>
        <p:sp>
          <p:nvSpPr>
            <p:cNvPr name="Freeform 10" id="10"/>
            <p:cNvSpPr/>
            <p:nvPr/>
          </p:nvSpPr>
          <p:spPr>
            <a:xfrm flipH="false" flipV="false" rot="0">
              <a:off x="0" y="0"/>
              <a:ext cx="1706880" cy="682752"/>
            </a:xfrm>
            <a:custGeom>
              <a:avLst/>
              <a:gdLst/>
              <a:ahLst/>
              <a:cxnLst/>
              <a:rect r="r" b="b" t="t" l="l"/>
              <a:pathLst>
                <a:path h="682752" w="1706880">
                  <a:moveTo>
                    <a:pt x="0" y="0"/>
                  </a:moveTo>
                  <a:lnTo>
                    <a:pt x="1706880" y="0"/>
                  </a:lnTo>
                  <a:lnTo>
                    <a:pt x="1706880" y="682752"/>
                  </a:lnTo>
                  <a:lnTo>
                    <a:pt x="0" y="682752"/>
                  </a:lnTo>
                  <a:close/>
                </a:path>
              </a:pathLst>
            </a:custGeom>
            <a:blipFill>
              <a:blip r:embed="rId7">
                <a:alphaModFix amt="0"/>
              </a:blip>
              <a:stretch>
                <a:fillRect l="-1357" t="0" r="-1357" b="0"/>
              </a:stretch>
            </a:blipFill>
          </p:spPr>
        </p:sp>
      </p:grpSp>
      <p:grpSp>
        <p:nvGrpSpPr>
          <p:cNvPr name="Group 11" id="11"/>
          <p:cNvGrpSpPr/>
          <p:nvPr/>
        </p:nvGrpSpPr>
        <p:grpSpPr>
          <a:xfrm rot="0">
            <a:off x="16824960" y="9762649"/>
            <a:ext cx="1280160" cy="533495"/>
            <a:chOff x="0" y="0"/>
            <a:chExt cx="1706880" cy="711327"/>
          </a:xfrm>
        </p:grpSpPr>
        <p:sp>
          <p:nvSpPr>
            <p:cNvPr name="Freeform 12" id="12"/>
            <p:cNvSpPr/>
            <p:nvPr/>
          </p:nvSpPr>
          <p:spPr>
            <a:xfrm flipH="false" flipV="false" rot="0">
              <a:off x="0" y="0"/>
              <a:ext cx="1706880" cy="711327"/>
            </a:xfrm>
            <a:custGeom>
              <a:avLst/>
              <a:gdLst/>
              <a:ahLst/>
              <a:cxnLst/>
              <a:rect r="r" b="b" t="t" l="l"/>
              <a:pathLst>
                <a:path h="711327" w="1706880">
                  <a:moveTo>
                    <a:pt x="0" y="0"/>
                  </a:moveTo>
                  <a:lnTo>
                    <a:pt x="1706880" y="0"/>
                  </a:lnTo>
                  <a:lnTo>
                    <a:pt x="1706880" y="711327"/>
                  </a:lnTo>
                  <a:lnTo>
                    <a:pt x="0" y="711327"/>
                  </a:lnTo>
                  <a:close/>
                </a:path>
              </a:pathLst>
            </a:custGeom>
            <a:blipFill>
              <a:blip r:embed="rId8">
                <a:alphaModFix amt="0"/>
              </a:blip>
              <a:stretch>
                <a:fillRect l="-3469" t="0" r="-3469" b="0"/>
              </a:stretch>
            </a:blipFill>
          </p:spPr>
        </p:sp>
        <p:sp>
          <p:nvSpPr>
            <p:cNvPr name="TextBox 13" id="13"/>
            <p:cNvSpPr txBox="true"/>
            <p:nvPr/>
          </p:nvSpPr>
          <p:spPr>
            <a:xfrm>
              <a:off x="0" y="-28575"/>
              <a:ext cx="1706880" cy="739902"/>
            </a:xfrm>
            <a:prstGeom prst="rect">
              <a:avLst/>
            </a:prstGeom>
          </p:spPr>
          <p:txBody>
            <a:bodyPr anchor="ctr" rtlCol="false" tIns="0" lIns="0" bIns="0" rIns="0"/>
            <a:lstStyle/>
            <a:p>
              <a:pPr algn="r">
                <a:lnSpc>
                  <a:spcPts val="1919"/>
                </a:lnSpc>
              </a:pPr>
              <a:r>
                <a:rPr lang="en-US" sz="1599" b="true">
                  <a:solidFill>
                    <a:srgbClr val="FFDDEE"/>
                  </a:solidFill>
                  <a:latin typeface="Calibri (MS) Bold"/>
                  <a:ea typeface="Calibri (MS) Bold"/>
                  <a:cs typeface="Calibri (MS) Bold"/>
                  <a:sym typeface="Calibri (MS) Bold"/>
                </a:rPr>
                <a:t>p.44</a:t>
              </a:r>
            </a:p>
          </p:txBody>
        </p:sp>
      </p:grpSp>
      <p:sp>
        <p:nvSpPr>
          <p:cNvPr name="Freeform 14" id="14"/>
          <p:cNvSpPr/>
          <p:nvPr/>
        </p:nvSpPr>
        <p:spPr>
          <a:xfrm flipH="false" flipV="false" rot="0">
            <a:off x="-12697" y="-12697"/>
            <a:ext cx="18313336" cy="1671256"/>
          </a:xfrm>
          <a:custGeom>
            <a:avLst/>
            <a:gdLst/>
            <a:ahLst/>
            <a:cxnLst/>
            <a:rect r="r" b="b" t="t" l="l"/>
            <a:pathLst>
              <a:path h="1671256" w="18313336">
                <a:moveTo>
                  <a:pt x="0" y="0"/>
                </a:moveTo>
                <a:lnTo>
                  <a:pt x="18313337" y="0"/>
                </a:lnTo>
                <a:lnTo>
                  <a:pt x="18313337" y="1671257"/>
                </a:lnTo>
                <a:lnTo>
                  <a:pt x="0" y="16712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5" id="15"/>
          <p:cNvGrpSpPr/>
          <p:nvPr/>
        </p:nvGrpSpPr>
        <p:grpSpPr>
          <a:xfrm rot="0">
            <a:off x="731520" y="0"/>
            <a:ext cx="16824960" cy="1645920"/>
            <a:chOff x="0" y="0"/>
            <a:chExt cx="22433280" cy="2194560"/>
          </a:xfrm>
        </p:grpSpPr>
        <p:sp>
          <p:nvSpPr>
            <p:cNvPr name="Freeform 16" id="16"/>
            <p:cNvSpPr/>
            <p:nvPr/>
          </p:nvSpPr>
          <p:spPr>
            <a:xfrm flipH="false" flipV="false" rot="0">
              <a:off x="0" y="0"/>
              <a:ext cx="22433280" cy="2194560"/>
            </a:xfrm>
            <a:custGeom>
              <a:avLst/>
              <a:gdLst/>
              <a:ahLst/>
              <a:cxnLst/>
              <a:rect r="r" b="b" t="t" l="l"/>
              <a:pathLst>
                <a:path h="2194560" w="22433280">
                  <a:moveTo>
                    <a:pt x="0" y="0"/>
                  </a:moveTo>
                  <a:lnTo>
                    <a:pt x="22433280" y="0"/>
                  </a:lnTo>
                  <a:lnTo>
                    <a:pt x="22433280" y="2194560"/>
                  </a:lnTo>
                  <a:lnTo>
                    <a:pt x="0" y="2194560"/>
                  </a:lnTo>
                  <a:close/>
                </a:path>
              </a:pathLst>
            </a:custGeom>
            <a:blipFill>
              <a:blip r:embed="rId7">
                <a:alphaModFix amt="0"/>
              </a:blip>
              <a:stretch>
                <a:fillRect l="0" t="-149041" r="0" b="-149042"/>
              </a:stretch>
            </a:blipFill>
          </p:spPr>
        </p:sp>
      </p:grpSp>
      <p:grpSp>
        <p:nvGrpSpPr>
          <p:cNvPr name="Group 17" id="17"/>
          <p:cNvGrpSpPr/>
          <p:nvPr/>
        </p:nvGrpSpPr>
        <p:grpSpPr>
          <a:xfrm rot="0">
            <a:off x="731520" y="-42862"/>
            <a:ext cx="16824960" cy="1688783"/>
            <a:chOff x="0" y="0"/>
            <a:chExt cx="22433280" cy="2251710"/>
          </a:xfrm>
        </p:grpSpPr>
        <p:sp>
          <p:nvSpPr>
            <p:cNvPr name="Freeform 18" id="18"/>
            <p:cNvSpPr/>
            <p:nvPr/>
          </p:nvSpPr>
          <p:spPr>
            <a:xfrm flipH="false" flipV="false" rot="0">
              <a:off x="0" y="0"/>
              <a:ext cx="22433280" cy="2251710"/>
            </a:xfrm>
            <a:custGeom>
              <a:avLst/>
              <a:gdLst/>
              <a:ahLst/>
              <a:cxnLst/>
              <a:rect r="r" b="b" t="t" l="l"/>
              <a:pathLst>
                <a:path h="2251710" w="22433280">
                  <a:moveTo>
                    <a:pt x="0" y="0"/>
                  </a:moveTo>
                  <a:lnTo>
                    <a:pt x="22433280" y="0"/>
                  </a:lnTo>
                  <a:lnTo>
                    <a:pt x="22433280" y="2251710"/>
                  </a:lnTo>
                  <a:lnTo>
                    <a:pt x="0" y="2251710"/>
                  </a:lnTo>
                  <a:close/>
                </a:path>
              </a:pathLst>
            </a:custGeom>
            <a:blipFill>
              <a:blip r:embed="rId8">
                <a:alphaModFix amt="0"/>
              </a:blip>
              <a:stretch>
                <a:fillRect l="0" t="-144125" r="0" b="-144125"/>
              </a:stretch>
            </a:blipFill>
          </p:spPr>
        </p:sp>
        <p:sp>
          <p:nvSpPr>
            <p:cNvPr name="TextBox 19" id="19"/>
            <p:cNvSpPr txBox="true"/>
            <p:nvPr/>
          </p:nvSpPr>
          <p:spPr>
            <a:xfrm>
              <a:off x="0" y="-57150"/>
              <a:ext cx="22433280" cy="2308860"/>
            </a:xfrm>
            <a:prstGeom prst="rect">
              <a:avLst/>
            </a:prstGeom>
          </p:spPr>
          <p:txBody>
            <a:bodyPr anchor="ctr" rtlCol="false" tIns="0" lIns="0" bIns="0" rIns="0"/>
            <a:lstStyle/>
            <a:p>
              <a:pPr algn="l">
                <a:lnSpc>
                  <a:spcPts val="3120"/>
                </a:lnSpc>
              </a:pPr>
              <a:r>
                <a:rPr lang="en-US" sz="2600" b="true">
                  <a:solidFill>
                    <a:srgbClr val="FFFFFF"/>
                  </a:solidFill>
                  <a:latin typeface="Calibri (MS) Bold"/>
                  <a:ea typeface="Calibri (MS) Bold"/>
                  <a:cs typeface="Calibri (MS) Bold"/>
                  <a:sym typeface="Calibri (MS) Bold"/>
                </a:rPr>
                <a:t>1.6  |  Cómo construir una carrera sostenible en ciberseguridad</a:t>
              </a:r>
            </a:p>
          </p:txBody>
        </p:sp>
      </p:grpSp>
      <p:grpSp>
        <p:nvGrpSpPr>
          <p:cNvPr name="Group 20" id="20"/>
          <p:cNvGrpSpPr/>
          <p:nvPr/>
        </p:nvGrpSpPr>
        <p:grpSpPr>
          <a:xfrm rot="0">
            <a:off x="640080" y="1773936"/>
            <a:ext cx="17007840" cy="877824"/>
            <a:chOff x="0" y="0"/>
            <a:chExt cx="22677120" cy="1170432"/>
          </a:xfrm>
        </p:grpSpPr>
        <p:sp>
          <p:nvSpPr>
            <p:cNvPr name="Freeform 21" id="21"/>
            <p:cNvSpPr/>
            <p:nvPr/>
          </p:nvSpPr>
          <p:spPr>
            <a:xfrm flipH="false" flipV="false" rot="0">
              <a:off x="0" y="0"/>
              <a:ext cx="22677120" cy="1170432"/>
            </a:xfrm>
            <a:custGeom>
              <a:avLst/>
              <a:gdLst/>
              <a:ahLst/>
              <a:cxnLst/>
              <a:rect r="r" b="b" t="t" l="l"/>
              <a:pathLst>
                <a:path h="1170432" w="22677120">
                  <a:moveTo>
                    <a:pt x="0" y="0"/>
                  </a:moveTo>
                  <a:lnTo>
                    <a:pt x="22677120" y="0"/>
                  </a:lnTo>
                  <a:lnTo>
                    <a:pt x="22677120" y="1170432"/>
                  </a:lnTo>
                  <a:lnTo>
                    <a:pt x="0" y="1170432"/>
                  </a:lnTo>
                  <a:close/>
                </a:path>
              </a:pathLst>
            </a:custGeom>
            <a:blipFill>
              <a:blip r:embed="rId7">
                <a:alphaModFix amt="0"/>
              </a:blip>
              <a:stretch>
                <a:fillRect l="0" t="-327260" r="0" b="-327260"/>
              </a:stretch>
            </a:blipFill>
          </p:spPr>
        </p:sp>
      </p:grpSp>
      <p:grpSp>
        <p:nvGrpSpPr>
          <p:cNvPr name="Group 22" id="22"/>
          <p:cNvGrpSpPr/>
          <p:nvPr/>
        </p:nvGrpSpPr>
        <p:grpSpPr>
          <a:xfrm rot="0">
            <a:off x="742690" y="2100852"/>
            <a:ext cx="17007840" cy="913543"/>
            <a:chOff x="0" y="0"/>
            <a:chExt cx="22677120" cy="1218057"/>
          </a:xfrm>
        </p:grpSpPr>
        <p:sp>
          <p:nvSpPr>
            <p:cNvPr name="Freeform 23" id="23"/>
            <p:cNvSpPr/>
            <p:nvPr/>
          </p:nvSpPr>
          <p:spPr>
            <a:xfrm flipH="false" flipV="false" rot="0">
              <a:off x="0" y="0"/>
              <a:ext cx="22677120" cy="1218057"/>
            </a:xfrm>
            <a:custGeom>
              <a:avLst/>
              <a:gdLst/>
              <a:ahLst/>
              <a:cxnLst/>
              <a:rect r="r" b="b" t="t" l="l"/>
              <a:pathLst>
                <a:path h="1218057" w="22677120">
                  <a:moveTo>
                    <a:pt x="0" y="0"/>
                  </a:moveTo>
                  <a:lnTo>
                    <a:pt x="22677120" y="0"/>
                  </a:lnTo>
                  <a:lnTo>
                    <a:pt x="22677120" y="1218057"/>
                  </a:lnTo>
                  <a:lnTo>
                    <a:pt x="0" y="1218057"/>
                  </a:lnTo>
                  <a:close/>
                </a:path>
              </a:pathLst>
            </a:custGeom>
            <a:blipFill>
              <a:blip r:embed="rId8">
                <a:alphaModFix amt="0"/>
              </a:blip>
              <a:stretch>
                <a:fillRect l="0" t="-312761" r="0" b="-312761"/>
              </a:stretch>
            </a:blipFill>
          </p:spPr>
        </p:sp>
        <p:sp>
          <p:nvSpPr>
            <p:cNvPr name="TextBox 24" id="24"/>
            <p:cNvSpPr txBox="true"/>
            <p:nvPr/>
          </p:nvSpPr>
          <p:spPr>
            <a:xfrm>
              <a:off x="0" y="-47625"/>
              <a:ext cx="22677120" cy="1265682"/>
            </a:xfrm>
            <a:prstGeom prst="rect">
              <a:avLst/>
            </a:prstGeom>
          </p:spPr>
          <p:txBody>
            <a:bodyPr anchor="ctr" rtlCol="false" tIns="0" lIns="0" bIns="0" rIns="0"/>
            <a:lstStyle/>
            <a:p>
              <a:pPr algn="l">
                <a:lnSpc>
                  <a:spcPts val="2638"/>
                </a:lnSpc>
              </a:pPr>
              <a:r>
                <a:rPr lang="en-US" sz="2199">
                  <a:solidFill>
                    <a:srgbClr val="6B6B6B"/>
                  </a:solidFill>
                  <a:latin typeface="Calibri (MS)"/>
                  <a:ea typeface="Calibri (MS)"/>
                  <a:cs typeface="Calibri (MS)"/>
                  <a:sym typeface="Calibri (MS)"/>
                </a:rPr>
                <a:t>Una carrera sostenible no se trata solo de conseguir un empleo, sino de mantenerte actualizado, motivado y preparado para crecer en un entorno que cambia constantemente.</a:t>
              </a:r>
            </a:p>
          </p:txBody>
        </p:sp>
      </p:grpSp>
      <p:sp>
        <p:nvSpPr>
          <p:cNvPr name="Freeform 25" id="25"/>
          <p:cNvSpPr/>
          <p:nvPr/>
        </p:nvSpPr>
        <p:spPr>
          <a:xfrm flipH="false" flipV="false" rot="0">
            <a:off x="731520" y="3249933"/>
            <a:ext cx="4929167" cy="794519"/>
          </a:xfrm>
          <a:custGeom>
            <a:avLst/>
            <a:gdLst/>
            <a:ahLst/>
            <a:cxnLst/>
            <a:rect r="r" b="b" t="t" l="l"/>
            <a:pathLst>
              <a:path h="794519" w="4929167">
                <a:moveTo>
                  <a:pt x="0" y="0"/>
                </a:moveTo>
                <a:lnTo>
                  <a:pt x="4929167" y="0"/>
                </a:lnTo>
                <a:lnTo>
                  <a:pt x="4929167" y="794519"/>
                </a:lnTo>
                <a:lnTo>
                  <a:pt x="0" y="79451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6" id="26"/>
          <p:cNvGrpSpPr/>
          <p:nvPr/>
        </p:nvGrpSpPr>
        <p:grpSpPr>
          <a:xfrm rot="0">
            <a:off x="742690" y="3261103"/>
            <a:ext cx="4906878" cy="772230"/>
            <a:chOff x="0" y="0"/>
            <a:chExt cx="7437120" cy="1170432"/>
          </a:xfrm>
        </p:grpSpPr>
        <p:sp>
          <p:nvSpPr>
            <p:cNvPr name="Freeform 27" id="27"/>
            <p:cNvSpPr/>
            <p:nvPr/>
          </p:nvSpPr>
          <p:spPr>
            <a:xfrm flipH="false" flipV="false" rot="0">
              <a:off x="0" y="0"/>
              <a:ext cx="7437120" cy="1170432"/>
            </a:xfrm>
            <a:custGeom>
              <a:avLst/>
              <a:gdLst/>
              <a:ahLst/>
              <a:cxnLst/>
              <a:rect r="r" b="b" t="t" l="l"/>
              <a:pathLst>
                <a:path h="1170432" w="7437120">
                  <a:moveTo>
                    <a:pt x="0" y="0"/>
                  </a:moveTo>
                  <a:lnTo>
                    <a:pt x="7437120" y="0"/>
                  </a:lnTo>
                  <a:lnTo>
                    <a:pt x="7437120" y="1170432"/>
                  </a:lnTo>
                  <a:lnTo>
                    <a:pt x="0" y="1170432"/>
                  </a:lnTo>
                  <a:close/>
                </a:path>
              </a:pathLst>
            </a:custGeom>
            <a:blipFill>
              <a:blip r:embed="rId7">
                <a:alphaModFix amt="0"/>
              </a:blip>
              <a:stretch>
                <a:fillRect l="0" t="-73725" r="0" b="-73725"/>
              </a:stretch>
            </a:blipFill>
          </p:spPr>
        </p:sp>
      </p:grpSp>
      <p:grpSp>
        <p:nvGrpSpPr>
          <p:cNvPr name="Group 28" id="28"/>
          <p:cNvGrpSpPr/>
          <p:nvPr/>
        </p:nvGrpSpPr>
        <p:grpSpPr>
          <a:xfrm rot="0">
            <a:off x="742690" y="3235965"/>
            <a:ext cx="4906878" cy="797368"/>
            <a:chOff x="0" y="0"/>
            <a:chExt cx="7437120" cy="1208532"/>
          </a:xfrm>
        </p:grpSpPr>
        <p:sp>
          <p:nvSpPr>
            <p:cNvPr name="Freeform 29" id="29"/>
            <p:cNvSpPr/>
            <p:nvPr/>
          </p:nvSpPr>
          <p:spPr>
            <a:xfrm flipH="false" flipV="false" rot="0">
              <a:off x="0" y="0"/>
              <a:ext cx="7437120" cy="1208532"/>
            </a:xfrm>
            <a:custGeom>
              <a:avLst/>
              <a:gdLst/>
              <a:ahLst/>
              <a:cxnLst/>
              <a:rect r="r" b="b" t="t" l="l"/>
              <a:pathLst>
                <a:path h="1208532" w="7437120">
                  <a:moveTo>
                    <a:pt x="0" y="0"/>
                  </a:moveTo>
                  <a:lnTo>
                    <a:pt x="7437120" y="0"/>
                  </a:lnTo>
                  <a:lnTo>
                    <a:pt x="7437120" y="1208532"/>
                  </a:lnTo>
                  <a:lnTo>
                    <a:pt x="0" y="1208532"/>
                  </a:lnTo>
                  <a:close/>
                </a:path>
              </a:pathLst>
            </a:custGeom>
            <a:blipFill>
              <a:blip r:embed="rId8">
                <a:alphaModFix amt="0"/>
              </a:blip>
              <a:stretch>
                <a:fillRect l="0" t="-69907" r="0" b="-69907"/>
              </a:stretch>
            </a:blipFill>
          </p:spPr>
        </p:sp>
        <p:sp>
          <p:nvSpPr>
            <p:cNvPr name="TextBox 30" id="30"/>
            <p:cNvSpPr txBox="true"/>
            <p:nvPr/>
          </p:nvSpPr>
          <p:spPr>
            <a:xfrm>
              <a:off x="0" y="-38100"/>
              <a:ext cx="7437120" cy="1246632"/>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Formación continua y adaptable</a:t>
              </a:r>
            </a:p>
          </p:txBody>
        </p:sp>
      </p:grpSp>
      <p:sp>
        <p:nvSpPr>
          <p:cNvPr name="Freeform 31" id="31"/>
          <p:cNvSpPr/>
          <p:nvPr/>
        </p:nvSpPr>
        <p:spPr>
          <a:xfrm flipH="false" flipV="false" rot="0">
            <a:off x="731520" y="4054340"/>
            <a:ext cx="4929167" cy="1759806"/>
          </a:xfrm>
          <a:custGeom>
            <a:avLst/>
            <a:gdLst/>
            <a:ahLst/>
            <a:cxnLst/>
            <a:rect r="r" b="b" t="t" l="l"/>
            <a:pathLst>
              <a:path h="1759806" w="4929167">
                <a:moveTo>
                  <a:pt x="0" y="0"/>
                </a:moveTo>
                <a:lnTo>
                  <a:pt x="4929167" y="0"/>
                </a:lnTo>
                <a:lnTo>
                  <a:pt x="4929167" y="1759806"/>
                </a:lnTo>
                <a:lnTo>
                  <a:pt x="0" y="175980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2" id="32"/>
          <p:cNvSpPr txBox="true"/>
          <p:nvPr/>
        </p:nvSpPr>
        <p:spPr>
          <a:xfrm rot="0">
            <a:off x="984011" y="4114553"/>
            <a:ext cx="4472499" cy="1567813"/>
          </a:xfrm>
          <a:prstGeom prst="rect">
            <a:avLst/>
          </a:prstGeom>
        </p:spPr>
        <p:txBody>
          <a:bodyPr anchor="t" rtlCol="false" tIns="0" lIns="0" bIns="0" rIns="0">
            <a:spAutoFit/>
          </a:bodyPr>
          <a:lstStyle/>
          <a:p>
            <a:pPr algn="l">
              <a:lnSpc>
                <a:spcPts val="2004"/>
              </a:lnSpc>
            </a:pPr>
            <a:r>
              <a:rPr lang="en-US" sz="1670">
                <a:solidFill>
                  <a:srgbClr val="333333"/>
                </a:solidFill>
                <a:latin typeface="Calibri (MS)"/>
                <a:ea typeface="Calibri (MS)"/>
                <a:cs typeface="Calibri (MS)"/>
                <a:sym typeface="Calibri (MS)"/>
              </a:rPr>
              <a:t>Las amenazas evolucionan, las herramientas cambian, los ataques se vuelven más sofisticados. Seguir aprendiendo es parte del trabajo, no solo del crecimiento.</a:t>
            </a:r>
          </a:p>
        </p:txBody>
      </p:sp>
      <p:sp>
        <p:nvSpPr>
          <p:cNvPr name="Freeform 33" id="33"/>
          <p:cNvSpPr/>
          <p:nvPr/>
        </p:nvSpPr>
        <p:spPr>
          <a:xfrm flipH="false" flipV="false" rot="0">
            <a:off x="5911896" y="3249933"/>
            <a:ext cx="4929167" cy="794519"/>
          </a:xfrm>
          <a:custGeom>
            <a:avLst/>
            <a:gdLst/>
            <a:ahLst/>
            <a:cxnLst/>
            <a:rect r="r" b="b" t="t" l="l"/>
            <a:pathLst>
              <a:path h="794519" w="4929167">
                <a:moveTo>
                  <a:pt x="0" y="0"/>
                </a:moveTo>
                <a:lnTo>
                  <a:pt x="4929167" y="0"/>
                </a:lnTo>
                <a:lnTo>
                  <a:pt x="4929167" y="794519"/>
                </a:lnTo>
                <a:lnTo>
                  <a:pt x="0" y="79451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34" id="34"/>
          <p:cNvGrpSpPr/>
          <p:nvPr/>
        </p:nvGrpSpPr>
        <p:grpSpPr>
          <a:xfrm rot="0">
            <a:off x="5923066" y="3261103"/>
            <a:ext cx="4906878" cy="772230"/>
            <a:chOff x="0" y="0"/>
            <a:chExt cx="7437120" cy="1170432"/>
          </a:xfrm>
        </p:grpSpPr>
        <p:sp>
          <p:nvSpPr>
            <p:cNvPr name="Freeform 35" id="35"/>
            <p:cNvSpPr/>
            <p:nvPr/>
          </p:nvSpPr>
          <p:spPr>
            <a:xfrm flipH="false" flipV="false" rot="0">
              <a:off x="0" y="0"/>
              <a:ext cx="7437120" cy="1170432"/>
            </a:xfrm>
            <a:custGeom>
              <a:avLst/>
              <a:gdLst/>
              <a:ahLst/>
              <a:cxnLst/>
              <a:rect r="r" b="b" t="t" l="l"/>
              <a:pathLst>
                <a:path h="1170432" w="7437120">
                  <a:moveTo>
                    <a:pt x="0" y="0"/>
                  </a:moveTo>
                  <a:lnTo>
                    <a:pt x="7437120" y="0"/>
                  </a:lnTo>
                  <a:lnTo>
                    <a:pt x="7437120" y="1170432"/>
                  </a:lnTo>
                  <a:lnTo>
                    <a:pt x="0" y="1170432"/>
                  </a:lnTo>
                  <a:close/>
                </a:path>
              </a:pathLst>
            </a:custGeom>
            <a:blipFill>
              <a:blip r:embed="rId7">
                <a:alphaModFix amt="0"/>
              </a:blip>
              <a:stretch>
                <a:fillRect l="0" t="-73725" r="0" b="-73725"/>
              </a:stretch>
            </a:blipFill>
          </p:spPr>
        </p:sp>
      </p:grpSp>
      <p:grpSp>
        <p:nvGrpSpPr>
          <p:cNvPr name="Group 36" id="36"/>
          <p:cNvGrpSpPr/>
          <p:nvPr/>
        </p:nvGrpSpPr>
        <p:grpSpPr>
          <a:xfrm rot="0">
            <a:off x="5923066" y="3235965"/>
            <a:ext cx="4906878" cy="797368"/>
            <a:chOff x="0" y="0"/>
            <a:chExt cx="7437120" cy="1208532"/>
          </a:xfrm>
        </p:grpSpPr>
        <p:sp>
          <p:nvSpPr>
            <p:cNvPr name="Freeform 37" id="37"/>
            <p:cNvSpPr/>
            <p:nvPr/>
          </p:nvSpPr>
          <p:spPr>
            <a:xfrm flipH="false" flipV="false" rot="0">
              <a:off x="0" y="0"/>
              <a:ext cx="7437120" cy="1208532"/>
            </a:xfrm>
            <a:custGeom>
              <a:avLst/>
              <a:gdLst/>
              <a:ahLst/>
              <a:cxnLst/>
              <a:rect r="r" b="b" t="t" l="l"/>
              <a:pathLst>
                <a:path h="1208532" w="7437120">
                  <a:moveTo>
                    <a:pt x="0" y="0"/>
                  </a:moveTo>
                  <a:lnTo>
                    <a:pt x="7437120" y="0"/>
                  </a:lnTo>
                  <a:lnTo>
                    <a:pt x="7437120" y="1208532"/>
                  </a:lnTo>
                  <a:lnTo>
                    <a:pt x="0" y="1208532"/>
                  </a:lnTo>
                  <a:close/>
                </a:path>
              </a:pathLst>
            </a:custGeom>
            <a:blipFill>
              <a:blip r:embed="rId8">
                <a:alphaModFix amt="0"/>
              </a:blip>
              <a:stretch>
                <a:fillRect l="0" t="-69907" r="0" b="-69907"/>
              </a:stretch>
            </a:blipFill>
          </p:spPr>
        </p:sp>
        <p:sp>
          <p:nvSpPr>
            <p:cNvPr name="TextBox 38" id="38"/>
            <p:cNvSpPr txBox="true"/>
            <p:nvPr/>
          </p:nvSpPr>
          <p:spPr>
            <a:xfrm>
              <a:off x="0" y="-38100"/>
              <a:ext cx="7437120" cy="1246632"/>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Curiosidad activa y mentalidad analítica</a:t>
              </a:r>
            </a:p>
          </p:txBody>
        </p:sp>
      </p:grpSp>
      <p:sp>
        <p:nvSpPr>
          <p:cNvPr name="Freeform 39" id="39"/>
          <p:cNvSpPr/>
          <p:nvPr/>
        </p:nvSpPr>
        <p:spPr>
          <a:xfrm flipH="false" flipV="false" rot="0">
            <a:off x="5911896" y="4054340"/>
            <a:ext cx="4929167" cy="1759806"/>
          </a:xfrm>
          <a:custGeom>
            <a:avLst/>
            <a:gdLst/>
            <a:ahLst/>
            <a:cxnLst/>
            <a:rect r="r" b="b" t="t" l="l"/>
            <a:pathLst>
              <a:path h="1759806" w="4929167">
                <a:moveTo>
                  <a:pt x="0" y="0"/>
                </a:moveTo>
                <a:lnTo>
                  <a:pt x="4929167" y="0"/>
                </a:lnTo>
                <a:lnTo>
                  <a:pt x="4929167" y="1759806"/>
                </a:lnTo>
                <a:lnTo>
                  <a:pt x="0" y="175980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40" id="40"/>
          <p:cNvSpPr txBox="true"/>
          <p:nvPr/>
        </p:nvSpPr>
        <p:spPr>
          <a:xfrm rot="0">
            <a:off x="6164388" y="4114553"/>
            <a:ext cx="4472499" cy="1567813"/>
          </a:xfrm>
          <a:prstGeom prst="rect">
            <a:avLst/>
          </a:prstGeom>
        </p:spPr>
        <p:txBody>
          <a:bodyPr anchor="t" rtlCol="false" tIns="0" lIns="0" bIns="0" rIns="0">
            <a:spAutoFit/>
          </a:bodyPr>
          <a:lstStyle/>
          <a:p>
            <a:pPr algn="l">
              <a:lnSpc>
                <a:spcPts val="2004"/>
              </a:lnSpc>
            </a:pPr>
            <a:r>
              <a:rPr lang="en-US" sz="1670">
                <a:solidFill>
                  <a:srgbClr val="333333"/>
                </a:solidFill>
                <a:latin typeface="Calibri (MS)"/>
                <a:ea typeface="Calibri (MS)"/>
                <a:cs typeface="Calibri (MS)"/>
                <a:sym typeface="Calibri (MS)"/>
              </a:rPr>
              <a:t>Los mejores analistas no son los que lo saben todo, sino los que preguntan más, investigan mejor y no se conforman con la primera respuesta.</a:t>
            </a:r>
          </a:p>
        </p:txBody>
      </p:sp>
      <p:sp>
        <p:nvSpPr>
          <p:cNvPr name="Freeform 41" id="41"/>
          <p:cNvSpPr/>
          <p:nvPr/>
        </p:nvSpPr>
        <p:spPr>
          <a:xfrm flipH="false" flipV="false" rot="0">
            <a:off x="11092273" y="3249933"/>
            <a:ext cx="4929167" cy="794519"/>
          </a:xfrm>
          <a:custGeom>
            <a:avLst/>
            <a:gdLst/>
            <a:ahLst/>
            <a:cxnLst/>
            <a:rect r="r" b="b" t="t" l="l"/>
            <a:pathLst>
              <a:path h="794519" w="4929167">
                <a:moveTo>
                  <a:pt x="0" y="0"/>
                </a:moveTo>
                <a:lnTo>
                  <a:pt x="4929167" y="0"/>
                </a:lnTo>
                <a:lnTo>
                  <a:pt x="4929167" y="794519"/>
                </a:lnTo>
                <a:lnTo>
                  <a:pt x="0" y="794519"/>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42" id="42"/>
          <p:cNvGrpSpPr/>
          <p:nvPr/>
        </p:nvGrpSpPr>
        <p:grpSpPr>
          <a:xfrm rot="0">
            <a:off x="11103442" y="3261103"/>
            <a:ext cx="4906878" cy="772230"/>
            <a:chOff x="0" y="0"/>
            <a:chExt cx="7437120" cy="1170432"/>
          </a:xfrm>
        </p:grpSpPr>
        <p:sp>
          <p:nvSpPr>
            <p:cNvPr name="Freeform 43" id="43"/>
            <p:cNvSpPr/>
            <p:nvPr/>
          </p:nvSpPr>
          <p:spPr>
            <a:xfrm flipH="false" flipV="false" rot="0">
              <a:off x="0" y="0"/>
              <a:ext cx="7437120" cy="1170432"/>
            </a:xfrm>
            <a:custGeom>
              <a:avLst/>
              <a:gdLst/>
              <a:ahLst/>
              <a:cxnLst/>
              <a:rect r="r" b="b" t="t" l="l"/>
              <a:pathLst>
                <a:path h="1170432" w="7437120">
                  <a:moveTo>
                    <a:pt x="0" y="0"/>
                  </a:moveTo>
                  <a:lnTo>
                    <a:pt x="7437120" y="0"/>
                  </a:lnTo>
                  <a:lnTo>
                    <a:pt x="7437120" y="1170432"/>
                  </a:lnTo>
                  <a:lnTo>
                    <a:pt x="0" y="1170432"/>
                  </a:lnTo>
                  <a:close/>
                </a:path>
              </a:pathLst>
            </a:custGeom>
            <a:blipFill>
              <a:blip r:embed="rId7">
                <a:alphaModFix amt="0"/>
              </a:blip>
              <a:stretch>
                <a:fillRect l="0" t="-73725" r="0" b="-73725"/>
              </a:stretch>
            </a:blipFill>
          </p:spPr>
        </p:sp>
      </p:grpSp>
      <p:grpSp>
        <p:nvGrpSpPr>
          <p:cNvPr name="Group 44" id="44"/>
          <p:cNvGrpSpPr/>
          <p:nvPr/>
        </p:nvGrpSpPr>
        <p:grpSpPr>
          <a:xfrm rot="0">
            <a:off x="11103442" y="3235965"/>
            <a:ext cx="4906878" cy="797368"/>
            <a:chOff x="0" y="0"/>
            <a:chExt cx="7437120" cy="1208532"/>
          </a:xfrm>
        </p:grpSpPr>
        <p:sp>
          <p:nvSpPr>
            <p:cNvPr name="Freeform 45" id="45"/>
            <p:cNvSpPr/>
            <p:nvPr/>
          </p:nvSpPr>
          <p:spPr>
            <a:xfrm flipH="false" flipV="false" rot="0">
              <a:off x="0" y="0"/>
              <a:ext cx="7437120" cy="1208532"/>
            </a:xfrm>
            <a:custGeom>
              <a:avLst/>
              <a:gdLst/>
              <a:ahLst/>
              <a:cxnLst/>
              <a:rect r="r" b="b" t="t" l="l"/>
              <a:pathLst>
                <a:path h="1208532" w="7437120">
                  <a:moveTo>
                    <a:pt x="0" y="0"/>
                  </a:moveTo>
                  <a:lnTo>
                    <a:pt x="7437120" y="0"/>
                  </a:lnTo>
                  <a:lnTo>
                    <a:pt x="7437120" y="1208532"/>
                  </a:lnTo>
                  <a:lnTo>
                    <a:pt x="0" y="1208532"/>
                  </a:lnTo>
                  <a:close/>
                </a:path>
              </a:pathLst>
            </a:custGeom>
            <a:blipFill>
              <a:blip r:embed="rId8">
                <a:alphaModFix amt="0"/>
              </a:blip>
              <a:stretch>
                <a:fillRect l="0" t="-69907" r="0" b="-69907"/>
              </a:stretch>
            </a:blipFill>
          </p:spPr>
        </p:sp>
        <p:sp>
          <p:nvSpPr>
            <p:cNvPr name="TextBox 46" id="46"/>
            <p:cNvSpPr txBox="true"/>
            <p:nvPr/>
          </p:nvSpPr>
          <p:spPr>
            <a:xfrm>
              <a:off x="0" y="-38100"/>
              <a:ext cx="7437120" cy="1246632"/>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Construcción de red y marca profesional</a:t>
              </a:r>
            </a:p>
          </p:txBody>
        </p:sp>
      </p:grpSp>
      <p:sp>
        <p:nvSpPr>
          <p:cNvPr name="Freeform 47" id="47"/>
          <p:cNvSpPr/>
          <p:nvPr/>
        </p:nvSpPr>
        <p:spPr>
          <a:xfrm flipH="false" flipV="false" rot="0">
            <a:off x="11092273" y="4054340"/>
            <a:ext cx="4929167" cy="1759806"/>
          </a:xfrm>
          <a:custGeom>
            <a:avLst/>
            <a:gdLst/>
            <a:ahLst/>
            <a:cxnLst/>
            <a:rect r="r" b="b" t="t" l="l"/>
            <a:pathLst>
              <a:path h="1759806" w="4929167">
                <a:moveTo>
                  <a:pt x="0" y="0"/>
                </a:moveTo>
                <a:lnTo>
                  <a:pt x="4929167" y="0"/>
                </a:lnTo>
                <a:lnTo>
                  <a:pt x="4929167" y="1759806"/>
                </a:lnTo>
                <a:lnTo>
                  <a:pt x="0" y="175980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48" id="48"/>
          <p:cNvSpPr txBox="true"/>
          <p:nvPr/>
        </p:nvSpPr>
        <p:spPr>
          <a:xfrm rot="0">
            <a:off x="11344764" y="4114553"/>
            <a:ext cx="4472499" cy="1567813"/>
          </a:xfrm>
          <a:prstGeom prst="rect">
            <a:avLst/>
          </a:prstGeom>
        </p:spPr>
        <p:txBody>
          <a:bodyPr anchor="t" rtlCol="false" tIns="0" lIns="0" bIns="0" rIns="0">
            <a:spAutoFit/>
          </a:bodyPr>
          <a:lstStyle/>
          <a:p>
            <a:pPr algn="l">
              <a:lnSpc>
                <a:spcPts val="2004"/>
              </a:lnSpc>
            </a:pPr>
            <a:r>
              <a:rPr lang="en-US" sz="1670">
                <a:solidFill>
                  <a:srgbClr val="333333"/>
                </a:solidFill>
                <a:latin typeface="Calibri (MS)"/>
                <a:ea typeface="Calibri (MS)"/>
                <a:cs typeface="Calibri (MS)"/>
                <a:sym typeface="Calibri (MS)"/>
              </a:rPr>
              <a:t>Participar en comunidades, foros y eventos. Compartir lo que aprendés (en redes o con colegas) ayuda a visibilizar tu trabajo y construir reputación.</a:t>
            </a:r>
          </a:p>
        </p:txBody>
      </p:sp>
      <p:sp>
        <p:nvSpPr>
          <p:cNvPr name="Freeform 49" id="49"/>
          <p:cNvSpPr/>
          <p:nvPr/>
        </p:nvSpPr>
        <p:spPr>
          <a:xfrm flipH="false" flipV="false" rot="0">
            <a:off x="731520" y="6226237"/>
            <a:ext cx="4929167" cy="794519"/>
          </a:xfrm>
          <a:custGeom>
            <a:avLst/>
            <a:gdLst/>
            <a:ahLst/>
            <a:cxnLst/>
            <a:rect r="r" b="b" t="t" l="l"/>
            <a:pathLst>
              <a:path h="794519" w="4929167">
                <a:moveTo>
                  <a:pt x="0" y="0"/>
                </a:moveTo>
                <a:lnTo>
                  <a:pt x="4929167" y="0"/>
                </a:lnTo>
                <a:lnTo>
                  <a:pt x="4929167" y="794518"/>
                </a:lnTo>
                <a:lnTo>
                  <a:pt x="0" y="794518"/>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50" id="50"/>
          <p:cNvGrpSpPr/>
          <p:nvPr/>
        </p:nvGrpSpPr>
        <p:grpSpPr>
          <a:xfrm rot="0">
            <a:off x="742690" y="6237406"/>
            <a:ext cx="4906878" cy="772230"/>
            <a:chOff x="0" y="0"/>
            <a:chExt cx="7437120" cy="1170432"/>
          </a:xfrm>
        </p:grpSpPr>
        <p:sp>
          <p:nvSpPr>
            <p:cNvPr name="Freeform 51" id="51"/>
            <p:cNvSpPr/>
            <p:nvPr/>
          </p:nvSpPr>
          <p:spPr>
            <a:xfrm flipH="false" flipV="false" rot="0">
              <a:off x="0" y="0"/>
              <a:ext cx="7437120" cy="1170432"/>
            </a:xfrm>
            <a:custGeom>
              <a:avLst/>
              <a:gdLst/>
              <a:ahLst/>
              <a:cxnLst/>
              <a:rect r="r" b="b" t="t" l="l"/>
              <a:pathLst>
                <a:path h="1170432" w="7437120">
                  <a:moveTo>
                    <a:pt x="0" y="0"/>
                  </a:moveTo>
                  <a:lnTo>
                    <a:pt x="7437120" y="0"/>
                  </a:lnTo>
                  <a:lnTo>
                    <a:pt x="7437120" y="1170432"/>
                  </a:lnTo>
                  <a:lnTo>
                    <a:pt x="0" y="1170432"/>
                  </a:lnTo>
                  <a:close/>
                </a:path>
              </a:pathLst>
            </a:custGeom>
            <a:blipFill>
              <a:blip r:embed="rId7">
                <a:alphaModFix amt="0"/>
              </a:blip>
              <a:stretch>
                <a:fillRect l="0" t="-73725" r="0" b="-73725"/>
              </a:stretch>
            </a:blipFill>
          </p:spPr>
        </p:sp>
      </p:grpSp>
      <p:grpSp>
        <p:nvGrpSpPr>
          <p:cNvPr name="Group 52" id="52"/>
          <p:cNvGrpSpPr/>
          <p:nvPr/>
        </p:nvGrpSpPr>
        <p:grpSpPr>
          <a:xfrm rot="0">
            <a:off x="742690" y="6212268"/>
            <a:ext cx="4906878" cy="797368"/>
            <a:chOff x="0" y="0"/>
            <a:chExt cx="7437120" cy="1208532"/>
          </a:xfrm>
        </p:grpSpPr>
        <p:sp>
          <p:nvSpPr>
            <p:cNvPr name="Freeform 53" id="53"/>
            <p:cNvSpPr/>
            <p:nvPr/>
          </p:nvSpPr>
          <p:spPr>
            <a:xfrm flipH="false" flipV="false" rot="0">
              <a:off x="0" y="0"/>
              <a:ext cx="7437120" cy="1208532"/>
            </a:xfrm>
            <a:custGeom>
              <a:avLst/>
              <a:gdLst/>
              <a:ahLst/>
              <a:cxnLst/>
              <a:rect r="r" b="b" t="t" l="l"/>
              <a:pathLst>
                <a:path h="1208532" w="7437120">
                  <a:moveTo>
                    <a:pt x="0" y="0"/>
                  </a:moveTo>
                  <a:lnTo>
                    <a:pt x="7437120" y="0"/>
                  </a:lnTo>
                  <a:lnTo>
                    <a:pt x="7437120" y="1208532"/>
                  </a:lnTo>
                  <a:lnTo>
                    <a:pt x="0" y="1208532"/>
                  </a:lnTo>
                  <a:close/>
                </a:path>
              </a:pathLst>
            </a:custGeom>
            <a:blipFill>
              <a:blip r:embed="rId8">
                <a:alphaModFix amt="0"/>
              </a:blip>
              <a:stretch>
                <a:fillRect l="0" t="-69907" r="0" b="-69907"/>
              </a:stretch>
            </a:blipFill>
          </p:spPr>
        </p:sp>
        <p:sp>
          <p:nvSpPr>
            <p:cNvPr name="TextBox 54" id="54"/>
            <p:cNvSpPr txBox="true"/>
            <p:nvPr/>
          </p:nvSpPr>
          <p:spPr>
            <a:xfrm>
              <a:off x="0" y="-38100"/>
              <a:ext cx="7437120" cy="1246632"/>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Equilibrio técnico y humano</a:t>
              </a:r>
            </a:p>
          </p:txBody>
        </p:sp>
      </p:grpSp>
      <p:sp>
        <p:nvSpPr>
          <p:cNvPr name="Freeform 55" id="55"/>
          <p:cNvSpPr/>
          <p:nvPr/>
        </p:nvSpPr>
        <p:spPr>
          <a:xfrm flipH="false" flipV="false" rot="0">
            <a:off x="731520" y="7030643"/>
            <a:ext cx="4929167" cy="1759806"/>
          </a:xfrm>
          <a:custGeom>
            <a:avLst/>
            <a:gdLst/>
            <a:ahLst/>
            <a:cxnLst/>
            <a:rect r="r" b="b" t="t" l="l"/>
            <a:pathLst>
              <a:path h="1759806" w="4929167">
                <a:moveTo>
                  <a:pt x="0" y="0"/>
                </a:moveTo>
                <a:lnTo>
                  <a:pt x="4929167" y="0"/>
                </a:lnTo>
                <a:lnTo>
                  <a:pt x="4929167" y="1759806"/>
                </a:lnTo>
                <a:lnTo>
                  <a:pt x="0" y="175980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56" id="56"/>
          <p:cNvSpPr txBox="true"/>
          <p:nvPr/>
        </p:nvSpPr>
        <p:spPr>
          <a:xfrm rot="0">
            <a:off x="984011" y="7090856"/>
            <a:ext cx="4472499" cy="1567813"/>
          </a:xfrm>
          <a:prstGeom prst="rect">
            <a:avLst/>
          </a:prstGeom>
        </p:spPr>
        <p:txBody>
          <a:bodyPr anchor="t" rtlCol="false" tIns="0" lIns="0" bIns="0" rIns="0">
            <a:spAutoFit/>
          </a:bodyPr>
          <a:lstStyle/>
          <a:p>
            <a:pPr algn="l">
              <a:lnSpc>
                <a:spcPts val="2004"/>
              </a:lnSpc>
            </a:pPr>
            <a:r>
              <a:rPr lang="en-US" sz="1670">
                <a:solidFill>
                  <a:srgbClr val="333333"/>
                </a:solidFill>
                <a:latin typeface="Calibri (MS)"/>
                <a:ea typeface="Calibri (MS)"/>
                <a:cs typeface="Calibri (MS)"/>
                <a:sym typeface="Calibri (MS)"/>
              </a:rPr>
              <a:t>Saber usar una herramienta es importante. Pero también lo es: comunicar con claridad, documentar bien, trabajar en equipo y tomar decisiones bajo presión.</a:t>
            </a:r>
          </a:p>
        </p:txBody>
      </p:sp>
      <p:sp>
        <p:nvSpPr>
          <p:cNvPr name="Freeform 57" id="57"/>
          <p:cNvSpPr/>
          <p:nvPr/>
        </p:nvSpPr>
        <p:spPr>
          <a:xfrm flipH="false" flipV="false" rot="0">
            <a:off x="5911896" y="6226237"/>
            <a:ext cx="4929167" cy="794519"/>
          </a:xfrm>
          <a:custGeom>
            <a:avLst/>
            <a:gdLst/>
            <a:ahLst/>
            <a:cxnLst/>
            <a:rect r="r" b="b" t="t" l="l"/>
            <a:pathLst>
              <a:path h="794519" w="4929167">
                <a:moveTo>
                  <a:pt x="0" y="0"/>
                </a:moveTo>
                <a:lnTo>
                  <a:pt x="4929167" y="0"/>
                </a:lnTo>
                <a:lnTo>
                  <a:pt x="4929167" y="794518"/>
                </a:lnTo>
                <a:lnTo>
                  <a:pt x="0" y="794518"/>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58" id="58"/>
          <p:cNvGrpSpPr/>
          <p:nvPr/>
        </p:nvGrpSpPr>
        <p:grpSpPr>
          <a:xfrm rot="0">
            <a:off x="5923066" y="6237406"/>
            <a:ext cx="4906878" cy="772230"/>
            <a:chOff x="0" y="0"/>
            <a:chExt cx="7437120" cy="1170432"/>
          </a:xfrm>
        </p:grpSpPr>
        <p:sp>
          <p:nvSpPr>
            <p:cNvPr name="Freeform 59" id="59"/>
            <p:cNvSpPr/>
            <p:nvPr/>
          </p:nvSpPr>
          <p:spPr>
            <a:xfrm flipH="false" flipV="false" rot="0">
              <a:off x="0" y="0"/>
              <a:ext cx="7437120" cy="1170432"/>
            </a:xfrm>
            <a:custGeom>
              <a:avLst/>
              <a:gdLst/>
              <a:ahLst/>
              <a:cxnLst/>
              <a:rect r="r" b="b" t="t" l="l"/>
              <a:pathLst>
                <a:path h="1170432" w="7437120">
                  <a:moveTo>
                    <a:pt x="0" y="0"/>
                  </a:moveTo>
                  <a:lnTo>
                    <a:pt x="7437120" y="0"/>
                  </a:lnTo>
                  <a:lnTo>
                    <a:pt x="7437120" y="1170432"/>
                  </a:lnTo>
                  <a:lnTo>
                    <a:pt x="0" y="1170432"/>
                  </a:lnTo>
                  <a:close/>
                </a:path>
              </a:pathLst>
            </a:custGeom>
            <a:blipFill>
              <a:blip r:embed="rId7">
                <a:alphaModFix amt="0"/>
              </a:blip>
              <a:stretch>
                <a:fillRect l="0" t="-73725" r="0" b="-73725"/>
              </a:stretch>
            </a:blipFill>
          </p:spPr>
        </p:sp>
      </p:grpSp>
      <p:grpSp>
        <p:nvGrpSpPr>
          <p:cNvPr name="Group 60" id="60"/>
          <p:cNvGrpSpPr/>
          <p:nvPr/>
        </p:nvGrpSpPr>
        <p:grpSpPr>
          <a:xfrm rot="0">
            <a:off x="5923066" y="6212268"/>
            <a:ext cx="4906878" cy="797368"/>
            <a:chOff x="0" y="0"/>
            <a:chExt cx="7437120" cy="1208532"/>
          </a:xfrm>
        </p:grpSpPr>
        <p:sp>
          <p:nvSpPr>
            <p:cNvPr name="Freeform 61" id="61"/>
            <p:cNvSpPr/>
            <p:nvPr/>
          </p:nvSpPr>
          <p:spPr>
            <a:xfrm flipH="false" flipV="false" rot="0">
              <a:off x="0" y="0"/>
              <a:ext cx="7437120" cy="1208532"/>
            </a:xfrm>
            <a:custGeom>
              <a:avLst/>
              <a:gdLst/>
              <a:ahLst/>
              <a:cxnLst/>
              <a:rect r="r" b="b" t="t" l="l"/>
              <a:pathLst>
                <a:path h="1208532" w="7437120">
                  <a:moveTo>
                    <a:pt x="0" y="0"/>
                  </a:moveTo>
                  <a:lnTo>
                    <a:pt x="7437120" y="0"/>
                  </a:lnTo>
                  <a:lnTo>
                    <a:pt x="7437120" y="1208532"/>
                  </a:lnTo>
                  <a:lnTo>
                    <a:pt x="0" y="1208532"/>
                  </a:lnTo>
                  <a:close/>
                </a:path>
              </a:pathLst>
            </a:custGeom>
            <a:blipFill>
              <a:blip r:embed="rId8">
                <a:alphaModFix amt="0"/>
              </a:blip>
              <a:stretch>
                <a:fillRect l="0" t="-69907" r="0" b="-69907"/>
              </a:stretch>
            </a:blipFill>
          </p:spPr>
        </p:sp>
        <p:sp>
          <p:nvSpPr>
            <p:cNvPr name="TextBox 62" id="62"/>
            <p:cNvSpPr txBox="true"/>
            <p:nvPr/>
          </p:nvSpPr>
          <p:spPr>
            <a:xfrm>
              <a:off x="0" y="-38100"/>
              <a:ext cx="7437120" cy="1246632"/>
            </a:xfrm>
            <a:prstGeom prst="rect">
              <a:avLst/>
            </a:prstGeom>
          </p:spPr>
          <p:txBody>
            <a:bodyPr anchor="ctr" rtlCol="false" tIns="0" lIns="0" bIns="0" rIns="0"/>
            <a:lstStyle/>
            <a:p>
              <a:pPr algn="ctr">
                <a:lnSpc>
                  <a:spcPts val="2279"/>
                </a:lnSpc>
              </a:pPr>
              <a:r>
                <a:rPr lang="en-US" sz="1899" b="true">
                  <a:solidFill>
                    <a:srgbClr val="FFFFFF"/>
                  </a:solidFill>
                  <a:latin typeface="Calibri (MS) Bold"/>
                  <a:ea typeface="Calibri (MS) Bold"/>
                  <a:cs typeface="Calibri (MS) Bold"/>
                  <a:sym typeface="Calibri (MS) Bold"/>
                </a:rPr>
                <a:t>Cuidado personal y organización del tiempo</a:t>
              </a:r>
            </a:p>
          </p:txBody>
        </p:sp>
      </p:grpSp>
      <p:sp>
        <p:nvSpPr>
          <p:cNvPr name="Freeform 63" id="63"/>
          <p:cNvSpPr/>
          <p:nvPr/>
        </p:nvSpPr>
        <p:spPr>
          <a:xfrm flipH="false" flipV="false" rot="0">
            <a:off x="5911896" y="7030643"/>
            <a:ext cx="4929167" cy="1759806"/>
          </a:xfrm>
          <a:custGeom>
            <a:avLst/>
            <a:gdLst/>
            <a:ahLst/>
            <a:cxnLst/>
            <a:rect r="r" b="b" t="t" l="l"/>
            <a:pathLst>
              <a:path h="1759806" w="4929167">
                <a:moveTo>
                  <a:pt x="0" y="0"/>
                </a:moveTo>
                <a:lnTo>
                  <a:pt x="4929167" y="0"/>
                </a:lnTo>
                <a:lnTo>
                  <a:pt x="4929167" y="1759806"/>
                </a:lnTo>
                <a:lnTo>
                  <a:pt x="0" y="175980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64" id="64"/>
          <p:cNvSpPr txBox="true"/>
          <p:nvPr/>
        </p:nvSpPr>
        <p:spPr>
          <a:xfrm rot="0">
            <a:off x="6164388" y="7090856"/>
            <a:ext cx="4472499" cy="1567813"/>
          </a:xfrm>
          <a:prstGeom prst="rect">
            <a:avLst/>
          </a:prstGeom>
        </p:spPr>
        <p:txBody>
          <a:bodyPr anchor="t" rtlCol="false" tIns="0" lIns="0" bIns="0" rIns="0">
            <a:spAutoFit/>
          </a:bodyPr>
          <a:lstStyle/>
          <a:p>
            <a:pPr algn="l">
              <a:lnSpc>
                <a:spcPts val="2004"/>
              </a:lnSpc>
            </a:pPr>
            <a:r>
              <a:rPr lang="en-US" sz="1670">
                <a:solidFill>
                  <a:srgbClr val="333333"/>
                </a:solidFill>
                <a:latin typeface="Calibri (MS)"/>
                <a:ea typeface="Calibri (MS)"/>
                <a:cs typeface="Calibri (MS)"/>
                <a:sym typeface="Calibri (MS)"/>
              </a:rPr>
              <a:t>Establecer límites, descansar bien, pedir ayuda cuando se necesite y organizarse para sostener el ritmo a largo plazo. El burnout en SOC es real.</a:t>
            </a:r>
          </a:p>
        </p:txBody>
      </p:sp>
      <p:grpSp>
        <p:nvGrpSpPr>
          <p:cNvPr name="Group 65" id="65"/>
          <p:cNvGrpSpPr/>
          <p:nvPr/>
        </p:nvGrpSpPr>
        <p:grpSpPr>
          <a:xfrm rot="0">
            <a:off x="15983863" y="24203"/>
            <a:ext cx="1855079" cy="1855079"/>
            <a:chOff x="0" y="0"/>
            <a:chExt cx="5852160" cy="5852160"/>
          </a:xfrm>
        </p:grpSpPr>
        <p:sp>
          <p:nvSpPr>
            <p:cNvPr name="Freeform 66" id="66"/>
            <p:cNvSpPr/>
            <p:nvPr/>
          </p:nvSpPr>
          <p:spPr>
            <a:xfrm flipH="false" flipV="false" rot="0">
              <a:off x="0" y="0"/>
              <a:ext cx="5852160" cy="5852160"/>
            </a:xfrm>
            <a:custGeom>
              <a:avLst/>
              <a:gdLst/>
              <a:ahLst/>
              <a:cxnLst/>
              <a:rect r="r" b="b" t="t" l="l"/>
              <a:pathLst>
                <a:path h="5852160" w="5852160">
                  <a:moveTo>
                    <a:pt x="0" y="0"/>
                  </a:moveTo>
                  <a:lnTo>
                    <a:pt x="5852160" y="0"/>
                  </a:lnTo>
                  <a:lnTo>
                    <a:pt x="5852160" y="5852160"/>
                  </a:lnTo>
                  <a:lnTo>
                    <a:pt x="0" y="5852160"/>
                  </a:lnTo>
                  <a:lnTo>
                    <a:pt x="0" y="0"/>
                  </a:lnTo>
                  <a:close/>
                </a:path>
              </a:pathLst>
            </a:custGeom>
            <a:blipFill>
              <a:blip r:embed="rId23"/>
              <a:stretch>
                <a:fillRect l="0" t="0" r="0"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DAHTbVDi7pY</dc:identifier>
  <dcterms:modified xsi:type="dcterms:W3CDTF">2011-08-01T06:04:30Z</dcterms:modified>
  <cp:revision>1</cp:revision>
  <dc:title>Modulo 01 - Modern SOC Operations</dc:title>
</cp:coreProperties>
</file>