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ibri (MS) Italics" charset="1" panose="020F05020202040A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Introducí esta sección diciendo que ahora que sabemos qué es un SOC, vamos a ver cómo está organizado por dentro. Esta es la estructura donde el analista L1 va a trabajar todos los días.</a:t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Este diagrama en pirámide muestra cómo los tiers tienen proporciones inversas: hay muchos más analistas L1 que L3, porque la mayoría del trabajo operativo está en el primer nivel. Reforzá el mensaje del flujo escalonado: los incidentes suben de nivel según su complejidad.</a:t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Sección TIER 1. Remarcá que este es el rol del estudiante. Es el punto de entrada al SOC, y aunque parezca el "nivel básico", cumple un rol crítico: sin un buen triage en L1, los niveles superiores quedan saturados.</a:t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Sección TIER 2. Explicá que L2 es donde van los casos que L1 no puede resolver. El analista L2 tiene más herramientas, más experiencia y más autoridad para tomar decisiones técnicas.</a:t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Sección TIER 3. L3 es el nivel de los especialistas. No todos los SOCs tienen L3 en forma permanente; algunos tercerizan este nivel. El objetivo a largo plazo de un analista L1 puede ser llegar aquí.</a:t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Mostrá que el SOC es un ecosistema de roles. Como analista L1, vas a interactuar directamente con el Team Lead (que te asigna tareas) y con los ingenieros de seguridad (que mantienen las herramientas). Con el tiempo, podés especializarte en cualquiera de estos roles según tus intereses.</a:t>
            </a:r>
          </a:p>
          <a:p>
            <a:r>
              <a:rPr lang="en-US"/>
              <a:t>16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Acá es importante transmitirle al estudiante cómo es la realidad operativa del trabajo en un SOC: turnos rotativos, métricas de rendimiento, reuniones de traspaso. Esto no es teoría, es la estructura cotidiana del trabajo. Remarcá la importancia de los 'relevos documentados': si no documentás, el siguiente turno arranca a ciegas.</a:t>
            </a:r>
          </a:p>
          <a:p>
            <a:r>
              <a:rPr lang="en-US"/>
              <a:t>17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23.svg" Type="http://schemas.openxmlformats.org/officeDocument/2006/relationships/image"/><Relationship Id="rId21" Target="../media/image24.png" Type="http://schemas.openxmlformats.org/officeDocument/2006/relationships/image"/><Relationship Id="rId22" Target="../media/image25.svg" Type="http://schemas.openxmlformats.org/officeDocument/2006/relationships/image"/><Relationship Id="rId23" Target="../media/image26.png" Type="http://schemas.openxmlformats.org/officeDocument/2006/relationships/image"/><Relationship Id="rId24" Target="../media/image27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37.svg" Type="http://schemas.openxmlformats.org/officeDocument/2006/relationships/image"/><Relationship Id="rId21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40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41.svg" Type="http://schemas.openxmlformats.org/officeDocument/2006/relationships/image"/><Relationship Id="rId21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44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45.svg" Type="http://schemas.openxmlformats.org/officeDocument/2006/relationships/image"/><Relationship Id="rId21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15" Target="../media/image50.png" Type="http://schemas.openxmlformats.org/officeDocument/2006/relationships/image"/><Relationship Id="rId16" Target="../media/image51.svg" Type="http://schemas.openxmlformats.org/officeDocument/2006/relationships/image"/><Relationship Id="rId17" Target="../media/image52.png" Type="http://schemas.openxmlformats.org/officeDocument/2006/relationships/image"/><Relationship Id="rId18" Target="../media/image53.svg" Type="http://schemas.openxmlformats.org/officeDocument/2006/relationships/image"/><Relationship Id="rId19" Target="../media/image54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55.svg" Type="http://schemas.openxmlformats.org/officeDocument/2006/relationships/image"/><Relationship Id="rId21" Target="../media/image56.png" Type="http://schemas.openxmlformats.org/officeDocument/2006/relationships/image"/><Relationship Id="rId22" Target="../media/image57.svg" Type="http://schemas.openxmlformats.org/officeDocument/2006/relationships/image"/><Relationship Id="rId23" Target="../media/image58.png" Type="http://schemas.openxmlformats.org/officeDocument/2006/relationships/image"/><Relationship Id="rId24" Target="../media/image59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2.png" Type="http://schemas.openxmlformats.org/officeDocument/2006/relationships/image"/><Relationship Id="rId14" Target="../media/image63.svg" Type="http://schemas.openxmlformats.org/officeDocument/2006/relationships/image"/><Relationship Id="rId15" Target="../media/image64.png" Type="http://schemas.openxmlformats.org/officeDocument/2006/relationships/image"/><Relationship Id="rId16" Target="../media/image65.svg" Type="http://schemas.openxmlformats.org/officeDocument/2006/relationships/image"/><Relationship Id="rId17" Target="../media/image66.png" Type="http://schemas.openxmlformats.org/officeDocument/2006/relationships/image"/><Relationship Id="rId18" Target="../media/image67.svg" Type="http://schemas.openxmlformats.org/officeDocument/2006/relationships/image"/><Relationship Id="rId19" Target="../media/image9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939736" cy="10312337"/>
          </a:xfrm>
          <a:custGeom>
            <a:avLst/>
            <a:gdLst/>
            <a:ahLst/>
            <a:cxnLst/>
            <a:rect r="r" b="b" t="t" l="l"/>
            <a:pathLst>
              <a:path h="10312337" w="939736">
                <a:moveTo>
                  <a:pt x="0" y="0"/>
                </a:moveTo>
                <a:lnTo>
                  <a:pt x="939737" y="0"/>
                </a:lnTo>
                <a:lnTo>
                  <a:pt x="939737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6936743"/>
            <a:ext cx="18313336" cy="3682936"/>
          </a:xfrm>
          <a:custGeom>
            <a:avLst/>
            <a:gdLst/>
            <a:ahLst/>
            <a:cxnLst/>
            <a:rect r="r" b="b" t="t" l="l"/>
            <a:pathLst>
              <a:path h="3682936" w="18313336">
                <a:moveTo>
                  <a:pt x="0" y="0"/>
                </a:moveTo>
                <a:lnTo>
                  <a:pt x="18313337" y="0"/>
                </a:lnTo>
                <a:lnTo>
                  <a:pt x="1831333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3040" y="1828800"/>
            <a:ext cx="14630400" cy="822960"/>
            <a:chOff x="0" y="0"/>
            <a:chExt cx="19507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159" r="0" b="-29615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1785938"/>
            <a:ext cx="14630400" cy="865823"/>
            <a:chOff x="0" y="0"/>
            <a:chExt cx="19507200" cy="1154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9252" r="0" b="-2792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50720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SECCIÓN 1.2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2743200"/>
            <a:ext cx="15544800" cy="2560320"/>
            <a:chOff x="0" y="0"/>
            <a:chExt cx="20726400" cy="341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219" r="0" b="-6821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636044"/>
            <a:ext cx="15544800" cy="2667476"/>
            <a:chOff x="0" y="0"/>
            <a:chExt cx="20726400" cy="35566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3556635"/>
            </a:xfrm>
            <a:custGeom>
              <a:avLst/>
              <a:gdLst/>
              <a:ahLst/>
              <a:cxnLst/>
              <a:rect r="r" b="b" t="t" l="l"/>
              <a:pathLst>
                <a:path h="355663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556635"/>
                  </a:lnTo>
                  <a:lnTo>
                    <a:pt x="0" y="35566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3549" r="0" b="-635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42875"/>
              <a:ext cx="20726400" cy="3699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Estructura y roles</a:t>
              </a:r>
            </a:p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dentro de un SOC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7040880"/>
            <a:ext cx="15544800" cy="585216"/>
            <a:chOff x="0" y="0"/>
            <a:chExt cx="207264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211" r="0" b="-46721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3040" y="7005161"/>
            <a:ext cx="15544800" cy="620935"/>
            <a:chOff x="0" y="0"/>
            <a:chExt cx="20726400" cy="827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0" cy="827913"/>
            </a:xfrm>
            <a:custGeom>
              <a:avLst/>
              <a:gdLst/>
              <a:ahLst/>
              <a:cxnLst/>
              <a:rect r="r" b="b" t="t" l="l"/>
              <a:pathLst>
                <a:path h="827913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798" r="0" b="-4377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72640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Temas de esta sección: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3040" y="7680960"/>
            <a:ext cx="15544800" cy="2011680"/>
            <a:chOff x="0" y="0"/>
            <a:chExt cx="20726400" cy="268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2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0461" r="0" b="-10046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63040" y="7652385"/>
            <a:ext cx="15544800" cy="2040255"/>
            <a:chOff x="0" y="0"/>
            <a:chExt cx="20726400" cy="27203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6400" cy="2720340"/>
            </a:xfrm>
            <a:custGeom>
              <a:avLst/>
              <a:gdLst/>
              <a:ahLst/>
              <a:cxnLst/>
              <a:rect r="r" b="b" t="t" l="l"/>
              <a:pathLst>
                <a:path h="27203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720340"/>
                  </a:lnTo>
                  <a:lnTo>
                    <a:pt x="0" y="2720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7264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Organización típica de un SOC por niveles: L1, L2, L3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Funciones de cada nivel del SOC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Otros roles: Team Leads, Threat Hunters, Ingenieros de Seguridad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Jerarquías, turnos y dinámicas de trabajo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76686" y="1046103"/>
            <a:ext cx="2388354" cy="2388354"/>
            <a:chOff x="0" y="0"/>
            <a:chExt cx="5852160" cy="5852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  |  Organización típica por niveles: Tier 1, Tier 2, Tier 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914400"/>
            <a:chOff x="0" y="0"/>
            <a:chExt cx="226771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169" r="0" b="-31216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952850"/>
            <a:ext cx="17007840" cy="950119"/>
            <a:chOff x="0" y="0"/>
            <a:chExt cx="22677120" cy="12668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8796" r="0" b="-2987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modelo clásico de tiers sigue siendo una referencia útil, pero el SOC moderno tiende a ser más fluido: la automatización y el SOAR absorben gran parte del triage mecánico, y el analista de cualquier nivel necesita criterio, no solo clasificación.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027649" y="3377393"/>
            <a:ext cx="6232702" cy="828967"/>
          </a:xfrm>
          <a:custGeom>
            <a:avLst/>
            <a:gdLst/>
            <a:ahLst/>
            <a:cxnLst/>
            <a:rect r="r" b="b" t="t" l="l"/>
            <a:pathLst>
              <a:path h="828967" w="6232702">
                <a:moveTo>
                  <a:pt x="0" y="0"/>
                </a:moveTo>
                <a:lnTo>
                  <a:pt x="6232702" y="0"/>
                </a:lnTo>
                <a:lnTo>
                  <a:pt x="6232702" y="828967"/>
                </a:lnTo>
                <a:lnTo>
                  <a:pt x="0" y="828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038430" y="3388173"/>
            <a:ext cx="6211189" cy="807455"/>
            <a:chOff x="0" y="0"/>
            <a:chExt cx="975360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9780" r="0" b="-9978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038430" y="3363911"/>
            <a:ext cx="6211189" cy="831717"/>
            <a:chOff x="0" y="0"/>
            <a:chExt cx="9753600" cy="13060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1306068"/>
            </a:xfrm>
            <a:custGeom>
              <a:avLst/>
              <a:gdLst/>
              <a:ahLst/>
              <a:cxnLst/>
              <a:rect r="r" b="b" t="t" l="l"/>
              <a:pathLst>
                <a:path h="130606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5512" r="0" b="-955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75360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3  ·  Investigación Avanzada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027649" y="4215903"/>
            <a:ext cx="6232702" cy="673688"/>
          </a:xfrm>
          <a:custGeom>
            <a:avLst/>
            <a:gdLst/>
            <a:ahLst/>
            <a:cxnLst/>
            <a:rect r="r" b="b" t="t" l="l"/>
            <a:pathLst>
              <a:path h="673688" w="6232702">
                <a:moveTo>
                  <a:pt x="0" y="0"/>
                </a:moveTo>
                <a:lnTo>
                  <a:pt x="6232702" y="0"/>
                </a:lnTo>
                <a:lnTo>
                  <a:pt x="6232702" y="673688"/>
                </a:lnTo>
                <a:lnTo>
                  <a:pt x="0" y="6736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193709" y="4226684"/>
            <a:ext cx="5900630" cy="652175"/>
            <a:chOff x="0" y="0"/>
            <a:chExt cx="926592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6170" r="0" b="-12617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93709" y="4202421"/>
            <a:ext cx="5900630" cy="676437"/>
            <a:chOff x="0" y="0"/>
            <a:chExt cx="9265920" cy="10622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65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19969" r="0" b="-1199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265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Hunting proactivo · Análisis forense · CTI · MITRE ATT&amp;CK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086652" y="4961246"/>
            <a:ext cx="10114695" cy="828967"/>
          </a:xfrm>
          <a:custGeom>
            <a:avLst/>
            <a:gdLst/>
            <a:ahLst/>
            <a:cxnLst/>
            <a:rect r="r" b="b" t="t" l="l"/>
            <a:pathLst>
              <a:path h="828967" w="10114695">
                <a:moveTo>
                  <a:pt x="0" y="0"/>
                </a:moveTo>
                <a:lnTo>
                  <a:pt x="10114696" y="0"/>
                </a:lnTo>
                <a:lnTo>
                  <a:pt x="10114696" y="828967"/>
                </a:lnTo>
                <a:lnTo>
                  <a:pt x="0" y="8289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4097433" y="4972027"/>
            <a:ext cx="10093183" cy="807455"/>
            <a:chOff x="0" y="0"/>
            <a:chExt cx="15849600" cy="12679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849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097433" y="4947764"/>
            <a:ext cx="10093183" cy="831717"/>
            <a:chOff x="0" y="0"/>
            <a:chExt cx="15849600" cy="13060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849600" cy="1306068"/>
            </a:xfrm>
            <a:custGeom>
              <a:avLst/>
              <a:gdLst/>
              <a:ahLst/>
              <a:cxnLst/>
              <a:rect r="r" b="b" t="t" l="l"/>
              <a:pathLst>
                <a:path h="1306068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6457" r="0" b="-1864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584960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2  ·  Análisis y Respuesta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086652" y="5799757"/>
            <a:ext cx="10114695" cy="673688"/>
          </a:xfrm>
          <a:custGeom>
            <a:avLst/>
            <a:gdLst/>
            <a:ahLst/>
            <a:cxnLst/>
            <a:rect r="r" b="b" t="t" l="l"/>
            <a:pathLst>
              <a:path h="673688" w="10114695">
                <a:moveTo>
                  <a:pt x="0" y="0"/>
                </a:moveTo>
                <a:lnTo>
                  <a:pt x="10114696" y="0"/>
                </a:lnTo>
                <a:lnTo>
                  <a:pt x="10114696" y="673687"/>
                </a:lnTo>
                <a:lnTo>
                  <a:pt x="0" y="67368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4252713" y="5810537"/>
            <a:ext cx="9782623" cy="652175"/>
            <a:chOff x="0" y="0"/>
            <a:chExt cx="1536192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361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252713" y="5786275"/>
            <a:ext cx="9782623" cy="676437"/>
            <a:chOff x="0" y="0"/>
            <a:chExt cx="15361920" cy="10622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361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792" r="0" b="-23179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5361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Investigación de incidentes · Contención · Coordinación técnica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990376" y="6545099"/>
            <a:ext cx="14307248" cy="828967"/>
          </a:xfrm>
          <a:custGeom>
            <a:avLst/>
            <a:gdLst/>
            <a:ahLst/>
            <a:cxnLst/>
            <a:rect r="r" b="b" t="t" l="l"/>
            <a:pathLst>
              <a:path h="828967" w="14307248">
                <a:moveTo>
                  <a:pt x="0" y="0"/>
                </a:moveTo>
                <a:lnTo>
                  <a:pt x="14307248" y="0"/>
                </a:lnTo>
                <a:lnTo>
                  <a:pt x="14307248" y="828968"/>
                </a:lnTo>
                <a:lnTo>
                  <a:pt x="0" y="82896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2001157" y="6555880"/>
            <a:ext cx="14285735" cy="807455"/>
            <a:chOff x="0" y="0"/>
            <a:chExt cx="22433280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433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4495" r="0" b="-29449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001157" y="6531617"/>
            <a:ext cx="14285735" cy="831717"/>
            <a:chOff x="0" y="0"/>
            <a:chExt cx="22433280" cy="13060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33280" cy="1306068"/>
            </a:xfrm>
            <a:custGeom>
              <a:avLst/>
              <a:gdLst/>
              <a:ahLst/>
              <a:cxnLst/>
              <a:rect r="r" b="b" t="t" l="l"/>
              <a:pathLst>
                <a:path h="130606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06068"/>
                  </a:lnTo>
                  <a:lnTo>
                    <a:pt x="0" y="130606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4678" r="0" b="-28467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433280" cy="1344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1  ·  Monitoreo y Triage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990376" y="7383610"/>
            <a:ext cx="14307248" cy="673688"/>
          </a:xfrm>
          <a:custGeom>
            <a:avLst/>
            <a:gdLst/>
            <a:ahLst/>
            <a:cxnLst/>
            <a:rect r="r" b="b" t="t" l="l"/>
            <a:pathLst>
              <a:path h="673688" w="14307248">
                <a:moveTo>
                  <a:pt x="0" y="0"/>
                </a:moveTo>
                <a:lnTo>
                  <a:pt x="14307248" y="0"/>
                </a:lnTo>
                <a:lnTo>
                  <a:pt x="14307248" y="673687"/>
                </a:lnTo>
                <a:lnTo>
                  <a:pt x="0" y="67368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2156436" y="7394391"/>
            <a:ext cx="13975176" cy="652175"/>
            <a:chOff x="0" y="0"/>
            <a:chExt cx="2194560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7245" r="0" b="-36724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2156436" y="7370128"/>
            <a:ext cx="13975176" cy="676437"/>
            <a:chOff x="0" y="0"/>
            <a:chExt cx="21945600" cy="10622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0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52560" r="0" b="-3525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194560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Monitoreo 24/7 · Clasificación · Documentación · Escalamiento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2491728" y="8700263"/>
            <a:ext cx="13304486" cy="705452"/>
          </a:xfrm>
          <a:custGeom>
            <a:avLst/>
            <a:gdLst/>
            <a:ahLst/>
            <a:cxnLst/>
            <a:rect r="r" b="b" t="t" l="l"/>
            <a:pathLst>
              <a:path h="705452" w="13304486">
                <a:moveTo>
                  <a:pt x="0" y="0"/>
                </a:moveTo>
                <a:lnTo>
                  <a:pt x="13304486" y="0"/>
                </a:lnTo>
                <a:lnTo>
                  <a:pt x="13304486" y="705452"/>
                </a:lnTo>
                <a:lnTo>
                  <a:pt x="0" y="70545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914400" y="8631936"/>
            <a:ext cx="16459200" cy="877824"/>
            <a:chOff x="0" y="0"/>
            <a:chExt cx="21945600" cy="117043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5090" r="0" b="-315091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14400" y="8596217"/>
            <a:ext cx="16459200" cy="913543"/>
            <a:chOff x="0" y="0"/>
            <a:chExt cx="21945600" cy="121805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1218057"/>
            </a:xfrm>
            <a:custGeom>
              <a:avLst/>
              <a:gdLst/>
              <a:ahLst/>
              <a:cxnLst/>
              <a:rect r="r" b="b" t="t" l="l"/>
              <a:pathLst>
                <a:path h="121805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1059" r="0" b="-30105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1945600" cy="1265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A73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escalonado:  </a:t>
              </a: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Automatización filtra y enriquece  →  Analista valida y decide  →  Especialistas profundizan y mejoran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  |  Funciones de cada nivel: TIER 1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2448" y="2148754"/>
            <a:ext cx="2326479" cy="979732"/>
          </a:xfrm>
          <a:custGeom>
            <a:avLst/>
            <a:gdLst/>
            <a:ahLst/>
            <a:cxnLst/>
            <a:rect r="r" b="b" t="t" l="l"/>
            <a:pathLst>
              <a:path h="979732" w="2326479">
                <a:moveTo>
                  <a:pt x="0" y="0"/>
                </a:moveTo>
                <a:lnTo>
                  <a:pt x="2326479" y="0"/>
                </a:lnTo>
                <a:lnTo>
                  <a:pt x="2326479" y="979732"/>
                </a:lnTo>
                <a:lnTo>
                  <a:pt x="0" y="9797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1353" y="2157659"/>
            <a:ext cx="2308710" cy="961962"/>
            <a:chOff x="0" y="0"/>
            <a:chExt cx="438912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97" t="0" r="-349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71353" y="2137618"/>
            <a:ext cx="2308710" cy="982003"/>
            <a:chOff x="0" y="0"/>
            <a:chExt cx="4389120" cy="1866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573" t="0" r="-457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8912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1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 ANALYST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199419" y="2148754"/>
            <a:ext cx="9509132" cy="979732"/>
          </a:xfrm>
          <a:custGeom>
            <a:avLst/>
            <a:gdLst/>
            <a:ahLst/>
            <a:cxnLst/>
            <a:rect r="r" b="b" t="t" l="l"/>
            <a:pathLst>
              <a:path h="979732" w="9509132">
                <a:moveTo>
                  <a:pt x="0" y="0"/>
                </a:moveTo>
                <a:lnTo>
                  <a:pt x="9509132" y="0"/>
                </a:lnTo>
                <a:lnTo>
                  <a:pt x="9509132" y="979732"/>
                </a:lnTo>
                <a:lnTo>
                  <a:pt x="0" y="9797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426369" y="2157659"/>
            <a:ext cx="9170708" cy="961962"/>
            <a:chOff x="0" y="0"/>
            <a:chExt cx="1743456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4345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5628" r="0" b="-13562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426369" y="2127598"/>
            <a:ext cx="9170708" cy="992024"/>
            <a:chOff x="0" y="0"/>
            <a:chExt cx="17434560" cy="18859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34561" cy="1885950"/>
            </a:xfrm>
            <a:custGeom>
              <a:avLst/>
              <a:gdLst/>
              <a:ahLst/>
              <a:cxnLst/>
              <a:rect r="r" b="b" t="t" l="l"/>
              <a:pathLst>
                <a:path h="1885950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1885950"/>
                  </a:lnTo>
                  <a:lnTo>
                    <a:pt x="0" y="18859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0128" r="0" b="-1301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743456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 la primera línea de defensa.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3383280"/>
            <a:ext cx="17007840" cy="585216"/>
            <a:chOff x="0" y="0"/>
            <a:chExt cx="2267712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5890" r="0" b="-51589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2448" y="3738086"/>
            <a:ext cx="17007840" cy="620935"/>
            <a:chOff x="0" y="0"/>
            <a:chExt cx="22677120" cy="8279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77120" cy="827913"/>
            </a:xfrm>
            <a:custGeom>
              <a:avLst/>
              <a:gdLst/>
              <a:ahLst/>
              <a:cxnLst/>
              <a:rect r="r" b="b" t="t" l="l"/>
              <a:pathLst>
                <a:path h="82791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708" r="0" b="-4837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267712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Principales responsabilidades: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97280" y="4559046"/>
            <a:ext cx="16459200" cy="402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Monitorear eventos y alertas en tiempo real usando herramientas como SIEM.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el triage inicial: clasificar y priorizar alertas.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Detectar falsos positivos y descartar ruido operativo.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Documentar y escalar los incidentes que requieran análisis más profundo.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040213" y="7534224"/>
            <a:ext cx="15445423" cy="852139"/>
          </a:xfrm>
          <a:custGeom>
            <a:avLst/>
            <a:gdLst/>
            <a:ahLst/>
            <a:cxnLst/>
            <a:rect r="r" b="b" t="t" l="l"/>
            <a:pathLst>
              <a:path h="852139" w="15445423">
                <a:moveTo>
                  <a:pt x="0" y="0"/>
                </a:moveTo>
                <a:lnTo>
                  <a:pt x="15445423" y="0"/>
                </a:lnTo>
                <a:lnTo>
                  <a:pt x="15445423" y="852139"/>
                </a:lnTo>
                <a:lnTo>
                  <a:pt x="0" y="8521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28700" y="7534224"/>
            <a:ext cx="122474" cy="852139"/>
          </a:xfrm>
          <a:custGeom>
            <a:avLst/>
            <a:gdLst/>
            <a:ahLst/>
            <a:cxnLst/>
            <a:rect r="r" b="b" t="t" l="l"/>
            <a:pathLst>
              <a:path h="852139" w="122474">
                <a:moveTo>
                  <a:pt x="0" y="0"/>
                </a:moveTo>
                <a:lnTo>
                  <a:pt x="122474" y="0"/>
                </a:lnTo>
                <a:lnTo>
                  <a:pt x="122474" y="852139"/>
                </a:lnTo>
                <a:lnTo>
                  <a:pt x="0" y="8521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396348" y="7546558"/>
            <a:ext cx="15633812" cy="888285"/>
            <a:chOff x="0" y="0"/>
            <a:chExt cx="2145792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697" r="0" b="-292698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9462" y="7546558"/>
            <a:ext cx="15633812" cy="916044"/>
            <a:chOff x="0" y="0"/>
            <a:chExt cx="21457920" cy="1257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4579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544" r="0" b="-28254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 el SOC moderno, este nivel se apoya cada vez más en automatización y SOAR, lo que libera al analista para aplicar criterio en vez de ejecutar pasos mecánicos.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3041926" y="2271408"/>
            <a:ext cx="4871656" cy="720280"/>
          </a:xfrm>
          <a:custGeom>
            <a:avLst/>
            <a:gdLst/>
            <a:ahLst/>
            <a:cxnLst/>
            <a:rect r="r" b="b" t="t" l="l"/>
            <a:pathLst>
              <a:path h="720280" w="4871656">
                <a:moveTo>
                  <a:pt x="0" y="0"/>
                </a:moveTo>
                <a:lnTo>
                  <a:pt x="4871657" y="0"/>
                </a:lnTo>
                <a:lnTo>
                  <a:pt x="4871657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3054623" y="2284105"/>
            <a:ext cx="4846320" cy="694944"/>
            <a:chOff x="0" y="0"/>
            <a:chExt cx="646176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5788" r="0" b="-85788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054623" y="2255530"/>
            <a:ext cx="4846320" cy="723519"/>
            <a:chOff x="0" y="0"/>
            <a:chExt cx="6461760" cy="9646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61760" cy="964692"/>
            </a:xfrm>
            <a:custGeom>
              <a:avLst/>
              <a:gdLst/>
              <a:ahLst/>
              <a:cxnLst/>
              <a:rect r="r" b="b" t="t" l="l"/>
              <a:pathLst>
                <a:path h="9646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0515" r="0" b="-805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46176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El punto de partida operativo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  |  Funciones de cada nivel: TIER 2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2448" y="2222384"/>
            <a:ext cx="2324292" cy="978811"/>
          </a:xfrm>
          <a:custGeom>
            <a:avLst/>
            <a:gdLst/>
            <a:ahLst/>
            <a:cxnLst/>
            <a:rect r="r" b="b" t="t" l="l"/>
            <a:pathLst>
              <a:path h="978811" w="2324292">
                <a:moveTo>
                  <a:pt x="0" y="0"/>
                </a:moveTo>
                <a:lnTo>
                  <a:pt x="2324291" y="0"/>
                </a:lnTo>
                <a:lnTo>
                  <a:pt x="2324291" y="978810"/>
                </a:lnTo>
                <a:lnTo>
                  <a:pt x="0" y="9788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71344" y="2231280"/>
            <a:ext cx="2306539" cy="961058"/>
            <a:chOff x="0" y="0"/>
            <a:chExt cx="438912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97" t="0" r="-349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71344" y="2211258"/>
            <a:ext cx="2306539" cy="981080"/>
            <a:chOff x="0" y="0"/>
            <a:chExt cx="4389120" cy="1866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573" t="0" r="-457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8912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2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INCIDENT RESPONDER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197128" y="2222384"/>
            <a:ext cx="9500191" cy="978811"/>
          </a:xfrm>
          <a:custGeom>
            <a:avLst/>
            <a:gdLst/>
            <a:ahLst/>
            <a:cxnLst/>
            <a:rect r="r" b="b" t="t" l="l"/>
            <a:pathLst>
              <a:path h="978811" w="9500191">
                <a:moveTo>
                  <a:pt x="0" y="0"/>
                </a:moveTo>
                <a:lnTo>
                  <a:pt x="9500190" y="0"/>
                </a:lnTo>
                <a:lnTo>
                  <a:pt x="9500190" y="978810"/>
                </a:lnTo>
                <a:lnTo>
                  <a:pt x="0" y="9788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423864" y="2231280"/>
            <a:ext cx="9162085" cy="961058"/>
            <a:chOff x="0" y="0"/>
            <a:chExt cx="1743456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4345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5628" r="0" b="-13562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423864" y="2201247"/>
            <a:ext cx="9162085" cy="991091"/>
            <a:chOff x="0" y="0"/>
            <a:chExt cx="17434560" cy="18859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34561" cy="1885950"/>
            </a:xfrm>
            <a:custGeom>
              <a:avLst/>
              <a:gdLst/>
              <a:ahLst/>
              <a:cxnLst/>
              <a:rect r="r" b="b" t="t" l="l"/>
              <a:pathLst>
                <a:path h="1885950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1885950"/>
                  </a:lnTo>
                  <a:lnTo>
                    <a:pt x="0" y="18859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0128" r="0" b="-1301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743456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Investiga los incidentes escalados por L1.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3383280"/>
            <a:ext cx="17007840" cy="585216"/>
            <a:chOff x="0" y="0"/>
            <a:chExt cx="2267712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5890" r="0" b="-51589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40080" y="3499961"/>
            <a:ext cx="17007840" cy="620935"/>
            <a:chOff x="0" y="0"/>
            <a:chExt cx="22677120" cy="8279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77120" cy="827913"/>
            </a:xfrm>
            <a:custGeom>
              <a:avLst/>
              <a:gdLst/>
              <a:ahLst/>
              <a:cxnLst/>
              <a:rect r="r" b="b" t="t" l="l"/>
              <a:pathLst>
                <a:path h="82791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708" r="0" b="-4837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267712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Principales responsabilidades: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700" y="4073271"/>
            <a:ext cx="16459200" cy="402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Análisis más profundo de logs, tráfico de red y sistemas afectados.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Contención del incidente para evitar propagación.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Coordinación con otras áreas para aplicar parches o tomar medidas técnicas.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Participación activa en la respuesta y seguimiento del incidente.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93143" y="7499188"/>
            <a:ext cx="15732897" cy="867999"/>
          </a:xfrm>
          <a:custGeom>
            <a:avLst/>
            <a:gdLst/>
            <a:ahLst/>
            <a:cxnLst/>
            <a:rect r="r" b="b" t="t" l="l"/>
            <a:pathLst>
              <a:path h="867999" w="15732897">
                <a:moveTo>
                  <a:pt x="0" y="0"/>
                </a:moveTo>
                <a:lnTo>
                  <a:pt x="15732897" y="0"/>
                </a:lnTo>
                <a:lnTo>
                  <a:pt x="15732897" y="867999"/>
                </a:lnTo>
                <a:lnTo>
                  <a:pt x="0" y="86799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93143" y="7499188"/>
            <a:ext cx="124754" cy="867999"/>
          </a:xfrm>
          <a:custGeom>
            <a:avLst/>
            <a:gdLst/>
            <a:ahLst/>
            <a:cxnLst/>
            <a:rect r="r" b="b" t="t" l="l"/>
            <a:pathLst>
              <a:path h="867999" w="124754">
                <a:moveTo>
                  <a:pt x="0" y="0"/>
                </a:moveTo>
                <a:lnTo>
                  <a:pt x="124754" y="0"/>
                </a:lnTo>
                <a:lnTo>
                  <a:pt x="124754" y="867999"/>
                </a:lnTo>
                <a:lnTo>
                  <a:pt x="0" y="8679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86508" y="7657529"/>
            <a:ext cx="16093440" cy="914400"/>
            <a:chOff x="0" y="0"/>
            <a:chExt cx="2145792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697" r="0" b="-292698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7483310"/>
            <a:ext cx="16093440" cy="942975"/>
            <a:chOff x="0" y="0"/>
            <a:chExt cx="21457920" cy="1257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4579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544" r="0" b="-28254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L2 trabaja con los casos que L1 identificó como potencialmente reales y de alta complejidad.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3049743" y="2344591"/>
            <a:ext cx="4871656" cy="720280"/>
          </a:xfrm>
          <a:custGeom>
            <a:avLst/>
            <a:gdLst/>
            <a:ahLst/>
            <a:cxnLst/>
            <a:rect r="r" b="b" t="t" l="l"/>
            <a:pathLst>
              <a:path h="720280" w="4871656">
                <a:moveTo>
                  <a:pt x="0" y="0"/>
                </a:moveTo>
                <a:lnTo>
                  <a:pt x="4871657" y="0"/>
                </a:lnTo>
                <a:lnTo>
                  <a:pt x="4871657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3062440" y="2357288"/>
            <a:ext cx="4846320" cy="694944"/>
            <a:chOff x="0" y="0"/>
            <a:chExt cx="646176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5788" r="0" b="-85788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062440" y="2328713"/>
            <a:ext cx="4846320" cy="723519"/>
            <a:chOff x="0" y="0"/>
            <a:chExt cx="6461760" cy="9646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61760" cy="964692"/>
            </a:xfrm>
            <a:custGeom>
              <a:avLst/>
              <a:gdLst/>
              <a:ahLst/>
              <a:cxnLst/>
              <a:rect r="r" b="b" t="t" l="l"/>
              <a:pathLst>
                <a:path h="9646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0515" r="0" b="-805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46176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🔼 Siguiente paso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  |  Funciones de cada nivel: TIER 3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05840" y="2199120"/>
            <a:ext cx="2253476" cy="948989"/>
          </a:xfrm>
          <a:custGeom>
            <a:avLst/>
            <a:gdLst/>
            <a:ahLst/>
            <a:cxnLst/>
            <a:rect r="r" b="b" t="t" l="l"/>
            <a:pathLst>
              <a:path h="948989" w="2253476">
                <a:moveTo>
                  <a:pt x="0" y="0"/>
                </a:moveTo>
                <a:lnTo>
                  <a:pt x="2253476" y="0"/>
                </a:lnTo>
                <a:lnTo>
                  <a:pt x="2253476" y="948988"/>
                </a:lnTo>
                <a:lnTo>
                  <a:pt x="0" y="9489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14465" y="2207745"/>
            <a:ext cx="2236264" cy="931777"/>
            <a:chOff x="0" y="0"/>
            <a:chExt cx="438912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97" t="0" r="-349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4465" y="2188333"/>
            <a:ext cx="2236264" cy="951189"/>
            <a:chOff x="0" y="0"/>
            <a:chExt cx="4389120" cy="1866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1866900"/>
            </a:xfrm>
            <a:custGeom>
              <a:avLst/>
              <a:gdLst/>
              <a:ahLst/>
              <a:cxnLst/>
              <a:rect r="r" b="b" t="t" l="l"/>
              <a:pathLst>
                <a:path h="18669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573" t="0" r="-457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8912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3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SENIOR ANALYST / THREAT HUNTER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366341" y="2199120"/>
            <a:ext cx="9210742" cy="948989"/>
          </a:xfrm>
          <a:custGeom>
            <a:avLst/>
            <a:gdLst/>
            <a:ahLst/>
            <a:cxnLst/>
            <a:rect r="r" b="b" t="t" l="l"/>
            <a:pathLst>
              <a:path h="948989" w="9210742">
                <a:moveTo>
                  <a:pt x="0" y="0"/>
                </a:moveTo>
                <a:lnTo>
                  <a:pt x="9210741" y="0"/>
                </a:lnTo>
                <a:lnTo>
                  <a:pt x="9210741" y="948988"/>
                </a:lnTo>
                <a:lnTo>
                  <a:pt x="0" y="9489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3586169" y="2207745"/>
            <a:ext cx="8882937" cy="931777"/>
            <a:chOff x="0" y="0"/>
            <a:chExt cx="17434560" cy="1828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4345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5628" r="0" b="-13562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586169" y="2178627"/>
            <a:ext cx="8882937" cy="960895"/>
            <a:chOff x="0" y="0"/>
            <a:chExt cx="17434560" cy="18859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34561" cy="1885950"/>
            </a:xfrm>
            <a:custGeom>
              <a:avLst/>
              <a:gdLst/>
              <a:ahLst/>
              <a:cxnLst/>
              <a:rect r="r" b="b" t="t" l="l"/>
              <a:pathLst>
                <a:path h="1885950" w="17434561">
                  <a:moveTo>
                    <a:pt x="0" y="0"/>
                  </a:moveTo>
                  <a:lnTo>
                    <a:pt x="17434561" y="0"/>
                  </a:lnTo>
                  <a:lnTo>
                    <a:pt x="17434561" y="1885950"/>
                  </a:lnTo>
                  <a:lnTo>
                    <a:pt x="0" y="18859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0128" r="0" b="-1301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743456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Especialistas en amenazas avanzadas.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3383280"/>
            <a:ext cx="17007840" cy="585216"/>
            <a:chOff x="0" y="0"/>
            <a:chExt cx="22677120" cy="780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5890" r="0" b="-51589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40051" y="3599021"/>
            <a:ext cx="17007840" cy="620935"/>
            <a:chOff x="0" y="0"/>
            <a:chExt cx="22677120" cy="8279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77120" cy="827913"/>
            </a:xfrm>
            <a:custGeom>
              <a:avLst/>
              <a:gdLst/>
              <a:ahLst/>
              <a:cxnLst/>
              <a:rect r="r" b="b" t="t" l="l"/>
              <a:pathLst>
                <a:path h="82791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708" r="0" b="-4837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267712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Principales responsabilidades: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05840" y="4185809"/>
            <a:ext cx="16459200" cy="503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Investigaciones proactivas (threat hunting) para encontrar amenazas no detectadas.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Análisis forense y de malware.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 reglas avanzadas de detección.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Uso de inteligencia de amenazas (CTI) y marcos como MITRE ATT&amp;CK.</a:t>
            </a:r>
          </a:p>
          <a:p>
            <a:pPr algn="l" marL="530739" indent="-176913" lvl="2">
              <a:lnSpc>
                <a:spcPts val="2638"/>
              </a:lnSpc>
              <a:buFont typeface="Arial"/>
              <a:buChar char="⚬"/>
            </a:pPr>
            <a:r>
              <a:rPr lang="en-US" sz="2199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Creación y afinamiento de playbooks y automatizaciones del SOC.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39227" y="7491576"/>
            <a:ext cx="15042124" cy="829888"/>
          </a:xfrm>
          <a:custGeom>
            <a:avLst/>
            <a:gdLst/>
            <a:ahLst/>
            <a:cxnLst/>
            <a:rect r="r" b="b" t="t" l="l"/>
            <a:pathLst>
              <a:path h="829888" w="15042124">
                <a:moveTo>
                  <a:pt x="0" y="0"/>
                </a:moveTo>
                <a:lnTo>
                  <a:pt x="15042124" y="0"/>
                </a:lnTo>
                <a:lnTo>
                  <a:pt x="15042124" y="829888"/>
                </a:lnTo>
                <a:lnTo>
                  <a:pt x="0" y="8298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39227" y="7491576"/>
            <a:ext cx="119276" cy="829888"/>
          </a:xfrm>
          <a:custGeom>
            <a:avLst/>
            <a:gdLst/>
            <a:ahLst/>
            <a:cxnLst/>
            <a:rect r="r" b="b" t="t" l="l"/>
            <a:pathLst>
              <a:path h="829888" w="119276">
                <a:moveTo>
                  <a:pt x="0" y="0"/>
                </a:moveTo>
                <a:lnTo>
                  <a:pt x="119276" y="0"/>
                </a:lnTo>
                <a:lnTo>
                  <a:pt x="119276" y="829888"/>
                </a:lnTo>
                <a:lnTo>
                  <a:pt x="0" y="8298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982632" y="7640070"/>
            <a:ext cx="13427635" cy="762934"/>
            <a:chOff x="0" y="0"/>
            <a:chExt cx="2145792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2697" r="0" b="-292698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56850" y="7478250"/>
            <a:ext cx="13506572" cy="791401"/>
            <a:chOff x="0" y="0"/>
            <a:chExt cx="21457920" cy="1257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4579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2544" r="0" b="-28254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L3 también ayuda a mejorar las herramientas y procesos del SOC a partir de lo que aprende en cada incidente.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2788903" y="10320023"/>
            <a:ext cx="4871656" cy="720281"/>
          </a:xfrm>
          <a:custGeom>
            <a:avLst/>
            <a:gdLst/>
            <a:ahLst/>
            <a:cxnLst/>
            <a:rect r="r" b="b" t="t" l="l"/>
            <a:pathLst>
              <a:path h="720281" w="4871656">
                <a:moveTo>
                  <a:pt x="0" y="0"/>
                </a:moveTo>
                <a:lnTo>
                  <a:pt x="4871657" y="0"/>
                </a:lnTo>
                <a:lnTo>
                  <a:pt x="4871657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801600" y="10332720"/>
            <a:ext cx="4846320" cy="694944"/>
            <a:chOff x="0" y="0"/>
            <a:chExt cx="6461760" cy="926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61760" cy="926592"/>
            </a:xfrm>
            <a:custGeom>
              <a:avLst/>
              <a:gdLst/>
              <a:ahLst/>
              <a:cxnLst/>
              <a:rect r="r" b="b" t="t" l="l"/>
              <a:pathLst>
                <a:path h="9265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5788" r="0" b="-85788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801600" y="10304145"/>
            <a:ext cx="4846320" cy="723519"/>
            <a:chOff x="0" y="0"/>
            <a:chExt cx="6461760" cy="9646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61760" cy="964692"/>
            </a:xfrm>
            <a:custGeom>
              <a:avLst/>
              <a:gdLst/>
              <a:ahLst/>
              <a:cxnLst/>
              <a:rect r="r" b="b" t="t" l="l"/>
              <a:pathLst>
                <a:path h="96469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0515" r="0" b="-805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46176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⭐ Objetivo a largo plazo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p.16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  |  Otros roles: Team Lead, Threat Hunter, Ingeniero de Seguridad y más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822960"/>
            <a:chOff x="0" y="0"/>
            <a:chExt cx="2267712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52410" r="0" b="-35241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2158122"/>
            <a:ext cx="17007840" cy="858679"/>
            <a:chOff x="0" y="0"/>
            <a:chExt cx="22677120" cy="11449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144905"/>
            </a:xfrm>
            <a:custGeom>
              <a:avLst/>
              <a:gdLst/>
              <a:ahLst/>
              <a:cxnLst/>
              <a:rect r="r" b="b" t="t" l="l"/>
              <a:pathLst>
                <a:path h="114490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5939" r="0" b="-3359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SOC no está compuesto solo por analistas por niveles.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Existen roles especializados y de liderazgo que sostienen la operación y mejoran las capacidades del equipo.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40126" y="3249644"/>
            <a:ext cx="4858631" cy="735576"/>
          </a:xfrm>
          <a:custGeom>
            <a:avLst/>
            <a:gdLst/>
            <a:ahLst/>
            <a:cxnLst/>
            <a:rect r="r" b="b" t="t" l="l"/>
            <a:pathLst>
              <a:path h="735576" w="4858631">
                <a:moveTo>
                  <a:pt x="0" y="0"/>
                </a:moveTo>
                <a:lnTo>
                  <a:pt x="4858631" y="0"/>
                </a:lnTo>
                <a:lnTo>
                  <a:pt x="4858631" y="735576"/>
                </a:lnTo>
                <a:lnTo>
                  <a:pt x="0" y="7355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651136" y="3260654"/>
            <a:ext cx="4836661" cy="713606"/>
            <a:chOff x="0" y="0"/>
            <a:chExt cx="743712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973" r="0" b="-8197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51136" y="3235876"/>
            <a:ext cx="4836661" cy="738384"/>
            <a:chOff x="0" y="0"/>
            <a:chExt cx="7437120" cy="11353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135380"/>
            </a:xfrm>
            <a:custGeom>
              <a:avLst/>
              <a:gdLst/>
              <a:ahLst/>
              <a:cxnLst/>
              <a:rect r="r" b="b" t="t" l="l"/>
              <a:pathLst>
                <a:path h="11353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633" r="0" b="-7763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437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 / SOC Manager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40126" y="3994966"/>
            <a:ext cx="4858631" cy="2051782"/>
          </a:xfrm>
          <a:custGeom>
            <a:avLst/>
            <a:gdLst/>
            <a:ahLst/>
            <a:cxnLst/>
            <a:rect r="r" b="b" t="t" l="l"/>
            <a:pathLst>
              <a:path h="2051782" w="4858631">
                <a:moveTo>
                  <a:pt x="0" y="0"/>
                </a:moveTo>
                <a:lnTo>
                  <a:pt x="4858631" y="0"/>
                </a:lnTo>
                <a:lnTo>
                  <a:pt x="4858631" y="2051782"/>
                </a:lnTo>
                <a:lnTo>
                  <a:pt x="0" y="2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89008" y="4156670"/>
            <a:ext cx="4360924" cy="12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56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Supervisión y liderazgo operativo. Coordina analistas, asigna turnos y prioridades. Informa a otras áreas (gestión, IT, legal). Asegura el seguimiento de procesos y documentación.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714656" y="3249644"/>
            <a:ext cx="4858631" cy="735576"/>
          </a:xfrm>
          <a:custGeom>
            <a:avLst/>
            <a:gdLst/>
            <a:ahLst/>
            <a:cxnLst/>
            <a:rect r="r" b="b" t="t" l="l"/>
            <a:pathLst>
              <a:path h="735576" w="4858631">
                <a:moveTo>
                  <a:pt x="0" y="0"/>
                </a:moveTo>
                <a:lnTo>
                  <a:pt x="4858631" y="0"/>
                </a:lnTo>
                <a:lnTo>
                  <a:pt x="4858631" y="735576"/>
                </a:lnTo>
                <a:lnTo>
                  <a:pt x="0" y="7355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725666" y="3260654"/>
            <a:ext cx="4836661" cy="713606"/>
            <a:chOff x="0" y="0"/>
            <a:chExt cx="743712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973" r="0" b="-8197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725666" y="3235876"/>
            <a:ext cx="4836661" cy="738384"/>
            <a:chOff x="0" y="0"/>
            <a:chExt cx="7437120" cy="11353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7120" cy="1135380"/>
            </a:xfrm>
            <a:custGeom>
              <a:avLst/>
              <a:gdLst/>
              <a:ahLst/>
              <a:cxnLst/>
              <a:rect r="r" b="b" t="t" l="l"/>
              <a:pathLst>
                <a:path h="11353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633" r="0" b="-7763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437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Ingeniero de Seguridad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714656" y="3994966"/>
            <a:ext cx="4858631" cy="2051782"/>
          </a:xfrm>
          <a:custGeom>
            <a:avLst/>
            <a:gdLst/>
            <a:ahLst/>
            <a:cxnLst/>
            <a:rect r="r" b="b" t="t" l="l"/>
            <a:pathLst>
              <a:path h="2051782" w="4858631">
                <a:moveTo>
                  <a:pt x="0" y="0"/>
                </a:moveTo>
                <a:lnTo>
                  <a:pt x="4858631" y="0"/>
                </a:lnTo>
                <a:lnTo>
                  <a:pt x="4858631" y="2051782"/>
                </a:lnTo>
                <a:lnTo>
                  <a:pt x="0" y="2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963538" y="4156670"/>
            <a:ext cx="4360924" cy="12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56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Responsable de la infraestructura técnica del SOC: SIEM, EDR, firewalls, dashboards, parsers de logs. Desarrolla integraciones, automatizaciones (SOAR), alertas y reglas de correlación.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789186" y="3249644"/>
            <a:ext cx="4858631" cy="735576"/>
          </a:xfrm>
          <a:custGeom>
            <a:avLst/>
            <a:gdLst/>
            <a:ahLst/>
            <a:cxnLst/>
            <a:rect r="r" b="b" t="t" l="l"/>
            <a:pathLst>
              <a:path h="735576" w="4858631">
                <a:moveTo>
                  <a:pt x="0" y="0"/>
                </a:moveTo>
                <a:lnTo>
                  <a:pt x="4858631" y="0"/>
                </a:lnTo>
                <a:lnTo>
                  <a:pt x="4858631" y="735576"/>
                </a:lnTo>
                <a:lnTo>
                  <a:pt x="0" y="7355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800195" y="3260654"/>
            <a:ext cx="4836661" cy="713606"/>
            <a:chOff x="0" y="0"/>
            <a:chExt cx="743712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973" r="0" b="-8197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00195" y="3235876"/>
            <a:ext cx="4836661" cy="738384"/>
            <a:chOff x="0" y="0"/>
            <a:chExt cx="7437120" cy="11353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37120" cy="1135380"/>
            </a:xfrm>
            <a:custGeom>
              <a:avLst/>
              <a:gdLst/>
              <a:ahLst/>
              <a:cxnLst/>
              <a:rect r="r" b="b" t="t" l="l"/>
              <a:pathLst>
                <a:path h="11353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633" r="0" b="-7763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437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Hunter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1789186" y="3994966"/>
            <a:ext cx="4858631" cy="2051782"/>
          </a:xfrm>
          <a:custGeom>
            <a:avLst/>
            <a:gdLst/>
            <a:ahLst/>
            <a:cxnLst/>
            <a:rect r="r" b="b" t="t" l="l"/>
            <a:pathLst>
              <a:path h="2051782" w="4858631">
                <a:moveTo>
                  <a:pt x="0" y="0"/>
                </a:moveTo>
                <a:lnTo>
                  <a:pt x="4858631" y="0"/>
                </a:lnTo>
                <a:lnTo>
                  <a:pt x="4858631" y="2051782"/>
                </a:lnTo>
                <a:lnTo>
                  <a:pt x="0" y="2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038068" y="4156670"/>
            <a:ext cx="4360924" cy="12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56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Búsqueda proactiva de amenazas no detectadas. Usa hipótesis basadas en inteligencia, comportamiento anómalo y nuevas TTPs. Trabaja con SIEM, EDR, telemetría y scripting.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640126" y="6135783"/>
            <a:ext cx="4858631" cy="735576"/>
          </a:xfrm>
          <a:custGeom>
            <a:avLst/>
            <a:gdLst/>
            <a:ahLst/>
            <a:cxnLst/>
            <a:rect r="r" b="b" t="t" l="l"/>
            <a:pathLst>
              <a:path h="735576" w="4858631">
                <a:moveTo>
                  <a:pt x="0" y="0"/>
                </a:moveTo>
                <a:lnTo>
                  <a:pt x="4858631" y="0"/>
                </a:lnTo>
                <a:lnTo>
                  <a:pt x="4858631" y="735576"/>
                </a:lnTo>
                <a:lnTo>
                  <a:pt x="0" y="73557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651136" y="6146793"/>
            <a:ext cx="4836661" cy="713606"/>
            <a:chOff x="0" y="0"/>
            <a:chExt cx="743712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973" r="0" b="-8197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51136" y="6122015"/>
            <a:ext cx="4836661" cy="738384"/>
            <a:chOff x="0" y="0"/>
            <a:chExt cx="7437120" cy="11353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37120" cy="1135380"/>
            </a:xfrm>
            <a:custGeom>
              <a:avLst/>
              <a:gdLst/>
              <a:ahLst/>
              <a:cxnLst/>
              <a:rect r="r" b="b" t="t" l="l"/>
              <a:pathLst>
                <a:path h="11353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633" r="0" b="-7763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437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 Intelligence Analyst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640126" y="6881105"/>
            <a:ext cx="4858631" cy="2051782"/>
          </a:xfrm>
          <a:custGeom>
            <a:avLst/>
            <a:gdLst/>
            <a:ahLst/>
            <a:cxnLst/>
            <a:rect r="r" b="b" t="t" l="l"/>
            <a:pathLst>
              <a:path h="2051782" w="4858631">
                <a:moveTo>
                  <a:pt x="0" y="0"/>
                </a:moveTo>
                <a:lnTo>
                  <a:pt x="4858631" y="0"/>
                </a:lnTo>
                <a:lnTo>
                  <a:pt x="4858631" y="2051782"/>
                </a:lnTo>
                <a:lnTo>
                  <a:pt x="0" y="2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889008" y="7042809"/>
            <a:ext cx="4360924" cy="12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56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Recopila, analiza y distribuye información sobre amenazas (TTPs, IOCs, actores, campañas). Usa plataformas TIP, bases de datos OSINT y MITRE ATT&amp;CK.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714656" y="6135783"/>
            <a:ext cx="4858631" cy="735576"/>
          </a:xfrm>
          <a:custGeom>
            <a:avLst/>
            <a:gdLst/>
            <a:ahLst/>
            <a:cxnLst/>
            <a:rect r="r" b="b" t="t" l="l"/>
            <a:pathLst>
              <a:path h="735576" w="4858631">
                <a:moveTo>
                  <a:pt x="0" y="0"/>
                </a:moveTo>
                <a:lnTo>
                  <a:pt x="4858631" y="0"/>
                </a:lnTo>
                <a:lnTo>
                  <a:pt x="4858631" y="735576"/>
                </a:lnTo>
                <a:lnTo>
                  <a:pt x="0" y="7355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725666" y="6146793"/>
            <a:ext cx="4836661" cy="713606"/>
            <a:chOff x="0" y="0"/>
            <a:chExt cx="743712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973" r="0" b="-81973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725666" y="6122015"/>
            <a:ext cx="4836661" cy="738384"/>
            <a:chOff x="0" y="0"/>
            <a:chExt cx="7437120" cy="11353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37120" cy="1135380"/>
            </a:xfrm>
            <a:custGeom>
              <a:avLst/>
              <a:gdLst/>
              <a:ahLst/>
              <a:cxnLst/>
              <a:rect r="r" b="b" t="t" l="l"/>
              <a:pathLst>
                <a:path h="11353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633" r="0" b="-776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437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Forensics Specialist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6714656" y="6881105"/>
            <a:ext cx="4858631" cy="2051782"/>
          </a:xfrm>
          <a:custGeom>
            <a:avLst/>
            <a:gdLst/>
            <a:ahLst/>
            <a:cxnLst/>
            <a:rect r="r" b="b" t="t" l="l"/>
            <a:pathLst>
              <a:path h="2051782" w="4858631">
                <a:moveTo>
                  <a:pt x="0" y="0"/>
                </a:moveTo>
                <a:lnTo>
                  <a:pt x="4858631" y="0"/>
                </a:lnTo>
                <a:lnTo>
                  <a:pt x="4858631" y="2051782"/>
                </a:lnTo>
                <a:lnTo>
                  <a:pt x="0" y="2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6963538" y="7042809"/>
            <a:ext cx="4360924" cy="12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56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Análisis forense en endpoints, redes o discos. Investiga cómo ocurrió un ataque y cómo evitar su repetición. Usa FTK Imager, Autopsy, Volatility, Wireshark.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1789186" y="6135783"/>
            <a:ext cx="4858631" cy="735576"/>
          </a:xfrm>
          <a:custGeom>
            <a:avLst/>
            <a:gdLst/>
            <a:ahLst/>
            <a:cxnLst/>
            <a:rect r="r" b="b" t="t" l="l"/>
            <a:pathLst>
              <a:path h="735576" w="4858631">
                <a:moveTo>
                  <a:pt x="0" y="0"/>
                </a:moveTo>
                <a:lnTo>
                  <a:pt x="4858631" y="0"/>
                </a:lnTo>
                <a:lnTo>
                  <a:pt x="4858631" y="735576"/>
                </a:lnTo>
                <a:lnTo>
                  <a:pt x="0" y="73557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1800195" y="6146793"/>
            <a:ext cx="4836661" cy="713606"/>
            <a:chOff x="0" y="0"/>
            <a:chExt cx="743712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37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1973" r="0" b="-81973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800195" y="6122015"/>
            <a:ext cx="4836661" cy="738384"/>
            <a:chOff x="0" y="0"/>
            <a:chExt cx="7437120" cy="11353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37120" cy="1135380"/>
            </a:xfrm>
            <a:custGeom>
              <a:avLst/>
              <a:gdLst/>
              <a:ahLst/>
              <a:cxnLst/>
              <a:rect r="r" b="b" t="t" l="l"/>
              <a:pathLst>
                <a:path h="11353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35380"/>
                  </a:lnTo>
                  <a:lnTo>
                    <a:pt x="0" y="11353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7633" r="0" b="-7763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437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 Team Specialist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789186" y="6881105"/>
            <a:ext cx="4858631" cy="2051782"/>
          </a:xfrm>
          <a:custGeom>
            <a:avLst/>
            <a:gdLst/>
            <a:ahLst/>
            <a:cxnLst/>
            <a:rect r="r" b="b" t="t" l="l"/>
            <a:pathLst>
              <a:path h="2051782" w="4858631">
                <a:moveTo>
                  <a:pt x="0" y="0"/>
                </a:moveTo>
                <a:lnTo>
                  <a:pt x="4858631" y="0"/>
                </a:lnTo>
                <a:lnTo>
                  <a:pt x="4858631" y="2051782"/>
                </a:lnTo>
                <a:lnTo>
                  <a:pt x="0" y="20517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2038068" y="7042809"/>
            <a:ext cx="4360924" cy="12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56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Simula ataques reales para probar la capacidad de detección del SOC. Aporta información clave para mejorar defensas. Ejercicios: phishing, lateral movement, exfiltración.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p.17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  |  Jerarquías, turnos y dinámicas de trabajo en un SOC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19300" y="2433803"/>
            <a:ext cx="4872116" cy="785323"/>
          </a:xfrm>
          <a:custGeom>
            <a:avLst/>
            <a:gdLst/>
            <a:ahLst/>
            <a:cxnLst/>
            <a:rect r="r" b="b" t="t" l="l"/>
            <a:pathLst>
              <a:path h="785323" w="4872116">
                <a:moveTo>
                  <a:pt x="0" y="0"/>
                </a:moveTo>
                <a:lnTo>
                  <a:pt x="4872116" y="0"/>
                </a:lnTo>
                <a:lnTo>
                  <a:pt x="4872116" y="785323"/>
                </a:lnTo>
                <a:lnTo>
                  <a:pt x="0" y="785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30340" y="2444843"/>
            <a:ext cx="4850085" cy="763292"/>
            <a:chOff x="0" y="0"/>
            <a:chExt cx="7437120" cy="1170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3725" r="0" b="-7372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30340" y="2413785"/>
            <a:ext cx="4850085" cy="794350"/>
            <a:chOff x="0" y="0"/>
            <a:chExt cx="7437120" cy="12180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37120" cy="1218057"/>
            </a:xfrm>
            <a:custGeom>
              <a:avLst/>
              <a:gdLst/>
              <a:ahLst/>
              <a:cxnLst/>
              <a:rect r="r" b="b" t="t" l="l"/>
              <a:pathLst>
                <a:path h="121805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970" r="0" b="-689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437120" cy="1265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Jerarquía y Escalamiento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19300" y="3228899"/>
            <a:ext cx="4872116" cy="5778525"/>
          </a:xfrm>
          <a:custGeom>
            <a:avLst/>
            <a:gdLst/>
            <a:ahLst/>
            <a:cxnLst/>
            <a:rect r="r" b="b" t="t" l="l"/>
            <a:pathLst>
              <a:path h="5778525" w="4872116">
                <a:moveTo>
                  <a:pt x="0" y="0"/>
                </a:moveTo>
                <a:lnTo>
                  <a:pt x="4872116" y="0"/>
                </a:lnTo>
                <a:lnTo>
                  <a:pt x="4872116" y="5778525"/>
                </a:lnTo>
                <a:lnTo>
                  <a:pt x="0" y="57785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844991" y="3584006"/>
            <a:ext cx="4420733" cy="301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Tier 1: primera línea (monitorea, filtra, documenta).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Tier 2: responde incidentes, investiga y mitiga.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Tier 3: realiza hunting avanzado y tuning de herramientas.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Los incidentes escalan según complejidad: L1 → L2 → L3.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Estructura diseñada para resolver incidentes rápida y precisamente.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707914" y="2433803"/>
            <a:ext cx="4872116" cy="785323"/>
          </a:xfrm>
          <a:custGeom>
            <a:avLst/>
            <a:gdLst/>
            <a:ahLst/>
            <a:cxnLst/>
            <a:rect r="r" b="b" t="t" l="l"/>
            <a:pathLst>
              <a:path h="785323" w="4872116">
                <a:moveTo>
                  <a:pt x="0" y="0"/>
                </a:moveTo>
                <a:lnTo>
                  <a:pt x="4872115" y="0"/>
                </a:lnTo>
                <a:lnTo>
                  <a:pt x="4872115" y="785323"/>
                </a:lnTo>
                <a:lnTo>
                  <a:pt x="0" y="785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718954" y="2444843"/>
            <a:ext cx="4850085" cy="763292"/>
            <a:chOff x="0" y="0"/>
            <a:chExt cx="743712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3725" r="0" b="-7372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18954" y="2413785"/>
            <a:ext cx="4850085" cy="794350"/>
            <a:chOff x="0" y="0"/>
            <a:chExt cx="7437120" cy="12180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37120" cy="1218057"/>
            </a:xfrm>
            <a:custGeom>
              <a:avLst/>
              <a:gdLst/>
              <a:ahLst/>
              <a:cxnLst/>
              <a:rect r="r" b="b" t="t" l="l"/>
              <a:pathLst>
                <a:path h="121805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970" r="0" b="-6897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437120" cy="1265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Turnos y Cobertura 24/7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6707914" y="3228899"/>
            <a:ext cx="4872116" cy="5778525"/>
          </a:xfrm>
          <a:custGeom>
            <a:avLst/>
            <a:gdLst/>
            <a:ahLst/>
            <a:cxnLst/>
            <a:rect r="r" b="b" t="t" l="l"/>
            <a:pathLst>
              <a:path h="5778525" w="4872116">
                <a:moveTo>
                  <a:pt x="0" y="0"/>
                </a:moveTo>
                <a:lnTo>
                  <a:pt x="4872115" y="0"/>
                </a:lnTo>
                <a:lnTo>
                  <a:pt x="4872115" y="5778525"/>
                </a:lnTo>
                <a:lnTo>
                  <a:pt x="0" y="57785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933605" y="3584006"/>
            <a:ext cx="4420733" cy="33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Esquema 'follow-the-sun' o 'shift rotation'.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Turnos rotativos: mañana / tarde / noche.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Trabajo medido por métricas: alertas procesadas, tiempos SLA, calidad de documentación.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Relevos documentados: cada turno deja registro para que el siguiente continúe sin perder contexto.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 SOCs globales, el monitoreo se distribuye entre regiones del mundo.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1796527" y="2433803"/>
            <a:ext cx="4872116" cy="785323"/>
          </a:xfrm>
          <a:custGeom>
            <a:avLst/>
            <a:gdLst/>
            <a:ahLst/>
            <a:cxnLst/>
            <a:rect r="r" b="b" t="t" l="l"/>
            <a:pathLst>
              <a:path h="785323" w="4872116">
                <a:moveTo>
                  <a:pt x="0" y="0"/>
                </a:moveTo>
                <a:lnTo>
                  <a:pt x="4872116" y="0"/>
                </a:lnTo>
                <a:lnTo>
                  <a:pt x="4872116" y="785323"/>
                </a:lnTo>
                <a:lnTo>
                  <a:pt x="0" y="7853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807567" y="2444843"/>
            <a:ext cx="4850085" cy="763292"/>
            <a:chOff x="0" y="0"/>
            <a:chExt cx="7437120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3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3725" r="0" b="-7372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807567" y="2413785"/>
            <a:ext cx="4850085" cy="794350"/>
            <a:chOff x="0" y="0"/>
            <a:chExt cx="7437120" cy="121805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37120" cy="1218057"/>
            </a:xfrm>
            <a:custGeom>
              <a:avLst/>
              <a:gdLst/>
              <a:ahLst/>
              <a:cxnLst/>
              <a:rect r="r" b="b" t="t" l="l"/>
              <a:pathLst>
                <a:path h="121805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970" r="0" b="-6897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437120" cy="1265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Dinámicas de Trabajo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1796527" y="3228899"/>
            <a:ext cx="4872116" cy="5778525"/>
          </a:xfrm>
          <a:custGeom>
            <a:avLst/>
            <a:gdLst/>
            <a:ahLst/>
            <a:cxnLst/>
            <a:rect r="r" b="b" t="t" l="l"/>
            <a:pathLst>
              <a:path h="5778525" w="4872116">
                <a:moveTo>
                  <a:pt x="0" y="0"/>
                </a:moveTo>
                <a:lnTo>
                  <a:pt x="4872116" y="0"/>
                </a:lnTo>
                <a:lnTo>
                  <a:pt x="4872116" y="5778525"/>
                </a:lnTo>
                <a:lnTo>
                  <a:pt x="0" y="57785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022219" y="3584006"/>
            <a:ext cx="4420733" cy="301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Escalamiento estructurado: L1 → L2 → L3.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Reuniones de cambio de turno para compartir eventos críticos.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Plataformas de tickets (JIRA, ServiceNow, TheHive) para trazabilidad.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Coordinación con IT, legal, RRHH según el tipo de incidente.</a:t>
            </a:r>
          </a:p>
          <a:p>
            <a:pPr algn="l" marL="398547" indent="-132849" lvl="2">
              <a:lnSpc>
                <a:spcPts val="2625"/>
              </a:lnSpc>
              <a:buFont typeface="Arial"/>
              <a:buChar char="⚬"/>
            </a:pPr>
            <a:r>
              <a:rPr lang="en-US" sz="1651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Participación en simulacros (Table Top Exercises).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DAHTbVDi7pY</dc:identifier>
  <dcterms:modified xsi:type="dcterms:W3CDTF">2011-08-01T06:04:30Z</dcterms:modified>
  <cp:revision>1</cp:revision>
  <dc:title>Modulo 01 - Modern SOC Operations</dc:title>
</cp:coreProperties>
</file>