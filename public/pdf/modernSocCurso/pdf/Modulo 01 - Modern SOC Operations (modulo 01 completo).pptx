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18288000" cy="10287000"/>
  <p:notesSz cx="6858000" cy="9144000"/>
  <p:embeddedFontLst>
    <p:embeddedFont>
      <p:font typeface="Calibri (MS) Bold" charset="1" panose="020F0702030404030204"/>
      <p:regular r:id="rId57"/>
    </p:embeddedFont>
    <p:embeddedFont>
      <p:font typeface="Calibri (MS)" charset="1" panose="020F0502020204030204"/>
      <p:regular r:id="rId58"/>
    </p:embeddedFont>
    <p:embeddedFont>
      <p:font typeface="Calibri (MS) Italics" charset="1" panose="020F05020202040A0204"/>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2.xml" Type="http://schemas.openxmlformats.org/officeDocument/2006/relationships/notesSlide"/><Relationship Id="rId101" Target="notesSlides/notesSlide43.xml" Type="http://schemas.openxmlformats.org/officeDocument/2006/relationships/notesSlide"/><Relationship Id="rId102" Target="notesSlides/notesSlide44.xml" Type="http://schemas.openxmlformats.org/officeDocument/2006/relationships/notesSlide"/><Relationship Id="rId103" Target="notesSlides/notesSlide45.xml" Type="http://schemas.openxmlformats.org/officeDocument/2006/relationships/notesSlide"/><Relationship Id="rId104" Target="notesSlides/notesSlide46.xml" Type="http://schemas.openxmlformats.org/officeDocument/2006/relationships/notesSlide"/><Relationship Id="rId105" Target="notesSlides/notesSlide47.xml" Type="http://schemas.openxmlformats.org/officeDocument/2006/relationships/notesSlide"/><Relationship Id="rId106" Target="notesSlides/notesSlide48.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notesMasters/notesMaster1.xml" Type="http://schemas.openxmlformats.org/officeDocument/2006/relationships/notesMaster"/><Relationship Id="rId55" Target="theme/theme2.xml" Type="http://schemas.openxmlformats.org/officeDocument/2006/relationships/theme"/><Relationship Id="rId56" Target="notesSlides/notesSlide1.xml" Type="http://schemas.openxmlformats.org/officeDocument/2006/relationships/notesSlide"/><Relationship Id="rId57" Target="fonts/font57.fntdata" Type="http://schemas.openxmlformats.org/officeDocument/2006/relationships/font"/><Relationship Id="rId58" Target="fonts/font58.fntdata" Type="http://schemas.openxmlformats.org/officeDocument/2006/relationships/font"/><Relationship Id="rId59" Target="notesSlides/notesSlide2.xml" Type="http://schemas.openxmlformats.org/officeDocument/2006/relationships/notesSlide"/><Relationship Id="rId6" Target="slides/slide1.xml" Type="http://schemas.openxmlformats.org/officeDocument/2006/relationships/slide"/><Relationship Id="rId60" Target="notesSlides/notesSlide3.xml" Type="http://schemas.openxmlformats.org/officeDocument/2006/relationships/notesSlide"/><Relationship Id="rId61" Target="notesSlides/notesSlide4.xml" Type="http://schemas.openxmlformats.org/officeDocument/2006/relationships/notesSlide"/><Relationship Id="rId62" Target="notesSlides/notesSlide5.xml" Type="http://schemas.openxmlformats.org/officeDocument/2006/relationships/notesSlide"/><Relationship Id="rId63" Target="notesSlides/notesSlide6.xml" Type="http://schemas.openxmlformats.org/officeDocument/2006/relationships/notesSlide"/><Relationship Id="rId64" Target="notesSlides/notesSlide7.xml" Type="http://schemas.openxmlformats.org/officeDocument/2006/relationships/notesSlide"/><Relationship Id="rId65" Target="notesSlides/notesSlide8.xml" Type="http://schemas.openxmlformats.org/officeDocument/2006/relationships/notesSlide"/><Relationship Id="rId66" Target="notesSlides/notesSlide9.xml" Type="http://schemas.openxmlformats.org/officeDocument/2006/relationships/notesSlide"/><Relationship Id="rId67" Target="fonts/font67.fntdata" Type="http://schemas.openxmlformats.org/officeDocument/2006/relationships/font"/><Relationship Id="rId68" Target="notesSlides/notesSlide10.xml" Type="http://schemas.openxmlformats.org/officeDocument/2006/relationships/notesSlide"/><Relationship Id="rId69" Target="notesSlides/notesSlide11.xml" Type="http://schemas.openxmlformats.org/officeDocument/2006/relationships/notesSlide"/><Relationship Id="rId7" Target="slides/slide2.xml" Type="http://schemas.openxmlformats.org/officeDocument/2006/relationships/slide"/><Relationship Id="rId70" Target="notesSlides/notesSlide12.xml" Type="http://schemas.openxmlformats.org/officeDocument/2006/relationships/notesSlide"/><Relationship Id="rId71" Target="notesSlides/notesSlide13.xml" Type="http://schemas.openxmlformats.org/officeDocument/2006/relationships/notesSlide"/><Relationship Id="rId72" Target="notesSlides/notesSlide14.xml" Type="http://schemas.openxmlformats.org/officeDocument/2006/relationships/notesSlide"/><Relationship Id="rId73" Target="notesSlides/notesSlide15.xml" Type="http://schemas.openxmlformats.org/officeDocument/2006/relationships/notesSlide"/><Relationship Id="rId74" Target="notesSlides/notesSlide16.xml" Type="http://schemas.openxmlformats.org/officeDocument/2006/relationships/notesSlide"/><Relationship Id="rId75" Target="notesSlides/notesSlide17.xml" Type="http://schemas.openxmlformats.org/officeDocument/2006/relationships/notesSlide"/><Relationship Id="rId76" Target="notesSlides/notesSlide18.xml" Type="http://schemas.openxmlformats.org/officeDocument/2006/relationships/notesSlide"/><Relationship Id="rId77" Target="notesSlides/notesSlide19.xml" Type="http://schemas.openxmlformats.org/officeDocument/2006/relationships/notesSlide"/><Relationship Id="rId78" Target="notesSlides/notesSlide20.xml" Type="http://schemas.openxmlformats.org/officeDocument/2006/relationships/notesSlide"/><Relationship Id="rId79" Target="notesSlides/notesSlide21.xml" Type="http://schemas.openxmlformats.org/officeDocument/2006/relationships/notesSlide"/><Relationship Id="rId8" Target="slides/slide3.xml" Type="http://schemas.openxmlformats.org/officeDocument/2006/relationships/slide"/><Relationship Id="rId80" Target="notesSlides/notesSlide22.xml" Type="http://schemas.openxmlformats.org/officeDocument/2006/relationships/notesSlide"/><Relationship Id="rId81" Target="notesSlides/notesSlide23.xml" Type="http://schemas.openxmlformats.org/officeDocument/2006/relationships/notesSlide"/><Relationship Id="rId82" Target="notesSlides/notesSlide24.xml" Type="http://schemas.openxmlformats.org/officeDocument/2006/relationships/notesSlide"/><Relationship Id="rId83" Target="notesSlides/notesSlide25.xml" Type="http://schemas.openxmlformats.org/officeDocument/2006/relationships/notesSlide"/><Relationship Id="rId84" Target="notesSlides/notesSlide26.xml" Type="http://schemas.openxmlformats.org/officeDocument/2006/relationships/notesSlide"/><Relationship Id="rId85" Target="notesSlides/notesSlide27.xml" Type="http://schemas.openxmlformats.org/officeDocument/2006/relationships/notesSlide"/><Relationship Id="rId86" Target="notesSlides/notesSlide28.xml" Type="http://schemas.openxmlformats.org/officeDocument/2006/relationships/notesSlide"/><Relationship Id="rId87" Target="notesSlides/notesSlide29.xml" Type="http://schemas.openxmlformats.org/officeDocument/2006/relationships/notesSlide"/><Relationship Id="rId88" Target="notesSlides/notesSlide30.xml" Type="http://schemas.openxmlformats.org/officeDocument/2006/relationships/notesSlide"/><Relationship Id="rId89" Target="notesSlides/notesSlide31.xml" Type="http://schemas.openxmlformats.org/officeDocument/2006/relationships/notesSlide"/><Relationship Id="rId9" Target="slides/slide4.xml" Type="http://schemas.openxmlformats.org/officeDocument/2006/relationships/slide"/><Relationship Id="rId90" Target="notesSlides/notesSlide32.xml" Type="http://schemas.openxmlformats.org/officeDocument/2006/relationships/notesSlide"/><Relationship Id="rId91" Target="notesSlides/notesSlide33.xml" Type="http://schemas.openxmlformats.org/officeDocument/2006/relationships/notesSlide"/><Relationship Id="rId92" Target="notesSlides/notesSlide34.xml" Type="http://schemas.openxmlformats.org/officeDocument/2006/relationships/notesSlide"/><Relationship Id="rId93" Target="notesSlides/notesSlide35.xml" Type="http://schemas.openxmlformats.org/officeDocument/2006/relationships/notesSlide"/><Relationship Id="rId94" Target="notesSlides/notesSlide36.xml" Type="http://schemas.openxmlformats.org/officeDocument/2006/relationships/notesSlide"/><Relationship Id="rId95" Target="notesSlides/notesSlide37.xml" Type="http://schemas.openxmlformats.org/officeDocument/2006/relationships/notesSlide"/><Relationship Id="rId96" Target="notesSlides/notesSlide38.xml" Type="http://schemas.openxmlformats.org/officeDocument/2006/relationships/notesSlide"/><Relationship Id="rId97" Target="notesSlides/notesSlide39.xml" Type="http://schemas.openxmlformats.org/officeDocument/2006/relationships/notesSlide"/><Relationship Id="rId98" Target="notesSlides/notesSlide40.xml" Type="http://schemas.openxmlformats.org/officeDocument/2006/relationships/notesSlide"/><Relationship Id="rId99" Target="notesSlides/notesSlide4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PORTADA. Esta es la diapositiva de apertura del Módulo 1. Presentá el nombre del módulo, el curso y la marca. Podés dar una bienvenida breve, presentarte si es una clase en vivo, y mencionar que este módulo es el punto de partida para entender dónde va a trabajar el analista SOC y cuál es su rol real en el día a día.</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Repasá brevemente los objetivos del módulo. No los leas uno a uno. Podés decir: 'En este módulo vamos a cubrir todo lo que necesitás saber para entender dónde estás parado como analista SOC Level 1: qué es un SOC, cómo funciona por dentro, qué se espera de vos y cómo podés crecer desde este rol.'</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Mostrá el mapa de secciones del módulo. Esto le da al estudiante una visión general del recorrido. Podés decir: 'Este módulo tiene 6 secciones. Vamos de lo más conceptual —qué es un SOC— hasta lo más práctico: cómo fluye el trabajo y cómo podés crecer en este rol.'</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es la carátula de la primera sección. Introducí el tema diciendo: 'Antes de hablar de qué hace un analista SOC, necesitamos entender qué es el SOC como estructura. Esto nos va a dar el contexto para ubicar el rol que vamos a aprender a desempeñar.'</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Definí el SOC con claridad. Enfatizá los tres elementos clave: es un EQUIPO (no solo una herramienta), trabaja en TIEMPO REAL (24/7), y usa HERRAMIENTAS como el SIEM para correlacionar información de múltiples fuentes. Preguntá al grupo: ¿por qué creés que una empresa necesita un equipo dedicado exclusivamente a monitorear seguridad?</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Explicá que estos tres objetivos no son independientes: van en cadena. No podés detectar sin monitorear, y no podés responder sin detectar. En la práctica, el analista L1 está principalmente en las fases de monitoreo y detección inicial. La respuesta más profunda la lleva L2 y L3.</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ejemplo integrado muestra el ciclo completo. Es un caso real y frecuente: acceso desde IP extranjera que resulta en exfiltración de datos. Recalcá cómo cada etapa activa la siguiente, y que sin monitoreo activo el ataque podría no haberse detectado a tiempo.</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Explicá los tres modelos con énfasis en cuándo aplica cada uno. Como analista SOC L1, podés trabajar en cualquiera de estos modelos: en un MSSP como proveedor de servicio, en un SOC interno de una empresa grande, o en un modelo híbrido. Esto afecta directamente tu contexto diario y las políticas que tenés que seguir.</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 tabla resume las diferencias clave. Enfatizá que el SOC no trabaja aislado: depende del NOC para acciones técnicas de red, del CSIRT para respuesta profunda, y del CERT para inteligencia externa. Como analista L1, principalmente interactuás con el SOC interno y escalás al CSIRT cuando sea necesario.</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El SOC no es un equipo aislado de tecnología: es parte de la estrategia de negocio. Cuando un analista L1 documenta un incidente, está contribuyendo al cumplimiento normativo, a la continuidad operativa y a la protección de la reputación de la organización. Esto le da contexto estratégico a tareas que pueden parecer rutinarias.</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Introducí esta sección diciendo que ahora que sabemos qué es un SOC, vamos a ver cómo está organizado por dentro. Esta es la estructura donde el analista L1 va a trabajar todos los días.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diagrama en pirámide muestra cómo los tiers tienen proporciones inversas: hay muchos más analistas L1 que L3, porque la mayoría del trabajo operativo está en el primer nivel. Reforzá el mensaje del flujo escalonado: los incidentes suben de nivel según su complejidad.</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Sección TIER 1. Remarcá que este es el rol del estudiante. Es el punto de entrada al SOC, y aunque parezca el "nivel básico", cumple un rol crítico: sin un buen triage en L1, los niveles superiores quedan saturados.</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Sección TIER 2. Explicá que L2 es donde van los casos que L1 no puede resolver. El analista L2 tiene más herramientas, más experiencia y más autoridad para tomar decisiones técnicas.</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Sección TIER 3. L3 es el nivel de los especialistas. No todos los SOCs tienen L3 en forma permanente; algunos tercerizan este nivel. El objetivo a largo plazo de un analista L1 puede ser llegar aquí.</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Mostrá que el SOC es un ecosistema de roles. Como analista L1, vas a interactuar directamente con el Team Lead (que te asigna tareas) y con los ingenieros de seguridad (que mantienen las herramientas). Con el tiempo, podés especializarte en cualquiera de estos roles según tus intereses.</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Acá es importante transmitirle al estudiante cómo es la realidad operativa del trabajo en un SOC: turnos rotativos, métricas de rendimiento, reuniones de traspaso. Esto no es teoría, es la estructura cotidiana del trabajo. Remarcá la importancia de los 'relevos documentados': si no documentás, el siguiente turno arranca a ciegas.</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sección es el corazón del módulo. Acá el estudiante entiende exactamente qué se espera de él o ella en el día a día. Arrancá con: 'Ahora que entendemos la estructura del SOC, nos vamos a enfocar en el rol que vamos a aprender a desempeñar: el analista SOC Nivel 1.'</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Remarcá que el analista L1 no trabaja de forma aislada. Su valor está en ser el punto de entrada: si hace bien su trabajo (documentar bien, escalar con contexto), todo el equipo funciona mejor. Un L1 malo que no documenta o que escala sin datos puede causar que L2 pierda tiempo valioso.</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slide es un índice visual de las 5 responsabilidades del analista L1. Podés preguntar al grupo: '¿Cuál creén que es la más importante?' (No hay una única respuesta correcta; lo importante es generar debate sobre si una puede funcionar sin las otras.)</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Responsabilidad 01. Reforzá la idea clave. Para monitorear eventos y alertas, el punto central es: Sin monitoreo activo y continuo, las amenazas no se detectan. El analista L1 es los 'ojos' del SOC en tiempo real.</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Responsabilidad 02. Reforzá la idea clave. Para clasificar y priorizar incidentes, el punto central es: Una alerta no es una conclusión: es una señal que requiere validación, contexto y análisis antes de tomar una decisión.</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Responsabilidad 03. Reforzá la idea clave. Para aplicar playbooks de triage, el punto central es: Los playbooks son el 'manual de operaciones' del SOC. Seguirlos garantiza consistencia y evita errores bajo presión.</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Responsabilidad 04. Reforzá la idea clave. Para escalar incidentes según criticidad, el punto central es: Escalar bien significa dar a L2 suficiente información para actuar con rapidez. Escalar sin datos es peor que no escalar.</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Responsabilidad 05. Reforzá la idea clave. Para documentar acciones y hallazgos, el punto central es: Si no está documentado, no ocurrió. La documentación protege al analista, al equipo y a la organización.</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diagrama muestra el ciclo completo de trabajo del analista L1. Remarcá que la documentación y el escalamiento no son opcionales: son parte del proceso. Un analista que no documenta o que escala sin información útil está rompiendo el flujo del equipo.</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Estas 6 habilidades técnicas son las que este curso desarrolla directamente. Podés mencionar que no se espera dominar todas desde el primer día, pero sí entender la función de cada una y cómo se relacionan entre sí. El SIEM y el análisis de logs son las más críticas para el día a día en L1.</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Las soft skills son tan importantes como las hard skills en un SOC. Un analista técnico brillante pero que no puede comunicar sus hallazgos, priorizar su trabajo o gestionar la presión, va a tener dificultades en el entorno real. Remarcá especialmente la ética: el acceso a información sensible es un privilegio que conlleva responsabilidad.</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Enfatizá que el SIEM, SOAR y EDR son las herramientas con las que el analista L1 más trabaja directamente. El Firewall, WAF e IDS/IPS generalmente están configurados para enviar sus eventos al SIEM, por lo que el analista los ve a través de ese panel, no de forma directa. Este punto está explicitado en el PDF original.</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sección conecta todo lo visto hasta ahora: sabemos qué es el SOC, cuáles son los roles, cuáles son las responsabilidades del L1. Ahora vamos a ver cómo fluye la información en la práctica, desde que ocurre un evento hasta que se convierte (o no) en un incidente.</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diagrama es fundamental para que el estudiante entienda su lugar en la cadena de valor. El L1 no crea los eventos ni las alertas, pero es quien decide si una alerta merece convertirse en incidente. Esa decisión tiene consecuencias reales para la organización.</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distinción conceptual es crítica para el trabajo diario. Muchos analistas junior confunden eventos con incidentes, o cierran alertas sin completar el flujo correcto. Remarcá con fuerza: 'No toda alerta es un incidente. Tu trabajo es validar, no asumir.'</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flujo WAF → SIEM → SOAR es uno de los más comunes. No es el único posible, pero ilustra bien cómo las herramientas se encadenan. El analista L1 principalmente interactúa con el SIEM; el SOAR puede hacer cosas automáticamente o puede ser activado manualmente por el analista.</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Remarcá que un SOC no es una isla. Los incidentes de seguridad tienen impacto en legal, en comunicaciones, en RR.HH. Como analista L1, tu trabajo es documentar bien y escalar al nivel correcto, para que las personas indicadas puedan tomar las decisiones correctas.</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sección es diferente: no habla de herramientas ni procesos técnicos, sino del componente humano y ético del trabajo. Introducila diciendo: 'Un analista SOC tiene acceso a información que muy pocas personas en la organización ven. Eso implica una responsabilidad que va más allá de lo técnico.'</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Enfatizá el concepto de 'principio de mínimo privilegio' en la práctica: si no necesitás ver esa información para tu tarea, no la busques. El hecho de que técnicamente puedas acceder a algo no significa que debas hacerlo. Esto protege tanto a la organización como al analista.</a:t>
            </a:r>
          </a:p>
          <a:p>
            <a:r>
              <a:rPr lang="en-US"/>
              <a:t>36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slide es impactante. Usá el contraste visual para que quede claro qué está permitido y qué no. Podés preguntar: '¿Alguna vez escucharon un caso de insider threat, donde alguien de IT o seguridad filtró información?' Esto ancla el tema en la realidad.</a:t>
            </a:r>
          </a:p>
          <a:p>
            <a:r>
              <a:rPr lang="en-US"/>
              <a:t>37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Los NDAs y protocolos formales existen para proteger al empleado también. Si el analista actúa dentro del protocolo y algo sale mal, está cubierto. Si actúa fuera del protocolo, la responsabilidad puede recaer sobre él. Remarcá que seguir los protocolos no es burocracia: es protección.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Remarcá que el registro no es una carga burocrática: es la memoria colectiva del equipo. En un SOC 24/7, la continuidad del trabajo depende de la calidad de los registros. Un analista que documenta bien facilita el trabajo de todos los que vienen después.</a:t>
            </a:r>
          </a:p>
          <a:p>
            <a:r>
              <a:rPr lang="en-US"/>
              <a:t>39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Introducí esta última sección motivacionalmente. Podés decir: 'Estamos terminando el módulo. Antes de cerrar, quiero mostrarte a dónde podés llegar desde este punto de partida. El rol L1 es una puerta de entrada, no un techo.'</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es motivacional pero también realista. El crecimiento en ciberseguridad es gradual y requiere tiempo. Pero partir desde el SOC L1 es una base sólida porque te da visibilidad de toda la operación de seguridad antes de especializarte. Muchos de los mejores profesionales del sector empezaron exactamente aquí.</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Aclará que no todas las organizaciones exigen estas certificaciones, pero sí pueden marcar la diferencia en un proceso de selección. La BTL1 (Blue Team Level 1) es especialmente relevante para alguien que está comenzando en SOC, ya que tiene enfoque práctico orientado a operaciones defensivas.</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muestra el panorama completo de posibilidades. Remarcá que el SOC L1 no es un destino final: es el punto de partida más sólido posible para una carrera en ciberseguridad, porque te da visibilidad real del ecosistema completo antes de especializarte.</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cierra la sección con una perspectiva holística. Remarcá el punto del cuidado personal: el trabajo en SOC puede ser estresante (turnos, presión, ver cosas difíciles). Construir hábitos saludables desde el principio es tan importante como desarrollar habilidades técnicas.</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Cierre del módulo. Podés hacer un repaso rápido de los puntos más importantes preguntando al grupo cuál fue el concepto que más les llamó la atención. Luego adelantá brevemente qué viene en el Módulo 2.</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slide es excelente para debatir con el grupo. Podés preguntar: '¿Alguna vez vieron o escucharon de alguno de estos errores? ¿Por qué creén que ocurren?' Los errores más comunes son no documentar y asumir sin evidencia. Reforzá el mensaje central: el criterio analítico es lo que diferencia a un analista junior de uno experimentado.</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Pregunta 1</a:t>
            </a:r>
          </a:p>
          <a:p>
            <a:r>
              <a:rPr lang="en-US"/>
              <a:t/>
            </a:r>
          </a:p>
          <a:p>
            <a:r>
              <a:rPr lang="en-US"/>
              <a:t>¿Cuáles son los tres objetivos operativos principales de un SOC y cómo se relacionan entre sí?</a:t>
            </a:r>
          </a:p>
          <a:p>
            <a:r>
              <a:rPr lang="en-US"/>
              <a:t/>
            </a:r>
          </a:p>
          <a:p>
            <a:r>
              <a:rPr lang="en-US"/>
              <a:t>Tipo: Multiple choice</a:t>
            </a:r>
          </a:p>
          <a:p>
            <a:r>
              <a:rPr lang="en-US"/>
              <a:t/>
            </a:r>
          </a:p>
          <a:p>
            <a:r>
              <a:rPr lang="en-US"/>
              <a:t>¿Qué describe mejor los tres objetivos operativos de un SOC y su relación?</a:t>
            </a:r>
          </a:p>
          <a:p>
            <a:r>
              <a:rPr lang="en-US"/>
              <a:t/>
            </a:r>
          </a:p>
          <a:p>
            <a:r>
              <a:rPr lang="en-US"/>
              <a:t>A) Prevenir, auditar y reportar — el SOC actúa antes de que ocurra cualquier amenaza</a:t>
            </a:r>
          </a:p>
          <a:p>
            <a:r>
              <a:rPr lang="en-US"/>
              <a:t>B) Monitorear, detectar y responder — se activan en secuencia: sin monitoreo no hay detección, y sin detección no hay respuesta ✅</a:t>
            </a:r>
          </a:p>
          <a:p>
            <a:r>
              <a:rPr lang="en-US"/>
              <a:t>C) Monitorear, bloquear y eliminar — el SOC toma acción directa sobre cada amenaza identificada</a:t>
            </a:r>
          </a:p>
          <a:p>
            <a:r>
              <a:rPr lang="en-US"/>
              <a:t>D) Detectar, escalar y resolver — el equipo de L1 resuelve todos los incidentes internamente</a:t>
            </a:r>
          </a:p>
          <a:p>
            <a:r>
              <a:rPr lang="en-US"/>
              <a:t>Pregunta 2</a:t>
            </a:r>
          </a:p>
          <a:p>
            <a:r>
              <a:rPr lang="en-US"/>
              <a:t/>
            </a:r>
          </a:p>
          <a:p>
            <a:r>
              <a:rPr lang="en-US"/>
              <a:t>¿Cuál es la diferencia entre un SOC interno y un MSSP?</a:t>
            </a:r>
          </a:p>
          <a:p>
            <a:r>
              <a:rPr lang="en-US"/>
              <a:t/>
            </a:r>
          </a:p>
          <a:p>
            <a:r>
              <a:rPr lang="en-US"/>
              <a:t>Tipo: Multiple choice</a:t>
            </a:r>
          </a:p>
          <a:p>
            <a:r>
              <a:rPr lang="en-US"/>
              <a:t/>
            </a:r>
          </a:p>
          <a:p>
            <a:r>
              <a:rPr lang="en-US"/>
              <a:t>Un SOC interno se diferencia de un MSSP principalmente en que:</a:t>
            </a:r>
          </a:p>
          <a:p>
            <a:r>
              <a:rPr lang="en-US"/>
              <a:t/>
            </a:r>
          </a:p>
          <a:p>
            <a:r>
              <a:rPr lang="en-US"/>
              <a:t>A) El SOC interno solo atiende horario laboral, mientras que el MSSP opera 24/7</a:t>
            </a:r>
          </a:p>
          <a:p>
            <a:r>
              <a:rPr lang="en-US"/>
              <a:t>B) El MSSP es más seguro porque tiene más analistas y mejores herramientas siempre</a:t>
            </a:r>
          </a:p>
          <a:p>
            <a:r>
              <a:rPr lang="en-US"/>
              <a:t>C) El SOC interno ofrece mayor control y alineación con las políticas de la organización, pero implica costos operativos más altos y necesidad de retención de talento ✅</a:t>
            </a:r>
          </a:p>
          <a:p>
            <a:r>
              <a:rPr lang="en-US"/>
              <a:t>D) El SOC interno no puede manejar incidentes críticos, por eso siempre se combina con un MSSP</a:t>
            </a:r>
          </a:p>
          <a:p>
            <a:r>
              <a:rPr lang="en-US"/>
              <a:t>Pregunta 3</a:t>
            </a:r>
          </a:p>
          <a:p>
            <a:r>
              <a:rPr lang="en-US"/>
              <a:t/>
            </a:r>
          </a:p>
          <a:p>
            <a:r>
              <a:rPr lang="en-US"/>
              <a:t>Un analista SOC recibe una alerta de múltiples intentos de login fallidos desde una IP extranjera. ¿Cuáles son los primeros pasos?</a:t>
            </a:r>
          </a:p>
          <a:p>
            <a:r>
              <a:rPr lang="en-US"/>
              <a:t/>
            </a:r>
          </a:p>
          <a:p>
            <a:r>
              <a:rPr lang="en-US"/>
              <a:t>Tipo: Multiple choice</a:t>
            </a:r>
          </a:p>
          <a:p>
            <a:r>
              <a:rPr lang="en-US"/>
              <a:t/>
            </a:r>
          </a:p>
          <a:p>
            <a:r>
              <a:rPr lang="en-US"/>
              <a:t>¿Cuál es la secuencia correcta de primeros pasos ante esta alerta?</a:t>
            </a:r>
          </a:p>
          <a:p>
            <a:r>
              <a:rPr lang="en-US"/>
              <a:t/>
            </a:r>
          </a:p>
          <a:p>
            <a:r>
              <a:rPr lang="en-US"/>
              <a:t>A) Bloquear la IP inmediatamente y notificar al usuario afectado</a:t>
            </a:r>
          </a:p>
          <a:p>
            <a:r>
              <a:rPr lang="en-US"/>
              <a:t>B) Escalar a L2 directamente porque es una IP extranjera</a:t>
            </a:r>
          </a:p>
          <a:p>
            <a:r>
              <a:rPr lang="en-US"/>
              <a:t>C) Revisar el contexto de la alerta: usuario afectado, cantidad de intentos, horario, si hubo login exitoso posterior y reputación de la IP antes de tomar cualquier acción ✅</a:t>
            </a:r>
          </a:p>
          <a:p>
            <a:r>
              <a:rPr lang="en-US"/>
              <a:t>D) Cerrar la alerta si no hubo login exitoso, ya que el bloqueo fue efectivo</a:t>
            </a:r>
          </a:p>
          <a:p>
            <a:r>
              <a:rPr lang="en-US"/>
              <a:t>Pregunta 4</a:t>
            </a:r>
          </a:p>
          <a:p>
            <a:r>
              <a:rPr lang="en-US"/>
              <a:t/>
            </a:r>
          </a:p>
          <a:p>
            <a:r>
              <a:rPr lang="en-US"/>
              <a:t>¿Cuál es la diferencia entre log, evento, alerta e incidente?</a:t>
            </a:r>
          </a:p>
          <a:p>
            <a:r>
              <a:rPr lang="en-US"/>
              <a:t/>
            </a:r>
          </a:p>
          <a:p>
            <a:r>
              <a:rPr lang="en-US"/>
              <a:t>Tipo: Multiple choice</a:t>
            </a:r>
          </a:p>
          <a:p>
            <a:r>
              <a:rPr lang="en-US"/>
              <a:t/>
            </a:r>
          </a:p>
          <a:p>
            <a:r>
              <a:rPr lang="en-US"/>
              <a:t>¿Qué afirmación describe correctamente la relación entre estos cuatro conceptos?</a:t>
            </a:r>
          </a:p>
          <a:p>
            <a:r>
              <a:rPr lang="en-US"/>
              <a:t/>
            </a:r>
          </a:p>
          <a:p>
            <a:r>
              <a:rPr lang="en-US"/>
              <a:t>A) Son sinónimos con distintos niveles de urgencia</a:t>
            </a:r>
          </a:p>
          <a:p>
            <a:r>
              <a:rPr lang="en-US"/>
              <a:t>B) Un log es el dato crudo, el evento le agrega contexto, la alerta se genera cuando coincide con una regla de detección, y el incidente es una alerta confirmada como real que requiere acción ✅</a:t>
            </a:r>
          </a:p>
          <a:p>
            <a:r>
              <a:rPr lang="en-US"/>
              <a:t>C) La alerta es lo que genera el analista, el incidente es lo que genera el SIEM</a:t>
            </a:r>
          </a:p>
          <a:p>
            <a:r>
              <a:rPr lang="en-US"/>
              <a:t>D) El log y el evento son lo mismo; la diferencia real está entre alerta e incidente</a:t>
            </a:r>
          </a:p>
          <a:p>
            <a:r>
              <a:rPr lang="en-US"/>
              <a:t>Pregunta 5</a:t>
            </a:r>
          </a:p>
          <a:p>
            <a:r>
              <a:rPr lang="en-US"/>
              <a:t/>
            </a:r>
          </a:p>
          <a:p>
            <a:r>
              <a:rPr lang="en-US"/>
              <a:t>¿Por qué es importante documentar el análisis incluso cuando la alerta resulta ser un falso positivo?</a:t>
            </a:r>
          </a:p>
          <a:p>
            <a:r>
              <a:rPr lang="en-US"/>
              <a:t/>
            </a:r>
          </a:p>
          <a:p>
            <a:r>
              <a:rPr lang="en-US"/>
              <a:t>Tipo: Verdadero / Falso — con justificación</a:t>
            </a:r>
          </a:p>
          <a:p>
            <a:r>
              <a:rPr lang="en-US"/>
              <a:t/>
            </a:r>
          </a:p>
          <a:p>
            <a:r>
              <a:rPr lang="en-US"/>
              <a:t>"Documentar un falso positivo no tiene valor operativo porque no ocurrió ningún incidente real."</a:t>
            </a:r>
          </a:p>
          <a:p>
            <a:r>
              <a:rPr lang="en-US"/>
              <a:t/>
            </a:r>
          </a:p>
          <a:p>
            <a:r>
              <a:rPr lang="en-US"/>
              <a:t>FALSO ✅</a:t>
            </a:r>
          </a:p>
          <a:p>
            <a:r>
              <a:rPr lang="en-US"/>
              <a:t/>
            </a:r>
          </a:p>
          <a:p>
            <a:r>
              <a:rPr lang="en-US"/>
              <a:t>Justificación correcta: Documentar falsos positivos es igualmente importante porque permite auditar el proceso de análisis, evitar que el mismo evento genere trabajo repetido en turnos siguientes, identificar patrones de ruido que pueden refinarse en las reglas del SIEM, y demostrar que se actuó con criterio técnico.</a:t>
            </a:r>
          </a:p>
          <a:p>
            <a:r>
              <a:rPr lang="en-US"/>
              <a:t/>
            </a:r>
          </a:p>
          <a:p>
            <a:r>
              <a:rPr lang="en-US"/>
              <a:t>Pregunta 6</a:t>
            </a:r>
          </a:p>
          <a:p>
            <a:r>
              <a:rPr lang="en-US"/>
              <a:t/>
            </a:r>
          </a:p>
          <a:p>
            <a:r>
              <a:rPr lang="en-US"/>
              <a:t>¿Qué información debe incluir un escalamiento para que sea útil y accionable?</a:t>
            </a:r>
          </a:p>
          <a:p>
            <a:r>
              <a:rPr lang="en-US"/>
              <a:t/>
            </a:r>
          </a:p>
          <a:p>
            <a:r>
              <a:rPr lang="en-US"/>
              <a:t>Tipo: Multiple choice</a:t>
            </a:r>
          </a:p>
          <a:p>
            <a:r>
              <a:rPr lang="en-US"/>
              <a:t/>
            </a:r>
          </a:p>
          <a:p>
            <a:r>
              <a:rPr lang="en-US"/>
              <a:t>¿Cuál de las siguientes opciones representa un escalamiento de calidad?</a:t>
            </a:r>
          </a:p>
          <a:p>
            <a:r>
              <a:rPr lang="en-US"/>
              <a:t/>
            </a:r>
          </a:p>
          <a:p>
            <a:r>
              <a:rPr lang="en-US"/>
              <a:t>A) "Hay actividad sospechosa en la red, revisar urgente."</a:t>
            </a:r>
          </a:p>
          <a:p>
            <a:r>
              <a:rPr lang="en-US"/>
              <a:t>B) "Se detectó una alerta de PowerShell. Severidad alta. Sin más datos por ahora."</a:t>
            </a:r>
          </a:p>
          <a:p>
            <a:r>
              <a:rPr lang="en-US"/>
              <a:t>C) Activo afectado, usuario involucrado, evidencia observada con timestamps, actividad previa y posterior revisada, limitaciones de visibilidad y acción recomendada ✅</a:t>
            </a:r>
          </a:p>
          <a:p>
            <a:r>
              <a:rPr lang="en-US"/>
              <a:t>D) Una captura de pantalla del panel del SIEM con la alerta visible</a:t>
            </a:r>
          </a:p>
          <a:p>
            <a:r>
              <a:rPr lang="en-US"/>
              <a:t>Pregunta 7</a:t>
            </a:r>
          </a:p>
          <a:p>
            <a:r>
              <a:rPr lang="en-US"/>
              <a:t/>
            </a:r>
          </a:p>
          <a:p>
            <a:r>
              <a:rPr lang="en-US"/>
              <a:t>¿Por qué decimos que 'ver no significa tener permiso para divulgar'?</a:t>
            </a:r>
          </a:p>
          <a:p>
            <a:r>
              <a:rPr lang="en-US"/>
              <a:t/>
            </a:r>
          </a:p>
          <a:p>
            <a:r>
              <a:rPr lang="en-US"/>
              <a:t>Tipo: Verdadero / Falso — con justificación</a:t>
            </a:r>
          </a:p>
          <a:p>
            <a:r>
              <a:rPr lang="en-US"/>
              <a:t/>
            </a:r>
          </a:p>
          <a:p>
            <a:r>
              <a:rPr lang="en-US"/>
              <a:t>"Un analista SOC puede compartir información de un caso con compañeros de otros equipos si considera que podría ser útil para ellos."</a:t>
            </a:r>
          </a:p>
          <a:p>
            <a:r>
              <a:rPr lang="en-US"/>
              <a:t/>
            </a:r>
          </a:p>
          <a:p>
            <a:r>
              <a:rPr lang="en-US"/>
              <a:t>FALSO ✅</a:t>
            </a:r>
          </a:p>
          <a:p>
            <a:r>
              <a:rPr lang="en-US"/>
              <a:t/>
            </a:r>
          </a:p>
          <a:p>
            <a:r>
              <a:rPr lang="en-US"/>
              <a:t>Justificación correcta: El acceso técnico no equivale a autorización para divulgar. La información de un caso solo debe circular entre quienes tienen un rol activo en ese caso, por canales corporativos aprobados. Compartir datos de un incidente fuera del canal correcto — aunque sea con buena intención — viola los protocolos de confidencialidad y puede comprometer la investigación o generar responsabilidad legal.</a:t>
            </a:r>
          </a:p>
          <a:p>
            <a:r>
              <a:rPr lang="en-US"/>
              <a:t/>
            </a:r>
          </a:p>
          <a:p>
            <a:r>
              <a:rPr lang="en-US"/>
              <a:t>Pregunta 8</a:t>
            </a:r>
          </a:p>
          <a:p>
            <a:r>
              <a:rPr lang="en-US"/>
              <a:t/>
            </a:r>
          </a:p>
          <a:p>
            <a:r>
              <a:rPr lang="en-US"/>
              <a:t>Mencioná al menos 3 rutas de especialización o crecimiento posibles a partir del SOC.</a:t>
            </a:r>
          </a:p>
          <a:p>
            <a:r>
              <a:rPr lang="en-US"/>
              <a:t/>
            </a:r>
          </a:p>
          <a:p>
            <a:r>
              <a:rPr lang="en-US"/>
              <a:t>Tipo: Multiple choice</a:t>
            </a:r>
          </a:p>
          <a:p>
            <a:r>
              <a:rPr lang="en-US"/>
              <a:t/>
            </a:r>
          </a:p>
          <a:p>
            <a:r>
              <a:rPr lang="en-US"/>
              <a:t>¿Cuál de las siguientes listas representa rutas de crecimiento reales desde el SOC?</a:t>
            </a:r>
          </a:p>
          <a:p>
            <a:r>
              <a:rPr lang="en-US"/>
              <a:t/>
            </a:r>
          </a:p>
          <a:p>
            <a:r>
              <a:rPr lang="en-US"/>
              <a:t>A) Pentesting, soporte técnico de mesa de ayuda, administración de redes</a:t>
            </a:r>
          </a:p>
          <a:p>
            <a:r>
              <a:rPr lang="en-US"/>
              <a:t>B) Incident Response / CSIRT, Threat Intelligence, Ingeniería de Seguridad (SIEM/SOAR), Forense Digital, Cloud Security, GRC ✅</a:t>
            </a:r>
          </a:p>
          <a:p>
            <a:r>
              <a:rPr lang="en-US"/>
              <a:t>C) Desarrollo de software seguro, marketing de ciberseguridad, gestión de proyectos de TI</a:t>
            </a:r>
          </a:p>
          <a:p>
            <a:r>
              <a:rPr lang="en-US"/>
              <a:t>D) Solo se puede crecer dentro del SOC ascendiendo de L1 a L2 y luego a L3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final de la presentación. Podés cerrar con una reflexión breve sobre el módulo y anticipar el próximo.</a:t>
            </a:r>
          </a:p>
          <a:p>
            <a:r>
              <a:rPr lang="en-US"/>
              <a:t>48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jpeg" Type="http://schemas.openxmlformats.org/officeDocument/2006/relationships/image"/><Relationship Id="rId13" Target="../media/image11.jpe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7.png" Type="http://schemas.openxmlformats.org/officeDocument/2006/relationships/image"/><Relationship Id="rId2" Target="../notesSlides/notesSlide2.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7.png" Type="http://schemas.openxmlformats.org/officeDocument/2006/relationships/image"/><Relationship Id="rId2" Target="../notesSlides/notesSlide3.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4.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15" Target="../media/image40.png" Type="http://schemas.openxmlformats.org/officeDocument/2006/relationships/image"/><Relationship Id="rId16" Target="../media/image41.svg" Type="http://schemas.openxmlformats.org/officeDocument/2006/relationships/image"/><Relationship Id="rId17" Target="../media/image7.png" Type="http://schemas.openxmlformats.org/officeDocument/2006/relationships/image"/><Relationship Id="rId2" Target="../notesSlides/notesSlide5.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13" Target="../media/image44.png" Type="http://schemas.openxmlformats.org/officeDocument/2006/relationships/image"/><Relationship Id="rId14" Target="../media/image45.svg" Type="http://schemas.openxmlformats.org/officeDocument/2006/relationships/image"/><Relationship Id="rId15" Target="../media/image46.png" Type="http://schemas.openxmlformats.org/officeDocument/2006/relationships/image"/><Relationship Id="rId16" Target="../media/image47.svg" Type="http://schemas.openxmlformats.org/officeDocument/2006/relationships/image"/><Relationship Id="rId17" Target="../media/image48.png" Type="http://schemas.openxmlformats.org/officeDocument/2006/relationships/image"/><Relationship Id="rId18" Target="../media/image49.svg" Type="http://schemas.openxmlformats.org/officeDocument/2006/relationships/image"/><Relationship Id="rId19" Target="../media/image7.png" Type="http://schemas.openxmlformats.org/officeDocument/2006/relationships/image"/><Relationship Id="rId2" Target="../notesSlides/notesSlide6.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media/image60.png" Type="http://schemas.openxmlformats.org/officeDocument/2006/relationships/image"/><Relationship Id="rId18" Target="../media/image61.svg" Type="http://schemas.openxmlformats.org/officeDocument/2006/relationships/image"/><Relationship Id="rId19" Target="../media/image62.png" Type="http://schemas.openxmlformats.org/officeDocument/2006/relationships/image"/><Relationship Id="rId2" Target="../notesSlides/notesSlide7.xml" Type="http://schemas.openxmlformats.org/officeDocument/2006/relationships/notesSlide"/><Relationship Id="rId20" Target="../media/image63.svg" Type="http://schemas.openxmlformats.org/officeDocument/2006/relationships/image"/><Relationship Id="rId21" Target="../media/image64.png" Type="http://schemas.openxmlformats.org/officeDocument/2006/relationships/image"/><Relationship Id="rId22" Target="../media/image65.svg" Type="http://schemas.openxmlformats.org/officeDocument/2006/relationships/image"/><Relationship Id="rId23" Target="../media/image7.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66.png" Type="http://schemas.openxmlformats.org/officeDocument/2006/relationships/image"/><Relationship Id="rId12" Target="../media/image67.svg" Type="http://schemas.openxmlformats.org/officeDocument/2006/relationships/image"/><Relationship Id="rId13" Target="../media/image68.png" Type="http://schemas.openxmlformats.org/officeDocument/2006/relationships/image"/><Relationship Id="rId14" Target="../media/image69.svg" Type="http://schemas.openxmlformats.org/officeDocument/2006/relationships/image"/><Relationship Id="rId15" Target="../media/image70.png" Type="http://schemas.openxmlformats.org/officeDocument/2006/relationships/image"/><Relationship Id="rId16" Target="../media/image71.svg" Type="http://schemas.openxmlformats.org/officeDocument/2006/relationships/image"/><Relationship Id="rId17" Target="../media/image72.png" Type="http://schemas.openxmlformats.org/officeDocument/2006/relationships/image"/><Relationship Id="rId18" Target="../media/image73.svg" Type="http://schemas.openxmlformats.org/officeDocument/2006/relationships/image"/><Relationship Id="rId19" Target="../media/image7.png" Type="http://schemas.openxmlformats.org/officeDocument/2006/relationships/image"/><Relationship Id="rId2" Target="../notesSlides/notesSlide8.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7.png" Type="http://schemas.openxmlformats.org/officeDocument/2006/relationships/image"/><Relationship Id="rId2" Target="../notesSlides/notesSlide9.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74.png" Type="http://schemas.openxmlformats.org/officeDocument/2006/relationships/image"/><Relationship Id="rId12" Target="../media/image75.svg" Type="http://schemas.openxmlformats.org/officeDocument/2006/relationships/image"/><Relationship Id="rId13" Target="../media/image76.png" Type="http://schemas.openxmlformats.org/officeDocument/2006/relationships/image"/><Relationship Id="rId14" Target="../media/image77.svg" Type="http://schemas.openxmlformats.org/officeDocument/2006/relationships/image"/><Relationship Id="rId15" Target="../media/image78.png" Type="http://schemas.openxmlformats.org/officeDocument/2006/relationships/image"/><Relationship Id="rId16" Target="../media/image79.svg" Type="http://schemas.openxmlformats.org/officeDocument/2006/relationships/image"/><Relationship Id="rId17" Target="../media/image80.png" Type="http://schemas.openxmlformats.org/officeDocument/2006/relationships/image"/><Relationship Id="rId18" Target="../media/image81.svg" Type="http://schemas.openxmlformats.org/officeDocument/2006/relationships/image"/><Relationship Id="rId19" Target="../media/image82.png" Type="http://schemas.openxmlformats.org/officeDocument/2006/relationships/image"/><Relationship Id="rId2" Target="../notesSlides/notesSlide10.xml" Type="http://schemas.openxmlformats.org/officeDocument/2006/relationships/notesSlide"/><Relationship Id="rId20" Target="../media/image83.svg" Type="http://schemas.openxmlformats.org/officeDocument/2006/relationships/image"/><Relationship Id="rId21" Target="../media/image84.png" Type="http://schemas.openxmlformats.org/officeDocument/2006/relationships/image"/><Relationship Id="rId22" Target="../media/image85.svg" Type="http://schemas.openxmlformats.org/officeDocument/2006/relationships/image"/><Relationship Id="rId23"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11.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86.png" Type="http://schemas.openxmlformats.org/officeDocument/2006/relationships/image"/><Relationship Id="rId12" Target="../media/image87.svg" Type="http://schemas.openxmlformats.org/officeDocument/2006/relationships/image"/><Relationship Id="rId13" Target="../media/image88.png" Type="http://schemas.openxmlformats.org/officeDocument/2006/relationships/image"/><Relationship Id="rId14" Target="../media/image89.svg" Type="http://schemas.openxmlformats.org/officeDocument/2006/relationships/image"/><Relationship Id="rId15" Target="../media/image90.png" Type="http://schemas.openxmlformats.org/officeDocument/2006/relationships/image"/><Relationship Id="rId16" Target="../media/image91.svg" Type="http://schemas.openxmlformats.org/officeDocument/2006/relationships/image"/><Relationship Id="rId17" Target="../media/image92.png" Type="http://schemas.openxmlformats.org/officeDocument/2006/relationships/image"/><Relationship Id="rId18" Target="../media/image93.svg" Type="http://schemas.openxmlformats.org/officeDocument/2006/relationships/image"/><Relationship Id="rId19" Target="../media/image94.png" Type="http://schemas.openxmlformats.org/officeDocument/2006/relationships/image"/><Relationship Id="rId2" Target="../notesSlides/notesSlide12.xml" Type="http://schemas.openxmlformats.org/officeDocument/2006/relationships/notesSlide"/><Relationship Id="rId20" Target="../media/image95.svg" Type="http://schemas.openxmlformats.org/officeDocument/2006/relationships/image"/><Relationship Id="rId21" Target="../media/image96.png" Type="http://schemas.openxmlformats.org/officeDocument/2006/relationships/image"/><Relationship Id="rId22" Target="../media/image97.svg" Type="http://schemas.openxmlformats.org/officeDocument/2006/relationships/image"/><Relationship Id="rId23" Target="../media/image98.png" Type="http://schemas.openxmlformats.org/officeDocument/2006/relationships/image"/><Relationship Id="rId24" Target="../media/image99.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00.png" Type="http://schemas.openxmlformats.org/officeDocument/2006/relationships/image"/><Relationship Id="rId12" Target="../media/image101.svg" Type="http://schemas.openxmlformats.org/officeDocument/2006/relationships/image"/><Relationship Id="rId13" Target="../media/image102.png" Type="http://schemas.openxmlformats.org/officeDocument/2006/relationships/image"/><Relationship Id="rId14" Target="../media/image103.svg" Type="http://schemas.openxmlformats.org/officeDocument/2006/relationships/image"/><Relationship Id="rId15" Target="../media/image104.png" Type="http://schemas.openxmlformats.org/officeDocument/2006/relationships/image"/><Relationship Id="rId16" Target="../media/image105.svg" Type="http://schemas.openxmlformats.org/officeDocument/2006/relationships/image"/><Relationship Id="rId17" Target="../media/image106.png" Type="http://schemas.openxmlformats.org/officeDocument/2006/relationships/image"/><Relationship Id="rId18" Target="../media/image107.svg" Type="http://schemas.openxmlformats.org/officeDocument/2006/relationships/image"/><Relationship Id="rId19" Target="../media/image108.png" Type="http://schemas.openxmlformats.org/officeDocument/2006/relationships/image"/><Relationship Id="rId2" Target="../notesSlides/notesSlide13.xml" Type="http://schemas.openxmlformats.org/officeDocument/2006/relationships/notesSlide"/><Relationship Id="rId20" Target="../media/image109.svg" Type="http://schemas.openxmlformats.org/officeDocument/2006/relationships/image"/><Relationship Id="rId21"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10.png" Type="http://schemas.openxmlformats.org/officeDocument/2006/relationships/image"/><Relationship Id="rId12" Target="../media/image111.svg" Type="http://schemas.openxmlformats.org/officeDocument/2006/relationships/image"/><Relationship Id="rId13" Target="../media/image102.png" Type="http://schemas.openxmlformats.org/officeDocument/2006/relationships/image"/><Relationship Id="rId14" Target="../media/image103.svg" Type="http://schemas.openxmlformats.org/officeDocument/2006/relationships/image"/><Relationship Id="rId15" Target="../media/image104.png" Type="http://schemas.openxmlformats.org/officeDocument/2006/relationships/image"/><Relationship Id="rId16" Target="../media/image105.svg" Type="http://schemas.openxmlformats.org/officeDocument/2006/relationships/image"/><Relationship Id="rId17" Target="../media/image106.png" Type="http://schemas.openxmlformats.org/officeDocument/2006/relationships/image"/><Relationship Id="rId18" Target="../media/image107.svg" Type="http://schemas.openxmlformats.org/officeDocument/2006/relationships/image"/><Relationship Id="rId19" Target="../media/image112.png" Type="http://schemas.openxmlformats.org/officeDocument/2006/relationships/image"/><Relationship Id="rId2" Target="../notesSlides/notesSlide14.xml" Type="http://schemas.openxmlformats.org/officeDocument/2006/relationships/notesSlide"/><Relationship Id="rId20" Target="../media/image113.svg" Type="http://schemas.openxmlformats.org/officeDocument/2006/relationships/image"/><Relationship Id="rId21"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14.png" Type="http://schemas.openxmlformats.org/officeDocument/2006/relationships/image"/><Relationship Id="rId12" Target="../media/image115.svg" Type="http://schemas.openxmlformats.org/officeDocument/2006/relationships/image"/><Relationship Id="rId13" Target="../media/image102.png" Type="http://schemas.openxmlformats.org/officeDocument/2006/relationships/image"/><Relationship Id="rId14" Target="../media/image103.svg" Type="http://schemas.openxmlformats.org/officeDocument/2006/relationships/image"/><Relationship Id="rId15" Target="../media/image104.png" Type="http://schemas.openxmlformats.org/officeDocument/2006/relationships/image"/><Relationship Id="rId16" Target="../media/image105.svg" Type="http://schemas.openxmlformats.org/officeDocument/2006/relationships/image"/><Relationship Id="rId17" Target="../media/image106.png" Type="http://schemas.openxmlformats.org/officeDocument/2006/relationships/image"/><Relationship Id="rId18" Target="../media/image107.svg" Type="http://schemas.openxmlformats.org/officeDocument/2006/relationships/image"/><Relationship Id="rId19" Target="../media/image116.png" Type="http://schemas.openxmlformats.org/officeDocument/2006/relationships/image"/><Relationship Id="rId2" Target="../notesSlides/notesSlide15.xml" Type="http://schemas.openxmlformats.org/officeDocument/2006/relationships/notesSlide"/><Relationship Id="rId20" Target="../media/image117.svg" Type="http://schemas.openxmlformats.org/officeDocument/2006/relationships/image"/><Relationship Id="rId21"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18.png" Type="http://schemas.openxmlformats.org/officeDocument/2006/relationships/image"/><Relationship Id="rId12" Target="../media/image119.svg" Type="http://schemas.openxmlformats.org/officeDocument/2006/relationships/image"/><Relationship Id="rId13" Target="../media/image120.png" Type="http://schemas.openxmlformats.org/officeDocument/2006/relationships/image"/><Relationship Id="rId14" Target="../media/image121.svg" Type="http://schemas.openxmlformats.org/officeDocument/2006/relationships/image"/><Relationship Id="rId15" Target="../media/image122.png" Type="http://schemas.openxmlformats.org/officeDocument/2006/relationships/image"/><Relationship Id="rId16" Target="../media/image123.svg" Type="http://schemas.openxmlformats.org/officeDocument/2006/relationships/image"/><Relationship Id="rId17" Target="../media/image124.png" Type="http://schemas.openxmlformats.org/officeDocument/2006/relationships/image"/><Relationship Id="rId18" Target="../media/image125.svg" Type="http://schemas.openxmlformats.org/officeDocument/2006/relationships/image"/><Relationship Id="rId19" Target="../media/image126.png" Type="http://schemas.openxmlformats.org/officeDocument/2006/relationships/image"/><Relationship Id="rId2" Target="../notesSlides/notesSlide16.xml" Type="http://schemas.openxmlformats.org/officeDocument/2006/relationships/notesSlide"/><Relationship Id="rId20" Target="../media/image127.svg" Type="http://schemas.openxmlformats.org/officeDocument/2006/relationships/image"/><Relationship Id="rId21" Target="../media/image128.png" Type="http://schemas.openxmlformats.org/officeDocument/2006/relationships/image"/><Relationship Id="rId22" Target="../media/image129.svg" Type="http://schemas.openxmlformats.org/officeDocument/2006/relationships/image"/><Relationship Id="rId23" Target="../media/image130.png" Type="http://schemas.openxmlformats.org/officeDocument/2006/relationships/image"/><Relationship Id="rId24" Target="../media/image131.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32.png" Type="http://schemas.openxmlformats.org/officeDocument/2006/relationships/image"/><Relationship Id="rId12" Target="../media/image133.svg" Type="http://schemas.openxmlformats.org/officeDocument/2006/relationships/image"/><Relationship Id="rId13" Target="../media/image134.png" Type="http://schemas.openxmlformats.org/officeDocument/2006/relationships/image"/><Relationship Id="rId14" Target="../media/image135.svg" Type="http://schemas.openxmlformats.org/officeDocument/2006/relationships/image"/><Relationship Id="rId15" Target="../media/image136.png" Type="http://schemas.openxmlformats.org/officeDocument/2006/relationships/image"/><Relationship Id="rId16" Target="../media/image137.svg" Type="http://schemas.openxmlformats.org/officeDocument/2006/relationships/image"/><Relationship Id="rId17" Target="../media/image138.png" Type="http://schemas.openxmlformats.org/officeDocument/2006/relationships/image"/><Relationship Id="rId18" Target="../media/image139.svg" Type="http://schemas.openxmlformats.org/officeDocument/2006/relationships/image"/><Relationship Id="rId19" Target="../media/image7.png" Type="http://schemas.openxmlformats.org/officeDocument/2006/relationships/image"/><Relationship Id="rId2" Target="../notesSlides/notesSlide17.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18.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40.png" Type="http://schemas.openxmlformats.org/officeDocument/2006/relationships/image"/><Relationship Id="rId12" Target="../media/image141.svg" Type="http://schemas.openxmlformats.org/officeDocument/2006/relationships/image"/><Relationship Id="rId13" Target="../media/image142.png" Type="http://schemas.openxmlformats.org/officeDocument/2006/relationships/image"/><Relationship Id="rId14" Target="../media/image143.svg" Type="http://schemas.openxmlformats.org/officeDocument/2006/relationships/image"/><Relationship Id="rId15" Target="../media/image144.png" Type="http://schemas.openxmlformats.org/officeDocument/2006/relationships/image"/><Relationship Id="rId16" Target="../media/image145.svg" Type="http://schemas.openxmlformats.org/officeDocument/2006/relationships/image"/><Relationship Id="rId17" Target="../media/image146.png" Type="http://schemas.openxmlformats.org/officeDocument/2006/relationships/image"/><Relationship Id="rId18" Target="../media/image147.svg" Type="http://schemas.openxmlformats.org/officeDocument/2006/relationships/image"/><Relationship Id="rId19" Target="../media/image148.png" Type="http://schemas.openxmlformats.org/officeDocument/2006/relationships/image"/><Relationship Id="rId2" Target="../notesSlides/notesSlide19.xml" Type="http://schemas.openxmlformats.org/officeDocument/2006/relationships/notesSlide"/><Relationship Id="rId20" Target="../media/image149.svg" Type="http://schemas.openxmlformats.org/officeDocument/2006/relationships/image"/><Relationship Id="rId21" Target="../media/image150.png" Type="http://schemas.openxmlformats.org/officeDocument/2006/relationships/image"/><Relationship Id="rId22" Target="../media/image151.svg" Type="http://schemas.openxmlformats.org/officeDocument/2006/relationships/image"/><Relationship Id="rId23" Target="../media/image152.png" Type="http://schemas.openxmlformats.org/officeDocument/2006/relationships/image"/><Relationship Id="rId24" Target="../media/image153.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5.svg" Type="http://schemas.openxmlformats.org/officeDocument/2006/relationships/image"/><Relationship Id="rId11" Target="../media/image156.png" Type="http://schemas.openxmlformats.org/officeDocument/2006/relationships/image"/><Relationship Id="rId12" Target="../media/image157.svg" Type="http://schemas.openxmlformats.org/officeDocument/2006/relationships/image"/><Relationship Id="rId13" Target="../media/image158.png" Type="http://schemas.openxmlformats.org/officeDocument/2006/relationships/image"/><Relationship Id="rId14" Target="../media/image159.svg" Type="http://schemas.openxmlformats.org/officeDocument/2006/relationships/image"/><Relationship Id="rId15" Target="../media/image160.png" Type="http://schemas.openxmlformats.org/officeDocument/2006/relationships/image"/><Relationship Id="rId16" Target="../media/image161.svg" Type="http://schemas.openxmlformats.org/officeDocument/2006/relationships/image"/><Relationship Id="rId17" Target="../media/image162.png" Type="http://schemas.openxmlformats.org/officeDocument/2006/relationships/image"/><Relationship Id="rId18" Target="../media/image163.svg" Type="http://schemas.openxmlformats.org/officeDocument/2006/relationships/image"/><Relationship Id="rId19" Target="../media/image7.png" Type="http://schemas.openxmlformats.org/officeDocument/2006/relationships/image"/><Relationship Id="rId2" Target="../notesSlides/notesSlide20.xml" Type="http://schemas.openxmlformats.org/officeDocument/2006/relationships/notesSlide"/><Relationship Id="rId20" Target="../media/image164.png" Type="http://schemas.openxmlformats.org/officeDocument/2006/relationships/image"/><Relationship Id="rId21" Target="../media/image165.svg" Type="http://schemas.openxmlformats.org/officeDocument/2006/relationships/image"/><Relationship Id="rId22" Target="../media/image166.png" Type="http://schemas.openxmlformats.org/officeDocument/2006/relationships/image"/><Relationship Id="rId23" Target="../media/image167.svg" Type="http://schemas.openxmlformats.org/officeDocument/2006/relationships/image"/><Relationship Id="rId24" Target="../media/image168.png" Type="http://schemas.openxmlformats.org/officeDocument/2006/relationships/image"/><Relationship Id="rId25" Target="../media/image169.svg" Type="http://schemas.openxmlformats.org/officeDocument/2006/relationships/image"/><Relationship Id="rId26" Target="../media/image170.png" Type="http://schemas.openxmlformats.org/officeDocument/2006/relationships/image"/><Relationship Id="rId27" Target="../media/image171.svg" Type="http://schemas.openxmlformats.org/officeDocument/2006/relationships/image"/><Relationship Id="rId28" Target="../media/image172.png" Type="http://schemas.openxmlformats.org/officeDocument/2006/relationships/image"/><Relationship Id="rId29" Target="../media/image173.sv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15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74.png" Type="http://schemas.openxmlformats.org/officeDocument/2006/relationships/image"/><Relationship Id="rId12" Target="../media/image175.svg" Type="http://schemas.openxmlformats.org/officeDocument/2006/relationships/image"/><Relationship Id="rId13" Target="../media/image176.png" Type="http://schemas.openxmlformats.org/officeDocument/2006/relationships/image"/><Relationship Id="rId14" Target="../media/image177.svg" Type="http://schemas.openxmlformats.org/officeDocument/2006/relationships/image"/><Relationship Id="rId15" Target="../media/image178.png" Type="http://schemas.openxmlformats.org/officeDocument/2006/relationships/image"/><Relationship Id="rId16" Target="../media/image179.svg" Type="http://schemas.openxmlformats.org/officeDocument/2006/relationships/image"/><Relationship Id="rId17" Target="../media/image180.png" Type="http://schemas.openxmlformats.org/officeDocument/2006/relationships/image"/><Relationship Id="rId18" Target="../media/image181.svg" Type="http://schemas.openxmlformats.org/officeDocument/2006/relationships/image"/><Relationship Id="rId19" Target="../media/image182.png" Type="http://schemas.openxmlformats.org/officeDocument/2006/relationships/image"/><Relationship Id="rId2" Target="../notesSlides/notesSlide21.xml" Type="http://schemas.openxmlformats.org/officeDocument/2006/relationships/notesSlide"/><Relationship Id="rId20" Target="../media/image183.svg" Type="http://schemas.openxmlformats.org/officeDocument/2006/relationships/image"/><Relationship Id="rId21" Target="../media/image7.png" Type="http://schemas.openxmlformats.org/officeDocument/2006/relationships/image"/><Relationship Id="rId22" Target="../media/image164.png" Type="http://schemas.openxmlformats.org/officeDocument/2006/relationships/image"/><Relationship Id="rId23" Target="../media/image165.sv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84.png" Type="http://schemas.openxmlformats.org/officeDocument/2006/relationships/image"/><Relationship Id="rId12" Target="../media/image185.svg" Type="http://schemas.openxmlformats.org/officeDocument/2006/relationships/image"/><Relationship Id="rId13" Target="../media/image176.png" Type="http://schemas.openxmlformats.org/officeDocument/2006/relationships/image"/><Relationship Id="rId14" Target="../media/image177.svg" Type="http://schemas.openxmlformats.org/officeDocument/2006/relationships/image"/><Relationship Id="rId15" Target="../media/image178.png" Type="http://schemas.openxmlformats.org/officeDocument/2006/relationships/image"/><Relationship Id="rId16" Target="../media/image179.svg" Type="http://schemas.openxmlformats.org/officeDocument/2006/relationships/image"/><Relationship Id="rId17" Target="../media/image180.png" Type="http://schemas.openxmlformats.org/officeDocument/2006/relationships/image"/><Relationship Id="rId18" Target="../media/image181.svg" Type="http://schemas.openxmlformats.org/officeDocument/2006/relationships/image"/><Relationship Id="rId19" Target="../media/image182.png" Type="http://schemas.openxmlformats.org/officeDocument/2006/relationships/image"/><Relationship Id="rId2" Target="../notesSlides/notesSlide22.xml" Type="http://schemas.openxmlformats.org/officeDocument/2006/relationships/notesSlide"/><Relationship Id="rId20" Target="../media/image183.svg" Type="http://schemas.openxmlformats.org/officeDocument/2006/relationships/image"/><Relationship Id="rId21" Target="../media/image166.png" Type="http://schemas.openxmlformats.org/officeDocument/2006/relationships/image"/><Relationship Id="rId22" Target="../media/image167.svg" Type="http://schemas.openxmlformats.org/officeDocument/2006/relationships/image"/><Relationship Id="rId23"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86.png" Type="http://schemas.openxmlformats.org/officeDocument/2006/relationships/image"/><Relationship Id="rId12" Target="../media/image187.svg" Type="http://schemas.openxmlformats.org/officeDocument/2006/relationships/image"/><Relationship Id="rId13" Target="../media/image176.png" Type="http://schemas.openxmlformats.org/officeDocument/2006/relationships/image"/><Relationship Id="rId14" Target="../media/image177.svg" Type="http://schemas.openxmlformats.org/officeDocument/2006/relationships/image"/><Relationship Id="rId15" Target="../media/image178.png" Type="http://schemas.openxmlformats.org/officeDocument/2006/relationships/image"/><Relationship Id="rId16" Target="../media/image179.svg" Type="http://schemas.openxmlformats.org/officeDocument/2006/relationships/image"/><Relationship Id="rId17" Target="../media/image180.png" Type="http://schemas.openxmlformats.org/officeDocument/2006/relationships/image"/><Relationship Id="rId18" Target="../media/image181.svg" Type="http://schemas.openxmlformats.org/officeDocument/2006/relationships/image"/><Relationship Id="rId19" Target="../media/image182.png" Type="http://schemas.openxmlformats.org/officeDocument/2006/relationships/image"/><Relationship Id="rId2" Target="../notesSlides/notesSlide23.xml" Type="http://schemas.openxmlformats.org/officeDocument/2006/relationships/notesSlide"/><Relationship Id="rId20" Target="../media/image183.svg" Type="http://schemas.openxmlformats.org/officeDocument/2006/relationships/image"/><Relationship Id="rId21" Target="../media/image7.png" Type="http://schemas.openxmlformats.org/officeDocument/2006/relationships/image"/><Relationship Id="rId22" Target="../media/image168.png" Type="http://schemas.openxmlformats.org/officeDocument/2006/relationships/image"/><Relationship Id="rId23" Target="../media/image169.sv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88.png" Type="http://schemas.openxmlformats.org/officeDocument/2006/relationships/image"/><Relationship Id="rId12" Target="../media/image189.svg" Type="http://schemas.openxmlformats.org/officeDocument/2006/relationships/image"/><Relationship Id="rId13" Target="../media/image176.png" Type="http://schemas.openxmlformats.org/officeDocument/2006/relationships/image"/><Relationship Id="rId14" Target="../media/image177.svg" Type="http://schemas.openxmlformats.org/officeDocument/2006/relationships/image"/><Relationship Id="rId15" Target="../media/image178.png" Type="http://schemas.openxmlformats.org/officeDocument/2006/relationships/image"/><Relationship Id="rId16" Target="../media/image179.svg" Type="http://schemas.openxmlformats.org/officeDocument/2006/relationships/image"/><Relationship Id="rId17" Target="../media/image180.png" Type="http://schemas.openxmlformats.org/officeDocument/2006/relationships/image"/><Relationship Id="rId18" Target="../media/image181.svg" Type="http://schemas.openxmlformats.org/officeDocument/2006/relationships/image"/><Relationship Id="rId19" Target="../media/image182.png" Type="http://schemas.openxmlformats.org/officeDocument/2006/relationships/image"/><Relationship Id="rId2" Target="../notesSlides/notesSlide24.xml" Type="http://schemas.openxmlformats.org/officeDocument/2006/relationships/notesSlide"/><Relationship Id="rId20" Target="../media/image183.svg" Type="http://schemas.openxmlformats.org/officeDocument/2006/relationships/image"/><Relationship Id="rId21" Target="../media/image7.png" Type="http://schemas.openxmlformats.org/officeDocument/2006/relationships/image"/><Relationship Id="rId22" Target="../media/image170.png" Type="http://schemas.openxmlformats.org/officeDocument/2006/relationships/image"/><Relationship Id="rId23" Target="../media/image171.sv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90.png" Type="http://schemas.openxmlformats.org/officeDocument/2006/relationships/image"/><Relationship Id="rId12" Target="../media/image191.svg" Type="http://schemas.openxmlformats.org/officeDocument/2006/relationships/image"/><Relationship Id="rId13" Target="../media/image176.png" Type="http://schemas.openxmlformats.org/officeDocument/2006/relationships/image"/><Relationship Id="rId14" Target="../media/image177.svg" Type="http://schemas.openxmlformats.org/officeDocument/2006/relationships/image"/><Relationship Id="rId15" Target="../media/image178.png" Type="http://schemas.openxmlformats.org/officeDocument/2006/relationships/image"/><Relationship Id="rId16" Target="../media/image179.svg" Type="http://schemas.openxmlformats.org/officeDocument/2006/relationships/image"/><Relationship Id="rId17" Target="../media/image180.png" Type="http://schemas.openxmlformats.org/officeDocument/2006/relationships/image"/><Relationship Id="rId18" Target="../media/image181.svg" Type="http://schemas.openxmlformats.org/officeDocument/2006/relationships/image"/><Relationship Id="rId19" Target="../media/image182.png" Type="http://schemas.openxmlformats.org/officeDocument/2006/relationships/image"/><Relationship Id="rId2" Target="../notesSlides/notesSlide25.xml" Type="http://schemas.openxmlformats.org/officeDocument/2006/relationships/notesSlide"/><Relationship Id="rId20" Target="../media/image183.svg" Type="http://schemas.openxmlformats.org/officeDocument/2006/relationships/image"/><Relationship Id="rId21" Target="../media/image7.png" Type="http://schemas.openxmlformats.org/officeDocument/2006/relationships/image"/><Relationship Id="rId22" Target="../media/image172.png" Type="http://schemas.openxmlformats.org/officeDocument/2006/relationships/image"/><Relationship Id="rId23" Target="../media/image173.sv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3.svg" Type="http://schemas.openxmlformats.org/officeDocument/2006/relationships/image"/><Relationship Id="rId11" Target="../media/image194.png" Type="http://schemas.openxmlformats.org/officeDocument/2006/relationships/image"/><Relationship Id="rId12" Target="../media/image195.svg" Type="http://schemas.openxmlformats.org/officeDocument/2006/relationships/image"/><Relationship Id="rId13" Target="../media/image196.png" Type="http://schemas.openxmlformats.org/officeDocument/2006/relationships/image"/><Relationship Id="rId14" Target="../media/image197.svg" Type="http://schemas.openxmlformats.org/officeDocument/2006/relationships/image"/><Relationship Id="rId15" Target="../media/image198.png" Type="http://schemas.openxmlformats.org/officeDocument/2006/relationships/image"/><Relationship Id="rId16" Target="../media/image199.svg" Type="http://schemas.openxmlformats.org/officeDocument/2006/relationships/image"/><Relationship Id="rId17" Target="../media/image200.png" Type="http://schemas.openxmlformats.org/officeDocument/2006/relationships/image"/><Relationship Id="rId18" Target="../media/image201.svg" Type="http://schemas.openxmlformats.org/officeDocument/2006/relationships/image"/><Relationship Id="rId19" Target="../media/image202.png" Type="http://schemas.openxmlformats.org/officeDocument/2006/relationships/image"/><Relationship Id="rId2" Target="../notesSlides/notesSlide26.xml" Type="http://schemas.openxmlformats.org/officeDocument/2006/relationships/notesSlide"/><Relationship Id="rId20" Target="../media/image203.svg" Type="http://schemas.openxmlformats.org/officeDocument/2006/relationships/image"/><Relationship Id="rId21" Target="../media/image204.png" Type="http://schemas.openxmlformats.org/officeDocument/2006/relationships/image"/><Relationship Id="rId22" Target="../media/image205.svg" Type="http://schemas.openxmlformats.org/officeDocument/2006/relationships/image"/><Relationship Id="rId23" Target="../media/image206.png" Type="http://schemas.openxmlformats.org/officeDocument/2006/relationships/image"/><Relationship Id="rId24" Target="../media/image207.svg" Type="http://schemas.openxmlformats.org/officeDocument/2006/relationships/image"/><Relationship Id="rId25" Target="../media/image7.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19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08.png" Type="http://schemas.openxmlformats.org/officeDocument/2006/relationships/image"/><Relationship Id="rId12" Target="../media/image209.svg" Type="http://schemas.openxmlformats.org/officeDocument/2006/relationships/image"/><Relationship Id="rId13" Target="../media/image210.png" Type="http://schemas.openxmlformats.org/officeDocument/2006/relationships/image"/><Relationship Id="rId14" Target="../media/image211.svg" Type="http://schemas.openxmlformats.org/officeDocument/2006/relationships/image"/><Relationship Id="rId15" Target="../media/image212.png" Type="http://schemas.openxmlformats.org/officeDocument/2006/relationships/image"/><Relationship Id="rId16" Target="../media/image213.svg" Type="http://schemas.openxmlformats.org/officeDocument/2006/relationships/image"/><Relationship Id="rId17" Target="../media/image214.png" Type="http://schemas.openxmlformats.org/officeDocument/2006/relationships/image"/><Relationship Id="rId18" Target="../media/image215.svg" Type="http://schemas.openxmlformats.org/officeDocument/2006/relationships/image"/><Relationship Id="rId19" Target="../media/image216.png" Type="http://schemas.openxmlformats.org/officeDocument/2006/relationships/image"/><Relationship Id="rId2" Target="../notesSlides/notesSlide27.xml" Type="http://schemas.openxmlformats.org/officeDocument/2006/relationships/notesSlide"/><Relationship Id="rId20" Target="../media/image217.svg" Type="http://schemas.openxmlformats.org/officeDocument/2006/relationships/image"/><Relationship Id="rId21" Target="../media/image218.png" Type="http://schemas.openxmlformats.org/officeDocument/2006/relationships/image"/><Relationship Id="rId22" Target="../media/image219.svg" Type="http://schemas.openxmlformats.org/officeDocument/2006/relationships/image"/><Relationship Id="rId23" Target="../media/image220.png" Type="http://schemas.openxmlformats.org/officeDocument/2006/relationships/image"/><Relationship Id="rId24" Target="../media/image221.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08.png" Type="http://schemas.openxmlformats.org/officeDocument/2006/relationships/image"/><Relationship Id="rId12" Target="../media/image209.svg" Type="http://schemas.openxmlformats.org/officeDocument/2006/relationships/image"/><Relationship Id="rId13" Target="../media/image210.png" Type="http://schemas.openxmlformats.org/officeDocument/2006/relationships/image"/><Relationship Id="rId14" Target="../media/image211.svg" Type="http://schemas.openxmlformats.org/officeDocument/2006/relationships/image"/><Relationship Id="rId15" Target="../media/image212.png" Type="http://schemas.openxmlformats.org/officeDocument/2006/relationships/image"/><Relationship Id="rId16" Target="../media/image213.svg" Type="http://schemas.openxmlformats.org/officeDocument/2006/relationships/image"/><Relationship Id="rId17" Target="../media/image214.png" Type="http://schemas.openxmlformats.org/officeDocument/2006/relationships/image"/><Relationship Id="rId18" Target="../media/image215.svg" Type="http://schemas.openxmlformats.org/officeDocument/2006/relationships/image"/><Relationship Id="rId19" Target="../media/image216.png" Type="http://schemas.openxmlformats.org/officeDocument/2006/relationships/image"/><Relationship Id="rId2" Target="../notesSlides/notesSlide28.xml" Type="http://schemas.openxmlformats.org/officeDocument/2006/relationships/notesSlide"/><Relationship Id="rId20" Target="../media/image217.svg" Type="http://schemas.openxmlformats.org/officeDocument/2006/relationships/image"/><Relationship Id="rId21" Target="../media/image218.png" Type="http://schemas.openxmlformats.org/officeDocument/2006/relationships/image"/><Relationship Id="rId22" Target="../media/image219.svg" Type="http://schemas.openxmlformats.org/officeDocument/2006/relationships/image"/><Relationship Id="rId23" Target="../media/image220.png" Type="http://schemas.openxmlformats.org/officeDocument/2006/relationships/image"/><Relationship Id="rId24" Target="../media/image221.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22.png" Type="http://schemas.openxmlformats.org/officeDocument/2006/relationships/image"/><Relationship Id="rId12" Target="../media/image223.svg" Type="http://schemas.openxmlformats.org/officeDocument/2006/relationships/image"/><Relationship Id="rId13" Target="../media/image224.png" Type="http://schemas.openxmlformats.org/officeDocument/2006/relationships/image"/><Relationship Id="rId14" Target="../media/image225.svg" Type="http://schemas.openxmlformats.org/officeDocument/2006/relationships/image"/><Relationship Id="rId15" Target="../media/image226.png" Type="http://schemas.openxmlformats.org/officeDocument/2006/relationships/image"/><Relationship Id="rId16" Target="../media/image227.svg" Type="http://schemas.openxmlformats.org/officeDocument/2006/relationships/image"/><Relationship Id="rId17" Target="../media/image228.png" Type="http://schemas.openxmlformats.org/officeDocument/2006/relationships/image"/><Relationship Id="rId18" Target="../media/image229.svg" Type="http://schemas.openxmlformats.org/officeDocument/2006/relationships/image"/><Relationship Id="rId19" Target="../media/image230.png" Type="http://schemas.openxmlformats.org/officeDocument/2006/relationships/image"/><Relationship Id="rId2" Target="../notesSlides/notesSlide29.xml" Type="http://schemas.openxmlformats.org/officeDocument/2006/relationships/notesSlide"/><Relationship Id="rId20" Target="../media/image231.svg" Type="http://schemas.openxmlformats.org/officeDocument/2006/relationships/image"/><Relationship Id="rId21" Target="../media/image232.png" Type="http://schemas.openxmlformats.org/officeDocument/2006/relationships/image"/><Relationship Id="rId22" Target="../media/image233.svg" Type="http://schemas.openxmlformats.org/officeDocument/2006/relationships/image"/><Relationship Id="rId23" Target="../media/image234.png" Type="http://schemas.openxmlformats.org/officeDocument/2006/relationships/image"/><Relationship Id="rId24" Target="../media/image235.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30.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36.png" Type="http://schemas.openxmlformats.org/officeDocument/2006/relationships/image"/><Relationship Id="rId12" Target="../media/image237.svg" Type="http://schemas.openxmlformats.org/officeDocument/2006/relationships/image"/><Relationship Id="rId13" Target="../media/image238.png" Type="http://schemas.openxmlformats.org/officeDocument/2006/relationships/image"/><Relationship Id="rId14" Target="../media/image239.svg" Type="http://schemas.openxmlformats.org/officeDocument/2006/relationships/image"/><Relationship Id="rId15" Target="../media/image240.png" Type="http://schemas.openxmlformats.org/officeDocument/2006/relationships/image"/><Relationship Id="rId16" Target="../media/image241.svg" Type="http://schemas.openxmlformats.org/officeDocument/2006/relationships/image"/><Relationship Id="rId17" Target="../media/image242.png" Type="http://schemas.openxmlformats.org/officeDocument/2006/relationships/image"/><Relationship Id="rId18" Target="../media/image243.svg" Type="http://schemas.openxmlformats.org/officeDocument/2006/relationships/image"/><Relationship Id="rId19" Target="../media/image244.png" Type="http://schemas.openxmlformats.org/officeDocument/2006/relationships/image"/><Relationship Id="rId2" Target="../notesSlides/notesSlide31.xml" Type="http://schemas.openxmlformats.org/officeDocument/2006/relationships/notesSlide"/><Relationship Id="rId20" Target="../media/image245.svg" Type="http://schemas.openxmlformats.org/officeDocument/2006/relationships/image"/><Relationship Id="rId21" Target="../media/image246.png" Type="http://schemas.openxmlformats.org/officeDocument/2006/relationships/image"/><Relationship Id="rId22" Target="../media/image247.svg" Type="http://schemas.openxmlformats.org/officeDocument/2006/relationships/image"/><Relationship Id="rId23" Target="../media/image248.png" Type="http://schemas.openxmlformats.org/officeDocument/2006/relationships/image"/><Relationship Id="rId24" Target="../media/image249.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50.png" Type="http://schemas.openxmlformats.org/officeDocument/2006/relationships/image"/><Relationship Id="rId12" Target="../media/image251.svg" Type="http://schemas.openxmlformats.org/officeDocument/2006/relationships/image"/><Relationship Id="rId13" Target="../media/image252.png" Type="http://schemas.openxmlformats.org/officeDocument/2006/relationships/image"/><Relationship Id="rId14" Target="../media/image253.svg" Type="http://schemas.openxmlformats.org/officeDocument/2006/relationships/image"/><Relationship Id="rId15" Target="../media/image254.png" Type="http://schemas.openxmlformats.org/officeDocument/2006/relationships/image"/><Relationship Id="rId16" Target="../media/image255.svg" Type="http://schemas.openxmlformats.org/officeDocument/2006/relationships/image"/><Relationship Id="rId17" Target="../media/image256.png" Type="http://schemas.openxmlformats.org/officeDocument/2006/relationships/image"/><Relationship Id="rId18" Target="../media/image257.svg" Type="http://schemas.openxmlformats.org/officeDocument/2006/relationships/image"/><Relationship Id="rId19" Target="../media/image258.png" Type="http://schemas.openxmlformats.org/officeDocument/2006/relationships/image"/><Relationship Id="rId2" Target="../notesSlides/notesSlide32.xml" Type="http://schemas.openxmlformats.org/officeDocument/2006/relationships/notesSlide"/><Relationship Id="rId20" Target="../media/image259.svg" Type="http://schemas.openxmlformats.org/officeDocument/2006/relationships/image"/><Relationship Id="rId21" Target="../media/image260.png" Type="http://schemas.openxmlformats.org/officeDocument/2006/relationships/image"/><Relationship Id="rId22" Target="../media/image261.svg" Type="http://schemas.openxmlformats.org/officeDocument/2006/relationships/image"/><Relationship Id="rId23"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7.svg" Type="http://schemas.openxmlformats.org/officeDocument/2006/relationships/image"/><Relationship Id="rId11" Target="../media/image262.png" Type="http://schemas.openxmlformats.org/officeDocument/2006/relationships/image"/><Relationship Id="rId12" Target="../media/image263.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72.png" Type="http://schemas.openxmlformats.org/officeDocument/2006/relationships/image"/><Relationship Id="rId16" Target="../media/image73.svg" Type="http://schemas.openxmlformats.org/officeDocument/2006/relationships/image"/><Relationship Id="rId17" Target="../media/image7.png" Type="http://schemas.openxmlformats.org/officeDocument/2006/relationships/image"/><Relationship Id="rId2" Target="../notesSlides/notesSlide33.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6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64.png" Type="http://schemas.openxmlformats.org/officeDocument/2006/relationships/image"/><Relationship Id="rId12" Target="../media/image265.svg" Type="http://schemas.openxmlformats.org/officeDocument/2006/relationships/image"/><Relationship Id="rId13" Target="../media/image266.png" Type="http://schemas.openxmlformats.org/officeDocument/2006/relationships/image"/><Relationship Id="rId14" Target="../media/image267.svg" Type="http://schemas.openxmlformats.org/officeDocument/2006/relationships/image"/><Relationship Id="rId15" Target="../media/image268.png" Type="http://schemas.openxmlformats.org/officeDocument/2006/relationships/image"/><Relationship Id="rId16" Target="../media/image269.svg" Type="http://schemas.openxmlformats.org/officeDocument/2006/relationships/image"/><Relationship Id="rId17" Target="../media/image270.png" Type="http://schemas.openxmlformats.org/officeDocument/2006/relationships/image"/><Relationship Id="rId18" Target="../media/image271.svg" Type="http://schemas.openxmlformats.org/officeDocument/2006/relationships/image"/><Relationship Id="rId19" Target="../media/image272.png" Type="http://schemas.openxmlformats.org/officeDocument/2006/relationships/image"/><Relationship Id="rId2" Target="../notesSlides/notesSlide34.xml" Type="http://schemas.openxmlformats.org/officeDocument/2006/relationships/notesSlide"/><Relationship Id="rId20" Target="../media/image273.svg" Type="http://schemas.openxmlformats.org/officeDocument/2006/relationships/image"/><Relationship Id="rId21" Target="../media/image274.png" Type="http://schemas.openxmlformats.org/officeDocument/2006/relationships/image"/><Relationship Id="rId22" Target="../media/image275.svg" Type="http://schemas.openxmlformats.org/officeDocument/2006/relationships/image"/><Relationship Id="rId23" Target="../media/image276.png" Type="http://schemas.openxmlformats.org/officeDocument/2006/relationships/image"/><Relationship Id="rId24" Target="../media/image277.svg" Type="http://schemas.openxmlformats.org/officeDocument/2006/relationships/image"/><Relationship Id="rId25" Target="../media/image278.png" Type="http://schemas.openxmlformats.org/officeDocument/2006/relationships/image"/><Relationship Id="rId26" Target="../media/image279.svg" Type="http://schemas.openxmlformats.org/officeDocument/2006/relationships/image"/><Relationship Id="rId27"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35.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80.png" Type="http://schemas.openxmlformats.org/officeDocument/2006/relationships/image"/><Relationship Id="rId12" Target="../media/image281.svg" Type="http://schemas.openxmlformats.org/officeDocument/2006/relationships/image"/><Relationship Id="rId13" Target="../media/image282.png" Type="http://schemas.openxmlformats.org/officeDocument/2006/relationships/image"/><Relationship Id="rId14" Target="../media/image283.svg" Type="http://schemas.openxmlformats.org/officeDocument/2006/relationships/image"/><Relationship Id="rId15" Target="../media/image284.png" Type="http://schemas.openxmlformats.org/officeDocument/2006/relationships/image"/><Relationship Id="rId16" Target="../media/image285.svg" Type="http://schemas.openxmlformats.org/officeDocument/2006/relationships/image"/><Relationship Id="rId17" Target="../media/image286.png" Type="http://schemas.openxmlformats.org/officeDocument/2006/relationships/image"/><Relationship Id="rId18" Target="../media/image287.svg" Type="http://schemas.openxmlformats.org/officeDocument/2006/relationships/image"/><Relationship Id="rId19" Target="../media/image288.png" Type="http://schemas.openxmlformats.org/officeDocument/2006/relationships/image"/><Relationship Id="rId2" Target="../notesSlides/notesSlide36.xml" Type="http://schemas.openxmlformats.org/officeDocument/2006/relationships/notesSlide"/><Relationship Id="rId20" Target="../media/image289.svg" Type="http://schemas.openxmlformats.org/officeDocument/2006/relationships/image"/><Relationship Id="rId21" Target="../media/image290.png" Type="http://schemas.openxmlformats.org/officeDocument/2006/relationships/image"/><Relationship Id="rId22" Target="../media/image291.svg" Type="http://schemas.openxmlformats.org/officeDocument/2006/relationships/image"/><Relationship Id="rId23" Target="../media/image292.png" Type="http://schemas.openxmlformats.org/officeDocument/2006/relationships/image"/><Relationship Id="rId24" Target="../media/image293.svg" Type="http://schemas.openxmlformats.org/officeDocument/2006/relationships/image"/><Relationship Id="rId25" Target="../media/image294.png" Type="http://schemas.openxmlformats.org/officeDocument/2006/relationships/image"/><Relationship Id="rId26" Target="../media/image295.svg" Type="http://schemas.openxmlformats.org/officeDocument/2006/relationships/image"/><Relationship Id="rId27"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7.svg" Type="http://schemas.openxmlformats.org/officeDocument/2006/relationships/image"/><Relationship Id="rId11" Target="../media/image298.png" Type="http://schemas.openxmlformats.org/officeDocument/2006/relationships/image"/><Relationship Id="rId12" Target="../media/image299.svg" Type="http://schemas.openxmlformats.org/officeDocument/2006/relationships/image"/><Relationship Id="rId13" Target="../media/image300.png" Type="http://schemas.openxmlformats.org/officeDocument/2006/relationships/image"/><Relationship Id="rId14" Target="../media/image301.svg" Type="http://schemas.openxmlformats.org/officeDocument/2006/relationships/image"/><Relationship Id="rId15" Target="../media/image302.png" Type="http://schemas.openxmlformats.org/officeDocument/2006/relationships/image"/><Relationship Id="rId16" Target="../media/image303.svg" Type="http://schemas.openxmlformats.org/officeDocument/2006/relationships/image"/><Relationship Id="rId17" Target="../media/image304.png" Type="http://schemas.openxmlformats.org/officeDocument/2006/relationships/image"/><Relationship Id="rId18" Target="../media/image305.svg" Type="http://schemas.openxmlformats.org/officeDocument/2006/relationships/image"/><Relationship Id="rId19" Target="../media/image7.png" Type="http://schemas.openxmlformats.org/officeDocument/2006/relationships/image"/><Relationship Id="rId2" Target="../notesSlides/notesSlide37.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29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06.png" Type="http://schemas.openxmlformats.org/officeDocument/2006/relationships/image"/><Relationship Id="rId12" Target="../media/image307.svg" Type="http://schemas.openxmlformats.org/officeDocument/2006/relationships/image"/><Relationship Id="rId13" Target="../media/image308.png" Type="http://schemas.openxmlformats.org/officeDocument/2006/relationships/image"/><Relationship Id="rId14" Target="../media/image309.svg" Type="http://schemas.openxmlformats.org/officeDocument/2006/relationships/image"/><Relationship Id="rId15" Target="../media/image310.png" Type="http://schemas.openxmlformats.org/officeDocument/2006/relationships/image"/><Relationship Id="rId16" Target="../media/image311.svg" Type="http://schemas.openxmlformats.org/officeDocument/2006/relationships/image"/><Relationship Id="rId17" Target="../media/image312.png" Type="http://schemas.openxmlformats.org/officeDocument/2006/relationships/image"/><Relationship Id="rId18" Target="../media/image313.svg" Type="http://schemas.openxmlformats.org/officeDocument/2006/relationships/image"/><Relationship Id="rId19" Target="../media/image314.png" Type="http://schemas.openxmlformats.org/officeDocument/2006/relationships/image"/><Relationship Id="rId2" Target="../notesSlides/notesSlide38.xml" Type="http://schemas.openxmlformats.org/officeDocument/2006/relationships/notesSlide"/><Relationship Id="rId20" Target="../media/image315.svg" Type="http://schemas.openxmlformats.org/officeDocument/2006/relationships/image"/><Relationship Id="rId21" Target="../media/image316.png" Type="http://schemas.openxmlformats.org/officeDocument/2006/relationships/image"/><Relationship Id="rId22" Target="../media/image317.svg" Type="http://schemas.openxmlformats.org/officeDocument/2006/relationships/image"/><Relationship Id="rId23" Target="../media/image318.png" Type="http://schemas.openxmlformats.org/officeDocument/2006/relationships/image"/><Relationship Id="rId24" Target="../media/image319.svg" Type="http://schemas.openxmlformats.org/officeDocument/2006/relationships/image"/><Relationship Id="rId25"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36.png" Type="http://schemas.openxmlformats.org/officeDocument/2006/relationships/image"/><Relationship Id="rId12" Target="../media/image237.svg" Type="http://schemas.openxmlformats.org/officeDocument/2006/relationships/image"/><Relationship Id="rId13" Target="../media/image320.png" Type="http://schemas.openxmlformats.org/officeDocument/2006/relationships/image"/><Relationship Id="rId14" Target="../media/image321.svg" Type="http://schemas.openxmlformats.org/officeDocument/2006/relationships/image"/><Relationship Id="rId15" Target="../media/image242.png" Type="http://schemas.openxmlformats.org/officeDocument/2006/relationships/image"/><Relationship Id="rId16" Target="../media/image243.svg" Type="http://schemas.openxmlformats.org/officeDocument/2006/relationships/image"/><Relationship Id="rId17" Target="../media/image322.png" Type="http://schemas.openxmlformats.org/officeDocument/2006/relationships/image"/><Relationship Id="rId18" Target="../media/image323.svg" Type="http://schemas.openxmlformats.org/officeDocument/2006/relationships/image"/><Relationship Id="rId19" Target="../media/image240.png" Type="http://schemas.openxmlformats.org/officeDocument/2006/relationships/image"/><Relationship Id="rId2" Target="../notesSlides/notesSlide39.xml" Type="http://schemas.openxmlformats.org/officeDocument/2006/relationships/notesSlide"/><Relationship Id="rId20" Target="../media/image241.svg" Type="http://schemas.openxmlformats.org/officeDocument/2006/relationships/image"/><Relationship Id="rId21" Target="../media/image244.png" Type="http://schemas.openxmlformats.org/officeDocument/2006/relationships/image"/><Relationship Id="rId22" Target="../media/image245.svg" Type="http://schemas.openxmlformats.org/officeDocument/2006/relationships/image"/><Relationship Id="rId23"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png" Type="http://schemas.openxmlformats.org/officeDocument/2006/relationships/image"/><Relationship Id="rId2" Target="../notesSlides/notesSlide40.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24.png" Type="http://schemas.openxmlformats.org/officeDocument/2006/relationships/image"/><Relationship Id="rId12" Target="../media/image325.svg" Type="http://schemas.openxmlformats.org/officeDocument/2006/relationships/image"/><Relationship Id="rId13" Target="../media/image326.png" Type="http://schemas.openxmlformats.org/officeDocument/2006/relationships/image"/><Relationship Id="rId14" Target="../media/image327.svg" Type="http://schemas.openxmlformats.org/officeDocument/2006/relationships/image"/><Relationship Id="rId15" Target="../media/image328.png" Type="http://schemas.openxmlformats.org/officeDocument/2006/relationships/image"/><Relationship Id="rId16" Target="../media/image329.svg" Type="http://schemas.openxmlformats.org/officeDocument/2006/relationships/image"/><Relationship Id="rId17" Target="../media/image330.png" Type="http://schemas.openxmlformats.org/officeDocument/2006/relationships/image"/><Relationship Id="rId18" Target="../media/image331.svg" Type="http://schemas.openxmlformats.org/officeDocument/2006/relationships/image"/><Relationship Id="rId19" Target="../media/image332.png" Type="http://schemas.openxmlformats.org/officeDocument/2006/relationships/image"/><Relationship Id="rId2" Target="../notesSlides/notesSlide41.xml" Type="http://schemas.openxmlformats.org/officeDocument/2006/relationships/notesSlide"/><Relationship Id="rId20" Target="../media/image333.svg" Type="http://schemas.openxmlformats.org/officeDocument/2006/relationships/image"/><Relationship Id="rId21" Target="../media/image334.png" Type="http://schemas.openxmlformats.org/officeDocument/2006/relationships/image"/><Relationship Id="rId22" Target="../media/image335.svg" Type="http://schemas.openxmlformats.org/officeDocument/2006/relationships/image"/><Relationship Id="rId23" Target="../media/image336.png" Type="http://schemas.openxmlformats.org/officeDocument/2006/relationships/image"/><Relationship Id="rId24" Target="../media/image337.svg" Type="http://schemas.openxmlformats.org/officeDocument/2006/relationships/image"/><Relationship Id="rId25" Target="../media/image338.png" Type="http://schemas.openxmlformats.org/officeDocument/2006/relationships/image"/><Relationship Id="rId26" Target="../media/image339.svg" Type="http://schemas.openxmlformats.org/officeDocument/2006/relationships/image"/><Relationship Id="rId27" Target="../media/image340.png" Type="http://schemas.openxmlformats.org/officeDocument/2006/relationships/image"/><Relationship Id="rId28" Target="../media/image341.svg" Type="http://schemas.openxmlformats.org/officeDocument/2006/relationships/image"/><Relationship Id="rId29" Target="../media/image342.png" Type="http://schemas.openxmlformats.org/officeDocument/2006/relationships/image"/><Relationship Id="rId3" Target="../media/image14.png" Type="http://schemas.openxmlformats.org/officeDocument/2006/relationships/image"/><Relationship Id="rId30" Target="../media/image343.svg" Type="http://schemas.openxmlformats.org/officeDocument/2006/relationships/image"/><Relationship Id="rId31" Target="../media/image7.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44.png" Type="http://schemas.openxmlformats.org/officeDocument/2006/relationships/image"/><Relationship Id="rId12" Target="../media/image345.svg" Type="http://schemas.openxmlformats.org/officeDocument/2006/relationships/image"/><Relationship Id="rId13" Target="../media/image7.png" Type="http://schemas.openxmlformats.org/officeDocument/2006/relationships/image"/><Relationship Id="rId2" Target="../notesSlides/notesSlide42.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7.svg" Type="http://schemas.openxmlformats.org/officeDocument/2006/relationships/image"/><Relationship Id="rId11" Target="../media/image348.png" Type="http://schemas.openxmlformats.org/officeDocument/2006/relationships/image"/><Relationship Id="rId12" Target="../media/image349.svg" Type="http://schemas.openxmlformats.org/officeDocument/2006/relationships/image"/><Relationship Id="rId13" Target="../media/image350.png" Type="http://schemas.openxmlformats.org/officeDocument/2006/relationships/image"/><Relationship Id="rId14" Target="../media/image351.svg" Type="http://schemas.openxmlformats.org/officeDocument/2006/relationships/image"/><Relationship Id="rId15" Target="../media/image352.png" Type="http://schemas.openxmlformats.org/officeDocument/2006/relationships/image"/><Relationship Id="rId16" Target="../media/image353.svg" Type="http://schemas.openxmlformats.org/officeDocument/2006/relationships/image"/><Relationship Id="rId17" Target="../media/image354.png" Type="http://schemas.openxmlformats.org/officeDocument/2006/relationships/image"/><Relationship Id="rId18" Target="../media/image355.svg" Type="http://schemas.openxmlformats.org/officeDocument/2006/relationships/image"/><Relationship Id="rId19" Target="../media/image356.png" Type="http://schemas.openxmlformats.org/officeDocument/2006/relationships/image"/><Relationship Id="rId2" Target="../notesSlides/notesSlide43.xml" Type="http://schemas.openxmlformats.org/officeDocument/2006/relationships/notesSlide"/><Relationship Id="rId20" Target="../media/image357.svg" Type="http://schemas.openxmlformats.org/officeDocument/2006/relationships/image"/><Relationship Id="rId21" Target="../media/image358.png" Type="http://schemas.openxmlformats.org/officeDocument/2006/relationships/image"/><Relationship Id="rId22" Target="../media/image359.svg" Type="http://schemas.openxmlformats.org/officeDocument/2006/relationships/image"/><Relationship Id="rId23" Target="../media/image360.png" Type="http://schemas.openxmlformats.org/officeDocument/2006/relationships/image"/><Relationship Id="rId24" Target="../media/image361.svg" Type="http://schemas.openxmlformats.org/officeDocument/2006/relationships/image"/><Relationship Id="rId25" Target="../media/image362.png" Type="http://schemas.openxmlformats.org/officeDocument/2006/relationships/image"/><Relationship Id="rId26" Target="../media/image363.svg" Type="http://schemas.openxmlformats.org/officeDocument/2006/relationships/image"/><Relationship Id="rId27" Target="../media/image7.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34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132.png" Type="http://schemas.openxmlformats.org/officeDocument/2006/relationships/image"/><Relationship Id="rId12" Target="../media/image133.svg" Type="http://schemas.openxmlformats.org/officeDocument/2006/relationships/image"/><Relationship Id="rId13" Target="../media/image364.png" Type="http://schemas.openxmlformats.org/officeDocument/2006/relationships/image"/><Relationship Id="rId14" Target="../media/image365.svg" Type="http://schemas.openxmlformats.org/officeDocument/2006/relationships/image"/><Relationship Id="rId15" Target="../media/image136.png" Type="http://schemas.openxmlformats.org/officeDocument/2006/relationships/image"/><Relationship Id="rId16" Target="../media/image137.svg" Type="http://schemas.openxmlformats.org/officeDocument/2006/relationships/image"/><Relationship Id="rId17" Target="../media/image138.png" Type="http://schemas.openxmlformats.org/officeDocument/2006/relationships/image"/><Relationship Id="rId18" Target="../media/image139.svg" Type="http://schemas.openxmlformats.org/officeDocument/2006/relationships/image"/><Relationship Id="rId19" Target="../media/image366.png" Type="http://schemas.openxmlformats.org/officeDocument/2006/relationships/image"/><Relationship Id="rId2" Target="../notesSlides/notesSlide44.xml" Type="http://schemas.openxmlformats.org/officeDocument/2006/relationships/notesSlide"/><Relationship Id="rId20" Target="../media/image367.svg" Type="http://schemas.openxmlformats.org/officeDocument/2006/relationships/image"/><Relationship Id="rId21" Target="../media/image368.png" Type="http://schemas.openxmlformats.org/officeDocument/2006/relationships/image"/><Relationship Id="rId22" Target="../media/image369.svg" Type="http://schemas.openxmlformats.org/officeDocument/2006/relationships/image"/><Relationship Id="rId23" Target="../media/image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3.svg" Type="http://schemas.openxmlformats.org/officeDocument/2006/relationships/image"/><Relationship Id="rId11" Target="../media/image374.png" Type="http://schemas.openxmlformats.org/officeDocument/2006/relationships/image"/><Relationship Id="rId12" Target="../media/image37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7.png" Type="http://schemas.openxmlformats.org/officeDocument/2006/relationships/image"/><Relationship Id="rId2" Target="../notesSlides/notesSlide45.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70.png" Type="http://schemas.openxmlformats.org/officeDocument/2006/relationships/image"/><Relationship Id="rId6" Target="../media/image371.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7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7.svg" Type="http://schemas.openxmlformats.org/officeDocument/2006/relationships/image"/><Relationship Id="rId11" Target="../media/image378.png" Type="http://schemas.openxmlformats.org/officeDocument/2006/relationships/image"/><Relationship Id="rId12" Target="../media/image379.svg" Type="http://schemas.openxmlformats.org/officeDocument/2006/relationships/image"/><Relationship Id="rId13" Target="../media/image7.png" Type="http://schemas.openxmlformats.org/officeDocument/2006/relationships/image"/><Relationship Id="rId2" Target="../notesSlides/notesSlide46.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37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80.png" Type="http://schemas.openxmlformats.org/officeDocument/2006/relationships/image"/><Relationship Id="rId12" Target="../media/image381.svg" Type="http://schemas.openxmlformats.org/officeDocument/2006/relationships/image"/><Relationship Id="rId13" Target="../media/image382.png" Type="http://schemas.openxmlformats.org/officeDocument/2006/relationships/image"/><Relationship Id="rId14" Target="../media/image383.svg" Type="http://schemas.openxmlformats.org/officeDocument/2006/relationships/image"/><Relationship Id="rId15" Target="../media/image7.png" Type="http://schemas.openxmlformats.org/officeDocument/2006/relationships/image"/><Relationship Id="rId2" Target="../notesSlides/notesSlide47.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3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384.png" Type="http://schemas.openxmlformats.org/officeDocument/2006/relationships/image"/><Relationship Id="rId4" Target="../media/image385.svg" Type="http://schemas.openxmlformats.org/officeDocument/2006/relationships/image"/><Relationship Id="rId5" Target="../media/image386.png" Type="http://schemas.openxmlformats.org/officeDocument/2006/relationships/image"/><Relationship Id="rId6" Target="../media/image387.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927097" y="6388103"/>
            <a:ext cx="20142136" cy="5511736"/>
          </a:xfrm>
          <a:custGeom>
            <a:avLst/>
            <a:gdLst/>
            <a:ahLst/>
            <a:cxnLst/>
            <a:rect r="r" b="b" t="t" l="l"/>
            <a:pathLst>
              <a:path h="5511736" w="20142136">
                <a:moveTo>
                  <a:pt x="0" y="0"/>
                </a:moveTo>
                <a:lnTo>
                  <a:pt x="20142137" y="0"/>
                </a:lnTo>
                <a:lnTo>
                  <a:pt x="20142137" y="5511737"/>
                </a:lnTo>
                <a:lnTo>
                  <a:pt x="0" y="55117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1874503" y="-927097"/>
            <a:ext cx="7340536" cy="12826937"/>
          </a:xfrm>
          <a:custGeom>
            <a:avLst/>
            <a:gdLst/>
            <a:ahLst/>
            <a:cxnLst/>
            <a:rect r="r" b="b" t="t" l="l"/>
            <a:pathLst>
              <a:path h="12826937" w="7340536">
                <a:moveTo>
                  <a:pt x="0" y="0"/>
                </a:moveTo>
                <a:lnTo>
                  <a:pt x="7340537" y="0"/>
                </a:lnTo>
                <a:lnTo>
                  <a:pt x="7340537" y="12826937"/>
                </a:lnTo>
                <a:lnTo>
                  <a:pt x="0" y="12826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2240263" y="-12697"/>
            <a:ext cx="98488" cy="10312337"/>
          </a:xfrm>
          <a:custGeom>
            <a:avLst/>
            <a:gdLst/>
            <a:ahLst/>
            <a:cxnLst/>
            <a:rect r="r" b="b" t="t" l="l"/>
            <a:pathLst>
              <a:path h="10312337" w="98488">
                <a:moveTo>
                  <a:pt x="0" y="0"/>
                </a:moveTo>
                <a:lnTo>
                  <a:pt x="98489" y="0"/>
                </a:lnTo>
                <a:lnTo>
                  <a:pt x="98489" y="10312337"/>
                </a:lnTo>
                <a:lnTo>
                  <a:pt x="0" y="103123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13167905" y="1097251"/>
            <a:ext cx="4389120" cy="4389120"/>
            <a:chOff x="0" y="0"/>
            <a:chExt cx="5852160" cy="5852160"/>
          </a:xfrm>
        </p:grpSpPr>
        <p:sp>
          <p:nvSpPr>
            <p:cNvPr name="Freeform 6" id="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9"/>
              <a:stretch>
                <a:fillRect l="0" t="0" r="0" b="0"/>
              </a:stretch>
            </a:blipFill>
          </p:spPr>
        </p:sp>
      </p:grpSp>
      <p:sp>
        <p:nvSpPr>
          <p:cNvPr name="Freeform 7" id="7"/>
          <p:cNvSpPr/>
          <p:nvPr/>
        </p:nvSpPr>
        <p:spPr>
          <a:xfrm flipH="false" flipV="false" rot="0">
            <a:off x="901703" y="993143"/>
            <a:ext cx="5145976" cy="683704"/>
          </a:xfrm>
          <a:custGeom>
            <a:avLst/>
            <a:gdLst/>
            <a:ahLst/>
            <a:cxnLst/>
            <a:rect r="r" b="b" t="t" l="l"/>
            <a:pathLst>
              <a:path h="683704" w="5145976">
                <a:moveTo>
                  <a:pt x="0" y="0"/>
                </a:moveTo>
                <a:lnTo>
                  <a:pt x="5145977" y="0"/>
                </a:lnTo>
                <a:lnTo>
                  <a:pt x="5145977" y="683705"/>
                </a:lnTo>
                <a:lnTo>
                  <a:pt x="0" y="683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914400" y="1005840"/>
            <a:ext cx="5120640" cy="658368"/>
            <a:chOff x="0" y="0"/>
            <a:chExt cx="6827520" cy="877824"/>
          </a:xfrm>
        </p:grpSpPr>
        <p:sp>
          <p:nvSpPr>
            <p:cNvPr name="Freeform 9" id="9"/>
            <p:cNvSpPr/>
            <p:nvPr/>
          </p:nvSpPr>
          <p:spPr>
            <a:xfrm flipH="false" flipV="false" rot="0">
              <a:off x="0" y="0"/>
              <a:ext cx="6827520" cy="877824"/>
            </a:xfrm>
            <a:custGeom>
              <a:avLst/>
              <a:gdLst/>
              <a:ahLst/>
              <a:cxnLst/>
              <a:rect r="r" b="b" t="t" l="l"/>
              <a:pathLst>
                <a:path h="877824" w="6827520">
                  <a:moveTo>
                    <a:pt x="0" y="0"/>
                  </a:moveTo>
                  <a:lnTo>
                    <a:pt x="6827520" y="0"/>
                  </a:lnTo>
                  <a:lnTo>
                    <a:pt x="6827520" y="877824"/>
                  </a:lnTo>
                  <a:lnTo>
                    <a:pt x="0" y="877824"/>
                  </a:lnTo>
                  <a:close/>
                </a:path>
              </a:pathLst>
            </a:custGeom>
            <a:blipFill>
              <a:blip r:embed="rId12">
                <a:alphaModFix amt="0"/>
              </a:blip>
              <a:stretch>
                <a:fillRect l="0" t="-101445" r="0" b="-101443"/>
              </a:stretch>
            </a:blipFill>
          </p:spPr>
        </p:sp>
      </p:grpSp>
      <p:grpSp>
        <p:nvGrpSpPr>
          <p:cNvPr name="Group 10" id="10"/>
          <p:cNvGrpSpPr/>
          <p:nvPr/>
        </p:nvGrpSpPr>
        <p:grpSpPr>
          <a:xfrm rot="0">
            <a:off x="914400" y="977265"/>
            <a:ext cx="5120640" cy="686943"/>
            <a:chOff x="0" y="0"/>
            <a:chExt cx="6827520" cy="915924"/>
          </a:xfrm>
        </p:grpSpPr>
        <p:sp>
          <p:nvSpPr>
            <p:cNvPr name="Freeform 11" id="11"/>
            <p:cNvSpPr/>
            <p:nvPr/>
          </p:nvSpPr>
          <p:spPr>
            <a:xfrm flipH="false" flipV="false" rot="0">
              <a:off x="0" y="0"/>
              <a:ext cx="6827520" cy="915924"/>
            </a:xfrm>
            <a:custGeom>
              <a:avLst/>
              <a:gdLst/>
              <a:ahLst/>
              <a:cxnLst/>
              <a:rect r="r" b="b" t="t" l="l"/>
              <a:pathLst>
                <a:path h="915924" w="6827520">
                  <a:moveTo>
                    <a:pt x="0" y="0"/>
                  </a:moveTo>
                  <a:lnTo>
                    <a:pt x="6827520" y="0"/>
                  </a:lnTo>
                  <a:lnTo>
                    <a:pt x="6827520" y="915924"/>
                  </a:lnTo>
                  <a:lnTo>
                    <a:pt x="0" y="915924"/>
                  </a:lnTo>
                  <a:close/>
                </a:path>
              </a:pathLst>
            </a:custGeom>
            <a:blipFill>
              <a:blip r:embed="rId13">
                <a:alphaModFix amt="0"/>
              </a:blip>
              <a:stretch>
                <a:fillRect l="0" t="-95246" r="0" b="-95246"/>
              </a:stretch>
            </a:blipFill>
          </p:spPr>
        </p:sp>
        <p:sp>
          <p:nvSpPr>
            <p:cNvPr name="TextBox 12" id="12"/>
            <p:cNvSpPr txBox="true"/>
            <p:nvPr/>
          </p:nvSpPr>
          <p:spPr>
            <a:xfrm>
              <a:off x="0" y="-38100"/>
              <a:ext cx="6827520" cy="954024"/>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MODERN SOC OPERATIONS</a:t>
              </a:r>
            </a:p>
          </p:txBody>
        </p:sp>
      </p:grpSp>
      <p:grpSp>
        <p:nvGrpSpPr>
          <p:cNvPr name="Group 13" id="13"/>
          <p:cNvGrpSpPr/>
          <p:nvPr/>
        </p:nvGrpSpPr>
        <p:grpSpPr>
          <a:xfrm rot="0">
            <a:off x="914400" y="2103120"/>
            <a:ext cx="10607040" cy="914400"/>
            <a:chOff x="0" y="0"/>
            <a:chExt cx="14142720" cy="1219200"/>
          </a:xfrm>
        </p:grpSpPr>
        <p:sp>
          <p:nvSpPr>
            <p:cNvPr name="Freeform 14" id="14"/>
            <p:cNvSpPr/>
            <p:nvPr/>
          </p:nvSpPr>
          <p:spPr>
            <a:xfrm flipH="false" flipV="false" rot="0">
              <a:off x="0" y="0"/>
              <a:ext cx="14142720" cy="1219200"/>
            </a:xfrm>
            <a:custGeom>
              <a:avLst/>
              <a:gdLst/>
              <a:ahLst/>
              <a:cxnLst/>
              <a:rect r="r" b="b" t="t" l="l"/>
              <a:pathLst>
                <a:path h="1219200" w="14142720">
                  <a:moveTo>
                    <a:pt x="0" y="0"/>
                  </a:moveTo>
                  <a:lnTo>
                    <a:pt x="14142720" y="0"/>
                  </a:lnTo>
                  <a:lnTo>
                    <a:pt x="14142720" y="1219200"/>
                  </a:lnTo>
                  <a:lnTo>
                    <a:pt x="0" y="1219200"/>
                  </a:lnTo>
                  <a:close/>
                </a:path>
              </a:pathLst>
            </a:custGeom>
            <a:blipFill>
              <a:blip r:embed="rId12">
                <a:alphaModFix amt="0"/>
              </a:blip>
              <a:stretch>
                <a:fillRect l="0" t="-175868" r="0" b="-175869"/>
              </a:stretch>
            </a:blipFill>
          </p:spPr>
        </p:sp>
      </p:grpSp>
      <p:grpSp>
        <p:nvGrpSpPr>
          <p:cNvPr name="Group 15" id="15"/>
          <p:cNvGrpSpPr/>
          <p:nvPr/>
        </p:nvGrpSpPr>
        <p:grpSpPr>
          <a:xfrm rot="0">
            <a:off x="914400" y="2060258"/>
            <a:ext cx="10607040" cy="957262"/>
            <a:chOff x="0" y="0"/>
            <a:chExt cx="14142720" cy="1276350"/>
          </a:xfrm>
        </p:grpSpPr>
        <p:sp>
          <p:nvSpPr>
            <p:cNvPr name="Freeform 16" id="16"/>
            <p:cNvSpPr/>
            <p:nvPr/>
          </p:nvSpPr>
          <p:spPr>
            <a:xfrm flipH="false" flipV="false" rot="0">
              <a:off x="0" y="0"/>
              <a:ext cx="14142720" cy="1276350"/>
            </a:xfrm>
            <a:custGeom>
              <a:avLst/>
              <a:gdLst/>
              <a:ahLst/>
              <a:cxnLst/>
              <a:rect r="r" b="b" t="t" l="l"/>
              <a:pathLst>
                <a:path h="1276350" w="14142720">
                  <a:moveTo>
                    <a:pt x="0" y="0"/>
                  </a:moveTo>
                  <a:lnTo>
                    <a:pt x="14142720" y="0"/>
                  </a:lnTo>
                  <a:lnTo>
                    <a:pt x="14142720" y="1276350"/>
                  </a:lnTo>
                  <a:lnTo>
                    <a:pt x="0" y="1276350"/>
                  </a:lnTo>
                  <a:close/>
                </a:path>
              </a:pathLst>
            </a:custGeom>
            <a:blipFill>
              <a:blip r:embed="rId13">
                <a:alphaModFix amt="0"/>
              </a:blip>
              <a:stretch>
                <a:fillRect l="0" t="-165905" r="0" b="-165905"/>
              </a:stretch>
            </a:blipFill>
          </p:spPr>
        </p:sp>
        <p:sp>
          <p:nvSpPr>
            <p:cNvPr name="TextBox 17" id="17"/>
            <p:cNvSpPr txBox="true"/>
            <p:nvPr/>
          </p:nvSpPr>
          <p:spPr>
            <a:xfrm>
              <a:off x="0" y="-57150"/>
              <a:ext cx="14142720" cy="1333500"/>
            </a:xfrm>
            <a:prstGeom prst="rect">
              <a:avLst/>
            </a:prstGeom>
          </p:spPr>
          <p:txBody>
            <a:bodyPr anchor="ctr" rtlCol="false" tIns="0" lIns="0" bIns="0" rIns="0"/>
            <a:lstStyle/>
            <a:p>
              <a:pPr algn="l">
                <a:lnSpc>
                  <a:spcPts val="3120"/>
                </a:lnSpc>
              </a:pPr>
              <a:r>
                <a:rPr lang="en-US" b="true" sz="2600" spc="999">
                  <a:solidFill>
                    <a:srgbClr val="8A004F"/>
                  </a:solidFill>
                  <a:latin typeface="Calibri (MS) Bold"/>
                  <a:ea typeface="Calibri (MS) Bold"/>
                  <a:cs typeface="Calibri (MS) Bold"/>
                  <a:sym typeface="Calibri (MS) Bold"/>
                </a:rPr>
                <a:t>MÓDULO 01</a:t>
              </a:r>
            </a:p>
          </p:txBody>
        </p:sp>
      </p:grpSp>
      <p:grpSp>
        <p:nvGrpSpPr>
          <p:cNvPr name="Group 18" id="18"/>
          <p:cNvGrpSpPr/>
          <p:nvPr/>
        </p:nvGrpSpPr>
        <p:grpSpPr>
          <a:xfrm rot="0">
            <a:off x="914400" y="3017520"/>
            <a:ext cx="10607040" cy="2011680"/>
            <a:chOff x="0" y="0"/>
            <a:chExt cx="14142720" cy="2682240"/>
          </a:xfrm>
        </p:grpSpPr>
        <p:sp>
          <p:nvSpPr>
            <p:cNvPr name="Freeform 19" id="19"/>
            <p:cNvSpPr/>
            <p:nvPr/>
          </p:nvSpPr>
          <p:spPr>
            <a:xfrm flipH="false" flipV="false" rot="0">
              <a:off x="0" y="0"/>
              <a:ext cx="14142720" cy="2682240"/>
            </a:xfrm>
            <a:custGeom>
              <a:avLst/>
              <a:gdLst/>
              <a:ahLst/>
              <a:cxnLst/>
              <a:rect r="r" b="b" t="t" l="l"/>
              <a:pathLst>
                <a:path h="2682240" w="14142720">
                  <a:moveTo>
                    <a:pt x="0" y="0"/>
                  </a:moveTo>
                  <a:lnTo>
                    <a:pt x="14142720" y="0"/>
                  </a:lnTo>
                  <a:lnTo>
                    <a:pt x="14142720" y="2682240"/>
                  </a:lnTo>
                  <a:lnTo>
                    <a:pt x="0" y="2682240"/>
                  </a:lnTo>
                  <a:close/>
                </a:path>
              </a:pathLst>
            </a:custGeom>
            <a:blipFill>
              <a:blip r:embed="rId12">
                <a:alphaModFix amt="0"/>
              </a:blip>
              <a:stretch>
                <a:fillRect l="0" t="-52667" r="0" b="-52668"/>
              </a:stretch>
            </a:blipFill>
          </p:spPr>
        </p:sp>
      </p:grpSp>
      <p:grpSp>
        <p:nvGrpSpPr>
          <p:cNvPr name="Group 20" id="20"/>
          <p:cNvGrpSpPr/>
          <p:nvPr/>
        </p:nvGrpSpPr>
        <p:grpSpPr>
          <a:xfrm rot="0">
            <a:off x="914400" y="2910364"/>
            <a:ext cx="10607040" cy="2118836"/>
            <a:chOff x="0" y="0"/>
            <a:chExt cx="14142720" cy="2825115"/>
          </a:xfrm>
        </p:grpSpPr>
        <p:sp>
          <p:nvSpPr>
            <p:cNvPr name="Freeform 21" id="21"/>
            <p:cNvSpPr/>
            <p:nvPr/>
          </p:nvSpPr>
          <p:spPr>
            <a:xfrm flipH="false" flipV="false" rot="0">
              <a:off x="0" y="0"/>
              <a:ext cx="14142720" cy="2825115"/>
            </a:xfrm>
            <a:custGeom>
              <a:avLst/>
              <a:gdLst/>
              <a:ahLst/>
              <a:cxnLst/>
              <a:rect r="r" b="b" t="t" l="l"/>
              <a:pathLst>
                <a:path h="2825115" w="14142720">
                  <a:moveTo>
                    <a:pt x="0" y="0"/>
                  </a:moveTo>
                  <a:lnTo>
                    <a:pt x="14142720" y="0"/>
                  </a:lnTo>
                  <a:lnTo>
                    <a:pt x="14142720" y="2825115"/>
                  </a:lnTo>
                  <a:lnTo>
                    <a:pt x="0" y="2825115"/>
                  </a:lnTo>
                  <a:close/>
                </a:path>
              </a:pathLst>
            </a:custGeom>
            <a:blipFill>
              <a:blip r:embed="rId13">
                <a:alphaModFix amt="0"/>
              </a:blip>
              <a:stretch>
                <a:fillRect l="0" t="-47543" r="0" b="-47543"/>
              </a:stretch>
            </a:blipFill>
          </p:spPr>
        </p:sp>
        <p:sp>
          <p:nvSpPr>
            <p:cNvPr name="TextBox 22" id="22"/>
            <p:cNvSpPr txBox="true"/>
            <p:nvPr/>
          </p:nvSpPr>
          <p:spPr>
            <a:xfrm>
              <a:off x="0" y="-142875"/>
              <a:ext cx="14142720" cy="2967990"/>
            </a:xfrm>
            <a:prstGeom prst="rect">
              <a:avLst/>
            </a:prstGeom>
          </p:spPr>
          <p:txBody>
            <a:bodyPr anchor="ctr" rtlCol="false" tIns="0" lIns="0" bIns="0" rIns="0"/>
            <a:lstStyle/>
            <a:p>
              <a:pPr algn="l">
                <a:lnSpc>
                  <a:spcPts val="8640"/>
                </a:lnSpc>
              </a:pPr>
              <a:r>
                <a:rPr lang="en-US" sz="7200" b="true">
                  <a:solidFill>
                    <a:srgbClr val="FFFFFF"/>
                  </a:solidFill>
                  <a:latin typeface="Calibri (MS) Bold"/>
                  <a:ea typeface="Calibri (MS) Bold"/>
                  <a:cs typeface="Calibri (MS) Bold"/>
                  <a:sym typeface="Calibri (MS) Bold"/>
                </a:rPr>
                <a:t>Introducción al Rol SOC</a:t>
              </a:r>
            </a:p>
          </p:txBody>
        </p:sp>
      </p:grpSp>
      <p:sp>
        <p:nvSpPr>
          <p:cNvPr name="Freeform 23" id="23"/>
          <p:cNvSpPr/>
          <p:nvPr/>
        </p:nvSpPr>
        <p:spPr>
          <a:xfrm flipH="false" flipV="false" rot="0">
            <a:off x="901703" y="5071367"/>
            <a:ext cx="4597336" cy="116776"/>
          </a:xfrm>
          <a:custGeom>
            <a:avLst/>
            <a:gdLst/>
            <a:ahLst/>
            <a:cxnLst/>
            <a:rect r="r" b="b" t="t" l="l"/>
            <a:pathLst>
              <a:path h="116776" w="4597336">
                <a:moveTo>
                  <a:pt x="0" y="0"/>
                </a:moveTo>
                <a:lnTo>
                  <a:pt x="4597337" y="0"/>
                </a:lnTo>
                <a:lnTo>
                  <a:pt x="4597337" y="116777"/>
                </a:lnTo>
                <a:lnTo>
                  <a:pt x="0" y="1167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4" id="24"/>
          <p:cNvSpPr txBox="true"/>
          <p:nvPr/>
        </p:nvSpPr>
        <p:spPr>
          <a:xfrm rot="0">
            <a:off x="1005840" y="5345430"/>
            <a:ext cx="10607040" cy="723805"/>
          </a:xfrm>
          <a:prstGeom prst="rect">
            <a:avLst/>
          </a:prstGeom>
        </p:spPr>
        <p:txBody>
          <a:bodyPr anchor="t" rtlCol="false" tIns="0" lIns="0" bIns="0" rIns="0">
            <a:spAutoFit/>
          </a:bodyPr>
          <a:lstStyle/>
          <a:p>
            <a:pPr algn="l">
              <a:lnSpc>
                <a:spcPts val="2520"/>
              </a:lnSpc>
            </a:pPr>
            <a:r>
              <a:rPr lang="en-US" sz="2100">
                <a:solidFill>
                  <a:srgbClr val="CCCCCC"/>
                </a:solidFill>
                <a:latin typeface="Calibri (MS)"/>
                <a:ea typeface="Calibri (MS)"/>
                <a:cs typeface="Calibri (MS)"/>
                <a:sym typeface="Calibri (MS)"/>
              </a:rPr>
              <a:t>¿Qué es un SOC?  ·  Estructura y Roles  ·  El Rol de SOC</a:t>
            </a:r>
          </a:p>
          <a:p>
            <a:pPr algn="l">
              <a:lnSpc>
                <a:spcPts val="2520"/>
              </a:lnSpc>
            </a:pPr>
            <a:r>
              <a:rPr lang="en-US" sz="2100">
                <a:solidFill>
                  <a:srgbClr val="CCCCCC"/>
                </a:solidFill>
                <a:latin typeface="Calibri (MS)"/>
                <a:ea typeface="Calibri (MS)"/>
                <a:cs typeface="Calibri (MS)"/>
                <a:sym typeface="Calibri (MS)"/>
              </a:rPr>
              <a:t>Flujo de Trabajo  ·  Ética y Confidencialidad  ·  Proyección Profesional</a:t>
            </a:r>
          </a:p>
        </p:txBody>
      </p:sp>
      <p:grpSp>
        <p:nvGrpSpPr>
          <p:cNvPr name="Group 25" id="25"/>
          <p:cNvGrpSpPr/>
          <p:nvPr/>
        </p:nvGrpSpPr>
        <p:grpSpPr>
          <a:xfrm rot="0">
            <a:off x="1028700" y="8626792"/>
            <a:ext cx="5486400" cy="668655"/>
            <a:chOff x="0" y="0"/>
            <a:chExt cx="7315200" cy="891540"/>
          </a:xfrm>
        </p:grpSpPr>
        <p:sp>
          <p:nvSpPr>
            <p:cNvPr name="Freeform 26" id="26"/>
            <p:cNvSpPr/>
            <p:nvPr/>
          </p:nvSpPr>
          <p:spPr>
            <a:xfrm flipH="false" flipV="false" rot="0">
              <a:off x="0" y="0"/>
              <a:ext cx="7315200" cy="891540"/>
            </a:xfrm>
            <a:custGeom>
              <a:avLst/>
              <a:gdLst/>
              <a:ahLst/>
              <a:cxnLst/>
              <a:rect r="r" b="b" t="t" l="l"/>
              <a:pathLst>
                <a:path h="891540" w="7315200">
                  <a:moveTo>
                    <a:pt x="0" y="0"/>
                  </a:moveTo>
                  <a:lnTo>
                    <a:pt x="7315200" y="0"/>
                  </a:lnTo>
                  <a:lnTo>
                    <a:pt x="7315200" y="891540"/>
                  </a:lnTo>
                  <a:lnTo>
                    <a:pt x="0" y="891540"/>
                  </a:lnTo>
                  <a:close/>
                </a:path>
              </a:pathLst>
            </a:custGeom>
            <a:blipFill>
              <a:blip r:embed="rId13">
                <a:alphaModFix amt="0"/>
              </a:blip>
              <a:stretch>
                <a:fillRect l="0" t="-109877" r="0" b="-109877"/>
              </a:stretch>
            </a:blipFill>
          </p:spPr>
        </p:sp>
        <p:sp>
          <p:nvSpPr>
            <p:cNvPr name="TextBox 27" id="27"/>
            <p:cNvSpPr txBox="true"/>
            <p:nvPr/>
          </p:nvSpPr>
          <p:spPr>
            <a:xfrm>
              <a:off x="0" y="-38100"/>
              <a:ext cx="7315200" cy="929640"/>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Hidden Security  ®  2026</a:t>
              </a:r>
            </a:p>
          </p:txBody>
        </p:sp>
      </p:grpSp>
      <p:grpSp>
        <p:nvGrpSpPr>
          <p:cNvPr name="Group 28" id="28"/>
          <p:cNvGrpSpPr/>
          <p:nvPr/>
        </p:nvGrpSpPr>
        <p:grpSpPr>
          <a:xfrm rot="0">
            <a:off x="12801600" y="8961120"/>
            <a:ext cx="4937760" cy="640080"/>
            <a:chOff x="0" y="0"/>
            <a:chExt cx="6583680" cy="853440"/>
          </a:xfrm>
        </p:grpSpPr>
        <p:sp>
          <p:nvSpPr>
            <p:cNvPr name="Freeform 29" id="29"/>
            <p:cNvSpPr/>
            <p:nvPr/>
          </p:nvSpPr>
          <p:spPr>
            <a:xfrm flipH="false" flipV="false" rot="0">
              <a:off x="0" y="0"/>
              <a:ext cx="6583680" cy="853440"/>
            </a:xfrm>
            <a:custGeom>
              <a:avLst/>
              <a:gdLst/>
              <a:ahLst/>
              <a:cxnLst/>
              <a:rect r="r" b="b" t="t" l="l"/>
              <a:pathLst>
                <a:path h="853440" w="6583680">
                  <a:moveTo>
                    <a:pt x="0" y="0"/>
                  </a:moveTo>
                  <a:lnTo>
                    <a:pt x="6583680" y="0"/>
                  </a:lnTo>
                  <a:lnTo>
                    <a:pt x="6583680" y="853440"/>
                  </a:lnTo>
                  <a:lnTo>
                    <a:pt x="0" y="853440"/>
                  </a:lnTo>
                  <a:close/>
                </a:path>
              </a:pathLst>
            </a:custGeom>
            <a:blipFill>
              <a:blip r:embed="rId12">
                <a:alphaModFix amt="0"/>
              </a:blip>
              <a:stretch>
                <a:fillRect l="0" t="-100208" r="0" b="-100208"/>
              </a:stretch>
            </a:blipFill>
          </p:spPr>
        </p:sp>
      </p:grpSp>
      <p:grpSp>
        <p:nvGrpSpPr>
          <p:cNvPr name="Group 30" id="30"/>
          <p:cNvGrpSpPr/>
          <p:nvPr/>
        </p:nvGrpSpPr>
        <p:grpSpPr>
          <a:xfrm rot="0">
            <a:off x="12893585" y="8961120"/>
            <a:ext cx="4937760" cy="668655"/>
            <a:chOff x="0" y="0"/>
            <a:chExt cx="6583680" cy="891540"/>
          </a:xfrm>
        </p:grpSpPr>
        <p:sp>
          <p:nvSpPr>
            <p:cNvPr name="Freeform 31" id="31"/>
            <p:cNvSpPr/>
            <p:nvPr/>
          </p:nvSpPr>
          <p:spPr>
            <a:xfrm flipH="false" flipV="false" rot="0">
              <a:off x="0" y="0"/>
              <a:ext cx="6583680" cy="891540"/>
            </a:xfrm>
            <a:custGeom>
              <a:avLst/>
              <a:gdLst/>
              <a:ahLst/>
              <a:cxnLst/>
              <a:rect r="r" b="b" t="t" l="l"/>
              <a:pathLst>
                <a:path h="891540" w="6583680">
                  <a:moveTo>
                    <a:pt x="0" y="0"/>
                  </a:moveTo>
                  <a:lnTo>
                    <a:pt x="6583680" y="0"/>
                  </a:lnTo>
                  <a:lnTo>
                    <a:pt x="6583680" y="891540"/>
                  </a:lnTo>
                  <a:lnTo>
                    <a:pt x="0" y="891540"/>
                  </a:lnTo>
                  <a:close/>
                </a:path>
              </a:pathLst>
            </a:custGeom>
            <a:blipFill>
              <a:blip r:embed="rId13">
                <a:alphaModFix amt="0"/>
              </a:blip>
              <a:stretch>
                <a:fillRect l="0" t="-93889" r="0" b="-93889"/>
              </a:stretch>
            </a:blipFill>
          </p:spPr>
        </p:sp>
        <p:sp>
          <p:nvSpPr>
            <p:cNvPr name="TextBox 32" id="32"/>
            <p:cNvSpPr txBox="true"/>
            <p:nvPr/>
          </p:nvSpPr>
          <p:spPr>
            <a:xfrm>
              <a:off x="0" y="-38100"/>
              <a:ext cx="6583680" cy="929640"/>
            </a:xfrm>
            <a:prstGeom prst="rect">
              <a:avLst/>
            </a:prstGeom>
          </p:spPr>
          <p:txBody>
            <a:bodyPr anchor="ctr" rtlCol="false" tIns="0" lIns="0" bIns="0" rIns="0"/>
            <a:lstStyle/>
            <a:p>
              <a:pPr algn="ctr">
                <a:lnSpc>
                  <a:spcPts val="2160"/>
                </a:lnSpc>
              </a:pPr>
              <a:r>
                <a:rPr lang="en-US" sz="1800">
                  <a:solidFill>
                    <a:srgbClr val="6B6B6B"/>
                  </a:solidFill>
                  <a:latin typeface="Calibri (MS)"/>
                  <a:ea typeface="Calibri (MS)"/>
                  <a:cs typeface="Calibri (MS)"/>
                  <a:sym typeface="Calibri (MS)"/>
                </a:rPr>
                <a:t>www.hidden-security.org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a:t>
              </a:r>
            </a:p>
          </p:txBody>
        </p:sp>
      </p:grpSp>
      <p:sp>
        <p:nvSpPr>
          <p:cNvPr name="Freeform 14" id="14"/>
          <p:cNvSpPr/>
          <p:nvPr/>
        </p:nvSpPr>
        <p:spPr>
          <a:xfrm flipH="false" flipV="false" rot="0">
            <a:off x="-12697" y="-12697"/>
            <a:ext cx="18300697" cy="1852857"/>
          </a:xfrm>
          <a:custGeom>
            <a:avLst/>
            <a:gdLst/>
            <a:ahLst/>
            <a:cxnLst/>
            <a:rect r="r" b="b" t="t" l="l"/>
            <a:pathLst>
              <a:path h="1852857" w="18300697">
                <a:moveTo>
                  <a:pt x="0" y="0"/>
                </a:moveTo>
                <a:lnTo>
                  <a:pt x="18300697" y="0"/>
                </a:lnTo>
                <a:lnTo>
                  <a:pt x="18300697" y="1852857"/>
                </a:lnTo>
                <a:lnTo>
                  <a:pt x="0" y="1852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5544800" cy="1828800"/>
            <a:chOff x="0" y="0"/>
            <a:chExt cx="20726400" cy="2438400"/>
          </a:xfrm>
        </p:grpSpPr>
        <p:sp>
          <p:nvSpPr>
            <p:cNvPr name="Freeform 16" id="16"/>
            <p:cNvSpPr/>
            <p:nvPr/>
          </p:nvSpPr>
          <p:spPr>
            <a:xfrm flipH="false" flipV="false" rot="0">
              <a:off x="0" y="0"/>
              <a:ext cx="20726400" cy="2438400"/>
            </a:xfrm>
            <a:custGeom>
              <a:avLst/>
              <a:gdLst/>
              <a:ahLst/>
              <a:cxnLst/>
              <a:rect r="r" b="b" t="t" l="l"/>
              <a:pathLst>
                <a:path h="2438400" w="20726400">
                  <a:moveTo>
                    <a:pt x="0" y="0"/>
                  </a:moveTo>
                  <a:lnTo>
                    <a:pt x="20726400" y="0"/>
                  </a:lnTo>
                  <a:lnTo>
                    <a:pt x="20726400" y="2438400"/>
                  </a:lnTo>
                  <a:lnTo>
                    <a:pt x="0" y="2438400"/>
                  </a:lnTo>
                  <a:close/>
                </a:path>
              </a:pathLst>
            </a:custGeom>
            <a:blipFill>
              <a:blip r:embed="rId7">
                <a:alphaModFix amt="0"/>
              </a:blip>
              <a:stretch>
                <a:fillRect l="0" t="-115507" r="0" b="-115507"/>
              </a:stretch>
            </a:blipFill>
          </p:spPr>
        </p:sp>
      </p:grpSp>
      <p:grpSp>
        <p:nvGrpSpPr>
          <p:cNvPr name="Group 17" id="17"/>
          <p:cNvGrpSpPr/>
          <p:nvPr/>
        </p:nvGrpSpPr>
        <p:grpSpPr>
          <a:xfrm rot="0">
            <a:off x="731520" y="33814"/>
            <a:ext cx="15544800" cy="1893094"/>
            <a:chOff x="0" y="0"/>
            <a:chExt cx="20726400" cy="2524125"/>
          </a:xfrm>
        </p:grpSpPr>
        <p:sp>
          <p:nvSpPr>
            <p:cNvPr name="Freeform 18" id="18"/>
            <p:cNvSpPr/>
            <p:nvPr/>
          </p:nvSpPr>
          <p:spPr>
            <a:xfrm flipH="false" flipV="false" rot="0">
              <a:off x="0" y="0"/>
              <a:ext cx="20726400" cy="2524125"/>
            </a:xfrm>
            <a:custGeom>
              <a:avLst/>
              <a:gdLst/>
              <a:ahLst/>
              <a:cxnLst/>
              <a:rect r="r" b="b" t="t" l="l"/>
              <a:pathLst>
                <a:path h="2524125" w="20726400">
                  <a:moveTo>
                    <a:pt x="0" y="0"/>
                  </a:moveTo>
                  <a:lnTo>
                    <a:pt x="20726400" y="0"/>
                  </a:lnTo>
                  <a:lnTo>
                    <a:pt x="20726400" y="2524125"/>
                  </a:lnTo>
                  <a:lnTo>
                    <a:pt x="0" y="2524125"/>
                  </a:lnTo>
                  <a:close/>
                </a:path>
              </a:pathLst>
            </a:custGeom>
            <a:blipFill>
              <a:blip r:embed="rId8">
                <a:alphaModFix amt="0"/>
              </a:blip>
              <a:stretch>
                <a:fillRect l="0" t="-109997" r="0" b="-109997"/>
              </a:stretch>
            </a:blipFill>
          </p:spPr>
        </p:sp>
        <p:sp>
          <p:nvSpPr>
            <p:cNvPr name="TextBox 19" id="19"/>
            <p:cNvSpPr txBox="true"/>
            <p:nvPr/>
          </p:nvSpPr>
          <p:spPr>
            <a:xfrm>
              <a:off x="0" y="-85725"/>
              <a:ext cx="20726400" cy="2609850"/>
            </a:xfrm>
            <a:prstGeom prst="rect">
              <a:avLst/>
            </a:prstGeom>
          </p:spPr>
          <p:txBody>
            <a:bodyPr anchor="ctr" rtlCol="false" tIns="0" lIns="0" bIns="0" rIns="0"/>
            <a:lstStyle/>
            <a:p>
              <a:pPr algn="l">
                <a:lnSpc>
                  <a:spcPts val="4798"/>
                </a:lnSpc>
              </a:pPr>
              <a:r>
                <a:rPr lang="en-US" sz="3999" b="true">
                  <a:solidFill>
                    <a:srgbClr val="FFFFFF"/>
                  </a:solidFill>
                  <a:latin typeface="Calibri (MS) Bold"/>
                  <a:ea typeface="Calibri (MS) Bold"/>
                  <a:cs typeface="Calibri (MS) Bold"/>
                  <a:sym typeface="Calibri (MS) Bold"/>
                </a:rPr>
                <a:t>OBJETIVOS DEL MÓDULO 1</a:t>
              </a:r>
            </a:p>
          </p:txBody>
        </p:sp>
      </p:grpSp>
      <p:grpSp>
        <p:nvGrpSpPr>
          <p:cNvPr name="Group 20" id="20"/>
          <p:cNvGrpSpPr/>
          <p:nvPr/>
        </p:nvGrpSpPr>
        <p:grpSpPr>
          <a:xfrm rot="0">
            <a:off x="914400" y="2103120"/>
            <a:ext cx="16459200" cy="694944"/>
            <a:chOff x="0" y="0"/>
            <a:chExt cx="21945600" cy="926592"/>
          </a:xfrm>
        </p:grpSpPr>
        <p:sp>
          <p:nvSpPr>
            <p:cNvPr name="Freeform 21" id="21"/>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7">
                <a:alphaModFix amt="0"/>
              </a:blip>
              <a:stretch>
                <a:fillRect l="0" t="-411166" r="0" b="-411167"/>
              </a:stretch>
            </a:blipFill>
          </p:spPr>
        </p:sp>
      </p:grpSp>
      <p:grpSp>
        <p:nvGrpSpPr>
          <p:cNvPr name="Group 22" id="22"/>
          <p:cNvGrpSpPr/>
          <p:nvPr/>
        </p:nvGrpSpPr>
        <p:grpSpPr>
          <a:xfrm rot="0">
            <a:off x="914400" y="2060258"/>
            <a:ext cx="16459200" cy="737806"/>
            <a:chOff x="0" y="0"/>
            <a:chExt cx="21945600" cy="983742"/>
          </a:xfrm>
        </p:grpSpPr>
        <p:sp>
          <p:nvSpPr>
            <p:cNvPr name="Freeform 23" id="23"/>
            <p:cNvSpPr/>
            <p:nvPr/>
          </p:nvSpPr>
          <p:spPr>
            <a:xfrm flipH="false" flipV="false" rot="0">
              <a:off x="0" y="0"/>
              <a:ext cx="21945600" cy="983742"/>
            </a:xfrm>
            <a:custGeom>
              <a:avLst/>
              <a:gdLst/>
              <a:ahLst/>
              <a:cxnLst/>
              <a:rect r="r" b="b" t="t" l="l"/>
              <a:pathLst>
                <a:path h="983742" w="21945600">
                  <a:moveTo>
                    <a:pt x="0" y="0"/>
                  </a:moveTo>
                  <a:lnTo>
                    <a:pt x="21945600" y="0"/>
                  </a:lnTo>
                  <a:lnTo>
                    <a:pt x="21945600" y="983742"/>
                  </a:lnTo>
                  <a:lnTo>
                    <a:pt x="0" y="983742"/>
                  </a:lnTo>
                  <a:close/>
                </a:path>
              </a:pathLst>
            </a:custGeom>
            <a:blipFill>
              <a:blip r:embed="rId8">
                <a:alphaModFix amt="0"/>
              </a:blip>
              <a:stretch>
                <a:fillRect l="0" t="-384677" r="0" b="-384677"/>
              </a:stretch>
            </a:blipFill>
          </p:spPr>
        </p:sp>
        <p:sp>
          <p:nvSpPr>
            <p:cNvPr name="TextBox 24" id="24"/>
            <p:cNvSpPr txBox="true"/>
            <p:nvPr/>
          </p:nvSpPr>
          <p:spPr>
            <a:xfrm>
              <a:off x="0" y="-57150"/>
              <a:ext cx="21945600" cy="1040892"/>
            </a:xfrm>
            <a:prstGeom prst="rect">
              <a:avLst/>
            </a:prstGeom>
          </p:spPr>
          <p:txBody>
            <a:bodyPr anchor="ctr" rtlCol="false" tIns="0" lIns="0" bIns="0" rIns="0"/>
            <a:lstStyle/>
            <a:p>
              <a:pPr algn="l">
                <a:lnSpc>
                  <a:spcPts val="3120"/>
                </a:lnSpc>
              </a:pPr>
              <a:r>
                <a:rPr lang="en-US" sz="2600" b="true">
                  <a:solidFill>
                    <a:srgbClr val="8A004F"/>
                  </a:solidFill>
                  <a:latin typeface="Calibri (MS) Bold"/>
                  <a:ea typeface="Calibri (MS) Bold"/>
                  <a:cs typeface="Calibri (MS) Bold"/>
                  <a:sym typeface="Calibri (MS) Bold"/>
                </a:rPr>
                <a:t>Al finalizar este módulo, vas a ser capaz de:</a:t>
              </a:r>
            </a:p>
          </p:txBody>
        </p:sp>
      </p:grpSp>
      <p:sp>
        <p:nvSpPr>
          <p:cNvPr name="Freeform 25" id="25"/>
          <p:cNvSpPr/>
          <p:nvPr/>
        </p:nvSpPr>
        <p:spPr>
          <a:xfrm flipH="false" flipV="false" rot="0">
            <a:off x="627383" y="2968247"/>
            <a:ext cx="573976" cy="866585"/>
          </a:xfrm>
          <a:custGeom>
            <a:avLst/>
            <a:gdLst/>
            <a:ahLst/>
            <a:cxnLst/>
            <a:rect r="r" b="b" t="t" l="l"/>
            <a:pathLst>
              <a:path h="866585" w="573976">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640080" y="2980944"/>
            <a:ext cx="548640" cy="841248"/>
            <a:chOff x="0" y="0"/>
            <a:chExt cx="731520" cy="1121664"/>
          </a:xfrm>
        </p:grpSpPr>
        <p:sp>
          <p:nvSpPr>
            <p:cNvPr name="Freeform 27" id="27"/>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28" id="28"/>
          <p:cNvGrpSpPr/>
          <p:nvPr/>
        </p:nvGrpSpPr>
        <p:grpSpPr>
          <a:xfrm rot="0">
            <a:off x="640080" y="2952369"/>
            <a:ext cx="548640" cy="869823"/>
            <a:chOff x="0" y="0"/>
            <a:chExt cx="731520" cy="1159764"/>
          </a:xfrm>
        </p:grpSpPr>
        <p:sp>
          <p:nvSpPr>
            <p:cNvPr name="Freeform 29" id="29"/>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30" id="30"/>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01</a:t>
              </a:r>
            </a:p>
          </p:txBody>
        </p:sp>
      </p:grpSp>
      <p:sp>
        <p:nvSpPr>
          <p:cNvPr name="Freeform 31" id="31"/>
          <p:cNvSpPr/>
          <p:nvPr/>
        </p:nvSpPr>
        <p:spPr>
          <a:xfrm flipH="false" flipV="false" rot="0">
            <a:off x="1176023" y="296824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1335024" y="2980944"/>
            <a:ext cx="7827264" cy="841248"/>
            <a:chOff x="0" y="0"/>
            <a:chExt cx="10436352" cy="1121664"/>
          </a:xfrm>
        </p:grpSpPr>
        <p:sp>
          <p:nvSpPr>
            <p:cNvPr name="Freeform 33" id="33"/>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34" id="34"/>
          <p:cNvGrpSpPr/>
          <p:nvPr/>
        </p:nvGrpSpPr>
        <p:grpSpPr>
          <a:xfrm rot="0">
            <a:off x="1335024" y="2952369"/>
            <a:ext cx="7827264" cy="869823"/>
            <a:chOff x="0" y="0"/>
            <a:chExt cx="10436352" cy="1159764"/>
          </a:xfrm>
        </p:grpSpPr>
        <p:sp>
          <p:nvSpPr>
            <p:cNvPr name="Freeform 35" id="35"/>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36" id="36"/>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Comprender qué es un SOC, sus objetivos y su importancia en la estrategia de seguridad corporativa.</a:t>
              </a:r>
            </a:p>
          </p:txBody>
        </p:sp>
      </p:grpSp>
      <p:sp>
        <p:nvSpPr>
          <p:cNvPr name="Freeform 37" id="37"/>
          <p:cNvSpPr/>
          <p:nvPr/>
        </p:nvSpPr>
        <p:spPr>
          <a:xfrm flipH="false" flipV="false" rot="0">
            <a:off x="9497063" y="2968247"/>
            <a:ext cx="573977" cy="866585"/>
          </a:xfrm>
          <a:custGeom>
            <a:avLst/>
            <a:gdLst/>
            <a:ahLst/>
            <a:cxnLst/>
            <a:rect r="r" b="b" t="t" l="l"/>
            <a:pathLst>
              <a:path h="866585" w="573977">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8" id="38"/>
          <p:cNvGrpSpPr/>
          <p:nvPr/>
        </p:nvGrpSpPr>
        <p:grpSpPr>
          <a:xfrm rot="0">
            <a:off x="9509760" y="2980944"/>
            <a:ext cx="548640" cy="841248"/>
            <a:chOff x="0" y="0"/>
            <a:chExt cx="731520" cy="1121664"/>
          </a:xfrm>
        </p:grpSpPr>
        <p:sp>
          <p:nvSpPr>
            <p:cNvPr name="Freeform 39" id="39"/>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40" id="40"/>
          <p:cNvGrpSpPr/>
          <p:nvPr/>
        </p:nvGrpSpPr>
        <p:grpSpPr>
          <a:xfrm rot="0">
            <a:off x="9509760" y="2952369"/>
            <a:ext cx="548640" cy="869823"/>
            <a:chOff x="0" y="0"/>
            <a:chExt cx="731520" cy="1159764"/>
          </a:xfrm>
        </p:grpSpPr>
        <p:sp>
          <p:nvSpPr>
            <p:cNvPr name="Freeform 41" id="41"/>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42" id="42"/>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02</a:t>
              </a:r>
            </a:p>
          </p:txBody>
        </p:sp>
      </p:grpSp>
      <p:sp>
        <p:nvSpPr>
          <p:cNvPr name="Freeform 43" id="43"/>
          <p:cNvSpPr/>
          <p:nvPr/>
        </p:nvSpPr>
        <p:spPr>
          <a:xfrm flipH="false" flipV="false" rot="0">
            <a:off x="10045703" y="296824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4" id="44"/>
          <p:cNvGrpSpPr/>
          <p:nvPr/>
        </p:nvGrpSpPr>
        <p:grpSpPr>
          <a:xfrm rot="0">
            <a:off x="10204704" y="2980944"/>
            <a:ext cx="7827264" cy="841248"/>
            <a:chOff x="0" y="0"/>
            <a:chExt cx="10436352" cy="1121664"/>
          </a:xfrm>
        </p:grpSpPr>
        <p:sp>
          <p:nvSpPr>
            <p:cNvPr name="Freeform 45" id="45"/>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46" id="46"/>
          <p:cNvGrpSpPr/>
          <p:nvPr/>
        </p:nvGrpSpPr>
        <p:grpSpPr>
          <a:xfrm rot="0">
            <a:off x="10204704" y="2952369"/>
            <a:ext cx="7827264" cy="869823"/>
            <a:chOff x="0" y="0"/>
            <a:chExt cx="10436352" cy="1159764"/>
          </a:xfrm>
        </p:grpSpPr>
        <p:sp>
          <p:nvSpPr>
            <p:cNvPr name="Freeform 47" id="47"/>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48" id="48"/>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Identificar los distintos tipos de SOC y la diferencia con equipos como NOC, CSIRT y CERT.</a:t>
              </a:r>
            </a:p>
          </p:txBody>
        </p:sp>
      </p:grpSp>
      <p:sp>
        <p:nvSpPr>
          <p:cNvPr name="Freeform 49" id="49"/>
          <p:cNvSpPr/>
          <p:nvPr/>
        </p:nvSpPr>
        <p:spPr>
          <a:xfrm flipH="false" flipV="false" rot="0">
            <a:off x="627383" y="3974087"/>
            <a:ext cx="573976" cy="866585"/>
          </a:xfrm>
          <a:custGeom>
            <a:avLst/>
            <a:gdLst/>
            <a:ahLst/>
            <a:cxnLst/>
            <a:rect r="r" b="b" t="t" l="l"/>
            <a:pathLst>
              <a:path h="866585" w="573976">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0" id="50"/>
          <p:cNvGrpSpPr/>
          <p:nvPr/>
        </p:nvGrpSpPr>
        <p:grpSpPr>
          <a:xfrm rot="0">
            <a:off x="640080" y="3986784"/>
            <a:ext cx="548640" cy="841248"/>
            <a:chOff x="0" y="0"/>
            <a:chExt cx="731520" cy="1121664"/>
          </a:xfrm>
        </p:grpSpPr>
        <p:sp>
          <p:nvSpPr>
            <p:cNvPr name="Freeform 51" id="51"/>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52" id="52"/>
          <p:cNvGrpSpPr/>
          <p:nvPr/>
        </p:nvGrpSpPr>
        <p:grpSpPr>
          <a:xfrm rot="0">
            <a:off x="640080" y="3958209"/>
            <a:ext cx="548640" cy="869823"/>
            <a:chOff x="0" y="0"/>
            <a:chExt cx="731520" cy="1159764"/>
          </a:xfrm>
        </p:grpSpPr>
        <p:sp>
          <p:nvSpPr>
            <p:cNvPr name="Freeform 53" id="53"/>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54" id="54"/>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03</a:t>
              </a:r>
            </a:p>
          </p:txBody>
        </p:sp>
      </p:grpSp>
      <p:sp>
        <p:nvSpPr>
          <p:cNvPr name="Freeform 55" id="55"/>
          <p:cNvSpPr/>
          <p:nvPr/>
        </p:nvSpPr>
        <p:spPr>
          <a:xfrm flipH="false" flipV="false" rot="0">
            <a:off x="1176023" y="397408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6" id="56"/>
          <p:cNvGrpSpPr/>
          <p:nvPr/>
        </p:nvGrpSpPr>
        <p:grpSpPr>
          <a:xfrm rot="0">
            <a:off x="1335024" y="3986784"/>
            <a:ext cx="7827264" cy="841248"/>
            <a:chOff x="0" y="0"/>
            <a:chExt cx="10436352" cy="1121664"/>
          </a:xfrm>
        </p:grpSpPr>
        <p:sp>
          <p:nvSpPr>
            <p:cNvPr name="Freeform 57" id="57"/>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58" id="58"/>
          <p:cNvGrpSpPr/>
          <p:nvPr/>
        </p:nvGrpSpPr>
        <p:grpSpPr>
          <a:xfrm rot="0">
            <a:off x="1335024" y="3958209"/>
            <a:ext cx="7827264" cy="869823"/>
            <a:chOff x="0" y="0"/>
            <a:chExt cx="10436352" cy="1159764"/>
          </a:xfrm>
        </p:grpSpPr>
        <p:sp>
          <p:nvSpPr>
            <p:cNvPr name="Freeform 59" id="59"/>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60" id="60"/>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Conocer la estructura interna del SOC por niveles (L1, L2, L3) y los roles especializados.</a:t>
              </a:r>
            </a:p>
          </p:txBody>
        </p:sp>
      </p:grpSp>
      <p:sp>
        <p:nvSpPr>
          <p:cNvPr name="Freeform 61" id="61"/>
          <p:cNvSpPr/>
          <p:nvPr/>
        </p:nvSpPr>
        <p:spPr>
          <a:xfrm flipH="false" flipV="false" rot="0">
            <a:off x="9497063" y="3974087"/>
            <a:ext cx="573977" cy="866585"/>
          </a:xfrm>
          <a:custGeom>
            <a:avLst/>
            <a:gdLst/>
            <a:ahLst/>
            <a:cxnLst/>
            <a:rect r="r" b="b" t="t" l="l"/>
            <a:pathLst>
              <a:path h="866585" w="573977">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2" id="62"/>
          <p:cNvGrpSpPr/>
          <p:nvPr/>
        </p:nvGrpSpPr>
        <p:grpSpPr>
          <a:xfrm rot="0">
            <a:off x="9509760" y="3986784"/>
            <a:ext cx="548640" cy="841248"/>
            <a:chOff x="0" y="0"/>
            <a:chExt cx="731520" cy="1121664"/>
          </a:xfrm>
        </p:grpSpPr>
        <p:sp>
          <p:nvSpPr>
            <p:cNvPr name="Freeform 63" id="63"/>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64" id="64"/>
          <p:cNvGrpSpPr/>
          <p:nvPr/>
        </p:nvGrpSpPr>
        <p:grpSpPr>
          <a:xfrm rot="0">
            <a:off x="9509760" y="3958209"/>
            <a:ext cx="548640" cy="869823"/>
            <a:chOff x="0" y="0"/>
            <a:chExt cx="731520" cy="1159764"/>
          </a:xfrm>
        </p:grpSpPr>
        <p:sp>
          <p:nvSpPr>
            <p:cNvPr name="Freeform 65" id="65"/>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66" id="66"/>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04</a:t>
              </a:r>
            </a:p>
          </p:txBody>
        </p:sp>
      </p:grpSp>
      <p:sp>
        <p:nvSpPr>
          <p:cNvPr name="Freeform 67" id="67"/>
          <p:cNvSpPr/>
          <p:nvPr/>
        </p:nvSpPr>
        <p:spPr>
          <a:xfrm flipH="false" flipV="false" rot="0">
            <a:off x="10045703" y="397408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8" id="68"/>
          <p:cNvGrpSpPr/>
          <p:nvPr/>
        </p:nvGrpSpPr>
        <p:grpSpPr>
          <a:xfrm rot="0">
            <a:off x="10204704" y="3986784"/>
            <a:ext cx="7827264" cy="841248"/>
            <a:chOff x="0" y="0"/>
            <a:chExt cx="10436352" cy="1121664"/>
          </a:xfrm>
        </p:grpSpPr>
        <p:sp>
          <p:nvSpPr>
            <p:cNvPr name="Freeform 69" id="69"/>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70" id="70"/>
          <p:cNvGrpSpPr/>
          <p:nvPr/>
        </p:nvGrpSpPr>
        <p:grpSpPr>
          <a:xfrm rot="0">
            <a:off x="10204704" y="3958209"/>
            <a:ext cx="7827264" cy="869823"/>
            <a:chOff x="0" y="0"/>
            <a:chExt cx="10436352" cy="1159764"/>
          </a:xfrm>
        </p:grpSpPr>
        <p:sp>
          <p:nvSpPr>
            <p:cNvPr name="Freeform 71" id="71"/>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72" id="72"/>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Comprender el rol del analista SOC moderno: criterio, herramientas, contexto y toma de decisiones.</a:t>
              </a:r>
            </a:p>
          </p:txBody>
        </p:sp>
      </p:grpSp>
      <p:sp>
        <p:nvSpPr>
          <p:cNvPr name="Freeform 73" id="73"/>
          <p:cNvSpPr/>
          <p:nvPr/>
        </p:nvSpPr>
        <p:spPr>
          <a:xfrm flipH="false" flipV="false" rot="0">
            <a:off x="627383" y="4979927"/>
            <a:ext cx="573976" cy="866585"/>
          </a:xfrm>
          <a:custGeom>
            <a:avLst/>
            <a:gdLst/>
            <a:ahLst/>
            <a:cxnLst/>
            <a:rect r="r" b="b" t="t" l="l"/>
            <a:pathLst>
              <a:path h="866585" w="573976">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4" id="74"/>
          <p:cNvGrpSpPr/>
          <p:nvPr/>
        </p:nvGrpSpPr>
        <p:grpSpPr>
          <a:xfrm rot="0">
            <a:off x="640080" y="4992624"/>
            <a:ext cx="548640" cy="841248"/>
            <a:chOff x="0" y="0"/>
            <a:chExt cx="731520" cy="1121664"/>
          </a:xfrm>
        </p:grpSpPr>
        <p:sp>
          <p:nvSpPr>
            <p:cNvPr name="Freeform 75" id="75"/>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76" id="76"/>
          <p:cNvGrpSpPr/>
          <p:nvPr/>
        </p:nvGrpSpPr>
        <p:grpSpPr>
          <a:xfrm rot="0">
            <a:off x="640080" y="4964049"/>
            <a:ext cx="548640" cy="869823"/>
            <a:chOff x="0" y="0"/>
            <a:chExt cx="731520" cy="1159764"/>
          </a:xfrm>
        </p:grpSpPr>
        <p:sp>
          <p:nvSpPr>
            <p:cNvPr name="Freeform 77" id="77"/>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78" id="78"/>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05</a:t>
              </a:r>
            </a:p>
          </p:txBody>
        </p:sp>
      </p:grpSp>
      <p:sp>
        <p:nvSpPr>
          <p:cNvPr name="Freeform 79" id="79"/>
          <p:cNvSpPr/>
          <p:nvPr/>
        </p:nvSpPr>
        <p:spPr>
          <a:xfrm flipH="false" flipV="false" rot="0">
            <a:off x="1176023" y="497992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0" id="80"/>
          <p:cNvGrpSpPr/>
          <p:nvPr/>
        </p:nvGrpSpPr>
        <p:grpSpPr>
          <a:xfrm rot="0">
            <a:off x="1335024" y="4992624"/>
            <a:ext cx="7827264" cy="841248"/>
            <a:chOff x="0" y="0"/>
            <a:chExt cx="10436352" cy="1121664"/>
          </a:xfrm>
        </p:grpSpPr>
        <p:sp>
          <p:nvSpPr>
            <p:cNvPr name="Freeform 81" id="81"/>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82" id="82"/>
          <p:cNvGrpSpPr/>
          <p:nvPr/>
        </p:nvGrpSpPr>
        <p:grpSpPr>
          <a:xfrm rot="0">
            <a:off x="1335024" y="4964049"/>
            <a:ext cx="7827264" cy="869823"/>
            <a:chOff x="0" y="0"/>
            <a:chExt cx="10436352" cy="1159764"/>
          </a:xfrm>
        </p:grpSpPr>
        <p:sp>
          <p:nvSpPr>
            <p:cNvPr name="Freeform 83" id="83"/>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84" id="84"/>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Seguir el flujo desde un evento hasta un incidente, y cómo se coordinan los equipos en un SOC moderno.</a:t>
              </a:r>
            </a:p>
          </p:txBody>
        </p:sp>
      </p:grpSp>
      <p:sp>
        <p:nvSpPr>
          <p:cNvPr name="Freeform 85" id="85"/>
          <p:cNvSpPr/>
          <p:nvPr/>
        </p:nvSpPr>
        <p:spPr>
          <a:xfrm flipH="false" flipV="false" rot="0">
            <a:off x="9497063" y="4979927"/>
            <a:ext cx="573977" cy="866585"/>
          </a:xfrm>
          <a:custGeom>
            <a:avLst/>
            <a:gdLst/>
            <a:ahLst/>
            <a:cxnLst/>
            <a:rect r="r" b="b" t="t" l="l"/>
            <a:pathLst>
              <a:path h="866585" w="573977">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6" id="86"/>
          <p:cNvGrpSpPr/>
          <p:nvPr/>
        </p:nvGrpSpPr>
        <p:grpSpPr>
          <a:xfrm rot="0">
            <a:off x="9509760" y="4992624"/>
            <a:ext cx="548640" cy="841248"/>
            <a:chOff x="0" y="0"/>
            <a:chExt cx="731520" cy="1121664"/>
          </a:xfrm>
        </p:grpSpPr>
        <p:sp>
          <p:nvSpPr>
            <p:cNvPr name="Freeform 87" id="87"/>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88" id="88"/>
          <p:cNvGrpSpPr/>
          <p:nvPr/>
        </p:nvGrpSpPr>
        <p:grpSpPr>
          <a:xfrm rot="0">
            <a:off x="9509760" y="4964049"/>
            <a:ext cx="548640" cy="869823"/>
            <a:chOff x="0" y="0"/>
            <a:chExt cx="731520" cy="1159764"/>
          </a:xfrm>
        </p:grpSpPr>
        <p:sp>
          <p:nvSpPr>
            <p:cNvPr name="Freeform 89" id="89"/>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90" id="90"/>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06</a:t>
              </a:r>
            </a:p>
          </p:txBody>
        </p:sp>
      </p:grpSp>
      <p:sp>
        <p:nvSpPr>
          <p:cNvPr name="Freeform 91" id="91"/>
          <p:cNvSpPr/>
          <p:nvPr/>
        </p:nvSpPr>
        <p:spPr>
          <a:xfrm flipH="false" flipV="false" rot="0">
            <a:off x="10045703" y="497992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92" id="92"/>
          <p:cNvGrpSpPr/>
          <p:nvPr/>
        </p:nvGrpSpPr>
        <p:grpSpPr>
          <a:xfrm rot="0">
            <a:off x="10204704" y="4992624"/>
            <a:ext cx="7827264" cy="841248"/>
            <a:chOff x="0" y="0"/>
            <a:chExt cx="10436352" cy="1121664"/>
          </a:xfrm>
        </p:grpSpPr>
        <p:sp>
          <p:nvSpPr>
            <p:cNvPr name="Freeform 93" id="93"/>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94" id="94"/>
          <p:cNvGrpSpPr/>
          <p:nvPr/>
        </p:nvGrpSpPr>
        <p:grpSpPr>
          <a:xfrm rot="0">
            <a:off x="10204704" y="4964049"/>
            <a:ext cx="7827264" cy="869823"/>
            <a:chOff x="0" y="0"/>
            <a:chExt cx="10436352" cy="1159764"/>
          </a:xfrm>
        </p:grpSpPr>
        <p:sp>
          <p:nvSpPr>
            <p:cNvPr name="Freeform 95" id="95"/>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96" id="96"/>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Aplicar principios de ética, confidencialidad y trazabilidad en el trabajo diario.</a:t>
              </a:r>
            </a:p>
          </p:txBody>
        </p:sp>
      </p:grpSp>
      <p:sp>
        <p:nvSpPr>
          <p:cNvPr name="Freeform 97" id="97"/>
          <p:cNvSpPr/>
          <p:nvPr/>
        </p:nvSpPr>
        <p:spPr>
          <a:xfrm flipH="false" flipV="false" rot="0">
            <a:off x="627383" y="5985767"/>
            <a:ext cx="573976" cy="866585"/>
          </a:xfrm>
          <a:custGeom>
            <a:avLst/>
            <a:gdLst/>
            <a:ahLst/>
            <a:cxnLst/>
            <a:rect r="r" b="b" t="t" l="l"/>
            <a:pathLst>
              <a:path h="866585" w="573976">
                <a:moveTo>
                  <a:pt x="0" y="0"/>
                </a:moveTo>
                <a:lnTo>
                  <a:pt x="573977" y="0"/>
                </a:lnTo>
                <a:lnTo>
                  <a:pt x="573977" y="866585"/>
                </a:lnTo>
                <a:lnTo>
                  <a:pt x="0" y="8665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8" id="98"/>
          <p:cNvGrpSpPr/>
          <p:nvPr/>
        </p:nvGrpSpPr>
        <p:grpSpPr>
          <a:xfrm rot="0">
            <a:off x="640080" y="5998464"/>
            <a:ext cx="548640" cy="841248"/>
            <a:chOff x="0" y="0"/>
            <a:chExt cx="731520" cy="1121664"/>
          </a:xfrm>
        </p:grpSpPr>
        <p:sp>
          <p:nvSpPr>
            <p:cNvPr name="Freeform 99" id="99"/>
            <p:cNvSpPr/>
            <p:nvPr/>
          </p:nvSpPr>
          <p:spPr>
            <a:xfrm flipH="false" flipV="false" rot="0">
              <a:off x="0" y="0"/>
              <a:ext cx="731520" cy="1121664"/>
            </a:xfrm>
            <a:custGeom>
              <a:avLst/>
              <a:gdLst/>
              <a:ahLst/>
              <a:cxnLst/>
              <a:rect r="r" b="b" t="t" l="l"/>
              <a:pathLst>
                <a:path h="1121664" w="731520">
                  <a:moveTo>
                    <a:pt x="0" y="0"/>
                  </a:moveTo>
                  <a:lnTo>
                    <a:pt x="731520" y="0"/>
                  </a:lnTo>
                  <a:lnTo>
                    <a:pt x="731520" y="1121664"/>
                  </a:lnTo>
                  <a:lnTo>
                    <a:pt x="0" y="1121664"/>
                  </a:lnTo>
                  <a:close/>
                </a:path>
              </a:pathLst>
            </a:custGeom>
            <a:blipFill>
              <a:blip r:embed="rId7">
                <a:alphaModFix amt="0"/>
              </a:blip>
              <a:stretch>
                <a:fillRect l="-146869" t="0" r="-146868" b="0"/>
              </a:stretch>
            </a:blipFill>
          </p:spPr>
        </p:sp>
      </p:grpSp>
      <p:grpSp>
        <p:nvGrpSpPr>
          <p:cNvPr name="Group 100" id="100"/>
          <p:cNvGrpSpPr/>
          <p:nvPr/>
        </p:nvGrpSpPr>
        <p:grpSpPr>
          <a:xfrm rot="0">
            <a:off x="640080" y="5969889"/>
            <a:ext cx="548640" cy="869823"/>
            <a:chOff x="0" y="0"/>
            <a:chExt cx="731520" cy="1159764"/>
          </a:xfrm>
        </p:grpSpPr>
        <p:sp>
          <p:nvSpPr>
            <p:cNvPr name="Freeform 101" id="101"/>
            <p:cNvSpPr/>
            <p:nvPr/>
          </p:nvSpPr>
          <p:spPr>
            <a:xfrm flipH="false" flipV="false" rot="0">
              <a:off x="0" y="0"/>
              <a:ext cx="731520" cy="1159764"/>
            </a:xfrm>
            <a:custGeom>
              <a:avLst/>
              <a:gdLst/>
              <a:ahLst/>
              <a:cxnLst/>
              <a:rect r="r" b="b" t="t" l="l"/>
              <a:pathLst>
                <a:path h="1159764" w="731520">
                  <a:moveTo>
                    <a:pt x="0" y="0"/>
                  </a:moveTo>
                  <a:lnTo>
                    <a:pt x="731520" y="0"/>
                  </a:lnTo>
                  <a:lnTo>
                    <a:pt x="731520" y="1159764"/>
                  </a:lnTo>
                  <a:lnTo>
                    <a:pt x="0" y="1159764"/>
                  </a:lnTo>
                  <a:close/>
                </a:path>
              </a:pathLst>
            </a:custGeom>
            <a:blipFill>
              <a:blip r:embed="rId8">
                <a:alphaModFix amt="0"/>
              </a:blip>
              <a:stretch>
                <a:fillRect l="-153414" t="0" r="-153414" b="0"/>
              </a:stretch>
            </a:blipFill>
          </p:spPr>
        </p:sp>
        <p:sp>
          <p:nvSpPr>
            <p:cNvPr name="TextBox 102" id="102"/>
            <p:cNvSpPr txBox="true"/>
            <p:nvPr/>
          </p:nvSpPr>
          <p:spPr>
            <a:xfrm>
              <a:off x="0" y="-38100"/>
              <a:ext cx="731520" cy="119786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07</a:t>
              </a:r>
            </a:p>
          </p:txBody>
        </p:sp>
      </p:grpSp>
      <p:sp>
        <p:nvSpPr>
          <p:cNvPr name="Freeform 103" id="103"/>
          <p:cNvSpPr/>
          <p:nvPr/>
        </p:nvSpPr>
        <p:spPr>
          <a:xfrm flipH="false" flipV="false" rot="0">
            <a:off x="1176023" y="5985767"/>
            <a:ext cx="8072056" cy="866585"/>
          </a:xfrm>
          <a:custGeom>
            <a:avLst/>
            <a:gdLst/>
            <a:ahLst/>
            <a:cxnLst/>
            <a:rect r="r" b="b" t="t" l="l"/>
            <a:pathLst>
              <a:path h="866585" w="8072056">
                <a:moveTo>
                  <a:pt x="0" y="0"/>
                </a:moveTo>
                <a:lnTo>
                  <a:pt x="8072057" y="0"/>
                </a:lnTo>
                <a:lnTo>
                  <a:pt x="8072057" y="866585"/>
                </a:lnTo>
                <a:lnTo>
                  <a:pt x="0" y="8665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04" id="104"/>
          <p:cNvGrpSpPr/>
          <p:nvPr/>
        </p:nvGrpSpPr>
        <p:grpSpPr>
          <a:xfrm rot="0">
            <a:off x="1335024" y="5998464"/>
            <a:ext cx="7827264" cy="841248"/>
            <a:chOff x="0" y="0"/>
            <a:chExt cx="10436352" cy="1121664"/>
          </a:xfrm>
        </p:grpSpPr>
        <p:sp>
          <p:nvSpPr>
            <p:cNvPr name="Freeform 105" id="105"/>
            <p:cNvSpPr/>
            <p:nvPr/>
          </p:nvSpPr>
          <p:spPr>
            <a:xfrm flipH="false" flipV="false" rot="0">
              <a:off x="0" y="0"/>
              <a:ext cx="10436352" cy="1121664"/>
            </a:xfrm>
            <a:custGeom>
              <a:avLst/>
              <a:gdLst/>
              <a:ahLst/>
              <a:cxnLst/>
              <a:rect r="r" b="b" t="t" l="l"/>
              <a:pathLst>
                <a:path h="1121664" w="10436352">
                  <a:moveTo>
                    <a:pt x="0" y="0"/>
                  </a:moveTo>
                  <a:lnTo>
                    <a:pt x="10436352" y="0"/>
                  </a:lnTo>
                  <a:lnTo>
                    <a:pt x="10436352" y="1121664"/>
                  </a:lnTo>
                  <a:lnTo>
                    <a:pt x="0" y="1121664"/>
                  </a:lnTo>
                  <a:close/>
                </a:path>
              </a:pathLst>
            </a:custGeom>
            <a:blipFill>
              <a:blip r:embed="rId7">
                <a:alphaModFix amt="0"/>
              </a:blip>
              <a:stretch>
                <a:fillRect l="0" t="-131169" r="0" b="-131169"/>
              </a:stretch>
            </a:blipFill>
          </p:spPr>
        </p:sp>
      </p:grpSp>
      <p:grpSp>
        <p:nvGrpSpPr>
          <p:cNvPr name="Group 106" id="106"/>
          <p:cNvGrpSpPr/>
          <p:nvPr/>
        </p:nvGrpSpPr>
        <p:grpSpPr>
          <a:xfrm rot="0">
            <a:off x="1335024" y="5969889"/>
            <a:ext cx="7827264" cy="869823"/>
            <a:chOff x="0" y="0"/>
            <a:chExt cx="10436352" cy="1159764"/>
          </a:xfrm>
        </p:grpSpPr>
        <p:sp>
          <p:nvSpPr>
            <p:cNvPr name="Freeform 107" id="107"/>
            <p:cNvSpPr/>
            <p:nvPr/>
          </p:nvSpPr>
          <p:spPr>
            <a:xfrm flipH="false" flipV="false" rot="0">
              <a:off x="0" y="0"/>
              <a:ext cx="10436352" cy="1159764"/>
            </a:xfrm>
            <a:custGeom>
              <a:avLst/>
              <a:gdLst/>
              <a:ahLst/>
              <a:cxnLst/>
              <a:rect r="r" b="b" t="t" l="l"/>
              <a:pathLst>
                <a:path h="1159764" w="10436352">
                  <a:moveTo>
                    <a:pt x="0" y="0"/>
                  </a:moveTo>
                  <a:lnTo>
                    <a:pt x="10436352" y="0"/>
                  </a:lnTo>
                  <a:lnTo>
                    <a:pt x="10436352" y="1159764"/>
                  </a:lnTo>
                  <a:lnTo>
                    <a:pt x="0" y="1159764"/>
                  </a:lnTo>
                  <a:close/>
                </a:path>
              </a:pathLst>
            </a:custGeom>
            <a:blipFill>
              <a:blip r:embed="rId8">
                <a:alphaModFix amt="0"/>
              </a:blip>
              <a:stretch>
                <a:fillRect l="0" t="-125339" r="0" b="-125339"/>
              </a:stretch>
            </a:blipFill>
          </p:spPr>
        </p:sp>
        <p:sp>
          <p:nvSpPr>
            <p:cNvPr name="TextBox 108" id="108"/>
            <p:cNvSpPr txBox="true"/>
            <p:nvPr/>
          </p:nvSpPr>
          <p:spPr>
            <a:xfrm>
              <a:off x="0" y="-38100"/>
              <a:ext cx="10436352" cy="1197864"/>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Explorar rutas de crecimiento, certificaciones y salidas laborales en ciberseguridad.</a:t>
              </a:r>
            </a:p>
          </p:txBody>
        </p:sp>
      </p:grpSp>
      <p:grpSp>
        <p:nvGrpSpPr>
          <p:cNvPr name="Group 109" id="109"/>
          <p:cNvGrpSpPr/>
          <p:nvPr/>
        </p:nvGrpSpPr>
        <p:grpSpPr>
          <a:xfrm rot="0">
            <a:off x="15983863" y="24203"/>
            <a:ext cx="1855079" cy="1855079"/>
            <a:chOff x="0" y="0"/>
            <a:chExt cx="5852160" cy="5852160"/>
          </a:xfrm>
        </p:grpSpPr>
        <p:sp>
          <p:nvSpPr>
            <p:cNvPr name="Freeform 110" id="110"/>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5"/>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a:t>
              </a:r>
            </a:p>
          </p:txBody>
        </p:sp>
      </p:grpSp>
      <p:sp>
        <p:nvSpPr>
          <p:cNvPr name="Freeform 13" id="13"/>
          <p:cNvSpPr/>
          <p:nvPr/>
        </p:nvSpPr>
        <p:spPr>
          <a:xfrm flipH="false" flipV="false" rot="0">
            <a:off x="-12697" y="-12697"/>
            <a:ext cx="18313336" cy="1854136"/>
          </a:xfrm>
          <a:custGeom>
            <a:avLst/>
            <a:gdLst/>
            <a:ahLst/>
            <a:cxnLst/>
            <a:rect r="r" b="b" t="t" l="l"/>
            <a:pathLst>
              <a:path h="1854136" w="18313336">
                <a:moveTo>
                  <a:pt x="0" y="0"/>
                </a:moveTo>
                <a:lnTo>
                  <a:pt x="18313337" y="0"/>
                </a:lnTo>
                <a:lnTo>
                  <a:pt x="18313337" y="1854137"/>
                </a:lnTo>
                <a:lnTo>
                  <a:pt x="0" y="18541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5544800" cy="1828800"/>
            <a:chOff x="0" y="0"/>
            <a:chExt cx="20726400" cy="2438400"/>
          </a:xfrm>
        </p:grpSpPr>
        <p:sp>
          <p:nvSpPr>
            <p:cNvPr name="Freeform 15" id="15"/>
            <p:cNvSpPr/>
            <p:nvPr/>
          </p:nvSpPr>
          <p:spPr>
            <a:xfrm flipH="false" flipV="false" rot="0">
              <a:off x="0" y="0"/>
              <a:ext cx="20726400" cy="2438400"/>
            </a:xfrm>
            <a:custGeom>
              <a:avLst/>
              <a:gdLst/>
              <a:ahLst/>
              <a:cxnLst/>
              <a:rect r="r" b="b" t="t" l="l"/>
              <a:pathLst>
                <a:path h="2438400" w="20726400">
                  <a:moveTo>
                    <a:pt x="0" y="0"/>
                  </a:moveTo>
                  <a:lnTo>
                    <a:pt x="20726400" y="0"/>
                  </a:lnTo>
                  <a:lnTo>
                    <a:pt x="20726400" y="2438400"/>
                  </a:lnTo>
                  <a:lnTo>
                    <a:pt x="0" y="2438400"/>
                  </a:lnTo>
                  <a:close/>
                </a:path>
              </a:pathLst>
            </a:custGeom>
            <a:blipFill>
              <a:blip r:embed="rId5">
                <a:alphaModFix amt="0"/>
              </a:blip>
              <a:stretch>
                <a:fillRect l="0" t="-115507" r="0" b="-115507"/>
              </a:stretch>
            </a:blipFill>
          </p:spPr>
        </p:sp>
      </p:grpSp>
      <p:grpSp>
        <p:nvGrpSpPr>
          <p:cNvPr name="Group 16" id="16"/>
          <p:cNvGrpSpPr/>
          <p:nvPr/>
        </p:nvGrpSpPr>
        <p:grpSpPr>
          <a:xfrm rot="0">
            <a:off x="731520" y="0"/>
            <a:ext cx="15544800" cy="1893094"/>
            <a:chOff x="0" y="0"/>
            <a:chExt cx="20726400" cy="2524125"/>
          </a:xfrm>
        </p:grpSpPr>
        <p:sp>
          <p:nvSpPr>
            <p:cNvPr name="Freeform 17" id="17"/>
            <p:cNvSpPr/>
            <p:nvPr/>
          </p:nvSpPr>
          <p:spPr>
            <a:xfrm flipH="false" flipV="false" rot="0">
              <a:off x="0" y="0"/>
              <a:ext cx="20726400" cy="2524125"/>
            </a:xfrm>
            <a:custGeom>
              <a:avLst/>
              <a:gdLst/>
              <a:ahLst/>
              <a:cxnLst/>
              <a:rect r="r" b="b" t="t" l="l"/>
              <a:pathLst>
                <a:path h="2524125" w="20726400">
                  <a:moveTo>
                    <a:pt x="0" y="0"/>
                  </a:moveTo>
                  <a:lnTo>
                    <a:pt x="20726400" y="0"/>
                  </a:lnTo>
                  <a:lnTo>
                    <a:pt x="20726400" y="2524125"/>
                  </a:lnTo>
                  <a:lnTo>
                    <a:pt x="0" y="2524125"/>
                  </a:lnTo>
                  <a:close/>
                </a:path>
              </a:pathLst>
            </a:custGeom>
            <a:blipFill>
              <a:blip r:embed="rId6">
                <a:alphaModFix amt="0"/>
              </a:blip>
              <a:stretch>
                <a:fillRect l="0" t="-109997" r="0" b="-109997"/>
              </a:stretch>
            </a:blipFill>
          </p:spPr>
        </p:sp>
        <p:sp>
          <p:nvSpPr>
            <p:cNvPr name="TextBox 18" id="18"/>
            <p:cNvSpPr txBox="true"/>
            <p:nvPr/>
          </p:nvSpPr>
          <p:spPr>
            <a:xfrm>
              <a:off x="0" y="-85725"/>
              <a:ext cx="20726400" cy="2609850"/>
            </a:xfrm>
            <a:prstGeom prst="rect">
              <a:avLst/>
            </a:prstGeom>
          </p:spPr>
          <p:txBody>
            <a:bodyPr anchor="ctr" rtlCol="false" tIns="0" lIns="0" bIns="0" rIns="0"/>
            <a:lstStyle/>
            <a:p>
              <a:pPr algn="l">
                <a:lnSpc>
                  <a:spcPts val="4798"/>
                </a:lnSpc>
              </a:pPr>
              <a:r>
                <a:rPr lang="en-US" sz="3999" b="true">
                  <a:solidFill>
                    <a:srgbClr val="FFFFFF"/>
                  </a:solidFill>
                  <a:latin typeface="Calibri (MS) Bold"/>
                  <a:ea typeface="Calibri (MS) Bold"/>
                  <a:cs typeface="Calibri (MS) Bold"/>
                  <a:sym typeface="Calibri (MS) Bold"/>
                </a:rPr>
                <a:t>ESTRUCTURA DEL MÓDULO 1</a:t>
              </a:r>
            </a:p>
          </p:txBody>
        </p:sp>
      </p:grpSp>
      <p:sp>
        <p:nvSpPr>
          <p:cNvPr name="Freeform 19" id="19"/>
          <p:cNvSpPr/>
          <p:nvPr/>
        </p:nvSpPr>
        <p:spPr>
          <a:xfrm flipH="false" flipV="false" rot="0">
            <a:off x="380486" y="2145287"/>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393182" y="2157984"/>
            <a:ext cx="1005840" cy="987552"/>
            <a:chOff x="0" y="0"/>
            <a:chExt cx="1341120" cy="1316736"/>
          </a:xfrm>
        </p:grpSpPr>
        <p:sp>
          <p:nvSpPr>
            <p:cNvPr name="Freeform 21" id="21"/>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22" id="22"/>
          <p:cNvGrpSpPr/>
          <p:nvPr/>
        </p:nvGrpSpPr>
        <p:grpSpPr>
          <a:xfrm rot="0">
            <a:off x="393182" y="2129409"/>
            <a:ext cx="1005840" cy="1016127"/>
            <a:chOff x="0" y="0"/>
            <a:chExt cx="1341120" cy="1354836"/>
          </a:xfrm>
        </p:grpSpPr>
        <p:sp>
          <p:nvSpPr>
            <p:cNvPr name="Freeform 23" id="23"/>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24" id="24"/>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1.1</a:t>
              </a:r>
            </a:p>
          </p:txBody>
        </p:sp>
      </p:grpSp>
      <p:sp>
        <p:nvSpPr>
          <p:cNvPr name="Freeform 25" id="25"/>
          <p:cNvSpPr/>
          <p:nvPr/>
        </p:nvSpPr>
        <p:spPr>
          <a:xfrm flipH="false" flipV="false" rot="0">
            <a:off x="1422902" y="2145287"/>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828800" y="2048256"/>
            <a:ext cx="10058400" cy="548640"/>
            <a:chOff x="0" y="0"/>
            <a:chExt cx="13411200" cy="731520"/>
          </a:xfrm>
        </p:grpSpPr>
        <p:sp>
          <p:nvSpPr>
            <p:cNvPr name="Freeform 27" id="27"/>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28" id="28"/>
          <p:cNvGrpSpPr/>
          <p:nvPr/>
        </p:nvGrpSpPr>
        <p:grpSpPr>
          <a:xfrm rot="0">
            <a:off x="1673342" y="2048256"/>
            <a:ext cx="10058400" cy="584359"/>
            <a:chOff x="0" y="0"/>
            <a:chExt cx="13411200" cy="779145"/>
          </a:xfrm>
        </p:grpSpPr>
        <p:sp>
          <p:nvSpPr>
            <p:cNvPr name="Freeform 29" id="29"/>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30" id="30"/>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¿Qué es un SOC y por qué es clave en Ciberseguridad?</a:t>
              </a:r>
            </a:p>
          </p:txBody>
        </p:sp>
      </p:grpSp>
      <p:sp>
        <p:nvSpPr>
          <p:cNvPr name="TextBox 31" id="31"/>
          <p:cNvSpPr txBox="true"/>
          <p:nvPr/>
        </p:nvSpPr>
        <p:spPr>
          <a:xfrm rot="0">
            <a:off x="1764782" y="2621280"/>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Definición, objetivos, tipos y encaje estratégico</a:t>
            </a:r>
          </a:p>
        </p:txBody>
      </p:sp>
      <p:sp>
        <p:nvSpPr>
          <p:cNvPr name="Freeform 32" id="32"/>
          <p:cNvSpPr/>
          <p:nvPr/>
        </p:nvSpPr>
        <p:spPr>
          <a:xfrm flipH="false" flipV="false" rot="0">
            <a:off x="380486" y="3407159"/>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3" id="33"/>
          <p:cNvGrpSpPr/>
          <p:nvPr/>
        </p:nvGrpSpPr>
        <p:grpSpPr>
          <a:xfrm rot="0">
            <a:off x="393182" y="3419856"/>
            <a:ext cx="1005840" cy="987552"/>
            <a:chOff x="0" y="0"/>
            <a:chExt cx="1341120" cy="1316736"/>
          </a:xfrm>
        </p:grpSpPr>
        <p:sp>
          <p:nvSpPr>
            <p:cNvPr name="Freeform 34" id="34"/>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35" id="35"/>
          <p:cNvGrpSpPr/>
          <p:nvPr/>
        </p:nvGrpSpPr>
        <p:grpSpPr>
          <a:xfrm rot="0">
            <a:off x="393182" y="3391281"/>
            <a:ext cx="1005840" cy="1016127"/>
            <a:chOff x="0" y="0"/>
            <a:chExt cx="1341120" cy="1354836"/>
          </a:xfrm>
        </p:grpSpPr>
        <p:sp>
          <p:nvSpPr>
            <p:cNvPr name="Freeform 36" id="36"/>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37" id="37"/>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1.2</a:t>
              </a:r>
            </a:p>
          </p:txBody>
        </p:sp>
      </p:grpSp>
      <p:sp>
        <p:nvSpPr>
          <p:cNvPr name="Freeform 38" id="38"/>
          <p:cNvSpPr/>
          <p:nvPr/>
        </p:nvSpPr>
        <p:spPr>
          <a:xfrm flipH="false" flipV="false" rot="0">
            <a:off x="1422902" y="3407159"/>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9" id="39"/>
          <p:cNvGrpSpPr/>
          <p:nvPr/>
        </p:nvGrpSpPr>
        <p:grpSpPr>
          <a:xfrm rot="0">
            <a:off x="1673342" y="3419856"/>
            <a:ext cx="10058400" cy="548640"/>
            <a:chOff x="0" y="0"/>
            <a:chExt cx="13411200" cy="731520"/>
          </a:xfrm>
        </p:grpSpPr>
        <p:sp>
          <p:nvSpPr>
            <p:cNvPr name="Freeform 40" id="40"/>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41" id="41"/>
          <p:cNvGrpSpPr/>
          <p:nvPr/>
        </p:nvGrpSpPr>
        <p:grpSpPr>
          <a:xfrm rot="0">
            <a:off x="1673342" y="3384137"/>
            <a:ext cx="10058400" cy="584359"/>
            <a:chOff x="0" y="0"/>
            <a:chExt cx="13411200" cy="779145"/>
          </a:xfrm>
        </p:grpSpPr>
        <p:sp>
          <p:nvSpPr>
            <p:cNvPr name="Freeform 42" id="42"/>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43" id="43"/>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Estructura y roles dentro de un SOC</a:t>
              </a:r>
            </a:p>
          </p:txBody>
        </p:sp>
      </p:grpSp>
      <p:sp>
        <p:nvSpPr>
          <p:cNvPr name="TextBox 44" id="44"/>
          <p:cNvSpPr txBox="true"/>
          <p:nvPr/>
        </p:nvSpPr>
        <p:spPr>
          <a:xfrm rot="0">
            <a:off x="1764782" y="3883152"/>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Niveles L1/L2/L3, roles especializados, turnos y jerarquías</a:t>
            </a:r>
          </a:p>
        </p:txBody>
      </p:sp>
      <p:sp>
        <p:nvSpPr>
          <p:cNvPr name="Freeform 45" id="45"/>
          <p:cNvSpPr/>
          <p:nvPr/>
        </p:nvSpPr>
        <p:spPr>
          <a:xfrm flipH="false" flipV="false" rot="0">
            <a:off x="380486" y="4669031"/>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6" id="46"/>
          <p:cNvGrpSpPr/>
          <p:nvPr/>
        </p:nvGrpSpPr>
        <p:grpSpPr>
          <a:xfrm rot="0">
            <a:off x="393182" y="4681728"/>
            <a:ext cx="1005840" cy="987552"/>
            <a:chOff x="0" y="0"/>
            <a:chExt cx="1341120" cy="1316736"/>
          </a:xfrm>
        </p:grpSpPr>
        <p:sp>
          <p:nvSpPr>
            <p:cNvPr name="Freeform 47" id="47"/>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48" id="48"/>
          <p:cNvGrpSpPr/>
          <p:nvPr/>
        </p:nvGrpSpPr>
        <p:grpSpPr>
          <a:xfrm rot="0">
            <a:off x="393182" y="4653153"/>
            <a:ext cx="1005840" cy="1016127"/>
            <a:chOff x="0" y="0"/>
            <a:chExt cx="1341120" cy="1354836"/>
          </a:xfrm>
        </p:grpSpPr>
        <p:sp>
          <p:nvSpPr>
            <p:cNvPr name="Freeform 49" id="49"/>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50" id="50"/>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1.3</a:t>
              </a:r>
            </a:p>
          </p:txBody>
        </p:sp>
      </p:grpSp>
      <p:sp>
        <p:nvSpPr>
          <p:cNvPr name="Freeform 51" id="51"/>
          <p:cNvSpPr/>
          <p:nvPr/>
        </p:nvSpPr>
        <p:spPr>
          <a:xfrm flipH="false" flipV="false" rot="0">
            <a:off x="1422902" y="4669031"/>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2" id="52"/>
          <p:cNvGrpSpPr/>
          <p:nvPr/>
        </p:nvGrpSpPr>
        <p:grpSpPr>
          <a:xfrm rot="0">
            <a:off x="1673342" y="4681728"/>
            <a:ext cx="10058400" cy="548640"/>
            <a:chOff x="0" y="0"/>
            <a:chExt cx="13411200" cy="731520"/>
          </a:xfrm>
        </p:grpSpPr>
        <p:sp>
          <p:nvSpPr>
            <p:cNvPr name="Freeform 53" id="53"/>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54" id="54"/>
          <p:cNvGrpSpPr/>
          <p:nvPr/>
        </p:nvGrpSpPr>
        <p:grpSpPr>
          <a:xfrm rot="0">
            <a:off x="1673342" y="4646009"/>
            <a:ext cx="10058400" cy="584359"/>
            <a:chOff x="0" y="0"/>
            <a:chExt cx="13411200" cy="779145"/>
          </a:xfrm>
        </p:grpSpPr>
        <p:sp>
          <p:nvSpPr>
            <p:cNvPr name="Freeform 55" id="55"/>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56" id="56"/>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El Rol del Analista SOC en el SOC Moderno</a:t>
              </a:r>
            </a:p>
          </p:txBody>
        </p:sp>
      </p:grpSp>
      <p:sp>
        <p:nvSpPr>
          <p:cNvPr name="TextBox 57" id="57"/>
          <p:cNvSpPr txBox="true"/>
          <p:nvPr/>
        </p:nvSpPr>
        <p:spPr>
          <a:xfrm rot="0">
            <a:off x="1764782" y="5145024"/>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Criterio operativo, habilidades, herramientas y automatización</a:t>
            </a:r>
          </a:p>
        </p:txBody>
      </p:sp>
      <p:sp>
        <p:nvSpPr>
          <p:cNvPr name="Freeform 58" id="58"/>
          <p:cNvSpPr/>
          <p:nvPr/>
        </p:nvSpPr>
        <p:spPr>
          <a:xfrm flipH="false" flipV="false" rot="0">
            <a:off x="380486" y="5930903"/>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59" id="59"/>
          <p:cNvGrpSpPr/>
          <p:nvPr/>
        </p:nvGrpSpPr>
        <p:grpSpPr>
          <a:xfrm rot="0">
            <a:off x="393182" y="5943600"/>
            <a:ext cx="1005840" cy="987552"/>
            <a:chOff x="0" y="0"/>
            <a:chExt cx="1341120" cy="1316736"/>
          </a:xfrm>
        </p:grpSpPr>
        <p:sp>
          <p:nvSpPr>
            <p:cNvPr name="Freeform 60" id="60"/>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61" id="61"/>
          <p:cNvGrpSpPr/>
          <p:nvPr/>
        </p:nvGrpSpPr>
        <p:grpSpPr>
          <a:xfrm rot="0">
            <a:off x="393182" y="5915025"/>
            <a:ext cx="1005840" cy="1016127"/>
            <a:chOff x="0" y="0"/>
            <a:chExt cx="1341120" cy="1354836"/>
          </a:xfrm>
        </p:grpSpPr>
        <p:sp>
          <p:nvSpPr>
            <p:cNvPr name="Freeform 62" id="62"/>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63" id="63"/>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1.4</a:t>
              </a:r>
            </a:p>
          </p:txBody>
        </p:sp>
      </p:grpSp>
      <p:sp>
        <p:nvSpPr>
          <p:cNvPr name="Freeform 64" id="64"/>
          <p:cNvSpPr/>
          <p:nvPr/>
        </p:nvSpPr>
        <p:spPr>
          <a:xfrm flipH="false" flipV="false" rot="0">
            <a:off x="1422902" y="5930903"/>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5" id="65"/>
          <p:cNvGrpSpPr/>
          <p:nvPr/>
        </p:nvGrpSpPr>
        <p:grpSpPr>
          <a:xfrm rot="0">
            <a:off x="1673342" y="5943600"/>
            <a:ext cx="10058400" cy="548640"/>
            <a:chOff x="0" y="0"/>
            <a:chExt cx="13411200" cy="731520"/>
          </a:xfrm>
        </p:grpSpPr>
        <p:sp>
          <p:nvSpPr>
            <p:cNvPr name="Freeform 66" id="66"/>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67" id="67"/>
          <p:cNvGrpSpPr/>
          <p:nvPr/>
        </p:nvGrpSpPr>
        <p:grpSpPr>
          <a:xfrm rot="0">
            <a:off x="1673342" y="5907881"/>
            <a:ext cx="10058400" cy="584359"/>
            <a:chOff x="0" y="0"/>
            <a:chExt cx="13411200" cy="779145"/>
          </a:xfrm>
        </p:grpSpPr>
        <p:sp>
          <p:nvSpPr>
            <p:cNvPr name="Freeform 68" id="68"/>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69" id="69"/>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Flujo de trabajo dentro de un SOC</a:t>
              </a:r>
            </a:p>
          </p:txBody>
        </p:sp>
      </p:grpSp>
      <p:sp>
        <p:nvSpPr>
          <p:cNvPr name="TextBox 70" id="70"/>
          <p:cNvSpPr txBox="true"/>
          <p:nvPr/>
        </p:nvSpPr>
        <p:spPr>
          <a:xfrm rot="0">
            <a:off x="1764782" y="6406896"/>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Del evento al incidente, herramientas y coordinación</a:t>
            </a:r>
          </a:p>
        </p:txBody>
      </p:sp>
      <p:sp>
        <p:nvSpPr>
          <p:cNvPr name="Freeform 71" id="71"/>
          <p:cNvSpPr/>
          <p:nvPr/>
        </p:nvSpPr>
        <p:spPr>
          <a:xfrm flipH="false" flipV="false" rot="0">
            <a:off x="380486" y="7192775"/>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2" id="72"/>
          <p:cNvGrpSpPr/>
          <p:nvPr/>
        </p:nvGrpSpPr>
        <p:grpSpPr>
          <a:xfrm rot="0">
            <a:off x="393182" y="7205472"/>
            <a:ext cx="1005840" cy="987552"/>
            <a:chOff x="0" y="0"/>
            <a:chExt cx="1341120" cy="1316736"/>
          </a:xfrm>
        </p:grpSpPr>
        <p:sp>
          <p:nvSpPr>
            <p:cNvPr name="Freeform 73" id="73"/>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74" id="74"/>
          <p:cNvGrpSpPr/>
          <p:nvPr/>
        </p:nvGrpSpPr>
        <p:grpSpPr>
          <a:xfrm rot="0">
            <a:off x="393182" y="7176897"/>
            <a:ext cx="1005840" cy="1016127"/>
            <a:chOff x="0" y="0"/>
            <a:chExt cx="1341120" cy="1354836"/>
          </a:xfrm>
        </p:grpSpPr>
        <p:sp>
          <p:nvSpPr>
            <p:cNvPr name="Freeform 75" id="75"/>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76" id="76"/>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1.5</a:t>
              </a:r>
            </a:p>
          </p:txBody>
        </p:sp>
      </p:grpSp>
      <p:sp>
        <p:nvSpPr>
          <p:cNvPr name="Freeform 77" id="77"/>
          <p:cNvSpPr/>
          <p:nvPr/>
        </p:nvSpPr>
        <p:spPr>
          <a:xfrm flipH="false" flipV="false" rot="0">
            <a:off x="1422902" y="7192775"/>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8" id="78"/>
          <p:cNvGrpSpPr/>
          <p:nvPr/>
        </p:nvGrpSpPr>
        <p:grpSpPr>
          <a:xfrm rot="0">
            <a:off x="1673342" y="7205472"/>
            <a:ext cx="10058400" cy="548640"/>
            <a:chOff x="0" y="0"/>
            <a:chExt cx="13411200" cy="731520"/>
          </a:xfrm>
        </p:grpSpPr>
        <p:sp>
          <p:nvSpPr>
            <p:cNvPr name="Freeform 79" id="79"/>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80" id="80"/>
          <p:cNvGrpSpPr/>
          <p:nvPr/>
        </p:nvGrpSpPr>
        <p:grpSpPr>
          <a:xfrm rot="0">
            <a:off x="1673342" y="7169753"/>
            <a:ext cx="10058400" cy="584359"/>
            <a:chOff x="0" y="0"/>
            <a:chExt cx="13411200" cy="779145"/>
          </a:xfrm>
        </p:grpSpPr>
        <p:sp>
          <p:nvSpPr>
            <p:cNvPr name="Freeform 81" id="81"/>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82" id="82"/>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Ética, confidencialidad y responsabilidad</a:t>
              </a:r>
            </a:p>
          </p:txBody>
        </p:sp>
      </p:grpSp>
      <p:sp>
        <p:nvSpPr>
          <p:cNvPr name="TextBox 83" id="83"/>
          <p:cNvSpPr txBox="true"/>
          <p:nvPr/>
        </p:nvSpPr>
        <p:spPr>
          <a:xfrm rot="0">
            <a:off x="1764782" y="7668768"/>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Manejo seguro de información y trazabilidad</a:t>
            </a:r>
          </a:p>
        </p:txBody>
      </p:sp>
      <p:sp>
        <p:nvSpPr>
          <p:cNvPr name="Freeform 84" id="84"/>
          <p:cNvSpPr/>
          <p:nvPr/>
        </p:nvSpPr>
        <p:spPr>
          <a:xfrm flipH="false" flipV="false" rot="0">
            <a:off x="380486" y="8454647"/>
            <a:ext cx="1031177" cy="1012888"/>
          </a:xfrm>
          <a:custGeom>
            <a:avLst/>
            <a:gdLst/>
            <a:ahLst/>
            <a:cxnLst/>
            <a:rect r="r" b="b" t="t" l="l"/>
            <a:pathLst>
              <a:path h="1012888" w="1031177">
                <a:moveTo>
                  <a:pt x="0" y="0"/>
                </a:moveTo>
                <a:lnTo>
                  <a:pt x="1031176" y="0"/>
                </a:lnTo>
                <a:lnTo>
                  <a:pt x="1031176" y="1012889"/>
                </a:lnTo>
                <a:lnTo>
                  <a:pt x="0" y="10128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5" id="85"/>
          <p:cNvGrpSpPr/>
          <p:nvPr/>
        </p:nvGrpSpPr>
        <p:grpSpPr>
          <a:xfrm rot="0">
            <a:off x="393182" y="8467344"/>
            <a:ext cx="1005840" cy="987552"/>
            <a:chOff x="0" y="0"/>
            <a:chExt cx="1341120" cy="1316736"/>
          </a:xfrm>
        </p:grpSpPr>
        <p:sp>
          <p:nvSpPr>
            <p:cNvPr name="Freeform 86" id="86"/>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5">
                <a:alphaModFix amt="0"/>
              </a:blip>
              <a:stretch>
                <a:fillRect l="-76058" t="0" r="-76057" b="0"/>
              </a:stretch>
            </a:blipFill>
          </p:spPr>
        </p:sp>
      </p:grpSp>
      <p:grpSp>
        <p:nvGrpSpPr>
          <p:cNvPr name="Group 87" id="87"/>
          <p:cNvGrpSpPr/>
          <p:nvPr/>
        </p:nvGrpSpPr>
        <p:grpSpPr>
          <a:xfrm rot="0">
            <a:off x="393182" y="8438769"/>
            <a:ext cx="1005840" cy="1016127"/>
            <a:chOff x="0" y="0"/>
            <a:chExt cx="1341120" cy="1354836"/>
          </a:xfrm>
        </p:grpSpPr>
        <p:sp>
          <p:nvSpPr>
            <p:cNvPr name="Freeform 88" id="88"/>
            <p:cNvSpPr/>
            <p:nvPr/>
          </p:nvSpPr>
          <p:spPr>
            <a:xfrm flipH="false" flipV="false" rot="0">
              <a:off x="0" y="0"/>
              <a:ext cx="1341120" cy="1354836"/>
            </a:xfrm>
            <a:custGeom>
              <a:avLst/>
              <a:gdLst/>
              <a:ahLst/>
              <a:cxnLst/>
              <a:rect r="r" b="b" t="t" l="l"/>
              <a:pathLst>
                <a:path h="1354836" w="1341120">
                  <a:moveTo>
                    <a:pt x="0" y="0"/>
                  </a:moveTo>
                  <a:lnTo>
                    <a:pt x="1341120" y="0"/>
                  </a:lnTo>
                  <a:lnTo>
                    <a:pt x="1341120" y="1354836"/>
                  </a:lnTo>
                  <a:lnTo>
                    <a:pt x="0" y="1354836"/>
                  </a:lnTo>
                  <a:close/>
                </a:path>
              </a:pathLst>
            </a:custGeom>
            <a:blipFill>
              <a:blip r:embed="rId6">
                <a:alphaModFix amt="0"/>
              </a:blip>
              <a:stretch>
                <a:fillRect l="-79615" t="0" r="-79615" b="0"/>
              </a:stretch>
            </a:blipFill>
          </p:spPr>
        </p:sp>
        <p:sp>
          <p:nvSpPr>
            <p:cNvPr name="TextBox 89" id="89"/>
            <p:cNvSpPr txBox="true"/>
            <p:nvPr/>
          </p:nvSpPr>
          <p:spPr>
            <a:xfrm>
              <a:off x="0" y="-38100"/>
              <a:ext cx="1341120" cy="139293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1.6</a:t>
              </a:r>
            </a:p>
          </p:txBody>
        </p:sp>
      </p:grpSp>
      <p:sp>
        <p:nvSpPr>
          <p:cNvPr name="Freeform 90" id="90"/>
          <p:cNvSpPr/>
          <p:nvPr/>
        </p:nvSpPr>
        <p:spPr>
          <a:xfrm flipH="false" flipV="false" rot="0">
            <a:off x="1422902" y="8454647"/>
            <a:ext cx="16484537" cy="1012888"/>
          </a:xfrm>
          <a:custGeom>
            <a:avLst/>
            <a:gdLst/>
            <a:ahLst/>
            <a:cxnLst/>
            <a:rect r="r" b="b" t="t" l="l"/>
            <a:pathLst>
              <a:path h="1012888" w="16484537">
                <a:moveTo>
                  <a:pt x="0" y="0"/>
                </a:moveTo>
                <a:lnTo>
                  <a:pt x="16484536" y="0"/>
                </a:lnTo>
                <a:lnTo>
                  <a:pt x="16484536" y="1012889"/>
                </a:lnTo>
                <a:lnTo>
                  <a:pt x="0" y="1012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1" id="91"/>
          <p:cNvGrpSpPr/>
          <p:nvPr/>
        </p:nvGrpSpPr>
        <p:grpSpPr>
          <a:xfrm rot="0">
            <a:off x="1673342" y="8467344"/>
            <a:ext cx="10058400" cy="548640"/>
            <a:chOff x="0" y="0"/>
            <a:chExt cx="13411200" cy="731520"/>
          </a:xfrm>
        </p:grpSpPr>
        <p:sp>
          <p:nvSpPr>
            <p:cNvPr name="Freeform 92" id="92"/>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6977" r="0" b="-306977"/>
              </a:stretch>
            </a:blipFill>
          </p:spPr>
        </p:sp>
      </p:grpSp>
      <p:grpSp>
        <p:nvGrpSpPr>
          <p:cNvPr name="Group 93" id="93"/>
          <p:cNvGrpSpPr/>
          <p:nvPr/>
        </p:nvGrpSpPr>
        <p:grpSpPr>
          <a:xfrm rot="0">
            <a:off x="1673342" y="8431625"/>
            <a:ext cx="10058400" cy="584359"/>
            <a:chOff x="0" y="0"/>
            <a:chExt cx="13411200" cy="779145"/>
          </a:xfrm>
        </p:grpSpPr>
        <p:sp>
          <p:nvSpPr>
            <p:cNvPr name="Freeform 94" id="94"/>
            <p:cNvSpPr/>
            <p:nvPr/>
          </p:nvSpPr>
          <p:spPr>
            <a:xfrm flipH="false" flipV="false" rot="0">
              <a:off x="0" y="0"/>
              <a:ext cx="13411200" cy="779145"/>
            </a:xfrm>
            <a:custGeom>
              <a:avLst/>
              <a:gdLst/>
              <a:ahLst/>
              <a:cxnLst/>
              <a:rect r="r" b="b" t="t" l="l"/>
              <a:pathLst>
                <a:path h="779145" w="13411200">
                  <a:moveTo>
                    <a:pt x="0" y="0"/>
                  </a:moveTo>
                  <a:lnTo>
                    <a:pt x="13411200" y="0"/>
                  </a:lnTo>
                  <a:lnTo>
                    <a:pt x="13411200" y="779145"/>
                  </a:lnTo>
                  <a:lnTo>
                    <a:pt x="0" y="779145"/>
                  </a:lnTo>
                  <a:close/>
                </a:path>
              </a:pathLst>
            </a:custGeom>
            <a:blipFill>
              <a:blip r:embed="rId6">
                <a:alphaModFix amt="0"/>
              </a:blip>
              <a:stretch>
                <a:fillRect l="0" t="-285390" r="0" b="-285390"/>
              </a:stretch>
            </a:blipFill>
          </p:spPr>
        </p:sp>
        <p:sp>
          <p:nvSpPr>
            <p:cNvPr name="TextBox 95" id="95"/>
            <p:cNvSpPr txBox="true"/>
            <p:nvPr/>
          </p:nvSpPr>
          <p:spPr>
            <a:xfrm>
              <a:off x="0" y="-47625"/>
              <a:ext cx="13411200" cy="826770"/>
            </a:xfrm>
            <a:prstGeom prst="rect">
              <a:avLst/>
            </a:prstGeom>
          </p:spPr>
          <p:txBody>
            <a:bodyPr anchor="b" rtlCol="false" tIns="0" lIns="0" bIns="0" rIns="0"/>
            <a:lstStyle/>
            <a:p>
              <a:pPr algn="l">
                <a:lnSpc>
                  <a:spcPts val="2638"/>
                </a:lnSpc>
              </a:pPr>
              <a:r>
                <a:rPr lang="en-US" sz="2199" b="true">
                  <a:solidFill>
                    <a:srgbClr val="FFFFFF"/>
                  </a:solidFill>
                  <a:latin typeface="Calibri (MS) Bold"/>
                  <a:ea typeface="Calibri (MS) Bold"/>
                  <a:cs typeface="Calibri (MS) Bold"/>
                  <a:sym typeface="Calibri (MS) Bold"/>
                </a:rPr>
                <a:t>Proyección profesional y desarrollo en el SOC</a:t>
              </a:r>
            </a:p>
          </p:txBody>
        </p:sp>
      </p:grpSp>
      <p:sp>
        <p:nvSpPr>
          <p:cNvPr name="TextBox 96" id="96"/>
          <p:cNvSpPr txBox="true"/>
          <p:nvPr/>
        </p:nvSpPr>
        <p:spPr>
          <a:xfrm rot="0">
            <a:off x="1764782" y="8930640"/>
            <a:ext cx="14447520" cy="441960"/>
          </a:xfrm>
          <a:prstGeom prst="rect">
            <a:avLst/>
          </a:prstGeom>
        </p:spPr>
        <p:txBody>
          <a:bodyPr anchor="t" rtlCol="false" tIns="0" lIns="0" bIns="0" rIns="0">
            <a:spAutoFit/>
          </a:bodyPr>
          <a:lstStyle/>
          <a:p>
            <a:pPr algn="l">
              <a:lnSpc>
                <a:spcPts val="2160"/>
              </a:lnSpc>
            </a:pPr>
            <a:r>
              <a:rPr lang="en-US" sz="1800">
                <a:solidFill>
                  <a:srgbClr val="AAAAAA"/>
                </a:solidFill>
                <a:latin typeface="Calibri (MS)"/>
                <a:ea typeface="Calibri (MS)"/>
                <a:cs typeface="Calibri (MS)"/>
                <a:sym typeface="Calibri (MS)"/>
              </a:rPr>
              <a:t>Crecimiento, certificaciones y salidas laborales</a:t>
            </a:r>
          </a:p>
        </p:txBody>
      </p:sp>
      <p:grpSp>
        <p:nvGrpSpPr>
          <p:cNvPr name="Group 97" id="97"/>
          <p:cNvGrpSpPr/>
          <p:nvPr/>
        </p:nvGrpSpPr>
        <p:grpSpPr>
          <a:xfrm rot="0">
            <a:off x="15983863" y="24203"/>
            <a:ext cx="1855079" cy="1855079"/>
            <a:chOff x="0" y="0"/>
            <a:chExt cx="5852160" cy="5852160"/>
          </a:xfrm>
        </p:grpSpPr>
        <p:sp>
          <p:nvSpPr>
            <p:cNvPr name="Freeform 98" id="9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1.1</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36044"/>
            <a:ext cx="15544800" cy="2667476"/>
            <a:chOff x="0" y="0"/>
            <a:chExt cx="20726400" cy="3556635"/>
          </a:xfrm>
        </p:grpSpPr>
        <p:sp>
          <p:nvSpPr>
            <p:cNvPr name="Freeform 12" id="12"/>
            <p:cNvSpPr/>
            <p:nvPr/>
          </p:nvSpPr>
          <p:spPr>
            <a:xfrm flipH="false" flipV="false" rot="0">
              <a:off x="0" y="0"/>
              <a:ext cx="20726400" cy="3556635"/>
            </a:xfrm>
            <a:custGeom>
              <a:avLst/>
              <a:gdLst/>
              <a:ahLst/>
              <a:cxnLst/>
              <a:rect r="r" b="b" t="t" l="l"/>
              <a:pathLst>
                <a:path h="3556635" w="20726400">
                  <a:moveTo>
                    <a:pt x="0" y="0"/>
                  </a:moveTo>
                  <a:lnTo>
                    <a:pt x="20726400" y="0"/>
                  </a:lnTo>
                  <a:lnTo>
                    <a:pt x="20726400" y="3556635"/>
                  </a:lnTo>
                  <a:lnTo>
                    <a:pt x="0" y="3556635"/>
                  </a:lnTo>
                  <a:close/>
                </a:path>
              </a:pathLst>
            </a:custGeom>
            <a:blipFill>
              <a:blip r:embed="rId8">
                <a:alphaModFix amt="0"/>
              </a:blip>
              <a:stretch>
                <a:fillRect l="0" t="-63549" r="0" b="-63549"/>
              </a:stretch>
            </a:blipFill>
          </p:spPr>
        </p:sp>
        <p:sp>
          <p:nvSpPr>
            <p:cNvPr name="TextBox 13" id="13"/>
            <p:cNvSpPr txBox="true"/>
            <p:nvPr/>
          </p:nvSpPr>
          <p:spPr>
            <a:xfrm>
              <a:off x="0" y="-142875"/>
              <a:ext cx="20726400" cy="3699510"/>
            </a:xfrm>
            <a:prstGeom prst="rect">
              <a:avLst/>
            </a:prstGeom>
          </p:spPr>
          <p:txBody>
            <a:bodyPr anchor="ctr" rtlCol="false" tIns="0" lIns="0" bIns="0" rIns="0"/>
            <a:lstStyle/>
            <a:p>
              <a:pPr algn="l">
                <a:lnSpc>
                  <a:spcPts val="7678"/>
                </a:lnSpc>
              </a:pPr>
              <a:r>
                <a:rPr lang="en-US" sz="6398" b="true">
                  <a:solidFill>
                    <a:srgbClr val="FFFFFF"/>
                  </a:solidFill>
                  <a:latin typeface="Calibri (MS) Bold"/>
                  <a:ea typeface="Calibri (MS) Bold"/>
                  <a:cs typeface="Calibri (MS) Bold"/>
                  <a:sym typeface="Calibri (MS) Bold"/>
                </a:rPr>
                <a:t>¿Qué es un SOC y por qué</a:t>
              </a:r>
            </a:p>
            <a:p>
              <a:pPr algn="l">
                <a:lnSpc>
                  <a:spcPts val="7678"/>
                </a:lnSpc>
              </a:pPr>
              <a:r>
                <a:rPr lang="en-US" sz="6398" b="true">
                  <a:solidFill>
                    <a:srgbClr val="FFFFFF"/>
                  </a:solidFill>
                  <a:latin typeface="Calibri (MS) Bold"/>
                  <a:ea typeface="Calibri (MS) Bold"/>
                  <a:cs typeface="Calibri (MS) Bold"/>
                  <a:sym typeface="Calibri (MS) Bold"/>
                </a:rPr>
                <a:t>es clave en Ciberseguridad?</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570343"/>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Definición de Security Operations Center (SOC)</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Objetivos principales: monitoreo, detección, respuesta</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Tipos de SOC: internos, externos (MSSP), híbridos</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Diferencia entre SOC y otros equipos (NOC, CERT, CSIRT)</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Cómo encaja el SOC en una estrategia de seguridad corporativa</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p.5</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600"/>
                </a:lnSpc>
              </a:pPr>
              <a:r>
                <a:rPr lang="en-US" sz="3000" b="true">
                  <a:solidFill>
                    <a:srgbClr val="FFFFFF"/>
                  </a:solidFill>
                  <a:latin typeface="Calibri (MS) Bold"/>
                  <a:ea typeface="Calibri (MS) Bold"/>
                  <a:cs typeface="Calibri (MS) Bold"/>
                  <a:sym typeface="Calibri (MS) Bold"/>
                </a:rPr>
                <a:t>1.1  |  Definición de Security Operations Center (SOC)</a:t>
              </a:r>
            </a:p>
          </p:txBody>
        </p:sp>
      </p:grpSp>
      <p:sp>
        <p:nvSpPr>
          <p:cNvPr name="Freeform 20" id="20"/>
          <p:cNvSpPr/>
          <p:nvPr/>
        </p:nvSpPr>
        <p:spPr>
          <a:xfrm flipH="false" flipV="false" rot="0">
            <a:off x="572519" y="1907543"/>
            <a:ext cx="17142904" cy="1945576"/>
          </a:xfrm>
          <a:custGeom>
            <a:avLst/>
            <a:gdLst/>
            <a:ahLst/>
            <a:cxnLst/>
            <a:rect r="r" b="b" t="t" l="l"/>
            <a:pathLst>
              <a:path h="1945576" w="17142904">
                <a:moveTo>
                  <a:pt x="0" y="0"/>
                </a:moveTo>
                <a:lnTo>
                  <a:pt x="17142905" y="0"/>
                </a:lnTo>
                <a:lnTo>
                  <a:pt x="17142905" y="1945577"/>
                </a:lnTo>
                <a:lnTo>
                  <a:pt x="0" y="19455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1005840" y="1975104"/>
            <a:ext cx="16459200" cy="1828800"/>
            <a:chOff x="0" y="0"/>
            <a:chExt cx="21945600" cy="2438400"/>
          </a:xfrm>
        </p:grpSpPr>
        <p:sp>
          <p:nvSpPr>
            <p:cNvPr name="Freeform 22" id="22"/>
            <p:cNvSpPr/>
            <p:nvPr/>
          </p:nvSpPr>
          <p:spPr>
            <a:xfrm flipH="false" flipV="false" rot="0">
              <a:off x="0" y="0"/>
              <a:ext cx="21945600" cy="2438400"/>
            </a:xfrm>
            <a:custGeom>
              <a:avLst/>
              <a:gdLst/>
              <a:ahLst/>
              <a:cxnLst/>
              <a:rect r="r" b="b" t="t" l="l"/>
              <a:pathLst>
                <a:path h="2438400" w="21945600">
                  <a:moveTo>
                    <a:pt x="0" y="0"/>
                  </a:moveTo>
                  <a:lnTo>
                    <a:pt x="21945600" y="0"/>
                  </a:lnTo>
                  <a:lnTo>
                    <a:pt x="21945600" y="2438400"/>
                  </a:lnTo>
                  <a:lnTo>
                    <a:pt x="0" y="2438400"/>
                  </a:lnTo>
                  <a:close/>
                </a:path>
              </a:pathLst>
            </a:custGeom>
            <a:blipFill>
              <a:blip r:embed="rId7">
                <a:alphaModFix amt="0"/>
              </a:blip>
              <a:stretch>
                <a:fillRect l="0" t="-125243" r="0" b="-125243"/>
              </a:stretch>
            </a:blipFill>
          </p:spPr>
        </p:sp>
      </p:grpSp>
      <p:grpSp>
        <p:nvGrpSpPr>
          <p:cNvPr name="Group 23" id="23"/>
          <p:cNvGrpSpPr/>
          <p:nvPr/>
        </p:nvGrpSpPr>
        <p:grpSpPr>
          <a:xfrm rot="0">
            <a:off x="1005840" y="1939385"/>
            <a:ext cx="16459200" cy="1864519"/>
            <a:chOff x="0" y="0"/>
            <a:chExt cx="21945600" cy="2486025"/>
          </a:xfrm>
        </p:grpSpPr>
        <p:sp>
          <p:nvSpPr>
            <p:cNvPr name="Freeform 24" id="24"/>
            <p:cNvSpPr/>
            <p:nvPr/>
          </p:nvSpPr>
          <p:spPr>
            <a:xfrm flipH="false" flipV="false" rot="0">
              <a:off x="0" y="0"/>
              <a:ext cx="21945600" cy="2486025"/>
            </a:xfrm>
            <a:custGeom>
              <a:avLst/>
              <a:gdLst/>
              <a:ahLst/>
              <a:cxnLst/>
              <a:rect r="r" b="b" t="t" l="l"/>
              <a:pathLst>
                <a:path h="2486025" w="21945600">
                  <a:moveTo>
                    <a:pt x="0" y="0"/>
                  </a:moveTo>
                  <a:lnTo>
                    <a:pt x="21945600" y="0"/>
                  </a:lnTo>
                  <a:lnTo>
                    <a:pt x="21945600" y="2486025"/>
                  </a:lnTo>
                  <a:lnTo>
                    <a:pt x="0" y="2486025"/>
                  </a:lnTo>
                  <a:close/>
                </a:path>
              </a:pathLst>
            </a:custGeom>
            <a:blipFill>
              <a:blip r:embed="rId8">
                <a:alphaModFix amt="0"/>
              </a:blip>
              <a:stretch>
                <a:fillRect l="0" t="-122005" r="0" b="-122005"/>
              </a:stretch>
            </a:blipFill>
          </p:spPr>
        </p:sp>
        <p:sp>
          <p:nvSpPr>
            <p:cNvPr name="TextBox 25" id="25"/>
            <p:cNvSpPr txBox="true"/>
            <p:nvPr/>
          </p:nvSpPr>
          <p:spPr>
            <a:xfrm>
              <a:off x="0" y="-47625"/>
              <a:ext cx="21945600" cy="2533650"/>
            </a:xfrm>
            <a:prstGeom prst="rect">
              <a:avLst/>
            </a:prstGeom>
          </p:spPr>
          <p:txBody>
            <a:bodyPr anchor="ctr" rtlCol="false" tIns="0" lIns="0" bIns="0" rIns="0"/>
            <a:lstStyle/>
            <a:p>
              <a:pPr algn="l">
                <a:lnSpc>
                  <a:spcPts val="2998"/>
                </a:lnSpc>
              </a:pPr>
              <a:r>
                <a:rPr lang="en-US" sz="2499">
                  <a:solidFill>
                    <a:srgbClr val="111111"/>
                  </a:solidFill>
                  <a:latin typeface="Calibri (MS)"/>
                  <a:ea typeface="Calibri (MS)"/>
                  <a:cs typeface="Calibri (MS)"/>
                  <a:sym typeface="Calibri (MS)"/>
                </a:rPr>
                <a:t>Un </a:t>
              </a:r>
              <a:r>
                <a:rPr lang="en-US" sz="2499" b="true">
                  <a:solidFill>
                    <a:srgbClr val="8A004F"/>
                  </a:solidFill>
                  <a:latin typeface="Calibri (MS) Bold"/>
                  <a:ea typeface="Calibri (MS) Bold"/>
                  <a:cs typeface="Calibri (MS) Bold"/>
                  <a:sym typeface="Calibri (MS) Bold"/>
                </a:rPr>
                <a:t>Security Operations Center (SOC)</a:t>
              </a:r>
              <a:r>
                <a:rPr lang="en-US" sz="2499">
                  <a:solidFill>
                    <a:srgbClr val="111111"/>
                  </a:solidFill>
                  <a:latin typeface="Calibri (MS)"/>
                  <a:ea typeface="Calibri (MS)"/>
                  <a:cs typeface="Calibri (MS)"/>
                  <a:sym typeface="Calibri (MS)"/>
                </a:rPr>
                <a:t> es un equipo especializado dentro de una organización que se encarga de </a:t>
              </a:r>
              <a:r>
                <a:rPr lang="en-US" sz="2499" b="true">
                  <a:solidFill>
                    <a:srgbClr val="111111"/>
                  </a:solidFill>
                  <a:latin typeface="Calibri (MS) Bold"/>
                  <a:ea typeface="Calibri (MS) Bold"/>
                  <a:cs typeface="Calibri (MS) Bold"/>
                  <a:sym typeface="Calibri (MS) Bold"/>
                </a:rPr>
                <a:t>monitorear, detectar, analizar y responder</a:t>
              </a:r>
              <a:r>
                <a:rPr lang="en-US" sz="2499">
                  <a:solidFill>
                    <a:srgbClr val="111111"/>
                  </a:solidFill>
                  <a:latin typeface="Calibri (MS)"/>
                  <a:ea typeface="Calibri (MS)"/>
                  <a:cs typeface="Calibri (MS)"/>
                  <a:sym typeface="Calibri (MS)"/>
                </a:rPr>
                <a:t> ante posibles incidentes de seguridad que puedan afectar la información, los sistemas o las redes de una empresa.</a:t>
              </a:r>
            </a:p>
          </p:txBody>
        </p:sp>
      </p:grpSp>
      <p:sp>
        <p:nvSpPr>
          <p:cNvPr name="Freeform 26" id="26"/>
          <p:cNvSpPr/>
          <p:nvPr/>
        </p:nvSpPr>
        <p:spPr>
          <a:xfrm flipH="false" flipV="false" rot="0">
            <a:off x="572519" y="4193543"/>
            <a:ext cx="17142904" cy="1579816"/>
          </a:xfrm>
          <a:custGeom>
            <a:avLst/>
            <a:gdLst/>
            <a:ahLst/>
            <a:cxnLst/>
            <a:rect r="r" b="b" t="t" l="l"/>
            <a:pathLst>
              <a:path h="1579816" w="17142904">
                <a:moveTo>
                  <a:pt x="0" y="0"/>
                </a:moveTo>
                <a:lnTo>
                  <a:pt x="17142905" y="0"/>
                </a:lnTo>
                <a:lnTo>
                  <a:pt x="17142905" y="1579817"/>
                </a:lnTo>
                <a:lnTo>
                  <a:pt x="0" y="15798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572519" y="4193543"/>
            <a:ext cx="116776" cy="1579816"/>
          </a:xfrm>
          <a:custGeom>
            <a:avLst/>
            <a:gdLst/>
            <a:ahLst/>
            <a:cxnLst/>
            <a:rect r="r" b="b" t="t" l="l"/>
            <a:pathLst>
              <a:path h="1579816" w="116776">
                <a:moveTo>
                  <a:pt x="0" y="0"/>
                </a:moveTo>
                <a:lnTo>
                  <a:pt x="116777" y="0"/>
                </a:lnTo>
                <a:lnTo>
                  <a:pt x="116777" y="1579817"/>
                </a:lnTo>
                <a:lnTo>
                  <a:pt x="0" y="157981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8" id="28"/>
          <p:cNvSpPr txBox="true"/>
          <p:nvPr/>
        </p:nvSpPr>
        <p:spPr>
          <a:xfrm rot="0">
            <a:off x="1097280" y="4360175"/>
            <a:ext cx="6217920" cy="361900"/>
          </a:xfrm>
          <a:prstGeom prst="rect">
            <a:avLst/>
          </a:prstGeom>
        </p:spPr>
        <p:txBody>
          <a:bodyPr anchor="t" rtlCol="false" tIns="0" lIns="0" bIns="0" rIns="0">
            <a:spAutoFit/>
          </a:bodyPr>
          <a:lstStyle/>
          <a:p>
            <a:pPr algn="l">
              <a:lnSpc>
                <a:spcPts val="2520"/>
              </a:lnSpc>
            </a:pPr>
            <a:r>
              <a:rPr lang="en-US" sz="2100" b="true">
                <a:solidFill>
                  <a:srgbClr val="8A004F"/>
                </a:solidFill>
                <a:latin typeface="Calibri (MS) Bold"/>
                <a:ea typeface="Calibri (MS) Bold"/>
                <a:cs typeface="Calibri (MS) Bold"/>
                <a:sym typeface="Calibri (MS) Bold"/>
              </a:rPr>
              <a:t>🎯  Centro de comando</a:t>
            </a:r>
          </a:p>
        </p:txBody>
      </p:sp>
      <p:sp>
        <p:nvSpPr>
          <p:cNvPr name="TextBox 29" id="29"/>
          <p:cNvSpPr txBox="true"/>
          <p:nvPr/>
        </p:nvSpPr>
        <p:spPr>
          <a:xfrm rot="0">
            <a:off x="1097280" y="4815840"/>
            <a:ext cx="16276320" cy="82600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El SOC actúa como el centro de comando de la ciberseguridad. Su función es vigilar constantemente el entorno digital de la organización para identificar amenazas lo antes posible y minimizar su impacto.</a:t>
            </a:r>
          </a:p>
        </p:txBody>
      </p:sp>
      <p:sp>
        <p:nvSpPr>
          <p:cNvPr name="Freeform 30" id="30"/>
          <p:cNvSpPr/>
          <p:nvPr/>
        </p:nvSpPr>
        <p:spPr>
          <a:xfrm flipH="false" flipV="false" rot="0">
            <a:off x="572519" y="5967479"/>
            <a:ext cx="17142904" cy="1579816"/>
          </a:xfrm>
          <a:custGeom>
            <a:avLst/>
            <a:gdLst/>
            <a:ahLst/>
            <a:cxnLst/>
            <a:rect r="r" b="b" t="t" l="l"/>
            <a:pathLst>
              <a:path h="1579816" w="17142904">
                <a:moveTo>
                  <a:pt x="0" y="0"/>
                </a:moveTo>
                <a:lnTo>
                  <a:pt x="17142905" y="0"/>
                </a:lnTo>
                <a:lnTo>
                  <a:pt x="17142905" y="1579817"/>
                </a:lnTo>
                <a:lnTo>
                  <a:pt x="0" y="15798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1" id="31"/>
          <p:cNvSpPr/>
          <p:nvPr/>
        </p:nvSpPr>
        <p:spPr>
          <a:xfrm flipH="false" flipV="false" rot="0">
            <a:off x="572519" y="5967479"/>
            <a:ext cx="116776" cy="1579816"/>
          </a:xfrm>
          <a:custGeom>
            <a:avLst/>
            <a:gdLst/>
            <a:ahLst/>
            <a:cxnLst/>
            <a:rect r="r" b="b" t="t" l="l"/>
            <a:pathLst>
              <a:path h="1579816" w="116776">
                <a:moveTo>
                  <a:pt x="0" y="0"/>
                </a:moveTo>
                <a:lnTo>
                  <a:pt x="116777" y="0"/>
                </a:lnTo>
                <a:lnTo>
                  <a:pt x="116777" y="1579817"/>
                </a:lnTo>
                <a:lnTo>
                  <a:pt x="0" y="157981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2" id="32"/>
          <p:cNvSpPr txBox="true"/>
          <p:nvPr/>
        </p:nvSpPr>
        <p:spPr>
          <a:xfrm rot="0">
            <a:off x="1097280" y="6116260"/>
            <a:ext cx="6217920" cy="552450"/>
          </a:xfrm>
          <a:prstGeom prst="rect">
            <a:avLst/>
          </a:prstGeom>
        </p:spPr>
        <p:txBody>
          <a:bodyPr anchor="t" rtlCol="false" tIns="0" lIns="0" bIns="0" rIns="0">
            <a:spAutoFit/>
          </a:bodyPr>
          <a:lstStyle/>
          <a:p>
            <a:pPr algn="l">
              <a:lnSpc>
                <a:spcPts val="2520"/>
              </a:lnSpc>
            </a:pPr>
            <a:r>
              <a:rPr lang="en-US" sz="2100" b="true">
                <a:solidFill>
                  <a:srgbClr val="8A004F"/>
                </a:solidFill>
                <a:latin typeface="Calibri (MS) Bold"/>
                <a:ea typeface="Calibri (MS) Bold"/>
                <a:cs typeface="Calibri (MS) Bold"/>
                <a:sym typeface="Calibri (MS) Bold"/>
              </a:rPr>
              <a:t>⏱  Operación 24/7</a:t>
            </a:r>
          </a:p>
        </p:txBody>
      </p:sp>
      <p:sp>
        <p:nvSpPr>
          <p:cNvPr name="TextBox 33" id="33"/>
          <p:cNvSpPr txBox="true"/>
          <p:nvPr/>
        </p:nvSpPr>
        <p:spPr>
          <a:xfrm rot="0">
            <a:off x="1097280" y="6589776"/>
            <a:ext cx="16276320" cy="82600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Trabaja las 24 horas del día, los 7 días de la semana. La continuidad operativa es esencial para garantizar cobertura ante cualquier amenaza.</a:t>
            </a:r>
          </a:p>
        </p:txBody>
      </p:sp>
      <p:sp>
        <p:nvSpPr>
          <p:cNvPr name="Freeform 34" id="34"/>
          <p:cNvSpPr/>
          <p:nvPr/>
        </p:nvSpPr>
        <p:spPr>
          <a:xfrm flipH="false" flipV="false" rot="0">
            <a:off x="572519" y="7741415"/>
            <a:ext cx="17142904" cy="1579816"/>
          </a:xfrm>
          <a:custGeom>
            <a:avLst/>
            <a:gdLst/>
            <a:ahLst/>
            <a:cxnLst/>
            <a:rect r="r" b="b" t="t" l="l"/>
            <a:pathLst>
              <a:path h="1579816" w="17142904">
                <a:moveTo>
                  <a:pt x="0" y="0"/>
                </a:moveTo>
                <a:lnTo>
                  <a:pt x="17142905" y="0"/>
                </a:lnTo>
                <a:lnTo>
                  <a:pt x="17142905" y="1579817"/>
                </a:lnTo>
                <a:lnTo>
                  <a:pt x="0" y="15798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5" id="35"/>
          <p:cNvSpPr/>
          <p:nvPr/>
        </p:nvSpPr>
        <p:spPr>
          <a:xfrm flipH="false" flipV="false" rot="0">
            <a:off x="572519" y="7741415"/>
            <a:ext cx="116776" cy="1579816"/>
          </a:xfrm>
          <a:custGeom>
            <a:avLst/>
            <a:gdLst/>
            <a:ahLst/>
            <a:cxnLst/>
            <a:rect r="r" b="b" t="t" l="l"/>
            <a:pathLst>
              <a:path h="1579816" w="116776">
                <a:moveTo>
                  <a:pt x="0" y="0"/>
                </a:moveTo>
                <a:lnTo>
                  <a:pt x="116777" y="0"/>
                </a:lnTo>
                <a:lnTo>
                  <a:pt x="116777" y="1579817"/>
                </a:lnTo>
                <a:lnTo>
                  <a:pt x="0" y="157981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6" id="36"/>
          <p:cNvSpPr txBox="true"/>
          <p:nvPr/>
        </p:nvSpPr>
        <p:spPr>
          <a:xfrm rot="0">
            <a:off x="1097280" y="7915642"/>
            <a:ext cx="6217920" cy="552450"/>
          </a:xfrm>
          <a:prstGeom prst="rect">
            <a:avLst/>
          </a:prstGeom>
        </p:spPr>
        <p:txBody>
          <a:bodyPr anchor="t" rtlCol="false" tIns="0" lIns="0" bIns="0" rIns="0">
            <a:spAutoFit/>
          </a:bodyPr>
          <a:lstStyle/>
          <a:p>
            <a:pPr algn="l">
              <a:lnSpc>
                <a:spcPts val="2520"/>
              </a:lnSpc>
            </a:pPr>
            <a:r>
              <a:rPr lang="en-US" sz="2100" b="true">
                <a:solidFill>
                  <a:srgbClr val="8A004F"/>
                </a:solidFill>
                <a:latin typeface="Calibri (MS) Bold"/>
                <a:ea typeface="Calibri (MS) Bold"/>
                <a:cs typeface="Calibri (MS) Bold"/>
                <a:sym typeface="Calibri (MS) Bold"/>
              </a:rPr>
              <a:t>🛠  Herramientas especializadas</a:t>
            </a:r>
          </a:p>
        </p:txBody>
      </p:sp>
      <p:sp>
        <p:nvSpPr>
          <p:cNvPr name="TextBox 37" id="37"/>
          <p:cNvSpPr txBox="true"/>
          <p:nvPr/>
        </p:nvSpPr>
        <p:spPr>
          <a:xfrm rot="0">
            <a:off x="1097280" y="8363712"/>
            <a:ext cx="16276320" cy="82600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Utiliza sistemas como SIEM (Security Information and Event Management), que permiten ver y correlacionar miles de eventos y alertas de distintos sistemas tecnológicos en un mismo lugar.</a:t>
            </a:r>
          </a:p>
        </p:txBody>
      </p:sp>
      <p:grpSp>
        <p:nvGrpSpPr>
          <p:cNvPr name="Group 38" id="38"/>
          <p:cNvGrpSpPr/>
          <p:nvPr/>
        </p:nvGrpSpPr>
        <p:grpSpPr>
          <a:xfrm rot="0">
            <a:off x="15983863" y="24203"/>
            <a:ext cx="1855079" cy="1855079"/>
            <a:chOff x="0" y="0"/>
            <a:chExt cx="5852160" cy="5852160"/>
          </a:xfrm>
        </p:grpSpPr>
        <p:sp>
          <p:nvSpPr>
            <p:cNvPr name="Freeform 39" id="3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7"/>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p.6</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1.1  |  Objetivos principales: Monitorear · Detectar · Responder</a:t>
              </a:r>
            </a:p>
          </p:txBody>
        </p:sp>
      </p:grpSp>
      <p:grpSp>
        <p:nvGrpSpPr>
          <p:cNvPr name="Group 20" id="20"/>
          <p:cNvGrpSpPr/>
          <p:nvPr/>
        </p:nvGrpSpPr>
        <p:grpSpPr>
          <a:xfrm rot="0">
            <a:off x="640080" y="1792224"/>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40051" y="2041034"/>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638"/>
                </a:lnSpc>
              </a:pPr>
              <a:r>
                <a:rPr lang="en-US" sz="2199">
                  <a:solidFill>
                    <a:srgbClr val="6B6B6B"/>
                  </a:solidFill>
                  <a:latin typeface="Calibri (MS)"/>
                  <a:ea typeface="Calibri (MS)"/>
                  <a:cs typeface="Calibri (MS)"/>
                  <a:sym typeface="Calibri (MS)"/>
                </a:rPr>
                <a:t>El SOC tiene tres objetivos operativos centrales que guían su trabajo diario. Están conectados y forman la base de cualquier operación efectiva de seguridad.</a:t>
              </a:r>
            </a:p>
          </p:txBody>
        </p:sp>
      </p:grpSp>
      <p:sp>
        <p:nvSpPr>
          <p:cNvPr name="Freeform 25" id="25"/>
          <p:cNvSpPr/>
          <p:nvPr/>
        </p:nvSpPr>
        <p:spPr>
          <a:xfrm flipH="false" flipV="false" rot="0">
            <a:off x="640080" y="3305208"/>
            <a:ext cx="5511736" cy="1031176"/>
          </a:xfrm>
          <a:custGeom>
            <a:avLst/>
            <a:gdLst/>
            <a:ahLst/>
            <a:cxnLst/>
            <a:rect r="r" b="b" t="t" l="l"/>
            <a:pathLst>
              <a:path h="1031176" w="5511736">
                <a:moveTo>
                  <a:pt x="0" y="0"/>
                </a:moveTo>
                <a:lnTo>
                  <a:pt x="5511737" y="0"/>
                </a:lnTo>
                <a:lnTo>
                  <a:pt x="551173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652777" y="3317905"/>
            <a:ext cx="5486400" cy="1005840"/>
            <a:chOff x="0" y="0"/>
            <a:chExt cx="7315200" cy="1341120"/>
          </a:xfrm>
        </p:grpSpPr>
        <p:sp>
          <p:nvSpPr>
            <p:cNvPr name="Freeform 27" id="27"/>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7">
                <a:alphaModFix amt="0"/>
              </a:blip>
              <a:stretch>
                <a:fillRect l="0" t="-56208" r="0" b="-56208"/>
              </a:stretch>
            </a:blipFill>
          </p:spPr>
        </p:sp>
      </p:grpSp>
      <p:grpSp>
        <p:nvGrpSpPr>
          <p:cNvPr name="Group 28" id="28"/>
          <p:cNvGrpSpPr/>
          <p:nvPr/>
        </p:nvGrpSpPr>
        <p:grpSpPr>
          <a:xfrm rot="0">
            <a:off x="652777" y="3282186"/>
            <a:ext cx="5486400" cy="1041559"/>
            <a:chOff x="0" y="0"/>
            <a:chExt cx="7315200" cy="1388745"/>
          </a:xfrm>
        </p:grpSpPr>
        <p:sp>
          <p:nvSpPr>
            <p:cNvPr name="Freeform 29" id="29"/>
            <p:cNvSpPr/>
            <p:nvPr/>
          </p:nvSpPr>
          <p:spPr>
            <a:xfrm flipH="false" flipV="false" rot="0">
              <a:off x="0" y="0"/>
              <a:ext cx="7315200" cy="1388745"/>
            </a:xfrm>
            <a:custGeom>
              <a:avLst/>
              <a:gdLst/>
              <a:ahLst/>
              <a:cxnLst/>
              <a:rect r="r" b="b" t="t" l="l"/>
              <a:pathLst>
                <a:path h="1388745" w="7315200">
                  <a:moveTo>
                    <a:pt x="0" y="0"/>
                  </a:moveTo>
                  <a:lnTo>
                    <a:pt x="7315200" y="0"/>
                  </a:lnTo>
                  <a:lnTo>
                    <a:pt x="7315200" y="1388745"/>
                  </a:lnTo>
                  <a:lnTo>
                    <a:pt x="0" y="1388745"/>
                  </a:lnTo>
                  <a:close/>
                </a:path>
              </a:pathLst>
            </a:custGeom>
            <a:blipFill>
              <a:blip r:embed="rId8">
                <a:alphaModFix amt="0"/>
              </a:blip>
              <a:stretch>
                <a:fillRect l="0" t="-52637" r="0" b="-52637"/>
              </a:stretch>
            </a:blipFill>
          </p:spPr>
        </p:sp>
        <p:sp>
          <p:nvSpPr>
            <p:cNvPr name="TextBox 30" id="30"/>
            <p:cNvSpPr txBox="true"/>
            <p:nvPr/>
          </p:nvSpPr>
          <p:spPr>
            <a:xfrm>
              <a:off x="0" y="-47625"/>
              <a:ext cx="7315200" cy="14363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MONITOREAR</a:t>
              </a:r>
            </a:p>
          </p:txBody>
        </p:sp>
      </p:grpSp>
      <p:sp>
        <p:nvSpPr>
          <p:cNvPr name="Freeform 31" id="31"/>
          <p:cNvSpPr/>
          <p:nvPr/>
        </p:nvSpPr>
        <p:spPr>
          <a:xfrm flipH="false" flipV="false" rot="0">
            <a:off x="640080" y="4347624"/>
            <a:ext cx="5511736" cy="4012120"/>
          </a:xfrm>
          <a:custGeom>
            <a:avLst/>
            <a:gdLst/>
            <a:ahLst/>
            <a:cxnLst/>
            <a:rect r="r" b="b" t="t" l="l"/>
            <a:pathLst>
              <a:path h="4012120" w="5511736">
                <a:moveTo>
                  <a:pt x="0" y="0"/>
                </a:moveTo>
                <a:lnTo>
                  <a:pt x="5511737" y="0"/>
                </a:lnTo>
                <a:lnTo>
                  <a:pt x="5511737" y="4012121"/>
                </a:lnTo>
                <a:lnTo>
                  <a:pt x="0" y="40121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927097" y="4679285"/>
            <a:ext cx="4937760" cy="375208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El SOC realiza monitoreo continuo (24/7) de sistemas, redes, dispositivos y aplicaciones.</a:t>
            </a:r>
          </a:p>
          <a:p>
            <a:pPr algn="l">
              <a:lnSpc>
                <a:spcPts val="2400"/>
              </a:lnSpc>
            </a:pPr>
          </a:p>
          <a:p>
            <a:pPr algn="l">
              <a:lnSpc>
                <a:spcPts val="2400"/>
              </a:lnSpc>
            </a:pPr>
            <a:r>
              <a:rPr lang="en-US" sz="2000">
                <a:solidFill>
                  <a:srgbClr val="333333"/>
                </a:solidFill>
                <a:latin typeface="Calibri (MS)"/>
                <a:ea typeface="Calibri (MS)"/>
                <a:cs typeface="Calibri (MS)"/>
                <a:sym typeface="Calibri (MS)"/>
              </a:rPr>
              <a:t>Utiliza herramientas como SIEM, EDR o NDR para observar en tiempo real eventos y actividades sospechosas.</a:t>
            </a:r>
          </a:p>
        </p:txBody>
      </p:sp>
      <p:sp>
        <p:nvSpPr>
          <p:cNvPr name="Freeform 33" id="33"/>
          <p:cNvSpPr/>
          <p:nvPr/>
        </p:nvSpPr>
        <p:spPr>
          <a:xfrm flipH="false" flipV="false" rot="0">
            <a:off x="6492240" y="3305208"/>
            <a:ext cx="5511736" cy="1031176"/>
          </a:xfrm>
          <a:custGeom>
            <a:avLst/>
            <a:gdLst/>
            <a:ahLst/>
            <a:cxnLst/>
            <a:rect r="r" b="b" t="t" l="l"/>
            <a:pathLst>
              <a:path h="1031176" w="5511736">
                <a:moveTo>
                  <a:pt x="0" y="0"/>
                </a:moveTo>
                <a:lnTo>
                  <a:pt x="5511736" y="0"/>
                </a:lnTo>
                <a:lnTo>
                  <a:pt x="5511736" y="1031177"/>
                </a:lnTo>
                <a:lnTo>
                  <a:pt x="0" y="10311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504937" y="3317905"/>
            <a:ext cx="5486400" cy="1005840"/>
            <a:chOff x="0" y="0"/>
            <a:chExt cx="7315200" cy="1341120"/>
          </a:xfrm>
        </p:grpSpPr>
        <p:sp>
          <p:nvSpPr>
            <p:cNvPr name="Freeform 35" id="35"/>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7">
                <a:alphaModFix amt="0"/>
              </a:blip>
              <a:stretch>
                <a:fillRect l="0" t="-56208" r="0" b="-56208"/>
              </a:stretch>
            </a:blipFill>
          </p:spPr>
        </p:sp>
      </p:grpSp>
      <p:grpSp>
        <p:nvGrpSpPr>
          <p:cNvPr name="Group 36" id="36"/>
          <p:cNvGrpSpPr/>
          <p:nvPr/>
        </p:nvGrpSpPr>
        <p:grpSpPr>
          <a:xfrm rot="0">
            <a:off x="6504937" y="3282186"/>
            <a:ext cx="5486400" cy="1041559"/>
            <a:chOff x="0" y="0"/>
            <a:chExt cx="7315200" cy="1388745"/>
          </a:xfrm>
        </p:grpSpPr>
        <p:sp>
          <p:nvSpPr>
            <p:cNvPr name="Freeform 37" id="37"/>
            <p:cNvSpPr/>
            <p:nvPr/>
          </p:nvSpPr>
          <p:spPr>
            <a:xfrm flipH="false" flipV="false" rot="0">
              <a:off x="0" y="0"/>
              <a:ext cx="7315200" cy="1388745"/>
            </a:xfrm>
            <a:custGeom>
              <a:avLst/>
              <a:gdLst/>
              <a:ahLst/>
              <a:cxnLst/>
              <a:rect r="r" b="b" t="t" l="l"/>
              <a:pathLst>
                <a:path h="1388745" w="7315200">
                  <a:moveTo>
                    <a:pt x="0" y="0"/>
                  </a:moveTo>
                  <a:lnTo>
                    <a:pt x="7315200" y="0"/>
                  </a:lnTo>
                  <a:lnTo>
                    <a:pt x="7315200" y="1388745"/>
                  </a:lnTo>
                  <a:lnTo>
                    <a:pt x="0" y="1388745"/>
                  </a:lnTo>
                  <a:close/>
                </a:path>
              </a:pathLst>
            </a:custGeom>
            <a:blipFill>
              <a:blip r:embed="rId8">
                <a:alphaModFix amt="0"/>
              </a:blip>
              <a:stretch>
                <a:fillRect l="0" t="-52637" r="0" b="-52637"/>
              </a:stretch>
            </a:blipFill>
          </p:spPr>
        </p:sp>
        <p:sp>
          <p:nvSpPr>
            <p:cNvPr name="TextBox 38" id="38"/>
            <p:cNvSpPr txBox="true"/>
            <p:nvPr/>
          </p:nvSpPr>
          <p:spPr>
            <a:xfrm>
              <a:off x="0" y="-47625"/>
              <a:ext cx="7315200" cy="14363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DETECTAR</a:t>
              </a:r>
            </a:p>
          </p:txBody>
        </p:sp>
      </p:grpSp>
      <p:sp>
        <p:nvSpPr>
          <p:cNvPr name="Freeform 39" id="39"/>
          <p:cNvSpPr/>
          <p:nvPr/>
        </p:nvSpPr>
        <p:spPr>
          <a:xfrm flipH="false" flipV="false" rot="0">
            <a:off x="6492240" y="4347624"/>
            <a:ext cx="5511736" cy="4012120"/>
          </a:xfrm>
          <a:custGeom>
            <a:avLst/>
            <a:gdLst/>
            <a:ahLst/>
            <a:cxnLst/>
            <a:rect r="r" b="b" t="t" l="l"/>
            <a:pathLst>
              <a:path h="4012120" w="5511736">
                <a:moveTo>
                  <a:pt x="0" y="0"/>
                </a:moveTo>
                <a:lnTo>
                  <a:pt x="5511736" y="0"/>
                </a:lnTo>
                <a:lnTo>
                  <a:pt x="5511736" y="4012121"/>
                </a:lnTo>
                <a:lnTo>
                  <a:pt x="0" y="40121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779228" y="4679285"/>
            <a:ext cx="4937760" cy="375208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Una vez recopilada la información, el SOC analiza los datos para identificar comportamientos anómalos o amenazas reales.</a:t>
            </a:r>
          </a:p>
          <a:p>
            <a:pPr algn="l">
              <a:lnSpc>
                <a:spcPts val="2400"/>
              </a:lnSpc>
            </a:pPr>
          </a:p>
          <a:p>
            <a:pPr algn="l">
              <a:lnSpc>
                <a:spcPts val="2400"/>
              </a:lnSpc>
            </a:pPr>
            <a:r>
              <a:rPr lang="en-US" sz="2000">
                <a:solidFill>
                  <a:srgbClr val="333333"/>
                </a:solidFill>
                <a:latin typeface="Calibri (MS)"/>
                <a:ea typeface="Calibri (MS)"/>
                <a:cs typeface="Calibri (MS)"/>
                <a:sym typeface="Calibri (MS)"/>
              </a:rPr>
              <a:t>Usa correlación de eventos, análisis de comportamiento (UEBA) e inteligencia de amenazas.</a:t>
            </a:r>
          </a:p>
        </p:txBody>
      </p:sp>
      <p:sp>
        <p:nvSpPr>
          <p:cNvPr name="Freeform 41" id="41"/>
          <p:cNvSpPr/>
          <p:nvPr/>
        </p:nvSpPr>
        <p:spPr>
          <a:xfrm flipH="false" flipV="false" rot="0">
            <a:off x="12344400" y="3305208"/>
            <a:ext cx="5511736" cy="1031176"/>
          </a:xfrm>
          <a:custGeom>
            <a:avLst/>
            <a:gdLst/>
            <a:ahLst/>
            <a:cxnLst/>
            <a:rect r="r" b="b" t="t" l="l"/>
            <a:pathLst>
              <a:path h="1031176" w="5511736">
                <a:moveTo>
                  <a:pt x="0" y="0"/>
                </a:moveTo>
                <a:lnTo>
                  <a:pt x="5511736" y="0"/>
                </a:lnTo>
                <a:lnTo>
                  <a:pt x="5511736" y="1031177"/>
                </a:lnTo>
                <a:lnTo>
                  <a:pt x="0" y="103117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2357097" y="3317905"/>
            <a:ext cx="5486400" cy="1005840"/>
            <a:chOff x="0" y="0"/>
            <a:chExt cx="7315200" cy="1341120"/>
          </a:xfrm>
        </p:grpSpPr>
        <p:sp>
          <p:nvSpPr>
            <p:cNvPr name="Freeform 43" id="43"/>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7">
                <a:alphaModFix amt="0"/>
              </a:blip>
              <a:stretch>
                <a:fillRect l="0" t="-56208" r="0" b="-56208"/>
              </a:stretch>
            </a:blipFill>
          </p:spPr>
        </p:sp>
      </p:grpSp>
      <p:grpSp>
        <p:nvGrpSpPr>
          <p:cNvPr name="Group 44" id="44"/>
          <p:cNvGrpSpPr/>
          <p:nvPr/>
        </p:nvGrpSpPr>
        <p:grpSpPr>
          <a:xfrm rot="0">
            <a:off x="12357097" y="3282186"/>
            <a:ext cx="5486400" cy="1041559"/>
            <a:chOff x="0" y="0"/>
            <a:chExt cx="7315200" cy="1388745"/>
          </a:xfrm>
        </p:grpSpPr>
        <p:sp>
          <p:nvSpPr>
            <p:cNvPr name="Freeform 45" id="45"/>
            <p:cNvSpPr/>
            <p:nvPr/>
          </p:nvSpPr>
          <p:spPr>
            <a:xfrm flipH="false" flipV="false" rot="0">
              <a:off x="0" y="0"/>
              <a:ext cx="7315200" cy="1388745"/>
            </a:xfrm>
            <a:custGeom>
              <a:avLst/>
              <a:gdLst/>
              <a:ahLst/>
              <a:cxnLst/>
              <a:rect r="r" b="b" t="t" l="l"/>
              <a:pathLst>
                <a:path h="1388745" w="7315200">
                  <a:moveTo>
                    <a:pt x="0" y="0"/>
                  </a:moveTo>
                  <a:lnTo>
                    <a:pt x="7315200" y="0"/>
                  </a:lnTo>
                  <a:lnTo>
                    <a:pt x="7315200" y="1388745"/>
                  </a:lnTo>
                  <a:lnTo>
                    <a:pt x="0" y="1388745"/>
                  </a:lnTo>
                  <a:close/>
                </a:path>
              </a:pathLst>
            </a:custGeom>
            <a:blipFill>
              <a:blip r:embed="rId8">
                <a:alphaModFix amt="0"/>
              </a:blip>
              <a:stretch>
                <a:fillRect l="0" t="-52637" r="0" b="-52637"/>
              </a:stretch>
            </a:blipFill>
          </p:spPr>
        </p:sp>
        <p:sp>
          <p:nvSpPr>
            <p:cNvPr name="TextBox 46" id="46"/>
            <p:cNvSpPr txBox="true"/>
            <p:nvPr/>
          </p:nvSpPr>
          <p:spPr>
            <a:xfrm>
              <a:off x="0" y="-47625"/>
              <a:ext cx="7315200" cy="14363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RESPONDER</a:t>
              </a:r>
            </a:p>
          </p:txBody>
        </p:sp>
      </p:grpSp>
      <p:sp>
        <p:nvSpPr>
          <p:cNvPr name="Freeform 47" id="47"/>
          <p:cNvSpPr/>
          <p:nvPr/>
        </p:nvSpPr>
        <p:spPr>
          <a:xfrm flipH="false" flipV="false" rot="0">
            <a:off x="12344400" y="4347624"/>
            <a:ext cx="5511736" cy="4012120"/>
          </a:xfrm>
          <a:custGeom>
            <a:avLst/>
            <a:gdLst/>
            <a:ahLst/>
            <a:cxnLst/>
            <a:rect r="r" b="b" t="t" l="l"/>
            <a:pathLst>
              <a:path h="4012120" w="5511736">
                <a:moveTo>
                  <a:pt x="0" y="0"/>
                </a:moveTo>
                <a:lnTo>
                  <a:pt x="5511736" y="0"/>
                </a:lnTo>
                <a:lnTo>
                  <a:pt x="5511736" y="4012121"/>
                </a:lnTo>
                <a:lnTo>
                  <a:pt x="0" y="40121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632626" y="4679285"/>
            <a:ext cx="4937760" cy="3752088"/>
          </a:xfrm>
          <a:prstGeom prst="rect">
            <a:avLst/>
          </a:prstGeom>
        </p:spPr>
        <p:txBody>
          <a:bodyPr anchor="t" rtlCol="false" tIns="0" lIns="0" bIns="0" rIns="0">
            <a:spAutoFit/>
          </a:bodyPr>
          <a:lstStyle/>
          <a:p>
            <a:pPr algn="l">
              <a:lnSpc>
                <a:spcPts val="2400"/>
              </a:lnSpc>
            </a:pPr>
            <a:r>
              <a:rPr lang="en-US" sz="2000">
                <a:solidFill>
                  <a:srgbClr val="333333"/>
                </a:solidFill>
                <a:latin typeface="Calibri (MS)"/>
                <a:ea typeface="Calibri (MS)"/>
                <a:cs typeface="Calibri (MS)"/>
                <a:sym typeface="Calibri (MS)"/>
              </a:rPr>
              <a:t>Cuando una amenaza es confirmada, el SOC activa un proceso de respuesta a incidentes que puede incluir contención, erradicación, recuperación y comunicación interna.</a:t>
            </a:r>
          </a:p>
        </p:txBody>
      </p:sp>
      <p:grpSp>
        <p:nvGrpSpPr>
          <p:cNvPr name="Group 49" id="49"/>
          <p:cNvGrpSpPr/>
          <p:nvPr/>
        </p:nvGrpSpPr>
        <p:grpSpPr>
          <a:xfrm rot="0">
            <a:off x="15983863" y="24203"/>
            <a:ext cx="1855079" cy="1855079"/>
            <a:chOff x="0" y="0"/>
            <a:chExt cx="5852160" cy="5852160"/>
          </a:xfrm>
        </p:grpSpPr>
        <p:sp>
          <p:nvSpPr>
            <p:cNvPr name="Freeform 50" id="50"/>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9"/>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p.7</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42862"/>
            <a:ext cx="16824960" cy="1688783"/>
            <a:chOff x="0" y="0"/>
            <a:chExt cx="22433280" cy="2251710"/>
          </a:xfrm>
        </p:grpSpPr>
        <p:sp>
          <p:nvSpPr>
            <p:cNvPr name="Freeform 17" id="17"/>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6">
                <a:alphaModFix amt="0"/>
              </a:blip>
              <a:stretch>
                <a:fillRect l="0" t="-144125" r="0" b="-144125"/>
              </a:stretch>
            </a:blipFill>
          </p:spPr>
        </p:sp>
        <p:sp>
          <p:nvSpPr>
            <p:cNvPr name="TextBox 18" id="18"/>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1.1  |  Ejemplo integrado: Monitoreo → Detección → Respuesta</a:t>
              </a:r>
            </a:p>
          </p:txBody>
        </p:sp>
      </p:grpSp>
      <p:sp>
        <p:nvSpPr>
          <p:cNvPr name="Freeform 19" id="19"/>
          <p:cNvSpPr/>
          <p:nvPr/>
        </p:nvSpPr>
        <p:spPr>
          <a:xfrm flipH="false" flipV="false" rot="0">
            <a:off x="548640" y="2558814"/>
            <a:ext cx="923304" cy="1823921"/>
          </a:xfrm>
          <a:custGeom>
            <a:avLst/>
            <a:gdLst/>
            <a:ahLst/>
            <a:cxnLst/>
            <a:rect r="r" b="b" t="t" l="l"/>
            <a:pathLst>
              <a:path h="1823921" w="923304">
                <a:moveTo>
                  <a:pt x="0" y="0"/>
                </a:moveTo>
                <a:lnTo>
                  <a:pt x="923304" y="0"/>
                </a:lnTo>
                <a:lnTo>
                  <a:pt x="923304" y="1823921"/>
                </a:lnTo>
                <a:lnTo>
                  <a:pt x="0" y="18239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560009" y="2570182"/>
            <a:ext cx="900618" cy="1801235"/>
            <a:chOff x="0" y="0"/>
            <a:chExt cx="1341120" cy="2682240"/>
          </a:xfrm>
        </p:grpSpPr>
        <p:sp>
          <p:nvSpPr>
            <p:cNvPr name="Freeform 21" id="21"/>
            <p:cNvSpPr/>
            <p:nvPr/>
          </p:nvSpPr>
          <p:spPr>
            <a:xfrm flipH="false" flipV="false" rot="0">
              <a:off x="0" y="0"/>
              <a:ext cx="1341120" cy="2682240"/>
            </a:xfrm>
            <a:custGeom>
              <a:avLst/>
              <a:gdLst/>
              <a:ahLst/>
              <a:cxnLst/>
              <a:rect r="r" b="b" t="t" l="l"/>
              <a:pathLst>
                <a:path h="2682240" w="1341120">
                  <a:moveTo>
                    <a:pt x="0" y="0"/>
                  </a:moveTo>
                  <a:lnTo>
                    <a:pt x="1341120" y="0"/>
                  </a:lnTo>
                  <a:lnTo>
                    <a:pt x="1341120" y="2682240"/>
                  </a:lnTo>
                  <a:lnTo>
                    <a:pt x="0" y="2682240"/>
                  </a:lnTo>
                  <a:close/>
                </a:path>
              </a:pathLst>
            </a:custGeom>
            <a:blipFill>
              <a:blip r:embed="rId5">
                <a:alphaModFix amt="0"/>
              </a:blip>
              <a:stretch>
                <a:fillRect l="-206785" t="0" r="-206785" b="0"/>
              </a:stretch>
            </a:blipFill>
          </p:spPr>
        </p:sp>
      </p:grpSp>
      <p:grpSp>
        <p:nvGrpSpPr>
          <p:cNvPr name="Group 22" id="22"/>
          <p:cNvGrpSpPr/>
          <p:nvPr/>
        </p:nvGrpSpPr>
        <p:grpSpPr>
          <a:xfrm rot="0">
            <a:off x="560009" y="2519011"/>
            <a:ext cx="900618" cy="1852407"/>
            <a:chOff x="0" y="0"/>
            <a:chExt cx="1341120" cy="2758440"/>
          </a:xfrm>
        </p:grpSpPr>
        <p:sp>
          <p:nvSpPr>
            <p:cNvPr name="Freeform 23" id="23"/>
            <p:cNvSpPr/>
            <p:nvPr/>
          </p:nvSpPr>
          <p:spPr>
            <a:xfrm flipH="false" flipV="false" rot="0">
              <a:off x="0" y="0"/>
              <a:ext cx="1341120" cy="2758440"/>
            </a:xfrm>
            <a:custGeom>
              <a:avLst/>
              <a:gdLst/>
              <a:ahLst/>
              <a:cxnLst/>
              <a:rect r="r" b="b" t="t" l="l"/>
              <a:pathLst>
                <a:path h="2758440" w="1341120">
                  <a:moveTo>
                    <a:pt x="0" y="0"/>
                  </a:moveTo>
                  <a:lnTo>
                    <a:pt x="1341120" y="0"/>
                  </a:lnTo>
                  <a:lnTo>
                    <a:pt x="1341120" y="2758440"/>
                  </a:lnTo>
                  <a:lnTo>
                    <a:pt x="0" y="2758440"/>
                  </a:lnTo>
                  <a:close/>
                </a:path>
              </a:pathLst>
            </a:custGeom>
            <a:blipFill>
              <a:blip r:embed="rId6">
                <a:alphaModFix amt="0"/>
              </a:blip>
              <a:stretch>
                <a:fillRect l="-213897" t="0" r="-213897" b="0"/>
              </a:stretch>
            </a:blipFill>
          </p:spPr>
        </p:sp>
        <p:sp>
          <p:nvSpPr>
            <p:cNvPr name="TextBox 24" id="24"/>
            <p:cNvSpPr txBox="true"/>
            <p:nvPr/>
          </p:nvSpPr>
          <p:spPr>
            <a:xfrm>
              <a:off x="0" y="-76200"/>
              <a:ext cx="1341120" cy="2834640"/>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1</a:t>
              </a:r>
            </a:p>
          </p:txBody>
        </p:sp>
      </p:grpSp>
      <p:sp>
        <p:nvSpPr>
          <p:cNvPr name="Freeform 25" id="25"/>
          <p:cNvSpPr/>
          <p:nvPr/>
        </p:nvSpPr>
        <p:spPr>
          <a:xfrm flipH="false" flipV="false" rot="0">
            <a:off x="1482007" y="2558814"/>
            <a:ext cx="2642664" cy="1823921"/>
          </a:xfrm>
          <a:custGeom>
            <a:avLst/>
            <a:gdLst/>
            <a:ahLst/>
            <a:cxnLst/>
            <a:rect r="r" b="b" t="t" l="l"/>
            <a:pathLst>
              <a:path h="1823921" w="2642664">
                <a:moveTo>
                  <a:pt x="0" y="0"/>
                </a:moveTo>
                <a:lnTo>
                  <a:pt x="2642665" y="0"/>
                </a:lnTo>
                <a:lnTo>
                  <a:pt x="2642665" y="1823921"/>
                </a:lnTo>
                <a:lnTo>
                  <a:pt x="0" y="182392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493376" y="2570182"/>
            <a:ext cx="2619978" cy="1801235"/>
            <a:chOff x="0" y="0"/>
            <a:chExt cx="3901440" cy="2682240"/>
          </a:xfrm>
        </p:grpSpPr>
        <p:sp>
          <p:nvSpPr>
            <p:cNvPr name="Freeform 27" id="27"/>
            <p:cNvSpPr/>
            <p:nvPr/>
          </p:nvSpPr>
          <p:spPr>
            <a:xfrm flipH="false" flipV="false" rot="0">
              <a:off x="0" y="0"/>
              <a:ext cx="3901440" cy="2682240"/>
            </a:xfrm>
            <a:custGeom>
              <a:avLst/>
              <a:gdLst/>
              <a:ahLst/>
              <a:cxnLst/>
              <a:rect r="r" b="b" t="t" l="l"/>
              <a:pathLst>
                <a:path h="2682240" w="3901440">
                  <a:moveTo>
                    <a:pt x="0" y="0"/>
                  </a:moveTo>
                  <a:lnTo>
                    <a:pt x="3901440" y="0"/>
                  </a:lnTo>
                  <a:lnTo>
                    <a:pt x="3901440" y="2682240"/>
                  </a:lnTo>
                  <a:lnTo>
                    <a:pt x="0" y="2682240"/>
                  </a:lnTo>
                  <a:close/>
                </a:path>
              </a:pathLst>
            </a:custGeom>
            <a:blipFill>
              <a:blip r:embed="rId5">
                <a:alphaModFix amt="0"/>
              </a:blip>
              <a:stretch>
                <a:fillRect l="-38270" t="0" r="-38269" b="0"/>
              </a:stretch>
            </a:blipFill>
          </p:spPr>
        </p:sp>
      </p:grpSp>
      <p:grpSp>
        <p:nvGrpSpPr>
          <p:cNvPr name="Group 28" id="28"/>
          <p:cNvGrpSpPr/>
          <p:nvPr/>
        </p:nvGrpSpPr>
        <p:grpSpPr>
          <a:xfrm rot="0">
            <a:off x="1493376" y="2538200"/>
            <a:ext cx="2619978" cy="1833217"/>
            <a:chOff x="0" y="0"/>
            <a:chExt cx="3901440" cy="2729865"/>
          </a:xfrm>
        </p:grpSpPr>
        <p:sp>
          <p:nvSpPr>
            <p:cNvPr name="Freeform 29" id="29"/>
            <p:cNvSpPr/>
            <p:nvPr/>
          </p:nvSpPr>
          <p:spPr>
            <a:xfrm flipH="false" flipV="false" rot="0">
              <a:off x="0" y="0"/>
              <a:ext cx="3901440" cy="2729865"/>
            </a:xfrm>
            <a:custGeom>
              <a:avLst/>
              <a:gdLst/>
              <a:ahLst/>
              <a:cxnLst/>
              <a:rect r="r" b="b" t="t" l="l"/>
              <a:pathLst>
                <a:path h="2729865" w="3901440">
                  <a:moveTo>
                    <a:pt x="0" y="0"/>
                  </a:moveTo>
                  <a:lnTo>
                    <a:pt x="3901440" y="0"/>
                  </a:lnTo>
                  <a:lnTo>
                    <a:pt x="3901440" y="2729865"/>
                  </a:lnTo>
                  <a:lnTo>
                    <a:pt x="0" y="2729865"/>
                  </a:lnTo>
                  <a:close/>
                </a:path>
              </a:pathLst>
            </a:custGeom>
            <a:blipFill>
              <a:blip r:embed="rId6">
                <a:alphaModFix amt="0"/>
              </a:blip>
              <a:stretch>
                <a:fillRect l="-39774" t="0" r="-39774" b="0"/>
              </a:stretch>
            </a:blipFill>
          </p:spPr>
        </p:sp>
        <p:sp>
          <p:nvSpPr>
            <p:cNvPr name="TextBox 30" id="30"/>
            <p:cNvSpPr txBox="true"/>
            <p:nvPr/>
          </p:nvSpPr>
          <p:spPr>
            <a:xfrm>
              <a:off x="0" y="-47625"/>
              <a:ext cx="3901440" cy="277749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MONITOREAR</a:t>
              </a:r>
            </a:p>
          </p:txBody>
        </p:sp>
      </p:grpSp>
      <p:sp>
        <p:nvSpPr>
          <p:cNvPr name="Freeform 31" id="31"/>
          <p:cNvSpPr/>
          <p:nvPr/>
        </p:nvSpPr>
        <p:spPr>
          <a:xfrm flipH="false" flipV="false" rot="0">
            <a:off x="4134735" y="2558814"/>
            <a:ext cx="11812589" cy="1823921"/>
          </a:xfrm>
          <a:custGeom>
            <a:avLst/>
            <a:gdLst/>
            <a:ahLst/>
            <a:cxnLst/>
            <a:rect r="r" b="b" t="t" l="l"/>
            <a:pathLst>
              <a:path h="1823921" w="11812589">
                <a:moveTo>
                  <a:pt x="0" y="0"/>
                </a:moveTo>
                <a:lnTo>
                  <a:pt x="11812589" y="0"/>
                </a:lnTo>
                <a:lnTo>
                  <a:pt x="11812589" y="1823921"/>
                </a:lnTo>
                <a:lnTo>
                  <a:pt x="0" y="18239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4408102" y="2570182"/>
            <a:ext cx="11298657" cy="1801235"/>
            <a:chOff x="0" y="0"/>
            <a:chExt cx="16824960" cy="2682240"/>
          </a:xfrm>
        </p:grpSpPr>
        <p:sp>
          <p:nvSpPr>
            <p:cNvPr name="Freeform 33" id="33"/>
            <p:cNvSpPr/>
            <p:nvPr/>
          </p:nvSpPr>
          <p:spPr>
            <a:xfrm flipH="false" flipV="false" rot="0">
              <a:off x="0" y="0"/>
              <a:ext cx="16824961" cy="2682240"/>
            </a:xfrm>
            <a:custGeom>
              <a:avLst/>
              <a:gdLst/>
              <a:ahLst/>
              <a:cxnLst/>
              <a:rect r="r" b="b" t="t" l="l"/>
              <a:pathLst>
                <a:path h="2682240" w="16824961">
                  <a:moveTo>
                    <a:pt x="0" y="0"/>
                  </a:moveTo>
                  <a:lnTo>
                    <a:pt x="16824961" y="0"/>
                  </a:lnTo>
                  <a:lnTo>
                    <a:pt x="16824961" y="2682240"/>
                  </a:lnTo>
                  <a:lnTo>
                    <a:pt x="0" y="2682240"/>
                  </a:lnTo>
                  <a:close/>
                </a:path>
              </a:pathLst>
            </a:custGeom>
            <a:blipFill>
              <a:blip r:embed="rId5">
                <a:alphaModFix amt="0"/>
              </a:blip>
              <a:stretch>
                <a:fillRect l="0" t="-72139" r="0" b="-72139"/>
              </a:stretch>
            </a:blipFill>
          </p:spPr>
        </p:sp>
      </p:grpSp>
      <p:grpSp>
        <p:nvGrpSpPr>
          <p:cNvPr name="Group 34" id="34"/>
          <p:cNvGrpSpPr/>
          <p:nvPr/>
        </p:nvGrpSpPr>
        <p:grpSpPr>
          <a:xfrm rot="0">
            <a:off x="4408102" y="2538200"/>
            <a:ext cx="11298657" cy="1833217"/>
            <a:chOff x="0" y="0"/>
            <a:chExt cx="16824960" cy="2729865"/>
          </a:xfrm>
        </p:grpSpPr>
        <p:sp>
          <p:nvSpPr>
            <p:cNvPr name="Freeform 35" id="35"/>
            <p:cNvSpPr/>
            <p:nvPr/>
          </p:nvSpPr>
          <p:spPr>
            <a:xfrm flipH="false" flipV="false" rot="0">
              <a:off x="0" y="0"/>
              <a:ext cx="16824961" cy="2729865"/>
            </a:xfrm>
            <a:custGeom>
              <a:avLst/>
              <a:gdLst/>
              <a:ahLst/>
              <a:cxnLst/>
              <a:rect r="r" b="b" t="t" l="l"/>
              <a:pathLst>
                <a:path h="2729865" w="16824961">
                  <a:moveTo>
                    <a:pt x="0" y="0"/>
                  </a:moveTo>
                  <a:lnTo>
                    <a:pt x="16824961" y="0"/>
                  </a:lnTo>
                  <a:lnTo>
                    <a:pt x="16824961" y="2729865"/>
                  </a:lnTo>
                  <a:lnTo>
                    <a:pt x="0" y="2729865"/>
                  </a:lnTo>
                  <a:close/>
                </a:path>
              </a:pathLst>
            </a:custGeom>
            <a:blipFill>
              <a:blip r:embed="rId6">
                <a:alphaModFix amt="0"/>
              </a:blip>
              <a:stretch>
                <a:fillRect l="0" t="-70092" r="0" b="-70092"/>
              </a:stretch>
            </a:blipFill>
          </p:spPr>
        </p:sp>
        <p:sp>
          <p:nvSpPr>
            <p:cNvPr name="TextBox 36" id="36"/>
            <p:cNvSpPr txBox="true"/>
            <p:nvPr/>
          </p:nvSpPr>
          <p:spPr>
            <a:xfrm>
              <a:off x="0" y="-47625"/>
              <a:ext cx="16824960" cy="2777490"/>
            </a:xfrm>
            <a:prstGeom prst="rect">
              <a:avLst/>
            </a:prstGeom>
          </p:spPr>
          <p:txBody>
            <a:bodyPr anchor="ctr" rtlCol="false" tIns="0" lIns="0" bIns="0" rIns="0"/>
            <a:lstStyle/>
            <a:p>
              <a:pPr algn="l">
                <a:lnSpc>
                  <a:spcPts val="2760"/>
                </a:lnSpc>
              </a:pPr>
              <a:r>
                <a:rPr lang="en-US" sz="2300">
                  <a:solidFill>
                    <a:srgbClr val="E0E0E0"/>
                  </a:solidFill>
                  <a:latin typeface="Calibri (MS)"/>
                  <a:ea typeface="Calibri (MS)"/>
                  <a:cs typeface="Calibri (MS)"/>
                  <a:sym typeface="Calibri (MS)"/>
                </a:rPr>
                <a:t>Se detectan múltiples intentos fallidos de inicio de sesión desde una IP extranjera en el servidor de archivos de la empresa.</a:t>
              </a:r>
            </a:p>
          </p:txBody>
        </p:sp>
      </p:grpSp>
      <p:sp>
        <p:nvSpPr>
          <p:cNvPr name="Freeform 37" id="37"/>
          <p:cNvSpPr/>
          <p:nvPr/>
        </p:nvSpPr>
        <p:spPr>
          <a:xfrm flipH="false" flipV="false" rot="0">
            <a:off x="548640" y="4818545"/>
            <a:ext cx="923304" cy="1823921"/>
          </a:xfrm>
          <a:custGeom>
            <a:avLst/>
            <a:gdLst/>
            <a:ahLst/>
            <a:cxnLst/>
            <a:rect r="r" b="b" t="t" l="l"/>
            <a:pathLst>
              <a:path h="1823921" w="923304">
                <a:moveTo>
                  <a:pt x="0" y="0"/>
                </a:moveTo>
                <a:lnTo>
                  <a:pt x="923304" y="0"/>
                </a:lnTo>
                <a:lnTo>
                  <a:pt x="923304" y="1823921"/>
                </a:lnTo>
                <a:lnTo>
                  <a:pt x="0" y="182392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560009" y="4829914"/>
            <a:ext cx="900618" cy="1801235"/>
            <a:chOff x="0" y="0"/>
            <a:chExt cx="1341120" cy="2682240"/>
          </a:xfrm>
        </p:grpSpPr>
        <p:sp>
          <p:nvSpPr>
            <p:cNvPr name="Freeform 39" id="39"/>
            <p:cNvSpPr/>
            <p:nvPr/>
          </p:nvSpPr>
          <p:spPr>
            <a:xfrm flipH="false" flipV="false" rot="0">
              <a:off x="0" y="0"/>
              <a:ext cx="1341120" cy="2682240"/>
            </a:xfrm>
            <a:custGeom>
              <a:avLst/>
              <a:gdLst/>
              <a:ahLst/>
              <a:cxnLst/>
              <a:rect r="r" b="b" t="t" l="l"/>
              <a:pathLst>
                <a:path h="2682240" w="1341120">
                  <a:moveTo>
                    <a:pt x="0" y="0"/>
                  </a:moveTo>
                  <a:lnTo>
                    <a:pt x="1341120" y="0"/>
                  </a:lnTo>
                  <a:lnTo>
                    <a:pt x="1341120" y="2682240"/>
                  </a:lnTo>
                  <a:lnTo>
                    <a:pt x="0" y="2682240"/>
                  </a:lnTo>
                  <a:close/>
                </a:path>
              </a:pathLst>
            </a:custGeom>
            <a:blipFill>
              <a:blip r:embed="rId5">
                <a:alphaModFix amt="0"/>
              </a:blip>
              <a:stretch>
                <a:fillRect l="-206785" t="0" r="-206785" b="0"/>
              </a:stretch>
            </a:blipFill>
          </p:spPr>
        </p:sp>
      </p:grpSp>
      <p:grpSp>
        <p:nvGrpSpPr>
          <p:cNvPr name="Group 40" id="40"/>
          <p:cNvGrpSpPr/>
          <p:nvPr/>
        </p:nvGrpSpPr>
        <p:grpSpPr>
          <a:xfrm rot="0">
            <a:off x="560009" y="4778742"/>
            <a:ext cx="900618" cy="1852407"/>
            <a:chOff x="0" y="0"/>
            <a:chExt cx="1341120" cy="2758440"/>
          </a:xfrm>
        </p:grpSpPr>
        <p:sp>
          <p:nvSpPr>
            <p:cNvPr name="Freeform 41" id="41"/>
            <p:cNvSpPr/>
            <p:nvPr/>
          </p:nvSpPr>
          <p:spPr>
            <a:xfrm flipH="false" flipV="false" rot="0">
              <a:off x="0" y="0"/>
              <a:ext cx="1341120" cy="2758440"/>
            </a:xfrm>
            <a:custGeom>
              <a:avLst/>
              <a:gdLst/>
              <a:ahLst/>
              <a:cxnLst/>
              <a:rect r="r" b="b" t="t" l="l"/>
              <a:pathLst>
                <a:path h="2758440" w="1341120">
                  <a:moveTo>
                    <a:pt x="0" y="0"/>
                  </a:moveTo>
                  <a:lnTo>
                    <a:pt x="1341120" y="0"/>
                  </a:lnTo>
                  <a:lnTo>
                    <a:pt x="1341120" y="2758440"/>
                  </a:lnTo>
                  <a:lnTo>
                    <a:pt x="0" y="2758440"/>
                  </a:lnTo>
                  <a:close/>
                </a:path>
              </a:pathLst>
            </a:custGeom>
            <a:blipFill>
              <a:blip r:embed="rId6">
                <a:alphaModFix amt="0"/>
              </a:blip>
              <a:stretch>
                <a:fillRect l="-213897" t="0" r="-213897" b="0"/>
              </a:stretch>
            </a:blipFill>
          </p:spPr>
        </p:sp>
        <p:sp>
          <p:nvSpPr>
            <p:cNvPr name="TextBox 42" id="42"/>
            <p:cNvSpPr txBox="true"/>
            <p:nvPr/>
          </p:nvSpPr>
          <p:spPr>
            <a:xfrm>
              <a:off x="0" y="-76200"/>
              <a:ext cx="1341120" cy="2834640"/>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2</a:t>
              </a:r>
            </a:p>
          </p:txBody>
        </p:sp>
      </p:grpSp>
      <p:sp>
        <p:nvSpPr>
          <p:cNvPr name="Freeform 43" id="43"/>
          <p:cNvSpPr/>
          <p:nvPr/>
        </p:nvSpPr>
        <p:spPr>
          <a:xfrm flipH="false" flipV="false" rot="0">
            <a:off x="1482007" y="4818545"/>
            <a:ext cx="2642664" cy="1823921"/>
          </a:xfrm>
          <a:custGeom>
            <a:avLst/>
            <a:gdLst/>
            <a:ahLst/>
            <a:cxnLst/>
            <a:rect r="r" b="b" t="t" l="l"/>
            <a:pathLst>
              <a:path h="1823921" w="2642664">
                <a:moveTo>
                  <a:pt x="0" y="0"/>
                </a:moveTo>
                <a:lnTo>
                  <a:pt x="2642665" y="0"/>
                </a:lnTo>
                <a:lnTo>
                  <a:pt x="2642665" y="1823921"/>
                </a:lnTo>
                <a:lnTo>
                  <a:pt x="0" y="182392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4" id="44"/>
          <p:cNvGrpSpPr/>
          <p:nvPr/>
        </p:nvGrpSpPr>
        <p:grpSpPr>
          <a:xfrm rot="0">
            <a:off x="1493376" y="4829914"/>
            <a:ext cx="2619978" cy="1801235"/>
            <a:chOff x="0" y="0"/>
            <a:chExt cx="3901440" cy="2682240"/>
          </a:xfrm>
        </p:grpSpPr>
        <p:sp>
          <p:nvSpPr>
            <p:cNvPr name="Freeform 45" id="45"/>
            <p:cNvSpPr/>
            <p:nvPr/>
          </p:nvSpPr>
          <p:spPr>
            <a:xfrm flipH="false" flipV="false" rot="0">
              <a:off x="0" y="0"/>
              <a:ext cx="3901440" cy="2682240"/>
            </a:xfrm>
            <a:custGeom>
              <a:avLst/>
              <a:gdLst/>
              <a:ahLst/>
              <a:cxnLst/>
              <a:rect r="r" b="b" t="t" l="l"/>
              <a:pathLst>
                <a:path h="2682240" w="3901440">
                  <a:moveTo>
                    <a:pt x="0" y="0"/>
                  </a:moveTo>
                  <a:lnTo>
                    <a:pt x="3901440" y="0"/>
                  </a:lnTo>
                  <a:lnTo>
                    <a:pt x="3901440" y="2682240"/>
                  </a:lnTo>
                  <a:lnTo>
                    <a:pt x="0" y="2682240"/>
                  </a:lnTo>
                  <a:close/>
                </a:path>
              </a:pathLst>
            </a:custGeom>
            <a:blipFill>
              <a:blip r:embed="rId5">
                <a:alphaModFix amt="0"/>
              </a:blip>
              <a:stretch>
                <a:fillRect l="-38270" t="0" r="-38269" b="0"/>
              </a:stretch>
            </a:blipFill>
          </p:spPr>
        </p:sp>
      </p:grpSp>
      <p:grpSp>
        <p:nvGrpSpPr>
          <p:cNvPr name="Group 46" id="46"/>
          <p:cNvGrpSpPr/>
          <p:nvPr/>
        </p:nvGrpSpPr>
        <p:grpSpPr>
          <a:xfrm rot="0">
            <a:off x="1493376" y="4797931"/>
            <a:ext cx="2619978" cy="1833217"/>
            <a:chOff x="0" y="0"/>
            <a:chExt cx="3901440" cy="2729865"/>
          </a:xfrm>
        </p:grpSpPr>
        <p:sp>
          <p:nvSpPr>
            <p:cNvPr name="Freeform 47" id="47"/>
            <p:cNvSpPr/>
            <p:nvPr/>
          </p:nvSpPr>
          <p:spPr>
            <a:xfrm flipH="false" flipV="false" rot="0">
              <a:off x="0" y="0"/>
              <a:ext cx="3901440" cy="2729865"/>
            </a:xfrm>
            <a:custGeom>
              <a:avLst/>
              <a:gdLst/>
              <a:ahLst/>
              <a:cxnLst/>
              <a:rect r="r" b="b" t="t" l="l"/>
              <a:pathLst>
                <a:path h="2729865" w="3901440">
                  <a:moveTo>
                    <a:pt x="0" y="0"/>
                  </a:moveTo>
                  <a:lnTo>
                    <a:pt x="3901440" y="0"/>
                  </a:lnTo>
                  <a:lnTo>
                    <a:pt x="3901440" y="2729865"/>
                  </a:lnTo>
                  <a:lnTo>
                    <a:pt x="0" y="2729865"/>
                  </a:lnTo>
                  <a:close/>
                </a:path>
              </a:pathLst>
            </a:custGeom>
            <a:blipFill>
              <a:blip r:embed="rId6">
                <a:alphaModFix amt="0"/>
              </a:blip>
              <a:stretch>
                <a:fillRect l="-39774" t="0" r="-39774" b="0"/>
              </a:stretch>
            </a:blipFill>
          </p:spPr>
        </p:sp>
        <p:sp>
          <p:nvSpPr>
            <p:cNvPr name="TextBox 48" id="48"/>
            <p:cNvSpPr txBox="true"/>
            <p:nvPr/>
          </p:nvSpPr>
          <p:spPr>
            <a:xfrm>
              <a:off x="0" y="-47625"/>
              <a:ext cx="3901440" cy="277749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DETECTAR</a:t>
              </a:r>
            </a:p>
          </p:txBody>
        </p:sp>
      </p:grpSp>
      <p:sp>
        <p:nvSpPr>
          <p:cNvPr name="Freeform 49" id="49"/>
          <p:cNvSpPr/>
          <p:nvPr/>
        </p:nvSpPr>
        <p:spPr>
          <a:xfrm flipH="false" flipV="false" rot="0">
            <a:off x="4134735" y="4818545"/>
            <a:ext cx="11812589" cy="1823921"/>
          </a:xfrm>
          <a:custGeom>
            <a:avLst/>
            <a:gdLst/>
            <a:ahLst/>
            <a:cxnLst/>
            <a:rect r="r" b="b" t="t" l="l"/>
            <a:pathLst>
              <a:path h="1823921" w="11812589">
                <a:moveTo>
                  <a:pt x="0" y="0"/>
                </a:moveTo>
                <a:lnTo>
                  <a:pt x="11812589" y="0"/>
                </a:lnTo>
                <a:lnTo>
                  <a:pt x="11812589" y="1823921"/>
                </a:lnTo>
                <a:lnTo>
                  <a:pt x="0" y="18239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0" id="50"/>
          <p:cNvGrpSpPr/>
          <p:nvPr/>
        </p:nvGrpSpPr>
        <p:grpSpPr>
          <a:xfrm rot="0">
            <a:off x="4408102" y="4829914"/>
            <a:ext cx="11298657" cy="1801235"/>
            <a:chOff x="0" y="0"/>
            <a:chExt cx="16824960" cy="2682240"/>
          </a:xfrm>
        </p:grpSpPr>
        <p:sp>
          <p:nvSpPr>
            <p:cNvPr name="Freeform 51" id="51"/>
            <p:cNvSpPr/>
            <p:nvPr/>
          </p:nvSpPr>
          <p:spPr>
            <a:xfrm flipH="false" flipV="false" rot="0">
              <a:off x="0" y="0"/>
              <a:ext cx="16824961" cy="2682240"/>
            </a:xfrm>
            <a:custGeom>
              <a:avLst/>
              <a:gdLst/>
              <a:ahLst/>
              <a:cxnLst/>
              <a:rect r="r" b="b" t="t" l="l"/>
              <a:pathLst>
                <a:path h="2682240" w="16824961">
                  <a:moveTo>
                    <a:pt x="0" y="0"/>
                  </a:moveTo>
                  <a:lnTo>
                    <a:pt x="16824961" y="0"/>
                  </a:lnTo>
                  <a:lnTo>
                    <a:pt x="16824961" y="2682240"/>
                  </a:lnTo>
                  <a:lnTo>
                    <a:pt x="0" y="2682240"/>
                  </a:lnTo>
                  <a:close/>
                </a:path>
              </a:pathLst>
            </a:custGeom>
            <a:blipFill>
              <a:blip r:embed="rId5">
                <a:alphaModFix amt="0"/>
              </a:blip>
              <a:stretch>
                <a:fillRect l="0" t="-72139" r="0" b="-72139"/>
              </a:stretch>
            </a:blipFill>
          </p:spPr>
        </p:sp>
      </p:grpSp>
      <p:grpSp>
        <p:nvGrpSpPr>
          <p:cNvPr name="Group 52" id="52"/>
          <p:cNvGrpSpPr/>
          <p:nvPr/>
        </p:nvGrpSpPr>
        <p:grpSpPr>
          <a:xfrm rot="0">
            <a:off x="4408102" y="4797931"/>
            <a:ext cx="11298657" cy="1833217"/>
            <a:chOff x="0" y="0"/>
            <a:chExt cx="16824960" cy="2729865"/>
          </a:xfrm>
        </p:grpSpPr>
        <p:sp>
          <p:nvSpPr>
            <p:cNvPr name="Freeform 53" id="53"/>
            <p:cNvSpPr/>
            <p:nvPr/>
          </p:nvSpPr>
          <p:spPr>
            <a:xfrm flipH="false" flipV="false" rot="0">
              <a:off x="0" y="0"/>
              <a:ext cx="16824961" cy="2729865"/>
            </a:xfrm>
            <a:custGeom>
              <a:avLst/>
              <a:gdLst/>
              <a:ahLst/>
              <a:cxnLst/>
              <a:rect r="r" b="b" t="t" l="l"/>
              <a:pathLst>
                <a:path h="2729865" w="16824961">
                  <a:moveTo>
                    <a:pt x="0" y="0"/>
                  </a:moveTo>
                  <a:lnTo>
                    <a:pt x="16824961" y="0"/>
                  </a:lnTo>
                  <a:lnTo>
                    <a:pt x="16824961" y="2729865"/>
                  </a:lnTo>
                  <a:lnTo>
                    <a:pt x="0" y="2729865"/>
                  </a:lnTo>
                  <a:close/>
                </a:path>
              </a:pathLst>
            </a:custGeom>
            <a:blipFill>
              <a:blip r:embed="rId6">
                <a:alphaModFix amt="0"/>
              </a:blip>
              <a:stretch>
                <a:fillRect l="0" t="-70092" r="0" b="-70092"/>
              </a:stretch>
            </a:blipFill>
          </p:spPr>
        </p:sp>
        <p:sp>
          <p:nvSpPr>
            <p:cNvPr name="TextBox 54" id="54"/>
            <p:cNvSpPr txBox="true"/>
            <p:nvPr/>
          </p:nvSpPr>
          <p:spPr>
            <a:xfrm>
              <a:off x="0" y="-47625"/>
              <a:ext cx="16824960" cy="2777490"/>
            </a:xfrm>
            <a:prstGeom prst="rect">
              <a:avLst/>
            </a:prstGeom>
          </p:spPr>
          <p:txBody>
            <a:bodyPr anchor="ctr" rtlCol="false" tIns="0" lIns="0" bIns="0" rIns="0"/>
            <a:lstStyle/>
            <a:p>
              <a:pPr algn="l">
                <a:lnSpc>
                  <a:spcPts val="2760"/>
                </a:lnSpc>
              </a:pPr>
              <a:r>
                <a:rPr lang="en-US" sz="2300">
                  <a:solidFill>
                    <a:srgbClr val="E0E0E0"/>
                  </a:solidFill>
                  <a:latin typeface="Calibri (MS)"/>
                  <a:ea typeface="Calibri (MS)"/>
                  <a:cs typeface="Calibri (MS)"/>
                  <a:sym typeface="Calibri (MS)"/>
                </a:rPr>
                <a:t>El sistema SIEM detecta que, luego del acceso exitoso desde esa IP, se descargaron archivos sensibles a un servidor desconocido. Se genera una alerta crítica.</a:t>
              </a:r>
            </a:p>
          </p:txBody>
        </p:sp>
      </p:grpSp>
      <p:sp>
        <p:nvSpPr>
          <p:cNvPr name="Freeform 55" id="55"/>
          <p:cNvSpPr/>
          <p:nvPr/>
        </p:nvSpPr>
        <p:spPr>
          <a:xfrm flipH="false" flipV="false" rot="0">
            <a:off x="548640" y="7078276"/>
            <a:ext cx="923304" cy="1823921"/>
          </a:xfrm>
          <a:custGeom>
            <a:avLst/>
            <a:gdLst/>
            <a:ahLst/>
            <a:cxnLst/>
            <a:rect r="r" b="b" t="t" l="l"/>
            <a:pathLst>
              <a:path h="1823921" w="923304">
                <a:moveTo>
                  <a:pt x="0" y="0"/>
                </a:moveTo>
                <a:lnTo>
                  <a:pt x="923304" y="0"/>
                </a:lnTo>
                <a:lnTo>
                  <a:pt x="923304" y="1823922"/>
                </a:lnTo>
                <a:lnTo>
                  <a:pt x="0" y="18239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6" id="56"/>
          <p:cNvGrpSpPr/>
          <p:nvPr/>
        </p:nvGrpSpPr>
        <p:grpSpPr>
          <a:xfrm rot="0">
            <a:off x="560009" y="7089645"/>
            <a:ext cx="900618" cy="1801235"/>
            <a:chOff x="0" y="0"/>
            <a:chExt cx="1341120" cy="2682240"/>
          </a:xfrm>
        </p:grpSpPr>
        <p:sp>
          <p:nvSpPr>
            <p:cNvPr name="Freeform 57" id="57"/>
            <p:cNvSpPr/>
            <p:nvPr/>
          </p:nvSpPr>
          <p:spPr>
            <a:xfrm flipH="false" flipV="false" rot="0">
              <a:off x="0" y="0"/>
              <a:ext cx="1341120" cy="2682240"/>
            </a:xfrm>
            <a:custGeom>
              <a:avLst/>
              <a:gdLst/>
              <a:ahLst/>
              <a:cxnLst/>
              <a:rect r="r" b="b" t="t" l="l"/>
              <a:pathLst>
                <a:path h="2682240" w="1341120">
                  <a:moveTo>
                    <a:pt x="0" y="0"/>
                  </a:moveTo>
                  <a:lnTo>
                    <a:pt x="1341120" y="0"/>
                  </a:lnTo>
                  <a:lnTo>
                    <a:pt x="1341120" y="2682240"/>
                  </a:lnTo>
                  <a:lnTo>
                    <a:pt x="0" y="2682240"/>
                  </a:lnTo>
                  <a:close/>
                </a:path>
              </a:pathLst>
            </a:custGeom>
            <a:blipFill>
              <a:blip r:embed="rId5">
                <a:alphaModFix amt="0"/>
              </a:blip>
              <a:stretch>
                <a:fillRect l="-206785" t="0" r="-206785" b="0"/>
              </a:stretch>
            </a:blipFill>
          </p:spPr>
        </p:sp>
      </p:grpSp>
      <p:grpSp>
        <p:nvGrpSpPr>
          <p:cNvPr name="Group 58" id="58"/>
          <p:cNvGrpSpPr/>
          <p:nvPr/>
        </p:nvGrpSpPr>
        <p:grpSpPr>
          <a:xfrm rot="0">
            <a:off x="560009" y="7038474"/>
            <a:ext cx="900618" cy="1852407"/>
            <a:chOff x="0" y="0"/>
            <a:chExt cx="1341120" cy="2758440"/>
          </a:xfrm>
        </p:grpSpPr>
        <p:sp>
          <p:nvSpPr>
            <p:cNvPr name="Freeform 59" id="59"/>
            <p:cNvSpPr/>
            <p:nvPr/>
          </p:nvSpPr>
          <p:spPr>
            <a:xfrm flipH="false" flipV="false" rot="0">
              <a:off x="0" y="0"/>
              <a:ext cx="1341120" cy="2758440"/>
            </a:xfrm>
            <a:custGeom>
              <a:avLst/>
              <a:gdLst/>
              <a:ahLst/>
              <a:cxnLst/>
              <a:rect r="r" b="b" t="t" l="l"/>
              <a:pathLst>
                <a:path h="2758440" w="1341120">
                  <a:moveTo>
                    <a:pt x="0" y="0"/>
                  </a:moveTo>
                  <a:lnTo>
                    <a:pt x="1341120" y="0"/>
                  </a:lnTo>
                  <a:lnTo>
                    <a:pt x="1341120" y="2758440"/>
                  </a:lnTo>
                  <a:lnTo>
                    <a:pt x="0" y="2758440"/>
                  </a:lnTo>
                  <a:close/>
                </a:path>
              </a:pathLst>
            </a:custGeom>
            <a:blipFill>
              <a:blip r:embed="rId6">
                <a:alphaModFix amt="0"/>
              </a:blip>
              <a:stretch>
                <a:fillRect l="-213897" t="0" r="-213897" b="0"/>
              </a:stretch>
            </a:blipFill>
          </p:spPr>
        </p:sp>
        <p:sp>
          <p:nvSpPr>
            <p:cNvPr name="TextBox 60" id="60"/>
            <p:cNvSpPr txBox="true"/>
            <p:nvPr/>
          </p:nvSpPr>
          <p:spPr>
            <a:xfrm>
              <a:off x="0" y="-76200"/>
              <a:ext cx="1341120" cy="2834640"/>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3</a:t>
              </a:r>
            </a:p>
          </p:txBody>
        </p:sp>
      </p:grpSp>
      <p:sp>
        <p:nvSpPr>
          <p:cNvPr name="Freeform 61" id="61"/>
          <p:cNvSpPr/>
          <p:nvPr/>
        </p:nvSpPr>
        <p:spPr>
          <a:xfrm flipH="false" flipV="false" rot="0">
            <a:off x="1482007" y="7078276"/>
            <a:ext cx="2642664" cy="1823921"/>
          </a:xfrm>
          <a:custGeom>
            <a:avLst/>
            <a:gdLst/>
            <a:ahLst/>
            <a:cxnLst/>
            <a:rect r="r" b="b" t="t" l="l"/>
            <a:pathLst>
              <a:path h="1823921" w="2642664">
                <a:moveTo>
                  <a:pt x="0" y="0"/>
                </a:moveTo>
                <a:lnTo>
                  <a:pt x="2642665" y="0"/>
                </a:lnTo>
                <a:lnTo>
                  <a:pt x="2642665" y="1823922"/>
                </a:lnTo>
                <a:lnTo>
                  <a:pt x="0" y="182392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62" id="62"/>
          <p:cNvGrpSpPr/>
          <p:nvPr/>
        </p:nvGrpSpPr>
        <p:grpSpPr>
          <a:xfrm rot="0">
            <a:off x="1493376" y="7089645"/>
            <a:ext cx="2619978" cy="1801235"/>
            <a:chOff x="0" y="0"/>
            <a:chExt cx="3901440" cy="2682240"/>
          </a:xfrm>
        </p:grpSpPr>
        <p:sp>
          <p:nvSpPr>
            <p:cNvPr name="Freeform 63" id="63"/>
            <p:cNvSpPr/>
            <p:nvPr/>
          </p:nvSpPr>
          <p:spPr>
            <a:xfrm flipH="false" flipV="false" rot="0">
              <a:off x="0" y="0"/>
              <a:ext cx="3901440" cy="2682240"/>
            </a:xfrm>
            <a:custGeom>
              <a:avLst/>
              <a:gdLst/>
              <a:ahLst/>
              <a:cxnLst/>
              <a:rect r="r" b="b" t="t" l="l"/>
              <a:pathLst>
                <a:path h="2682240" w="3901440">
                  <a:moveTo>
                    <a:pt x="0" y="0"/>
                  </a:moveTo>
                  <a:lnTo>
                    <a:pt x="3901440" y="0"/>
                  </a:lnTo>
                  <a:lnTo>
                    <a:pt x="3901440" y="2682240"/>
                  </a:lnTo>
                  <a:lnTo>
                    <a:pt x="0" y="2682240"/>
                  </a:lnTo>
                  <a:close/>
                </a:path>
              </a:pathLst>
            </a:custGeom>
            <a:blipFill>
              <a:blip r:embed="rId5">
                <a:alphaModFix amt="0"/>
              </a:blip>
              <a:stretch>
                <a:fillRect l="-38270" t="0" r="-38269" b="0"/>
              </a:stretch>
            </a:blipFill>
          </p:spPr>
        </p:sp>
      </p:grpSp>
      <p:grpSp>
        <p:nvGrpSpPr>
          <p:cNvPr name="Group 64" id="64"/>
          <p:cNvGrpSpPr/>
          <p:nvPr/>
        </p:nvGrpSpPr>
        <p:grpSpPr>
          <a:xfrm rot="0">
            <a:off x="1493376" y="7057663"/>
            <a:ext cx="2619978" cy="1833217"/>
            <a:chOff x="0" y="0"/>
            <a:chExt cx="3901440" cy="2729865"/>
          </a:xfrm>
        </p:grpSpPr>
        <p:sp>
          <p:nvSpPr>
            <p:cNvPr name="Freeform 65" id="65"/>
            <p:cNvSpPr/>
            <p:nvPr/>
          </p:nvSpPr>
          <p:spPr>
            <a:xfrm flipH="false" flipV="false" rot="0">
              <a:off x="0" y="0"/>
              <a:ext cx="3901440" cy="2729865"/>
            </a:xfrm>
            <a:custGeom>
              <a:avLst/>
              <a:gdLst/>
              <a:ahLst/>
              <a:cxnLst/>
              <a:rect r="r" b="b" t="t" l="l"/>
              <a:pathLst>
                <a:path h="2729865" w="3901440">
                  <a:moveTo>
                    <a:pt x="0" y="0"/>
                  </a:moveTo>
                  <a:lnTo>
                    <a:pt x="3901440" y="0"/>
                  </a:lnTo>
                  <a:lnTo>
                    <a:pt x="3901440" y="2729865"/>
                  </a:lnTo>
                  <a:lnTo>
                    <a:pt x="0" y="2729865"/>
                  </a:lnTo>
                  <a:close/>
                </a:path>
              </a:pathLst>
            </a:custGeom>
            <a:blipFill>
              <a:blip r:embed="rId6">
                <a:alphaModFix amt="0"/>
              </a:blip>
              <a:stretch>
                <a:fillRect l="-39774" t="0" r="-39774" b="0"/>
              </a:stretch>
            </a:blipFill>
          </p:spPr>
        </p:sp>
        <p:sp>
          <p:nvSpPr>
            <p:cNvPr name="TextBox 66" id="66"/>
            <p:cNvSpPr txBox="true"/>
            <p:nvPr/>
          </p:nvSpPr>
          <p:spPr>
            <a:xfrm>
              <a:off x="0" y="-47625"/>
              <a:ext cx="3901440" cy="277749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RESPONDER</a:t>
              </a:r>
            </a:p>
          </p:txBody>
        </p:sp>
      </p:grpSp>
      <p:sp>
        <p:nvSpPr>
          <p:cNvPr name="Freeform 67" id="67"/>
          <p:cNvSpPr/>
          <p:nvPr/>
        </p:nvSpPr>
        <p:spPr>
          <a:xfrm flipH="false" flipV="false" rot="0">
            <a:off x="4134735" y="7078276"/>
            <a:ext cx="11812589" cy="1823921"/>
          </a:xfrm>
          <a:custGeom>
            <a:avLst/>
            <a:gdLst/>
            <a:ahLst/>
            <a:cxnLst/>
            <a:rect r="r" b="b" t="t" l="l"/>
            <a:pathLst>
              <a:path h="1823921" w="11812589">
                <a:moveTo>
                  <a:pt x="0" y="0"/>
                </a:moveTo>
                <a:lnTo>
                  <a:pt x="11812589" y="0"/>
                </a:lnTo>
                <a:lnTo>
                  <a:pt x="11812589" y="1823922"/>
                </a:lnTo>
                <a:lnTo>
                  <a:pt x="0" y="18239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8" id="68"/>
          <p:cNvGrpSpPr/>
          <p:nvPr/>
        </p:nvGrpSpPr>
        <p:grpSpPr>
          <a:xfrm rot="0">
            <a:off x="4408102" y="7089645"/>
            <a:ext cx="11298657" cy="1801235"/>
            <a:chOff x="0" y="0"/>
            <a:chExt cx="16824960" cy="2682240"/>
          </a:xfrm>
        </p:grpSpPr>
        <p:sp>
          <p:nvSpPr>
            <p:cNvPr name="Freeform 69" id="69"/>
            <p:cNvSpPr/>
            <p:nvPr/>
          </p:nvSpPr>
          <p:spPr>
            <a:xfrm flipH="false" flipV="false" rot="0">
              <a:off x="0" y="0"/>
              <a:ext cx="16824961" cy="2682240"/>
            </a:xfrm>
            <a:custGeom>
              <a:avLst/>
              <a:gdLst/>
              <a:ahLst/>
              <a:cxnLst/>
              <a:rect r="r" b="b" t="t" l="l"/>
              <a:pathLst>
                <a:path h="2682240" w="16824961">
                  <a:moveTo>
                    <a:pt x="0" y="0"/>
                  </a:moveTo>
                  <a:lnTo>
                    <a:pt x="16824961" y="0"/>
                  </a:lnTo>
                  <a:lnTo>
                    <a:pt x="16824961" y="2682240"/>
                  </a:lnTo>
                  <a:lnTo>
                    <a:pt x="0" y="2682240"/>
                  </a:lnTo>
                  <a:close/>
                </a:path>
              </a:pathLst>
            </a:custGeom>
            <a:blipFill>
              <a:blip r:embed="rId5">
                <a:alphaModFix amt="0"/>
              </a:blip>
              <a:stretch>
                <a:fillRect l="0" t="-72139" r="0" b="-72139"/>
              </a:stretch>
            </a:blipFill>
          </p:spPr>
        </p:sp>
      </p:grpSp>
      <p:grpSp>
        <p:nvGrpSpPr>
          <p:cNvPr name="Group 70" id="70"/>
          <p:cNvGrpSpPr/>
          <p:nvPr/>
        </p:nvGrpSpPr>
        <p:grpSpPr>
          <a:xfrm rot="0">
            <a:off x="4408102" y="7057663"/>
            <a:ext cx="11298657" cy="1833217"/>
            <a:chOff x="0" y="0"/>
            <a:chExt cx="16824960" cy="2729865"/>
          </a:xfrm>
        </p:grpSpPr>
        <p:sp>
          <p:nvSpPr>
            <p:cNvPr name="Freeform 71" id="71"/>
            <p:cNvSpPr/>
            <p:nvPr/>
          </p:nvSpPr>
          <p:spPr>
            <a:xfrm flipH="false" flipV="false" rot="0">
              <a:off x="0" y="0"/>
              <a:ext cx="16824961" cy="2729865"/>
            </a:xfrm>
            <a:custGeom>
              <a:avLst/>
              <a:gdLst/>
              <a:ahLst/>
              <a:cxnLst/>
              <a:rect r="r" b="b" t="t" l="l"/>
              <a:pathLst>
                <a:path h="2729865" w="16824961">
                  <a:moveTo>
                    <a:pt x="0" y="0"/>
                  </a:moveTo>
                  <a:lnTo>
                    <a:pt x="16824961" y="0"/>
                  </a:lnTo>
                  <a:lnTo>
                    <a:pt x="16824961" y="2729865"/>
                  </a:lnTo>
                  <a:lnTo>
                    <a:pt x="0" y="2729865"/>
                  </a:lnTo>
                  <a:close/>
                </a:path>
              </a:pathLst>
            </a:custGeom>
            <a:blipFill>
              <a:blip r:embed="rId6">
                <a:alphaModFix amt="0"/>
              </a:blip>
              <a:stretch>
                <a:fillRect l="0" t="-70092" r="0" b="-70092"/>
              </a:stretch>
            </a:blipFill>
          </p:spPr>
        </p:sp>
        <p:sp>
          <p:nvSpPr>
            <p:cNvPr name="TextBox 72" id="72"/>
            <p:cNvSpPr txBox="true"/>
            <p:nvPr/>
          </p:nvSpPr>
          <p:spPr>
            <a:xfrm>
              <a:off x="0" y="-47625"/>
              <a:ext cx="16824960" cy="2777490"/>
            </a:xfrm>
            <a:prstGeom prst="rect">
              <a:avLst/>
            </a:prstGeom>
          </p:spPr>
          <p:txBody>
            <a:bodyPr anchor="ctr" rtlCol="false" tIns="0" lIns="0" bIns="0" rIns="0"/>
            <a:lstStyle/>
            <a:p>
              <a:pPr algn="l">
                <a:lnSpc>
                  <a:spcPts val="2760"/>
                </a:lnSpc>
              </a:pPr>
              <a:r>
                <a:rPr lang="en-US" sz="2300">
                  <a:solidFill>
                    <a:srgbClr val="E0E0E0"/>
                  </a:solidFill>
                  <a:latin typeface="Calibri (MS)"/>
                  <a:ea typeface="Calibri (MS)"/>
                  <a:cs typeface="Calibri (MS)"/>
                  <a:sym typeface="Calibri (MS)"/>
                </a:rPr>
                <a:t>El analista bloquea la IP maliciosa, desactiva la cuenta comprometida y documenta el incidente para escalarlo al equipo de respuesta (IR/CSIRT).</a:t>
              </a:r>
            </a:p>
          </p:txBody>
        </p:sp>
      </p:gr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p.8</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1.1  |  Tipos de SOC: Internos, Externos (MSSP) e Híbridos</a:t>
              </a:r>
            </a:p>
          </p:txBody>
        </p:sp>
      </p:grpSp>
      <p:grpSp>
        <p:nvGrpSpPr>
          <p:cNvPr name="Group 20" id="20"/>
          <p:cNvGrpSpPr/>
          <p:nvPr/>
        </p:nvGrpSpPr>
        <p:grpSpPr>
          <a:xfrm rot="0">
            <a:off x="640080" y="1792224"/>
            <a:ext cx="17007840" cy="914400"/>
            <a:chOff x="0" y="0"/>
            <a:chExt cx="22677120" cy="1219200"/>
          </a:xfrm>
        </p:grpSpPr>
        <p:sp>
          <p:nvSpPr>
            <p:cNvPr name="Freeform 21" id="21"/>
            <p:cNvSpPr/>
            <p:nvPr/>
          </p:nvSpPr>
          <p:spPr>
            <a:xfrm flipH="false" flipV="false" rot="0">
              <a:off x="0" y="0"/>
              <a:ext cx="22677120" cy="1219200"/>
            </a:xfrm>
            <a:custGeom>
              <a:avLst/>
              <a:gdLst/>
              <a:ahLst/>
              <a:cxnLst/>
              <a:rect r="r" b="b" t="t" l="l"/>
              <a:pathLst>
                <a:path h="1219200" w="22677120">
                  <a:moveTo>
                    <a:pt x="0" y="0"/>
                  </a:moveTo>
                  <a:lnTo>
                    <a:pt x="22677120" y="0"/>
                  </a:lnTo>
                  <a:lnTo>
                    <a:pt x="22677120" y="1219200"/>
                  </a:lnTo>
                  <a:lnTo>
                    <a:pt x="0" y="1219200"/>
                  </a:lnTo>
                  <a:close/>
                </a:path>
              </a:pathLst>
            </a:custGeom>
            <a:blipFill>
              <a:blip r:embed="rId7">
                <a:alphaModFix amt="0"/>
              </a:blip>
              <a:stretch>
                <a:fillRect l="0" t="-312169" r="0" b="-312169"/>
              </a:stretch>
            </a:blipFill>
          </p:spPr>
        </p:sp>
      </p:grpSp>
      <p:grpSp>
        <p:nvGrpSpPr>
          <p:cNvPr name="Group 22" id="22"/>
          <p:cNvGrpSpPr/>
          <p:nvPr/>
        </p:nvGrpSpPr>
        <p:grpSpPr>
          <a:xfrm rot="0">
            <a:off x="640051" y="1794553"/>
            <a:ext cx="17007840" cy="950119"/>
            <a:chOff x="0" y="0"/>
            <a:chExt cx="22677120" cy="1266825"/>
          </a:xfrm>
        </p:grpSpPr>
        <p:sp>
          <p:nvSpPr>
            <p:cNvPr name="Freeform 23" id="23"/>
            <p:cNvSpPr/>
            <p:nvPr/>
          </p:nvSpPr>
          <p:spPr>
            <a:xfrm flipH="false" flipV="false" rot="0">
              <a:off x="0" y="0"/>
              <a:ext cx="22677120" cy="1266825"/>
            </a:xfrm>
            <a:custGeom>
              <a:avLst/>
              <a:gdLst/>
              <a:ahLst/>
              <a:cxnLst/>
              <a:rect r="r" b="b" t="t" l="l"/>
              <a:pathLst>
                <a:path h="1266825" w="22677120">
                  <a:moveTo>
                    <a:pt x="0" y="0"/>
                  </a:moveTo>
                  <a:lnTo>
                    <a:pt x="22677120" y="0"/>
                  </a:lnTo>
                  <a:lnTo>
                    <a:pt x="22677120" y="1266825"/>
                  </a:lnTo>
                  <a:lnTo>
                    <a:pt x="0" y="1266825"/>
                  </a:lnTo>
                  <a:close/>
                </a:path>
              </a:pathLst>
            </a:custGeom>
            <a:blipFill>
              <a:blip r:embed="rId8">
                <a:alphaModFix amt="0"/>
              </a:blip>
              <a:stretch>
                <a:fillRect l="0" t="-298796" r="0" b="-298796"/>
              </a:stretch>
            </a:blipFill>
          </p:spPr>
        </p:sp>
        <p:sp>
          <p:nvSpPr>
            <p:cNvPr name="TextBox 24" id="24"/>
            <p:cNvSpPr txBox="true"/>
            <p:nvPr/>
          </p:nvSpPr>
          <p:spPr>
            <a:xfrm>
              <a:off x="0" y="-47625"/>
              <a:ext cx="22677120" cy="1314450"/>
            </a:xfrm>
            <a:prstGeom prst="rect">
              <a:avLst/>
            </a:prstGeom>
          </p:spPr>
          <p:txBody>
            <a:bodyPr anchor="ctr" rtlCol="false" tIns="0" lIns="0" bIns="0" rIns="0"/>
            <a:lstStyle/>
            <a:p>
              <a:pPr algn="l">
                <a:lnSpc>
                  <a:spcPts val="2638"/>
                </a:lnSpc>
              </a:pPr>
              <a:r>
                <a:rPr lang="en-US" sz="2199">
                  <a:solidFill>
                    <a:srgbClr val="6B6B6B"/>
                  </a:solidFill>
                  <a:latin typeface="Calibri (MS)"/>
                  <a:ea typeface="Calibri (MS)"/>
                  <a:cs typeface="Calibri (MS)"/>
                  <a:sym typeface="Calibri (MS)"/>
                </a:rPr>
                <a:t>No todas las organizaciones tienen el mismo tamaño, presupuesto o equipo técnico. Por eso, existen tres modelos principales de SOC:</a:t>
              </a:r>
            </a:p>
          </p:txBody>
        </p:sp>
      </p:grpSp>
      <p:sp>
        <p:nvSpPr>
          <p:cNvPr name="Freeform 25" id="25"/>
          <p:cNvSpPr/>
          <p:nvPr/>
        </p:nvSpPr>
        <p:spPr>
          <a:xfrm flipH="false" flipV="false" rot="0">
            <a:off x="1686981" y="2901079"/>
            <a:ext cx="4968312" cy="962987"/>
          </a:xfrm>
          <a:custGeom>
            <a:avLst/>
            <a:gdLst/>
            <a:ahLst/>
            <a:cxnLst/>
            <a:rect r="r" b="b" t="t" l="l"/>
            <a:pathLst>
              <a:path h="962987" w="4968312">
                <a:moveTo>
                  <a:pt x="0" y="0"/>
                </a:moveTo>
                <a:lnTo>
                  <a:pt x="4968312" y="0"/>
                </a:lnTo>
                <a:lnTo>
                  <a:pt x="4968312" y="962988"/>
                </a:lnTo>
                <a:lnTo>
                  <a:pt x="0" y="9629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698239" y="2912338"/>
            <a:ext cx="4945846" cy="940522"/>
            <a:chOff x="0" y="0"/>
            <a:chExt cx="7437120" cy="1414272"/>
          </a:xfrm>
        </p:grpSpPr>
        <p:sp>
          <p:nvSpPr>
            <p:cNvPr name="Freeform 27" id="27"/>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7">
                <a:alphaModFix amt="0"/>
              </a:blip>
              <a:stretch>
                <a:fillRect l="0" t="-52393" r="0" b="-52393"/>
              </a:stretch>
            </a:blipFill>
          </p:spPr>
        </p:sp>
      </p:grpSp>
      <p:grpSp>
        <p:nvGrpSpPr>
          <p:cNvPr name="Group 28" id="28"/>
          <p:cNvGrpSpPr/>
          <p:nvPr/>
        </p:nvGrpSpPr>
        <p:grpSpPr>
          <a:xfrm rot="0">
            <a:off x="1698239" y="2880666"/>
            <a:ext cx="4945846" cy="972193"/>
            <a:chOff x="0" y="0"/>
            <a:chExt cx="7437120" cy="1461897"/>
          </a:xfrm>
        </p:grpSpPr>
        <p:sp>
          <p:nvSpPr>
            <p:cNvPr name="Freeform 29" id="29"/>
            <p:cNvSpPr/>
            <p:nvPr/>
          </p:nvSpPr>
          <p:spPr>
            <a:xfrm flipH="false" flipV="false" rot="0">
              <a:off x="0" y="0"/>
              <a:ext cx="7437120" cy="1461897"/>
            </a:xfrm>
            <a:custGeom>
              <a:avLst/>
              <a:gdLst/>
              <a:ahLst/>
              <a:cxnLst/>
              <a:rect r="r" b="b" t="t" l="l"/>
              <a:pathLst>
                <a:path h="1461897" w="7437120">
                  <a:moveTo>
                    <a:pt x="0" y="0"/>
                  </a:moveTo>
                  <a:lnTo>
                    <a:pt x="7437120" y="0"/>
                  </a:lnTo>
                  <a:lnTo>
                    <a:pt x="7437120" y="1461897"/>
                  </a:lnTo>
                  <a:lnTo>
                    <a:pt x="0" y="1461897"/>
                  </a:lnTo>
                  <a:close/>
                </a:path>
              </a:pathLst>
            </a:custGeom>
            <a:blipFill>
              <a:blip r:embed="rId8">
                <a:alphaModFix amt="0"/>
              </a:blip>
              <a:stretch>
                <a:fillRect l="0" t="-49126" r="0" b="-49126"/>
              </a:stretch>
            </a:blipFill>
          </p:spPr>
        </p:sp>
        <p:sp>
          <p:nvSpPr>
            <p:cNvPr name="TextBox 30" id="30"/>
            <p:cNvSpPr txBox="true"/>
            <p:nvPr/>
          </p:nvSpPr>
          <p:spPr>
            <a:xfrm>
              <a:off x="0" y="-47625"/>
              <a:ext cx="7437120" cy="150952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SOC INTERNO</a:t>
              </a:r>
            </a:p>
            <a:p>
              <a:pPr algn="ctr">
                <a:lnSpc>
                  <a:spcPts val="2520"/>
                </a:lnSpc>
              </a:pPr>
              <a:r>
                <a:rPr lang="en-US" sz="2100" b="true">
                  <a:solidFill>
                    <a:srgbClr val="FFFFFF"/>
                  </a:solidFill>
                  <a:latin typeface="Calibri (MS) Bold"/>
                  <a:ea typeface="Calibri (MS) Bold"/>
                  <a:cs typeface="Calibri (MS) Bold"/>
                  <a:sym typeface="Calibri (MS) Bold"/>
                </a:rPr>
                <a:t>(In-house SOC)</a:t>
              </a:r>
            </a:p>
          </p:txBody>
        </p:sp>
      </p:grpSp>
      <p:sp>
        <p:nvSpPr>
          <p:cNvPr name="Freeform 31" id="31"/>
          <p:cNvSpPr/>
          <p:nvPr/>
        </p:nvSpPr>
        <p:spPr>
          <a:xfrm flipH="false" flipV="false" rot="0">
            <a:off x="1686981" y="3874033"/>
            <a:ext cx="4968312" cy="4887232"/>
          </a:xfrm>
          <a:custGeom>
            <a:avLst/>
            <a:gdLst/>
            <a:ahLst/>
            <a:cxnLst/>
            <a:rect r="r" b="b" t="t" l="l"/>
            <a:pathLst>
              <a:path h="4887232" w="4968312">
                <a:moveTo>
                  <a:pt x="0" y="0"/>
                </a:moveTo>
                <a:lnTo>
                  <a:pt x="4968312" y="0"/>
                </a:lnTo>
                <a:lnTo>
                  <a:pt x="4968312" y="4887232"/>
                </a:lnTo>
                <a:lnTo>
                  <a:pt x="0" y="48872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941478" y="4205351"/>
            <a:ext cx="4459369" cy="3838675"/>
          </a:xfrm>
          <a:prstGeom prst="rect">
            <a:avLst/>
          </a:prstGeom>
        </p:spPr>
        <p:txBody>
          <a:bodyPr anchor="t" rtlCol="false" tIns="0" lIns="0" bIns="0" rIns="0">
            <a:spAutoFit/>
          </a:bodyPr>
          <a:lstStyle/>
          <a:p>
            <a:pPr algn="l">
              <a:lnSpc>
                <a:spcPts val="2020"/>
              </a:lnSpc>
            </a:pPr>
            <a:r>
              <a:rPr lang="en-US" sz="1683">
                <a:solidFill>
                  <a:srgbClr val="333333"/>
                </a:solidFill>
                <a:latin typeface="Calibri (MS)"/>
                <a:ea typeface="Calibri (MS)"/>
                <a:cs typeface="Calibri (MS)"/>
                <a:sym typeface="Calibri (MS)"/>
              </a:rPr>
              <a:t>Totalmente gestionado por la propia organización. Equipo propio de analistas, infraestructura y herramientas.</a:t>
            </a:r>
          </a:p>
          <a:p>
            <a:pPr algn="l">
              <a:lnSpc>
                <a:spcPts val="2020"/>
              </a:lnSpc>
            </a:pPr>
          </a:p>
          <a:p>
            <a:pPr algn="l">
              <a:lnSpc>
                <a:spcPts val="2020"/>
              </a:lnSpc>
            </a:pPr>
            <a:r>
              <a:rPr lang="en-US" sz="1683">
                <a:solidFill>
                  <a:srgbClr val="333333"/>
                </a:solidFill>
                <a:latin typeface="Calibri (MS)"/>
                <a:ea typeface="Calibri (MS)"/>
                <a:cs typeface="Calibri (MS)"/>
                <a:sym typeface="Calibri (MS)"/>
              </a:rPr>
              <a:t>✔ Control total</a:t>
            </a:r>
          </a:p>
          <a:p>
            <a:pPr algn="l">
              <a:lnSpc>
                <a:spcPts val="2020"/>
              </a:lnSpc>
            </a:pPr>
            <a:r>
              <a:rPr lang="en-US" sz="1683">
                <a:solidFill>
                  <a:srgbClr val="333333"/>
                </a:solidFill>
                <a:latin typeface="Calibri (MS)"/>
                <a:ea typeface="Calibri (MS)"/>
                <a:cs typeface="Calibri (MS)"/>
                <a:sym typeface="Calibri (MS)"/>
              </a:rPr>
              <a:t>✔ Alineación con políticas internas</a:t>
            </a:r>
          </a:p>
          <a:p>
            <a:pPr algn="l">
              <a:lnSpc>
                <a:spcPts val="2020"/>
              </a:lnSpc>
            </a:pPr>
            <a:r>
              <a:rPr lang="en-US" sz="1683">
                <a:solidFill>
                  <a:srgbClr val="333333"/>
                </a:solidFill>
                <a:latin typeface="Calibri (MS)"/>
                <a:ea typeface="Calibri (MS)"/>
                <a:cs typeface="Calibri (MS)"/>
                <a:sym typeface="Calibri (MS)"/>
              </a:rPr>
              <a:t>✔ Personalización de reglas</a:t>
            </a:r>
          </a:p>
          <a:p>
            <a:pPr algn="l">
              <a:lnSpc>
                <a:spcPts val="2020"/>
              </a:lnSpc>
            </a:pPr>
          </a:p>
          <a:p>
            <a:pPr algn="l">
              <a:lnSpc>
                <a:spcPts val="2020"/>
              </a:lnSpc>
            </a:pPr>
            <a:r>
              <a:rPr lang="en-US" sz="1683">
                <a:solidFill>
                  <a:srgbClr val="333333"/>
                </a:solidFill>
                <a:latin typeface="Calibri (MS)"/>
                <a:ea typeface="Calibri (MS)"/>
                <a:cs typeface="Calibri (MS)"/>
                <a:sym typeface="Calibri (MS)"/>
              </a:rPr>
              <a:t>✘ Altos costos operativos</a:t>
            </a:r>
          </a:p>
          <a:p>
            <a:pPr algn="l">
              <a:lnSpc>
                <a:spcPts val="2020"/>
              </a:lnSpc>
            </a:pPr>
            <a:r>
              <a:rPr lang="en-US" sz="1683">
                <a:solidFill>
                  <a:srgbClr val="333333"/>
                </a:solidFill>
                <a:latin typeface="Calibri (MS)"/>
                <a:ea typeface="Calibri (MS)"/>
                <a:cs typeface="Calibri (MS)"/>
                <a:sym typeface="Calibri (MS)"/>
              </a:rPr>
              <a:t>✘ Requiere retención de talento</a:t>
            </a:r>
          </a:p>
          <a:p>
            <a:pPr algn="l">
              <a:lnSpc>
                <a:spcPts val="2020"/>
              </a:lnSpc>
            </a:pPr>
          </a:p>
          <a:p>
            <a:pPr algn="l">
              <a:lnSpc>
                <a:spcPts val="2020"/>
              </a:lnSpc>
            </a:pPr>
          </a:p>
          <a:p>
            <a:pPr algn="l">
              <a:lnSpc>
                <a:spcPts val="2020"/>
              </a:lnSpc>
            </a:pPr>
          </a:p>
          <a:p>
            <a:pPr algn="l">
              <a:lnSpc>
                <a:spcPts val="2020"/>
              </a:lnSpc>
            </a:pPr>
            <a:r>
              <a:rPr lang="en-US" sz="1683">
                <a:solidFill>
                  <a:srgbClr val="333333"/>
                </a:solidFill>
                <a:latin typeface="Calibri (MS)"/>
                <a:ea typeface="Calibri (MS)"/>
                <a:cs typeface="Calibri (MS)"/>
                <a:sym typeface="Calibri (MS)"/>
              </a:rPr>
              <a:t>📌 Ideal para: grandes empresas, gobiernos, sectores críticos</a:t>
            </a:r>
          </a:p>
        </p:txBody>
      </p:sp>
      <p:sp>
        <p:nvSpPr>
          <p:cNvPr name="Freeform 33" id="33"/>
          <p:cNvSpPr/>
          <p:nvPr/>
        </p:nvSpPr>
        <p:spPr>
          <a:xfrm flipH="false" flipV="false" rot="0">
            <a:off x="6908497" y="2901079"/>
            <a:ext cx="4968312" cy="962987"/>
          </a:xfrm>
          <a:custGeom>
            <a:avLst/>
            <a:gdLst/>
            <a:ahLst/>
            <a:cxnLst/>
            <a:rect r="r" b="b" t="t" l="l"/>
            <a:pathLst>
              <a:path h="962987" w="4968312">
                <a:moveTo>
                  <a:pt x="0" y="0"/>
                </a:moveTo>
                <a:lnTo>
                  <a:pt x="4968312" y="0"/>
                </a:lnTo>
                <a:lnTo>
                  <a:pt x="4968312" y="962988"/>
                </a:lnTo>
                <a:lnTo>
                  <a:pt x="0" y="962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919756" y="2912338"/>
            <a:ext cx="4945846" cy="940522"/>
            <a:chOff x="0" y="0"/>
            <a:chExt cx="7437120" cy="1414272"/>
          </a:xfrm>
        </p:grpSpPr>
        <p:sp>
          <p:nvSpPr>
            <p:cNvPr name="Freeform 35" id="35"/>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7">
                <a:alphaModFix amt="0"/>
              </a:blip>
              <a:stretch>
                <a:fillRect l="0" t="-52393" r="0" b="-52393"/>
              </a:stretch>
            </a:blipFill>
          </p:spPr>
        </p:sp>
      </p:grpSp>
      <p:grpSp>
        <p:nvGrpSpPr>
          <p:cNvPr name="Group 36" id="36"/>
          <p:cNvGrpSpPr/>
          <p:nvPr/>
        </p:nvGrpSpPr>
        <p:grpSpPr>
          <a:xfrm rot="0">
            <a:off x="6919756" y="2880666"/>
            <a:ext cx="4945846" cy="972193"/>
            <a:chOff x="0" y="0"/>
            <a:chExt cx="7437120" cy="1461897"/>
          </a:xfrm>
        </p:grpSpPr>
        <p:sp>
          <p:nvSpPr>
            <p:cNvPr name="Freeform 37" id="37"/>
            <p:cNvSpPr/>
            <p:nvPr/>
          </p:nvSpPr>
          <p:spPr>
            <a:xfrm flipH="false" flipV="false" rot="0">
              <a:off x="0" y="0"/>
              <a:ext cx="7437120" cy="1461897"/>
            </a:xfrm>
            <a:custGeom>
              <a:avLst/>
              <a:gdLst/>
              <a:ahLst/>
              <a:cxnLst/>
              <a:rect r="r" b="b" t="t" l="l"/>
              <a:pathLst>
                <a:path h="1461897" w="7437120">
                  <a:moveTo>
                    <a:pt x="0" y="0"/>
                  </a:moveTo>
                  <a:lnTo>
                    <a:pt x="7437120" y="0"/>
                  </a:lnTo>
                  <a:lnTo>
                    <a:pt x="7437120" y="1461897"/>
                  </a:lnTo>
                  <a:lnTo>
                    <a:pt x="0" y="1461897"/>
                  </a:lnTo>
                  <a:close/>
                </a:path>
              </a:pathLst>
            </a:custGeom>
            <a:blipFill>
              <a:blip r:embed="rId8">
                <a:alphaModFix amt="0"/>
              </a:blip>
              <a:stretch>
                <a:fillRect l="0" t="-49126" r="0" b="-49126"/>
              </a:stretch>
            </a:blipFill>
          </p:spPr>
        </p:sp>
        <p:sp>
          <p:nvSpPr>
            <p:cNvPr name="TextBox 38" id="38"/>
            <p:cNvSpPr txBox="true"/>
            <p:nvPr/>
          </p:nvSpPr>
          <p:spPr>
            <a:xfrm>
              <a:off x="0" y="-47625"/>
              <a:ext cx="7437120" cy="150952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SOC EXTERNO</a:t>
              </a:r>
            </a:p>
            <a:p>
              <a:pPr algn="ctr">
                <a:lnSpc>
                  <a:spcPts val="2520"/>
                </a:lnSpc>
              </a:pPr>
              <a:r>
                <a:rPr lang="en-US" sz="2100" b="true">
                  <a:solidFill>
                    <a:srgbClr val="FFFFFF"/>
                  </a:solidFill>
                  <a:latin typeface="Calibri (MS) Bold"/>
                  <a:ea typeface="Calibri (MS) Bold"/>
                  <a:cs typeface="Calibri (MS) Bold"/>
                  <a:sym typeface="Calibri (MS) Bold"/>
                </a:rPr>
                <a:t>(MSSP)</a:t>
              </a:r>
            </a:p>
          </p:txBody>
        </p:sp>
      </p:grpSp>
      <p:sp>
        <p:nvSpPr>
          <p:cNvPr name="Freeform 39" id="39"/>
          <p:cNvSpPr/>
          <p:nvPr/>
        </p:nvSpPr>
        <p:spPr>
          <a:xfrm flipH="false" flipV="false" rot="0">
            <a:off x="6908497" y="3874033"/>
            <a:ext cx="4968312" cy="4887232"/>
          </a:xfrm>
          <a:custGeom>
            <a:avLst/>
            <a:gdLst/>
            <a:ahLst/>
            <a:cxnLst/>
            <a:rect r="r" b="b" t="t" l="l"/>
            <a:pathLst>
              <a:path h="4887232" w="4968312">
                <a:moveTo>
                  <a:pt x="0" y="0"/>
                </a:moveTo>
                <a:lnTo>
                  <a:pt x="4968312" y="0"/>
                </a:lnTo>
                <a:lnTo>
                  <a:pt x="4968312" y="4887232"/>
                </a:lnTo>
                <a:lnTo>
                  <a:pt x="0" y="48872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7162994" y="4205351"/>
            <a:ext cx="4459369" cy="3838675"/>
          </a:xfrm>
          <a:prstGeom prst="rect">
            <a:avLst/>
          </a:prstGeom>
        </p:spPr>
        <p:txBody>
          <a:bodyPr anchor="t" rtlCol="false" tIns="0" lIns="0" bIns="0" rIns="0">
            <a:spAutoFit/>
          </a:bodyPr>
          <a:lstStyle/>
          <a:p>
            <a:pPr algn="l">
              <a:lnSpc>
                <a:spcPts val="2020"/>
              </a:lnSpc>
            </a:pPr>
            <a:r>
              <a:rPr lang="en-US" sz="1683">
                <a:solidFill>
                  <a:srgbClr val="333333"/>
                </a:solidFill>
                <a:latin typeface="Calibri (MS)"/>
                <a:ea typeface="Calibri (MS)"/>
                <a:cs typeface="Calibri (MS)"/>
                <a:sym typeface="Calibri (MS)"/>
              </a:rPr>
              <a:t>La organización subcontrata el SOC a un proveedor especializado como Accenture, IBM Security o SecureWorks.</a:t>
            </a:r>
          </a:p>
          <a:p>
            <a:pPr algn="l">
              <a:lnSpc>
                <a:spcPts val="2020"/>
              </a:lnSpc>
            </a:pPr>
          </a:p>
          <a:p>
            <a:pPr algn="l">
              <a:lnSpc>
                <a:spcPts val="2020"/>
              </a:lnSpc>
            </a:pPr>
            <a:r>
              <a:rPr lang="en-US" sz="1683">
                <a:solidFill>
                  <a:srgbClr val="333333"/>
                </a:solidFill>
                <a:latin typeface="Calibri (MS)"/>
                <a:ea typeface="Calibri (MS)"/>
                <a:cs typeface="Calibri (MS)"/>
                <a:sym typeface="Calibri (MS)"/>
              </a:rPr>
              <a:t>✔ Reducción de costos</a:t>
            </a:r>
          </a:p>
          <a:p>
            <a:pPr algn="l">
              <a:lnSpc>
                <a:spcPts val="2020"/>
              </a:lnSpc>
            </a:pPr>
            <a:r>
              <a:rPr lang="en-US" sz="1683">
                <a:solidFill>
                  <a:srgbClr val="333333"/>
                </a:solidFill>
                <a:latin typeface="Calibri (MS)"/>
                <a:ea typeface="Calibri (MS)"/>
                <a:cs typeface="Calibri (MS)"/>
                <a:sym typeface="Calibri (MS)"/>
              </a:rPr>
              <a:t>✔ Acceso inmediato a expertos</a:t>
            </a:r>
          </a:p>
          <a:p>
            <a:pPr algn="l">
              <a:lnSpc>
                <a:spcPts val="2020"/>
              </a:lnSpc>
            </a:pPr>
            <a:r>
              <a:rPr lang="en-US" sz="1683">
                <a:solidFill>
                  <a:srgbClr val="333333"/>
                </a:solidFill>
                <a:latin typeface="Calibri (MS)"/>
                <a:ea typeface="Calibri (MS)"/>
                <a:cs typeface="Calibri (MS)"/>
                <a:sym typeface="Calibri (MS)"/>
              </a:rPr>
              <a:t>✔ Escalabilidad y rapidez</a:t>
            </a:r>
          </a:p>
          <a:p>
            <a:pPr algn="l">
              <a:lnSpc>
                <a:spcPts val="2020"/>
              </a:lnSpc>
            </a:pPr>
          </a:p>
          <a:p>
            <a:pPr algn="l">
              <a:lnSpc>
                <a:spcPts val="2020"/>
              </a:lnSpc>
            </a:pPr>
            <a:r>
              <a:rPr lang="en-US" sz="1683">
                <a:solidFill>
                  <a:srgbClr val="333333"/>
                </a:solidFill>
                <a:latin typeface="Calibri (MS)"/>
                <a:ea typeface="Calibri (MS)"/>
                <a:cs typeface="Calibri (MS)"/>
                <a:sym typeface="Calibri (MS)"/>
              </a:rPr>
              <a:t>✘ Menor control sobre decisiones</a:t>
            </a:r>
          </a:p>
          <a:p>
            <a:pPr algn="l">
              <a:lnSpc>
                <a:spcPts val="2020"/>
              </a:lnSpc>
            </a:pPr>
            <a:r>
              <a:rPr lang="en-US" sz="1683">
                <a:solidFill>
                  <a:srgbClr val="333333"/>
                </a:solidFill>
                <a:latin typeface="Calibri (MS)"/>
                <a:ea typeface="Calibri (MS)"/>
                <a:cs typeface="Calibri (MS)"/>
                <a:sym typeface="Calibri (MS)"/>
              </a:rPr>
              <a:t>✘ Riesgos de privacidad y dependencia</a:t>
            </a:r>
          </a:p>
          <a:p>
            <a:pPr algn="l">
              <a:lnSpc>
                <a:spcPts val="2020"/>
              </a:lnSpc>
            </a:pPr>
          </a:p>
          <a:p>
            <a:pPr algn="l">
              <a:lnSpc>
                <a:spcPts val="2020"/>
              </a:lnSpc>
            </a:pPr>
          </a:p>
          <a:p>
            <a:pPr algn="l">
              <a:lnSpc>
                <a:spcPts val="2020"/>
              </a:lnSpc>
            </a:pPr>
          </a:p>
          <a:p>
            <a:pPr algn="l">
              <a:lnSpc>
                <a:spcPts val="2020"/>
              </a:lnSpc>
            </a:pPr>
            <a:r>
              <a:rPr lang="en-US" sz="1683">
                <a:solidFill>
                  <a:srgbClr val="333333"/>
                </a:solidFill>
                <a:latin typeface="Calibri (MS)"/>
                <a:ea typeface="Calibri (MS)"/>
                <a:cs typeface="Calibri (MS)"/>
                <a:sym typeface="Calibri (MS)"/>
              </a:rPr>
              <a:t>📌 Ideal para: PyMEs, startups, empresas sin equipo interno</a:t>
            </a:r>
          </a:p>
        </p:txBody>
      </p:sp>
      <p:sp>
        <p:nvSpPr>
          <p:cNvPr name="Freeform 41" id="41"/>
          <p:cNvSpPr/>
          <p:nvPr/>
        </p:nvSpPr>
        <p:spPr>
          <a:xfrm flipH="false" flipV="false" rot="0">
            <a:off x="12130014" y="2901079"/>
            <a:ext cx="4968312" cy="962987"/>
          </a:xfrm>
          <a:custGeom>
            <a:avLst/>
            <a:gdLst/>
            <a:ahLst/>
            <a:cxnLst/>
            <a:rect r="r" b="b" t="t" l="l"/>
            <a:pathLst>
              <a:path h="962987" w="4968312">
                <a:moveTo>
                  <a:pt x="0" y="0"/>
                </a:moveTo>
                <a:lnTo>
                  <a:pt x="4968311" y="0"/>
                </a:lnTo>
                <a:lnTo>
                  <a:pt x="4968311" y="962988"/>
                </a:lnTo>
                <a:lnTo>
                  <a:pt x="0" y="9629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2141272" y="2912338"/>
            <a:ext cx="4945846" cy="940522"/>
            <a:chOff x="0" y="0"/>
            <a:chExt cx="7437120" cy="1414272"/>
          </a:xfrm>
        </p:grpSpPr>
        <p:sp>
          <p:nvSpPr>
            <p:cNvPr name="Freeform 43" id="43"/>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7">
                <a:alphaModFix amt="0"/>
              </a:blip>
              <a:stretch>
                <a:fillRect l="0" t="-52393" r="0" b="-52393"/>
              </a:stretch>
            </a:blipFill>
          </p:spPr>
        </p:sp>
      </p:grpSp>
      <p:grpSp>
        <p:nvGrpSpPr>
          <p:cNvPr name="Group 44" id="44"/>
          <p:cNvGrpSpPr/>
          <p:nvPr/>
        </p:nvGrpSpPr>
        <p:grpSpPr>
          <a:xfrm rot="0">
            <a:off x="12141272" y="2880666"/>
            <a:ext cx="4945846" cy="972193"/>
            <a:chOff x="0" y="0"/>
            <a:chExt cx="7437120" cy="1461897"/>
          </a:xfrm>
        </p:grpSpPr>
        <p:sp>
          <p:nvSpPr>
            <p:cNvPr name="Freeform 45" id="45"/>
            <p:cNvSpPr/>
            <p:nvPr/>
          </p:nvSpPr>
          <p:spPr>
            <a:xfrm flipH="false" flipV="false" rot="0">
              <a:off x="0" y="0"/>
              <a:ext cx="7437120" cy="1461897"/>
            </a:xfrm>
            <a:custGeom>
              <a:avLst/>
              <a:gdLst/>
              <a:ahLst/>
              <a:cxnLst/>
              <a:rect r="r" b="b" t="t" l="l"/>
              <a:pathLst>
                <a:path h="1461897" w="7437120">
                  <a:moveTo>
                    <a:pt x="0" y="0"/>
                  </a:moveTo>
                  <a:lnTo>
                    <a:pt x="7437120" y="0"/>
                  </a:lnTo>
                  <a:lnTo>
                    <a:pt x="7437120" y="1461897"/>
                  </a:lnTo>
                  <a:lnTo>
                    <a:pt x="0" y="1461897"/>
                  </a:lnTo>
                  <a:close/>
                </a:path>
              </a:pathLst>
            </a:custGeom>
            <a:blipFill>
              <a:blip r:embed="rId8">
                <a:alphaModFix amt="0"/>
              </a:blip>
              <a:stretch>
                <a:fillRect l="0" t="-49126" r="0" b="-49126"/>
              </a:stretch>
            </a:blipFill>
          </p:spPr>
        </p:sp>
        <p:sp>
          <p:nvSpPr>
            <p:cNvPr name="TextBox 46" id="46"/>
            <p:cNvSpPr txBox="true"/>
            <p:nvPr/>
          </p:nvSpPr>
          <p:spPr>
            <a:xfrm>
              <a:off x="0" y="-47625"/>
              <a:ext cx="7437120" cy="150952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SOC HÍBRIDO</a:t>
              </a:r>
            </a:p>
          </p:txBody>
        </p:sp>
      </p:grpSp>
      <p:sp>
        <p:nvSpPr>
          <p:cNvPr name="Freeform 47" id="47"/>
          <p:cNvSpPr/>
          <p:nvPr/>
        </p:nvSpPr>
        <p:spPr>
          <a:xfrm flipH="false" flipV="false" rot="0">
            <a:off x="12130014" y="3874033"/>
            <a:ext cx="4968312" cy="4887232"/>
          </a:xfrm>
          <a:custGeom>
            <a:avLst/>
            <a:gdLst/>
            <a:ahLst/>
            <a:cxnLst/>
            <a:rect r="r" b="b" t="t" l="l"/>
            <a:pathLst>
              <a:path h="4887232" w="4968312">
                <a:moveTo>
                  <a:pt x="0" y="0"/>
                </a:moveTo>
                <a:lnTo>
                  <a:pt x="4968311" y="0"/>
                </a:lnTo>
                <a:lnTo>
                  <a:pt x="4968311" y="4887232"/>
                </a:lnTo>
                <a:lnTo>
                  <a:pt x="0" y="48872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384510" y="4205351"/>
            <a:ext cx="4459369" cy="3838675"/>
          </a:xfrm>
          <a:prstGeom prst="rect">
            <a:avLst/>
          </a:prstGeom>
        </p:spPr>
        <p:txBody>
          <a:bodyPr anchor="t" rtlCol="false" tIns="0" lIns="0" bIns="0" rIns="0">
            <a:spAutoFit/>
          </a:bodyPr>
          <a:lstStyle/>
          <a:p>
            <a:pPr algn="l">
              <a:lnSpc>
                <a:spcPts val="2020"/>
              </a:lnSpc>
            </a:pPr>
            <a:r>
              <a:rPr lang="en-US" sz="1683">
                <a:solidFill>
                  <a:srgbClr val="333333"/>
                </a:solidFill>
                <a:latin typeface="Calibri (MS)"/>
                <a:ea typeface="Calibri (MS)"/>
                <a:cs typeface="Calibri (MS)"/>
                <a:sym typeface="Calibri (MS)"/>
              </a:rPr>
              <a:t>Combina recursos internos y externos. Por ejemplo, el monitoreo 24/7 lo hace un MSSP pero la respuesta forense la realiza un equipo interno.</a:t>
            </a:r>
          </a:p>
          <a:p>
            <a:pPr algn="l">
              <a:lnSpc>
                <a:spcPts val="2020"/>
              </a:lnSpc>
            </a:pPr>
          </a:p>
          <a:p>
            <a:pPr algn="l">
              <a:lnSpc>
                <a:spcPts val="2020"/>
              </a:lnSpc>
            </a:pPr>
            <a:r>
              <a:rPr lang="en-US" sz="1683">
                <a:solidFill>
                  <a:srgbClr val="333333"/>
                </a:solidFill>
                <a:latin typeface="Calibri (MS)"/>
                <a:ea typeface="Calibri (MS)"/>
                <a:cs typeface="Calibri (MS)"/>
                <a:sym typeface="Calibri (MS)"/>
              </a:rPr>
              <a:t>✔ Equilibrio entre control y eficiencia</a:t>
            </a:r>
          </a:p>
          <a:p>
            <a:pPr algn="l">
              <a:lnSpc>
                <a:spcPts val="2020"/>
              </a:lnSpc>
            </a:pPr>
            <a:r>
              <a:rPr lang="en-US" sz="1683">
                <a:solidFill>
                  <a:srgbClr val="333333"/>
                </a:solidFill>
                <a:latin typeface="Calibri (MS)"/>
                <a:ea typeface="Calibri (MS)"/>
                <a:cs typeface="Calibri (MS)"/>
                <a:sym typeface="Calibri (MS)"/>
              </a:rPr>
              <a:t>✔ Uso flexible de recursos</a:t>
            </a:r>
          </a:p>
          <a:p>
            <a:pPr algn="l">
              <a:lnSpc>
                <a:spcPts val="2020"/>
              </a:lnSpc>
            </a:pPr>
            <a:r>
              <a:rPr lang="en-US" sz="1683">
                <a:solidFill>
                  <a:srgbClr val="333333"/>
                </a:solidFill>
                <a:latin typeface="Calibri (MS)"/>
                <a:ea typeface="Calibri (MS)"/>
                <a:cs typeface="Calibri (MS)"/>
                <a:sym typeface="Calibri (MS)"/>
              </a:rPr>
              <a:t>✔ Reduce carga operativa</a:t>
            </a:r>
          </a:p>
          <a:p>
            <a:pPr algn="l">
              <a:lnSpc>
                <a:spcPts val="2020"/>
              </a:lnSpc>
            </a:pPr>
          </a:p>
          <a:p>
            <a:pPr algn="l">
              <a:lnSpc>
                <a:spcPts val="2020"/>
              </a:lnSpc>
            </a:pPr>
            <a:r>
              <a:rPr lang="en-US" sz="1683">
                <a:solidFill>
                  <a:srgbClr val="333333"/>
                </a:solidFill>
                <a:latin typeface="Calibri (MS)"/>
                <a:ea typeface="Calibri (MS)"/>
                <a:cs typeface="Calibri (MS)"/>
                <a:sym typeface="Calibri (MS)"/>
              </a:rPr>
              <a:t>✘ Mayor complejidad de coordinación</a:t>
            </a:r>
          </a:p>
          <a:p>
            <a:pPr algn="l">
              <a:lnSpc>
                <a:spcPts val="2020"/>
              </a:lnSpc>
            </a:pPr>
            <a:r>
              <a:rPr lang="en-US" sz="1683">
                <a:solidFill>
                  <a:srgbClr val="333333"/>
                </a:solidFill>
                <a:latin typeface="Calibri (MS)"/>
                <a:ea typeface="Calibri (MS)"/>
                <a:cs typeface="Calibri (MS)"/>
                <a:sym typeface="Calibri (MS)"/>
              </a:rPr>
              <a:t>✘ Riesgo de solapamientos</a:t>
            </a:r>
          </a:p>
          <a:p>
            <a:pPr algn="l">
              <a:lnSpc>
                <a:spcPts val="2020"/>
              </a:lnSpc>
            </a:pPr>
          </a:p>
          <a:p>
            <a:pPr algn="l">
              <a:lnSpc>
                <a:spcPts val="2020"/>
              </a:lnSpc>
            </a:pPr>
          </a:p>
          <a:p>
            <a:pPr algn="l">
              <a:lnSpc>
                <a:spcPts val="2020"/>
              </a:lnSpc>
            </a:pPr>
          </a:p>
          <a:p>
            <a:pPr algn="l">
              <a:lnSpc>
                <a:spcPts val="2020"/>
              </a:lnSpc>
            </a:pPr>
            <a:r>
              <a:rPr lang="en-US" sz="1683">
                <a:solidFill>
                  <a:srgbClr val="333333"/>
                </a:solidFill>
                <a:latin typeface="Calibri (MS)"/>
                <a:ea typeface="Calibri (MS)"/>
                <a:cs typeface="Calibri (MS)"/>
                <a:sym typeface="Calibri (MS)"/>
              </a:rPr>
              <a:t>📌 Ideal para: empresas medianas o grandes que quieren escalar sin perder control</a:t>
            </a:r>
          </a:p>
        </p:txBody>
      </p:sp>
      <p:grpSp>
        <p:nvGrpSpPr>
          <p:cNvPr name="Group 49" id="49"/>
          <p:cNvGrpSpPr/>
          <p:nvPr/>
        </p:nvGrpSpPr>
        <p:grpSpPr>
          <a:xfrm rot="0">
            <a:off x="15983863" y="24203"/>
            <a:ext cx="1855079" cy="1855079"/>
            <a:chOff x="0" y="0"/>
            <a:chExt cx="5852160" cy="5852160"/>
          </a:xfrm>
        </p:grpSpPr>
        <p:sp>
          <p:nvSpPr>
            <p:cNvPr name="Freeform 50" id="50"/>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9"/>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p.9</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1.1  |  Diferencia entre SOC y otros equipos: NOC, CSIRT, CERT</a:t>
              </a:r>
            </a:p>
          </p:txBody>
        </p:sp>
      </p:grpSp>
      <p:grpSp>
        <p:nvGrpSpPr>
          <p:cNvPr name="Group 20" id="20"/>
          <p:cNvGrpSpPr/>
          <p:nvPr/>
        </p:nvGrpSpPr>
        <p:grpSpPr>
          <a:xfrm rot="0">
            <a:off x="640080" y="1737360"/>
            <a:ext cx="17007840" cy="914400"/>
            <a:chOff x="0" y="0"/>
            <a:chExt cx="22677120" cy="1219200"/>
          </a:xfrm>
        </p:grpSpPr>
        <p:sp>
          <p:nvSpPr>
            <p:cNvPr name="Freeform 21" id="21"/>
            <p:cNvSpPr/>
            <p:nvPr/>
          </p:nvSpPr>
          <p:spPr>
            <a:xfrm flipH="false" flipV="false" rot="0">
              <a:off x="0" y="0"/>
              <a:ext cx="22677120" cy="1219200"/>
            </a:xfrm>
            <a:custGeom>
              <a:avLst/>
              <a:gdLst/>
              <a:ahLst/>
              <a:cxnLst/>
              <a:rect r="r" b="b" t="t" l="l"/>
              <a:pathLst>
                <a:path h="1219200" w="22677120">
                  <a:moveTo>
                    <a:pt x="0" y="0"/>
                  </a:moveTo>
                  <a:lnTo>
                    <a:pt x="22677120" y="0"/>
                  </a:lnTo>
                  <a:lnTo>
                    <a:pt x="22677120" y="1219200"/>
                  </a:lnTo>
                  <a:lnTo>
                    <a:pt x="0" y="1219200"/>
                  </a:lnTo>
                  <a:close/>
                </a:path>
              </a:pathLst>
            </a:custGeom>
            <a:blipFill>
              <a:blip r:embed="rId7">
                <a:alphaModFix amt="0"/>
              </a:blip>
              <a:stretch>
                <a:fillRect l="0" t="-312169" r="0" b="-312169"/>
              </a:stretch>
            </a:blipFill>
          </p:spPr>
        </p:sp>
      </p:grpSp>
      <p:grpSp>
        <p:nvGrpSpPr>
          <p:cNvPr name="Group 22" id="22"/>
          <p:cNvGrpSpPr/>
          <p:nvPr/>
        </p:nvGrpSpPr>
        <p:grpSpPr>
          <a:xfrm rot="0">
            <a:off x="640080" y="1701641"/>
            <a:ext cx="17007840" cy="950119"/>
            <a:chOff x="0" y="0"/>
            <a:chExt cx="22677120" cy="1266825"/>
          </a:xfrm>
        </p:grpSpPr>
        <p:sp>
          <p:nvSpPr>
            <p:cNvPr name="Freeform 23" id="23"/>
            <p:cNvSpPr/>
            <p:nvPr/>
          </p:nvSpPr>
          <p:spPr>
            <a:xfrm flipH="false" flipV="false" rot="0">
              <a:off x="0" y="0"/>
              <a:ext cx="22677120" cy="1266825"/>
            </a:xfrm>
            <a:custGeom>
              <a:avLst/>
              <a:gdLst/>
              <a:ahLst/>
              <a:cxnLst/>
              <a:rect r="r" b="b" t="t" l="l"/>
              <a:pathLst>
                <a:path h="1266825" w="22677120">
                  <a:moveTo>
                    <a:pt x="0" y="0"/>
                  </a:moveTo>
                  <a:lnTo>
                    <a:pt x="22677120" y="0"/>
                  </a:lnTo>
                  <a:lnTo>
                    <a:pt x="22677120" y="1266825"/>
                  </a:lnTo>
                  <a:lnTo>
                    <a:pt x="0" y="1266825"/>
                  </a:lnTo>
                  <a:close/>
                </a:path>
              </a:pathLst>
            </a:custGeom>
            <a:blipFill>
              <a:blip r:embed="rId8">
                <a:alphaModFix amt="0"/>
              </a:blip>
              <a:stretch>
                <a:fillRect l="0" t="-298796" r="0" b="-298796"/>
              </a:stretch>
            </a:blipFill>
          </p:spPr>
        </p:sp>
        <p:sp>
          <p:nvSpPr>
            <p:cNvPr name="TextBox 24" id="24"/>
            <p:cNvSpPr txBox="true"/>
            <p:nvPr/>
          </p:nvSpPr>
          <p:spPr>
            <a:xfrm>
              <a:off x="0" y="-47625"/>
              <a:ext cx="22677120" cy="131445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Existen otros equipos clave que cumplen funciones complementarias al SOC. Comprender sus diferencias es fundamental para ubicar al SOC dentro del ecosistema de gestión de incidentes.</a:t>
              </a:r>
            </a:p>
          </p:txBody>
        </p:sp>
      </p:grpSp>
      <p:graphicFrame>
        <p:nvGraphicFramePr>
          <p:cNvPr name="Table 25" id="25"/>
          <p:cNvGraphicFramePr>
            <a:graphicFrameLocks noGrp="true"/>
          </p:cNvGraphicFramePr>
          <p:nvPr/>
        </p:nvGraphicFramePr>
        <p:xfrm>
          <a:off x="585216" y="2743200"/>
          <a:ext cx="17576800" cy="6477000"/>
        </p:xfrm>
        <a:graphic>
          <a:graphicData uri="http://schemas.openxmlformats.org/drawingml/2006/table">
            <a:tbl>
              <a:tblPr/>
              <a:tblGrid>
                <a:gridCol w="1411745"/>
                <a:gridCol w="2927061"/>
                <a:gridCol w="5066330"/>
                <a:gridCol w="3996696"/>
                <a:gridCol w="4174968"/>
              </a:tblGrid>
              <a:tr h="12954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Equipo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Foco Principal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Función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Relación con SOC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Ejemplo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r>
              <a:tr h="1295400">
                <a:tc>
                  <a:txBody>
                    <a:bodyPr anchor="t" rtlCol="false"/>
                    <a:lstStyle/>
                    <a:p>
                      <a:pPr algn="ctr">
                        <a:lnSpc>
                          <a:spcPts val="2520"/>
                        </a:lnSpc>
                        <a:defRPr/>
                      </a:pPr>
                      <a:r>
                        <a:rPr lang="en-US" sz="2100" b="true">
                          <a:solidFill>
                            <a:srgbClr val="8A004F"/>
                          </a:solidFill>
                          <a:latin typeface="Calibri (MS) Bold"/>
                          <a:ea typeface="Calibri (MS) Bold"/>
                          <a:cs typeface="Calibri (MS) Bold"/>
                          <a:sym typeface="Calibri (MS) Bold"/>
                        </a:rPr>
                        <a:t>SOC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Seguridad digital activa (24/7)</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Monitorea, detecta y responde ante amenazas de ciberseguridad.</a:t>
                      </a:r>
                      <a:endParaRPr lang="en-US" sz="1100"/>
                    </a:p>
                  </a:txBody>
                  <a:tcPr marL="91440" marR="91440" marT="91440" marB="91440" anchor="t">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Coordina con todos los demás equipos.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040"/>
                        </a:lnSpc>
                        <a:defRPr/>
                      </a:pPr>
                      <a:r>
                        <a:rPr lang="en-US" sz="1700" i="true">
                          <a:solidFill>
                            <a:srgbClr val="444444"/>
                          </a:solidFill>
                          <a:latin typeface="Calibri (MS) Italics"/>
                          <a:ea typeface="Calibri (MS) Italics"/>
                          <a:cs typeface="Calibri (MS) Italics"/>
                          <a:sym typeface="Calibri (MS) Italics"/>
                        </a:rPr>
                        <a:t>Detecta un escaneo de red sospechoso y alerta al equipo de IR.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1295400">
                <a:tc>
                  <a:txBody>
                    <a:bodyPr anchor="t" rtlCol="false"/>
                    <a:lstStyle/>
                    <a:p>
                      <a:pPr algn="ctr">
                        <a:lnSpc>
                          <a:spcPts val="2520"/>
                        </a:lnSpc>
                        <a:defRPr/>
                      </a:pPr>
                      <a:r>
                        <a:rPr lang="en-US" sz="2100" b="true">
                          <a:solidFill>
                            <a:srgbClr val="1A73C0"/>
                          </a:solidFill>
                          <a:latin typeface="Calibri (MS) Bold"/>
                          <a:ea typeface="Calibri (MS) Bold"/>
                          <a:cs typeface="Calibri (MS) Bold"/>
                          <a:sym typeface="Calibri (MS) Bold"/>
                        </a:rPr>
                        <a:t>NOC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Operaciones de red y disponibilidad TI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Se encarga de que los sistemas y servicios funcionen correctamente: servidores, conectividad, correo.</a:t>
                      </a:r>
                      <a:endParaRPr lang="en-US" sz="1100"/>
                    </a:p>
                  </a:txBody>
                  <a:tcPr marL="91440" marR="91440" marT="91440" marB="91440" anchor="t">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Si una falla tiene origen en un ataque, el SOC investiga y el NOC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040"/>
                        </a:lnSpc>
                        <a:defRPr/>
                      </a:pPr>
                      <a:r>
                        <a:rPr lang="en-US" sz="1700" i="true">
                          <a:solidFill>
                            <a:srgbClr val="444444"/>
                          </a:solidFill>
                          <a:latin typeface="Calibri (MS) Italics"/>
                          <a:ea typeface="Calibri (MS) Italics"/>
                          <a:cs typeface="Calibri (MS) Italics"/>
                          <a:sym typeface="Calibri (MS) Italics"/>
                        </a:rPr>
                        <a:t>Un DDoS cae sobre la red. El NOC actúa técnicamente; el SOC investiga el origen.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1295400">
                <a:tc>
                  <a:txBody>
                    <a:bodyPr anchor="t" rtlCol="false"/>
                    <a:lstStyle/>
                    <a:p>
                      <a:pPr algn="ctr">
                        <a:lnSpc>
                          <a:spcPts val="2520"/>
                        </a:lnSpc>
                        <a:defRPr/>
                      </a:pPr>
                      <a:r>
                        <a:rPr lang="en-US" sz="2100" b="true">
                          <a:solidFill>
                            <a:srgbClr val="E07B00"/>
                          </a:solidFill>
                          <a:latin typeface="Calibri (MS) Bold"/>
                          <a:ea typeface="Calibri (MS) Bold"/>
                          <a:cs typeface="Calibri (MS) Bold"/>
                          <a:sym typeface="Calibri (MS) Bold"/>
                        </a:rPr>
                        <a:t>CSIRT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Respuesta específica a incidentes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Equipo especializado en investigar, contener y recuperar tras un incidente confirmado. Puede ser parte del SOC o separado.</a:t>
                      </a:r>
                      <a:endParaRPr lang="en-US" sz="1100"/>
                    </a:p>
                  </a:txBody>
                  <a:tcPr marL="91440" marR="91440" marT="91440" marB="91440" anchor="t">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Toma el control cuando el SOC escala un incidente crítico.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040"/>
                        </a:lnSpc>
                        <a:defRPr/>
                      </a:pPr>
                      <a:r>
                        <a:rPr lang="en-US" sz="1700" i="true">
                          <a:solidFill>
                            <a:srgbClr val="444444"/>
                          </a:solidFill>
                          <a:latin typeface="Calibri (MS) Italics"/>
                          <a:ea typeface="Calibri (MS) Italics"/>
                          <a:cs typeface="Calibri (MS) Italics"/>
                          <a:sym typeface="Calibri (MS) Italics"/>
                        </a:rPr>
                        <a:t>Se detecta ransomware. El SOC lo identifica; el CSIRT coordina la respuesta completa.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1295400">
                <a:tc>
                  <a:txBody>
                    <a:bodyPr anchor="t" rtlCol="false"/>
                    <a:lstStyle/>
                    <a:p>
                      <a:pPr algn="ctr">
                        <a:lnSpc>
                          <a:spcPts val="2520"/>
                        </a:lnSpc>
                        <a:defRPr/>
                      </a:pPr>
                      <a:r>
                        <a:rPr lang="en-US" sz="2100" b="true">
                          <a:solidFill>
                            <a:srgbClr val="22A05B"/>
                          </a:solidFill>
                          <a:latin typeface="Calibri (MS) Bold"/>
                          <a:ea typeface="Calibri (MS) Bold"/>
                          <a:cs typeface="Calibri (MS) Bold"/>
                          <a:sym typeface="Calibri (MS) Bold"/>
                        </a:rPr>
                        <a:t>CERT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Coordinación nacional/sectorial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Similar al CSIRT, pero con alcance más amplio: nacional o sectorial. Ayuda a múltiples entidades a coordinar ante amenazas comunes.</a:t>
                      </a:r>
                      <a:endParaRPr lang="en-US" sz="1100"/>
                    </a:p>
                  </a:txBody>
                  <a:tcPr marL="91440" marR="91440" marT="91440" marB="91440" anchor="t">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160"/>
                        </a:lnSpc>
                        <a:defRPr/>
                      </a:pPr>
                      <a:r>
                        <a:rPr lang="en-US" sz="1800">
                          <a:solidFill>
                            <a:srgbClr val="222222"/>
                          </a:solidFill>
                          <a:latin typeface="Calibri (MS)"/>
                          <a:ea typeface="Calibri (MS)"/>
                          <a:cs typeface="Calibri (MS)"/>
                          <a:sym typeface="Calibri (MS)"/>
                        </a:rPr>
                        <a:t>Brinda inteligencia, alertas y soporte al SOC.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040"/>
                        </a:lnSpc>
                        <a:defRPr/>
                      </a:pPr>
                      <a:r>
                        <a:rPr lang="en-US" sz="1700" i="true">
                          <a:solidFill>
                            <a:srgbClr val="444444"/>
                          </a:solidFill>
                          <a:latin typeface="Calibri (MS) Italics"/>
                          <a:ea typeface="Calibri (MS) Italics"/>
                          <a:cs typeface="Calibri (MS) Italics"/>
                          <a:sym typeface="Calibri (MS) Italics"/>
                        </a:rPr>
                        <a:t>El CERT nacional emite alerta sobre vulnerabilidad crítica afectando múltiples organizaciones.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bl>
          </a:graphicData>
        </a:graphic>
      </p:graphicFrame>
      <p:grpSp>
        <p:nvGrpSpPr>
          <p:cNvPr name="Group 26" id="26"/>
          <p:cNvGrpSpPr/>
          <p:nvPr/>
        </p:nvGrpSpPr>
        <p:grpSpPr>
          <a:xfrm rot="0">
            <a:off x="15983863" y="24203"/>
            <a:ext cx="1855079" cy="1855079"/>
            <a:chOff x="0" y="0"/>
            <a:chExt cx="5852160" cy="5852160"/>
          </a:xfrm>
        </p:grpSpPr>
        <p:sp>
          <p:nvSpPr>
            <p:cNvPr name="Freeform 27" id="2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p.10</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1.1  |  Cómo encaja el SOC en una estrategia de seguridad corporativa</a:t>
              </a:r>
            </a:p>
          </p:txBody>
        </p:sp>
      </p:grpSp>
      <p:grpSp>
        <p:nvGrpSpPr>
          <p:cNvPr name="Group 20" id="20"/>
          <p:cNvGrpSpPr/>
          <p:nvPr/>
        </p:nvGrpSpPr>
        <p:grpSpPr>
          <a:xfrm rot="0">
            <a:off x="640080" y="1773936"/>
            <a:ext cx="17007840" cy="950976"/>
            <a:chOff x="0" y="0"/>
            <a:chExt cx="22677120" cy="1267968"/>
          </a:xfrm>
        </p:grpSpPr>
        <p:sp>
          <p:nvSpPr>
            <p:cNvPr name="Freeform 21" id="21"/>
            <p:cNvSpPr/>
            <p:nvPr/>
          </p:nvSpPr>
          <p:spPr>
            <a:xfrm flipH="false" flipV="false" rot="0">
              <a:off x="0" y="0"/>
              <a:ext cx="22677120" cy="1267968"/>
            </a:xfrm>
            <a:custGeom>
              <a:avLst/>
              <a:gdLst/>
              <a:ahLst/>
              <a:cxnLst/>
              <a:rect r="r" b="b" t="t" l="l"/>
              <a:pathLst>
                <a:path h="1267968" w="22677120">
                  <a:moveTo>
                    <a:pt x="0" y="0"/>
                  </a:moveTo>
                  <a:lnTo>
                    <a:pt x="22677120" y="0"/>
                  </a:lnTo>
                  <a:lnTo>
                    <a:pt x="22677120" y="1267968"/>
                  </a:lnTo>
                  <a:lnTo>
                    <a:pt x="0" y="1267968"/>
                  </a:lnTo>
                  <a:close/>
                </a:path>
              </a:pathLst>
            </a:custGeom>
            <a:blipFill>
              <a:blip r:embed="rId7">
                <a:alphaModFix amt="0"/>
              </a:blip>
              <a:stretch>
                <a:fillRect l="0" t="-298240" r="0" b="-298240"/>
              </a:stretch>
            </a:blipFill>
          </p:spPr>
        </p:sp>
      </p:grpSp>
      <p:grpSp>
        <p:nvGrpSpPr>
          <p:cNvPr name="Group 22" id="22"/>
          <p:cNvGrpSpPr/>
          <p:nvPr/>
        </p:nvGrpSpPr>
        <p:grpSpPr>
          <a:xfrm rot="0">
            <a:off x="640080" y="2123846"/>
            <a:ext cx="17007840" cy="986695"/>
            <a:chOff x="0" y="0"/>
            <a:chExt cx="22677120" cy="1315593"/>
          </a:xfrm>
        </p:grpSpPr>
        <p:sp>
          <p:nvSpPr>
            <p:cNvPr name="Freeform 23" id="23"/>
            <p:cNvSpPr/>
            <p:nvPr/>
          </p:nvSpPr>
          <p:spPr>
            <a:xfrm flipH="false" flipV="false" rot="0">
              <a:off x="0" y="0"/>
              <a:ext cx="22677120" cy="1315593"/>
            </a:xfrm>
            <a:custGeom>
              <a:avLst/>
              <a:gdLst/>
              <a:ahLst/>
              <a:cxnLst/>
              <a:rect r="r" b="b" t="t" l="l"/>
              <a:pathLst>
                <a:path h="1315593" w="22677120">
                  <a:moveTo>
                    <a:pt x="0" y="0"/>
                  </a:moveTo>
                  <a:lnTo>
                    <a:pt x="22677120" y="0"/>
                  </a:lnTo>
                  <a:lnTo>
                    <a:pt x="22677120" y="1315593"/>
                  </a:lnTo>
                  <a:lnTo>
                    <a:pt x="0" y="1315593"/>
                  </a:lnTo>
                  <a:close/>
                </a:path>
              </a:pathLst>
            </a:custGeom>
            <a:blipFill>
              <a:blip r:embed="rId8">
                <a:alphaModFix amt="0"/>
              </a:blip>
              <a:stretch>
                <a:fillRect l="0" t="-285867" r="0" b="-285867"/>
              </a:stretch>
            </a:blipFill>
          </p:spPr>
        </p:sp>
        <p:sp>
          <p:nvSpPr>
            <p:cNvPr name="TextBox 24" id="24"/>
            <p:cNvSpPr txBox="true"/>
            <p:nvPr/>
          </p:nvSpPr>
          <p:spPr>
            <a:xfrm>
              <a:off x="0" y="-47625"/>
              <a:ext cx="22677120" cy="1363218"/>
            </a:xfrm>
            <a:prstGeom prst="rect">
              <a:avLst/>
            </a:prstGeom>
          </p:spPr>
          <p:txBody>
            <a:bodyPr anchor="ctr" rtlCol="false" tIns="0" lIns="0" bIns="0" rIns="0"/>
            <a:lstStyle/>
            <a:p>
              <a:pPr algn="l">
                <a:lnSpc>
                  <a:spcPts val="2520"/>
                </a:lnSpc>
              </a:pPr>
              <a:r>
                <a:rPr lang="en-US" sz="2100" b="true">
                  <a:solidFill>
                    <a:srgbClr val="111111"/>
                  </a:solidFill>
                  <a:latin typeface="Calibri (MS) Bold"/>
                  <a:ea typeface="Calibri (MS) Bold"/>
                  <a:cs typeface="Calibri (MS) Bold"/>
                  <a:sym typeface="Calibri (MS) Bold"/>
                </a:rPr>
                <a:t>Una estrategia de seguridad corporativa</a:t>
              </a:r>
              <a:r>
                <a:rPr lang="en-US" sz="2100">
                  <a:solidFill>
                    <a:srgbClr val="111111"/>
                  </a:solidFill>
                  <a:latin typeface="Calibri (MS)"/>
                  <a:ea typeface="Calibri (MS)"/>
                  <a:cs typeface="Calibri (MS)"/>
                  <a:sym typeface="Calibri (MS)"/>
                </a:rPr>
                <a:t> es el conjunto de políticas, procesos, controles y tecnologías que una organización diseña para proteger activos críticos, prevenir ataques, cumplir normativas y garantizar continuidad del negocio. El SOC es el </a:t>
              </a:r>
              <a:r>
                <a:rPr lang="en-US" sz="2100" b="true">
                  <a:solidFill>
                    <a:srgbClr val="8A004F"/>
                  </a:solidFill>
                  <a:latin typeface="Calibri (MS) Bold"/>
                  <a:ea typeface="Calibri (MS) Bold"/>
                  <a:cs typeface="Calibri (MS) Bold"/>
                  <a:sym typeface="Calibri (MS) Bold"/>
                </a:rPr>
                <a:t>centro operativo</a:t>
              </a:r>
              <a:r>
                <a:rPr lang="en-US" sz="2100">
                  <a:solidFill>
                    <a:srgbClr val="111111"/>
                  </a:solidFill>
                  <a:latin typeface="Calibri (MS)"/>
                  <a:ea typeface="Calibri (MS)"/>
                  <a:cs typeface="Calibri (MS)"/>
                  <a:sym typeface="Calibri (MS)"/>
                </a:rPr>
                <a:t> de esa estrategia.</a:t>
              </a:r>
            </a:p>
          </p:txBody>
        </p:sp>
      </p:grpSp>
      <p:sp>
        <p:nvSpPr>
          <p:cNvPr name="Freeform 25" id="25"/>
          <p:cNvSpPr/>
          <p:nvPr/>
        </p:nvSpPr>
        <p:spPr>
          <a:xfrm flipH="false" flipV="false" rot="0">
            <a:off x="2189930" y="3589130"/>
            <a:ext cx="2702559" cy="971185"/>
          </a:xfrm>
          <a:custGeom>
            <a:avLst/>
            <a:gdLst/>
            <a:ahLst/>
            <a:cxnLst/>
            <a:rect r="r" b="b" t="t" l="l"/>
            <a:pathLst>
              <a:path h="971185" w="2702559">
                <a:moveTo>
                  <a:pt x="0" y="0"/>
                </a:moveTo>
                <a:lnTo>
                  <a:pt x="2702559" y="0"/>
                </a:lnTo>
                <a:lnTo>
                  <a:pt x="2702559" y="971185"/>
                </a:lnTo>
                <a:lnTo>
                  <a:pt x="0" y="9711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2200568" y="3599768"/>
            <a:ext cx="2681332" cy="949958"/>
            <a:chOff x="0" y="0"/>
            <a:chExt cx="4267200" cy="1511808"/>
          </a:xfrm>
        </p:grpSpPr>
        <p:sp>
          <p:nvSpPr>
            <p:cNvPr name="Freeform 27" id="27"/>
            <p:cNvSpPr/>
            <p:nvPr/>
          </p:nvSpPr>
          <p:spPr>
            <a:xfrm flipH="false" flipV="false" rot="0">
              <a:off x="0" y="0"/>
              <a:ext cx="4267200" cy="1511808"/>
            </a:xfrm>
            <a:custGeom>
              <a:avLst/>
              <a:gdLst/>
              <a:ahLst/>
              <a:cxnLst/>
              <a:rect r="r" b="b" t="t" l="l"/>
              <a:pathLst>
                <a:path h="1511808" w="4267200">
                  <a:moveTo>
                    <a:pt x="0" y="0"/>
                  </a:moveTo>
                  <a:lnTo>
                    <a:pt x="4267200" y="0"/>
                  </a:lnTo>
                  <a:lnTo>
                    <a:pt x="4267200" y="1511808"/>
                  </a:lnTo>
                  <a:lnTo>
                    <a:pt x="0" y="1511808"/>
                  </a:lnTo>
                  <a:close/>
                </a:path>
              </a:pathLst>
            </a:custGeom>
            <a:blipFill>
              <a:blip r:embed="rId7">
                <a:alphaModFix amt="0"/>
              </a:blip>
              <a:stretch>
                <a:fillRect l="0" t="-4959" r="0" b="-4959"/>
              </a:stretch>
            </a:blipFill>
          </p:spPr>
        </p:sp>
      </p:grpSp>
      <p:grpSp>
        <p:nvGrpSpPr>
          <p:cNvPr name="Group 28" id="28"/>
          <p:cNvGrpSpPr/>
          <p:nvPr/>
        </p:nvGrpSpPr>
        <p:grpSpPr>
          <a:xfrm rot="0">
            <a:off x="2200568" y="3575827"/>
            <a:ext cx="2681332" cy="973898"/>
            <a:chOff x="0" y="0"/>
            <a:chExt cx="4267200" cy="1549908"/>
          </a:xfrm>
        </p:grpSpPr>
        <p:sp>
          <p:nvSpPr>
            <p:cNvPr name="Freeform 29" id="29"/>
            <p:cNvSpPr/>
            <p:nvPr/>
          </p:nvSpPr>
          <p:spPr>
            <a:xfrm flipH="false" flipV="false" rot="0">
              <a:off x="0" y="0"/>
              <a:ext cx="4267200" cy="1549908"/>
            </a:xfrm>
            <a:custGeom>
              <a:avLst/>
              <a:gdLst/>
              <a:ahLst/>
              <a:cxnLst/>
              <a:rect r="r" b="b" t="t" l="l"/>
              <a:pathLst>
                <a:path h="1549908" w="4267200">
                  <a:moveTo>
                    <a:pt x="0" y="0"/>
                  </a:moveTo>
                  <a:lnTo>
                    <a:pt x="4267200" y="0"/>
                  </a:lnTo>
                  <a:lnTo>
                    <a:pt x="4267200" y="1549908"/>
                  </a:lnTo>
                  <a:lnTo>
                    <a:pt x="0" y="1549908"/>
                  </a:lnTo>
                  <a:close/>
                </a:path>
              </a:pathLst>
            </a:custGeom>
            <a:blipFill>
              <a:blip r:embed="rId8">
                <a:alphaModFix amt="0"/>
              </a:blip>
              <a:stretch>
                <a:fillRect l="0" t="-3646" r="0" b="-3646"/>
              </a:stretch>
            </a:blipFill>
          </p:spPr>
        </p:sp>
        <p:sp>
          <p:nvSpPr>
            <p:cNvPr name="TextBox 30" id="30"/>
            <p:cNvSpPr txBox="true"/>
            <p:nvPr/>
          </p:nvSpPr>
          <p:spPr>
            <a:xfrm>
              <a:off x="0" y="-38100"/>
              <a:ext cx="4267200" cy="158800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Visibilidad</a:t>
              </a:r>
            </a:p>
            <a:p>
              <a:pPr algn="ctr">
                <a:lnSpc>
                  <a:spcPts val="2279"/>
                </a:lnSpc>
              </a:pPr>
              <a:r>
                <a:rPr lang="en-US" sz="1899" b="true">
                  <a:solidFill>
                    <a:srgbClr val="FFFFFF"/>
                  </a:solidFill>
                  <a:latin typeface="Calibri (MS) Bold"/>
                  <a:ea typeface="Calibri (MS) Bold"/>
                  <a:cs typeface="Calibri (MS) Bold"/>
                  <a:sym typeface="Calibri (MS) Bold"/>
                </a:rPr>
                <a:t>centralizada</a:t>
              </a:r>
            </a:p>
          </p:txBody>
        </p:sp>
      </p:grpSp>
      <p:sp>
        <p:nvSpPr>
          <p:cNvPr name="Freeform 31" id="31"/>
          <p:cNvSpPr/>
          <p:nvPr/>
        </p:nvSpPr>
        <p:spPr>
          <a:xfrm flipH="false" flipV="false" rot="0">
            <a:off x="2189930" y="4569732"/>
            <a:ext cx="2702559" cy="4342002"/>
          </a:xfrm>
          <a:custGeom>
            <a:avLst/>
            <a:gdLst/>
            <a:ahLst/>
            <a:cxnLst/>
            <a:rect r="r" b="b" t="t" l="l"/>
            <a:pathLst>
              <a:path h="4342002" w="2702559">
                <a:moveTo>
                  <a:pt x="0" y="0"/>
                </a:moveTo>
                <a:lnTo>
                  <a:pt x="2702559" y="0"/>
                </a:lnTo>
                <a:lnTo>
                  <a:pt x="2702559" y="4342002"/>
                </a:lnTo>
                <a:lnTo>
                  <a:pt x="0" y="43420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2353787" y="4743310"/>
            <a:ext cx="2374894" cy="1533769"/>
          </a:xfrm>
          <a:prstGeom prst="rect">
            <a:avLst/>
          </a:prstGeom>
        </p:spPr>
        <p:txBody>
          <a:bodyPr anchor="t" rtlCol="false" tIns="0" lIns="0" bIns="0" rIns="0">
            <a:spAutoFit/>
          </a:bodyPr>
          <a:lstStyle/>
          <a:p>
            <a:pPr algn="l">
              <a:lnSpc>
                <a:spcPts val="2434"/>
              </a:lnSpc>
            </a:pPr>
            <a:r>
              <a:rPr lang="en-US" sz="1591">
                <a:solidFill>
                  <a:srgbClr val="333333"/>
                </a:solidFill>
                <a:latin typeface="Calibri (MS)"/>
                <a:ea typeface="Calibri (MS)"/>
                <a:cs typeface="Calibri (MS)"/>
                <a:sym typeface="Calibri (MS)"/>
              </a:rPr>
              <a:t>Recopila y analiza datos de toda la infraestructura. Permite tomar decisiones basadas en información real (datos, alertas, logs).</a:t>
            </a:r>
          </a:p>
        </p:txBody>
      </p:sp>
      <p:sp>
        <p:nvSpPr>
          <p:cNvPr name="Freeform 33" id="33"/>
          <p:cNvSpPr/>
          <p:nvPr/>
        </p:nvSpPr>
        <p:spPr>
          <a:xfrm flipH="false" flipV="false" rot="0">
            <a:off x="5070447" y="3589130"/>
            <a:ext cx="2702559" cy="971185"/>
          </a:xfrm>
          <a:custGeom>
            <a:avLst/>
            <a:gdLst/>
            <a:ahLst/>
            <a:cxnLst/>
            <a:rect r="r" b="b" t="t" l="l"/>
            <a:pathLst>
              <a:path h="971185" w="2702559">
                <a:moveTo>
                  <a:pt x="0" y="0"/>
                </a:moveTo>
                <a:lnTo>
                  <a:pt x="2702559" y="0"/>
                </a:lnTo>
                <a:lnTo>
                  <a:pt x="2702559" y="971185"/>
                </a:lnTo>
                <a:lnTo>
                  <a:pt x="0" y="97118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5081084" y="3599768"/>
            <a:ext cx="2681332" cy="949958"/>
            <a:chOff x="0" y="0"/>
            <a:chExt cx="4267200" cy="1511808"/>
          </a:xfrm>
        </p:grpSpPr>
        <p:sp>
          <p:nvSpPr>
            <p:cNvPr name="Freeform 35" id="35"/>
            <p:cNvSpPr/>
            <p:nvPr/>
          </p:nvSpPr>
          <p:spPr>
            <a:xfrm flipH="false" flipV="false" rot="0">
              <a:off x="0" y="0"/>
              <a:ext cx="4267200" cy="1511808"/>
            </a:xfrm>
            <a:custGeom>
              <a:avLst/>
              <a:gdLst/>
              <a:ahLst/>
              <a:cxnLst/>
              <a:rect r="r" b="b" t="t" l="l"/>
              <a:pathLst>
                <a:path h="1511808" w="4267200">
                  <a:moveTo>
                    <a:pt x="0" y="0"/>
                  </a:moveTo>
                  <a:lnTo>
                    <a:pt x="4267200" y="0"/>
                  </a:lnTo>
                  <a:lnTo>
                    <a:pt x="4267200" y="1511808"/>
                  </a:lnTo>
                  <a:lnTo>
                    <a:pt x="0" y="1511808"/>
                  </a:lnTo>
                  <a:close/>
                </a:path>
              </a:pathLst>
            </a:custGeom>
            <a:blipFill>
              <a:blip r:embed="rId7">
                <a:alphaModFix amt="0"/>
              </a:blip>
              <a:stretch>
                <a:fillRect l="0" t="-4959" r="0" b="-4959"/>
              </a:stretch>
            </a:blipFill>
          </p:spPr>
        </p:sp>
      </p:grpSp>
      <p:grpSp>
        <p:nvGrpSpPr>
          <p:cNvPr name="Group 36" id="36"/>
          <p:cNvGrpSpPr/>
          <p:nvPr/>
        </p:nvGrpSpPr>
        <p:grpSpPr>
          <a:xfrm rot="0">
            <a:off x="5081084" y="3575827"/>
            <a:ext cx="2681332" cy="973898"/>
            <a:chOff x="0" y="0"/>
            <a:chExt cx="4267200" cy="1549908"/>
          </a:xfrm>
        </p:grpSpPr>
        <p:sp>
          <p:nvSpPr>
            <p:cNvPr name="Freeform 37" id="37"/>
            <p:cNvSpPr/>
            <p:nvPr/>
          </p:nvSpPr>
          <p:spPr>
            <a:xfrm flipH="false" flipV="false" rot="0">
              <a:off x="0" y="0"/>
              <a:ext cx="4267200" cy="1549908"/>
            </a:xfrm>
            <a:custGeom>
              <a:avLst/>
              <a:gdLst/>
              <a:ahLst/>
              <a:cxnLst/>
              <a:rect r="r" b="b" t="t" l="l"/>
              <a:pathLst>
                <a:path h="1549908" w="4267200">
                  <a:moveTo>
                    <a:pt x="0" y="0"/>
                  </a:moveTo>
                  <a:lnTo>
                    <a:pt x="4267200" y="0"/>
                  </a:lnTo>
                  <a:lnTo>
                    <a:pt x="4267200" y="1549908"/>
                  </a:lnTo>
                  <a:lnTo>
                    <a:pt x="0" y="1549908"/>
                  </a:lnTo>
                  <a:close/>
                </a:path>
              </a:pathLst>
            </a:custGeom>
            <a:blipFill>
              <a:blip r:embed="rId8">
                <a:alphaModFix amt="0"/>
              </a:blip>
              <a:stretch>
                <a:fillRect l="0" t="-3646" r="0" b="-3646"/>
              </a:stretch>
            </a:blipFill>
          </p:spPr>
        </p:sp>
        <p:sp>
          <p:nvSpPr>
            <p:cNvPr name="TextBox 38" id="38"/>
            <p:cNvSpPr txBox="true"/>
            <p:nvPr/>
          </p:nvSpPr>
          <p:spPr>
            <a:xfrm>
              <a:off x="0" y="-38100"/>
              <a:ext cx="4267200" cy="158800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Detección</a:t>
              </a:r>
            </a:p>
            <a:p>
              <a:pPr algn="ctr">
                <a:lnSpc>
                  <a:spcPts val="2279"/>
                </a:lnSpc>
              </a:pPr>
              <a:r>
                <a:rPr lang="en-US" sz="1899" b="true">
                  <a:solidFill>
                    <a:srgbClr val="FFFFFF"/>
                  </a:solidFill>
                  <a:latin typeface="Calibri (MS) Bold"/>
                  <a:ea typeface="Calibri (MS) Bold"/>
                  <a:cs typeface="Calibri (MS) Bold"/>
                  <a:sym typeface="Calibri (MS) Bold"/>
                </a:rPr>
                <a:t>temprana</a:t>
              </a:r>
            </a:p>
          </p:txBody>
        </p:sp>
      </p:grpSp>
      <p:sp>
        <p:nvSpPr>
          <p:cNvPr name="Freeform 39" id="39"/>
          <p:cNvSpPr/>
          <p:nvPr/>
        </p:nvSpPr>
        <p:spPr>
          <a:xfrm flipH="false" flipV="false" rot="0">
            <a:off x="5070447" y="4569732"/>
            <a:ext cx="2702559" cy="4342002"/>
          </a:xfrm>
          <a:custGeom>
            <a:avLst/>
            <a:gdLst/>
            <a:ahLst/>
            <a:cxnLst/>
            <a:rect r="r" b="b" t="t" l="l"/>
            <a:pathLst>
              <a:path h="4342002" w="2702559">
                <a:moveTo>
                  <a:pt x="0" y="0"/>
                </a:moveTo>
                <a:lnTo>
                  <a:pt x="2702559" y="0"/>
                </a:lnTo>
                <a:lnTo>
                  <a:pt x="2702559" y="4342002"/>
                </a:lnTo>
                <a:lnTo>
                  <a:pt x="0" y="43420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5234303" y="4743310"/>
            <a:ext cx="2374894" cy="1533769"/>
          </a:xfrm>
          <a:prstGeom prst="rect">
            <a:avLst/>
          </a:prstGeom>
        </p:spPr>
        <p:txBody>
          <a:bodyPr anchor="t" rtlCol="false" tIns="0" lIns="0" bIns="0" rIns="0">
            <a:spAutoFit/>
          </a:bodyPr>
          <a:lstStyle/>
          <a:p>
            <a:pPr algn="l">
              <a:lnSpc>
                <a:spcPts val="2434"/>
              </a:lnSpc>
            </a:pPr>
            <a:r>
              <a:rPr lang="en-US" sz="1591">
                <a:solidFill>
                  <a:srgbClr val="333333"/>
                </a:solidFill>
                <a:latin typeface="Calibri (MS)"/>
                <a:ea typeface="Calibri (MS)"/>
                <a:cs typeface="Calibri (MS)"/>
                <a:sym typeface="Calibri (MS)"/>
              </a:rPr>
              <a:t>Identifica comportamientos anómalos antes de que escalen. Reduce el riesgo y permite respuesta más eficiente.</a:t>
            </a:r>
          </a:p>
        </p:txBody>
      </p:sp>
      <p:sp>
        <p:nvSpPr>
          <p:cNvPr name="Freeform 41" id="41"/>
          <p:cNvSpPr/>
          <p:nvPr/>
        </p:nvSpPr>
        <p:spPr>
          <a:xfrm flipH="false" flipV="false" rot="0">
            <a:off x="7950963" y="3589130"/>
            <a:ext cx="2702559" cy="971185"/>
          </a:xfrm>
          <a:custGeom>
            <a:avLst/>
            <a:gdLst/>
            <a:ahLst/>
            <a:cxnLst/>
            <a:rect r="r" b="b" t="t" l="l"/>
            <a:pathLst>
              <a:path h="971185" w="2702559">
                <a:moveTo>
                  <a:pt x="0" y="0"/>
                </a:moveTo>
                <a:lnTo>
                  <a:pt x="2702559" y="0"/>
                </a:lnTo>
                <a:lnTo>
                  <a:pt x="2702559" y="971185"/>
                </a:lnTo>
                <a:lnTo>
                  <a:pt x="0" y="97118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7961601" y="3599768"/>
            <a:ext cx="2681332" cy="949958"/>
            <a:chOff x="0" y="0"/>
            <a:chExt cx="4267200" cy="1511808"/>
          </a:xfrm>
        </p:grpSpPr>
        <p:sp>
          <p:nvSpPr>
            <p:cNvPr name="Freeform 43" id="43"/>
            <p:cNvSpPr/>
            <p:nvPr/>
          </p:nvSpPr>
          <p:spPr>
            <a:xfrm flipH="false" flipV="false" rot="0">
              <a:off x="0" y="0"/>
              <a:ext cx="4267200" cy="1511808"/>
            </a:xfrm>
            <a:custGeom>
              <a:avLst/>
              <a:gdLst/>
              <a:ahLst/>
              <a:cxnLst/>
              <a:rect r="r" b="b" t="t" l="l"/>
              <a:pathLst>
                <a:path h="1511808" w="4267200">
                  <a:moveTo>
                    <a:pt x="0" y="0"/>
                  </a:moveTo>
                  <a:lnTo>
                    <a:pt x="4267200" y="0"/>
                  </a:lnTo>
                  <a:lnTo>
                    <a:pt x="4267200" y="1511808"/>
                  </a:lnTo>
                  <a:lnTo>
                    <a:pt x="0" y="1511808"/>
                  </a:lnTo>
                  <a:close/>
                </a:path>
              </a:pathLst>
            </a:custGeom>
            <a:blipFill>
              <a:blip r:embed="rId7">
                <a:alphaModFix amt="0"/>
              </a:blip>
              <a:stretch>
                <a:fillRect l="0" t="-4959" r="0" b="-4959"/>
              </a:stretch>
            </a:blipFill>
          </p:spPr>
        </p:sp>
      </p:grpSp>
      <p:grpSp>
        <p:nvGrpSpPr>
          <p:cNvPr name="Group 44" id="44"/>
          <p:cNvGrpSpPr/>
          <p:nvPr/>
        </p:nvGrpSpPr>
        <p:grpSpPr>
          <a:xfrm rot="0">
            <a:off x="7961601" y="3575827"/>
            <a:ext cx="2681332" cy="973898"/>
            <a:chOff x="0" y="0"/>
            <a:chExt cx="4267200" cy="1549908"/>
          </a:xfrm>
        </p:grpSpPr>
        <p:sp>
          <p:nvSpPr>
            <p:cNvPr name="Freeform 45" id="45"/>
            <p:cNvSpPr/>
            <p:nvPr/>
          </p:nvSpPr>
          <p:spPr>
            <a:xfrm flipH="false" flipV="false" rot="0">
              <a:off x="0" y="0"/>
              <a:ext cx="4267200" cy="1549908"/>
            </a:xfrm>
            <a:custGeom>
              <a:avLst/>
              <a:gdLst/>
              <a:ahLst/>
              <a:cxnLst/>
              <a:rect r="r" b="b" t="t" l="l"/>
              <a:pathLst>
                <a:path h="1549908" w="4267200">
                  <a:moveTo>
                    <a:pt x="0" y="0"/>
                  </a:moveTo>
                  <a:lnTo>
                    <a:pt x="4267200" y="0"/>
                  </a:lnTo>
                  <a:lnTo>
                    <a:pt x="4267200" y="1549908"/>
                  </a:lnTo>
                  <a:lnTo>
                    <a:pt x="0" y="1549908"/>
                  </a:lnTo>
                  <a:close/>
                </a:path>
              </a:pathLst>
            </a:custGeom>
            <a:blipFill>
              <a:blip r:embed="rId8">
                <a:alphaModFix amt="0"/>
              </a:blip>
              <a:stretch>
                <a:fillRect l="0" t="-3646" r="0" b="-3646"/>
              </a:stretch>
            </a:blipFill>
          </p:spPr>
        </p:sp>
        <p:sp>
          <p:nvSpPr>
            <p:cNvPr name="TextBox 46" id="46"/>
            <p:cNvSpPr txBox="true"/>
            <p:nvPr/>
          </p:nvSpPr>
          <p:spPr>
            <a:xfrm>
              <a:off x="0" y="-38100"/>
              <a:ext cx="4267200" cy="158800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Respuesta rápida</a:t>
              </a:r>
            </a:p>
            <a:p>
              <a:pPr algn="ctr">
                <a:lnSpc>
                  <a:spcPts val="2279"/>
                </a:lnSpc>
              </a:pPr>
              <a:r>
                <a:rPr lang="en-US" sz="1899" b="true">
                  <a:solidFill>
                    <a:srgbClr val="FFFFFF"/>
                  </a:solidFill>
                  <a:latin typeface="Calibri (MS) Bold"/>
                  <a:ea typeface="Calibri (MS) Bold"/>
                  <a:cs typeface="Calibri (MS) Bold"/>
                  <a:sym typeface="Calibri (MS) Bold"/>
                </a:rPr>
                <a:t>y contenida</a:t>
              </a:r>
            </a:p>
          </p:txBody>
        </p:sp>
      </p:grpSp>
      <p:sp>
        <p:nvSpPr>
          <p:cNvPr name="Freeform 47" id="47"/>
          <p:cNvSpPr/>
          <p:nvPr/>
        </p:nvSpPr>
        <p:spPr>
          <a:xfrm flipH="false" flipV="false" rot="0">
            <a:off x="7950963" y="4569732"/>
            <a:ext cx="2702559" cy="4342002"/>
          </a:xfrm>
          <a:custGeom>
            <a:avLst/>
            <a:gdLst/>
            <a:ahLst/>
            <a:cxnLst/>
            <a:rect r="r" b="b" t="t" l="l"/>
            <a:pathLst>
              <a:path h="4342002" w="2702559">
                <a:moveTo>
                  <a:pt x="0" y="0"/>
                </a:moveTo>
                <a:lnTo>
                  <a:pt x="2702559" y="0"/>
                </a:lnTo>
                <a:lnTo>
                  <a:pt x="2702559" y="4342002"/>
                </a:lnTo>
                <a:lnTo>
                  <a:pt x="0" y="43420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8114820" y="4743310"/>
            <a:ext cx="2374894" cy="1533769"/>
          </a:xfrm>
          <a:prstGeom prst="rect">
            <a:avLst/>
          </a:prstGeom>
        </p:spPr>
        <p:txBody>
          <a:bodyPr anchor="t" rtlCol="false" tIns="0" lIns="0" bIns="0" rIns="0">
            <a:spAutoFit/>
          </a:bodyPr>
          <a:lstStyle/>
          <a:p>
            <a:pPr algn="l">
              <a:lnSpc>
                <a:spcPts val="2434"/>
              </a:lnSpc>
            </a:pPr>
            <a:r>
              <a:rPr lang="en-US" sz="1591">
                <a:solidFill>
                  <a:srgbClr val="333333"/>
                </a:solidFill>
                <a:latin typeface="Calibri (MS)"/>
                <a:ea typeface="Calibri (MS)"/>
                <a:cs typeface="Calibri (MS)"/>
                <a:sym typeface="Calibri (MS)"/>
              </a:rPr>
              <a:t>Ejecuta protocolos para contener, erradicar y recuperar. Minimiza el impacto económico, legal y reputacional.</a:t>
            </a:r>
          </a:p>
        </p:txBody>
      </p:sp>
      <p:sp>
        <p:nvSpPr>
          <p:cNvPr name="Freeform 49" id="49"/>
          <p:cNvSpPr/>
          <p:nvPr/>
        </p:nvSpPr>
        <p:spPr>
          <a:xfrm flipH="false" flipV="false" rot="0">
            <a:off x="10831480" y="3589130"/>
            <a:ext cx="2702559" cy="971185"/>
          </a:xfrm>
          <a:custGeom>
            <a:avLst/>
            <a:gdLst/>
            <a:ahLst/>
            <a:cxnLst/>
            <a:rect r="r" b="b" t="t" l="l"/>
            <a:pathLst>
              <a:path h="971185" w="2702559">
                <a:moveTo>
                  <a:pt x="0" y="0"/>
                </a:moveTo>
                <a:lnTo>
                  <a:pt x="2702559" y="0"/>
                </a:lnTo>
                <a:lnTo>
                  <a:pt x="2702559" y="971185"/>
                </a:lnTo>
                <a:lnTo>
                  <a:pt x="0" y="97118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0842117" y="3599768"/>
            <a:ext cx="2681332" cy="949958"/>
            <a:chOff x="0" y="0"/>
            <a:chExt cx="4267200" cy="1511808"/>
          </a:xfrm>
        </p:grpSpPr>
        <p:sp>
          <p:nvSpPr>
            <p:cNvPr name="Freeform 51" id="51"/>
            <p:cNvSpPr/>
            <p:nvPr/>
          </p:nvSpPr>
          <p:spPr>
            <a:xfrm flipH="false" flipV="false" rot="0">
              <a:off x="0" y="0"/>
              <a:ext cx="4267200" cy="1511808"/>
            </a:xfrm>
            <a:custGeom>
              <a:avLst/>
              <a:gdLst/>
              <a:ahLst/>
              <a:cxnLst/>
              <a:rect r="r" b="b" t="t" l="l"/>
              <a:pathLst>
                <a:path h="1511808" w="4267200">
                  <a:moveTo>
                    <a:pt x="0" y="0"/>
                  </a:moveTo>
                  <a:lnTo>
                    <a:pt x="4267200" y="0"/>
                  </a:lnTo>
                  <a:lnTo>
                    <a:pt x="4267200" y="1511808"/>
                  </a:lnTo>
                  <a:lnTo>
                    <a:pt x="0" y="1511808"/>
                  </a:lnTo>
                  <a:close/>
                </a:path>
              </a:pathLst>
            </a:custGeom>
            <a:blipFill>
              <a:blip r:embed="rId7">
                <a:alphaModFix amt="0"/>
              </a:blip>
              <a:stretch>
                <a:fillRect l="0" t="-4959" r="0" b="-4959"/>
              </a:stretch>
            </a:blipFill>
          </p:spPr>
        </p:sp>
      </p:grpSp>
      <p:grpSp>
        <p:nvGrpSpPr>
          <p:cNvPr name="Group 52" id="52"/>
          <p:cNvGrpSpPr/>
          <p:nvPr/>
        </p:nvGrpSpPr>
        <p:grpSpPr>
          <a:xfrm rot="0">
            <a:off x="10842117" y="3575827"/>
            <a:ext cx="2681332" cy="973898"/>
            <a:chOff x="0" y="0"/>
            <a:chExt cx="4267200" cy="1549908"/>
          </a:xfrm>
        </p:grpSpPr>
        <p:sp>
          <p:nvSpPr>
            <p:cNvPr name="Freeform 53" id="53"/>
            <p:cNvSpPr/>
            <p:nvPr/>
          </p:nvSpPr>
          <p:spPr>
            <a:xfrm flipH="false" flipV="false" rot="0">
              <a:off x="0" y="0"/>
              <a:ext cx="4267200" cy="1549908"/>
            </a:xfrm>
            <a:custGeom>
              <a:avLst/>
              <a:gdLst/>
              <a:ahLst/>
              <a:cxnLst/>
              <a:rect r="r" b="b" t="t" l="l"/>
              <a:pathLst>
                <a:path h="1549908" w="4267200">
                  <a:moveTo>
                    <a:pt x="0" y="0"/>
                  </a:moveTo>
                  <a:lnTo>
                    <a:pt x="4267200" y="0"/>
                  </a:lnTo>
                  <a:lnTo>
                    <a:pt x="4267200" y="1549908"/>
                  </a:lnTo>
                  <a:lnTo>
                    <a:pt x="0" y="1549908"/>
                  </a:lnTo>
                  <a:close/>
                </a:path>
              </a:pathLst>
            </a:custGeom>
            <a:blipFill>
              <a:blip r:embed="rId8">
                <a:alphaModFix amt="0"/>
              </a:blip>
              <a:stretch>
                <a:fillRect l="0" t="-3646" r="0" b="-3646"/>
              </a:stretch>
            </a:blipFill>
          </p:spPr>
        </p:sp>
        <p:sp>
          <p:nvSpPr>
            <p:cNvPr name="TextBox 54" id="54"/>
            <p:cNvSpPr txBox="true"/>
            <p:nvPr/>
          </p:nvSpPr>
          <p:spPr>
            <a:xfrm>
              <a:off x="0" y="-38100"/>
              <a:ext cx="4267200" cy="158800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Cumplimiento</a:t>
              </a:r>
            </a:p>
            <a:p>
              <a:pPr algn="ctr">
                <a:lnSpc>
                  <a:spcPts val="2279"/>
                </a:lnSpc>
              </a:pPr>
              <a:r>
                <a:rPr lang="en-US" sz="1899" b="true">
                  <a:solidFill>
                    <a:srgbClr val="FFFFFF"/>
                  </a:solidFill>
                  <a:latin typeface="Calibri (MS) Bold"/>
                  <a:ea typeface="Calibri (MS) Bold"/>
                  <a:cs typeface="Calibri (MS) Bold"/>
                  <a:sym typeface="Calibri (MS) Bold"/>
                </a:rPr>
                <a:t>y auditoría</a:t>
              </a:r>
            </a:p>
          </p:txBody>
        </p:sp>
      </p:grpSp>
      <p:sp>
        <p:nvSpPr>
          <p:cNvPr name="Freeform 55" id="55"/>
          <p:cNvSpPr/>
          <p:nvPr/>
        </p:nvSpPr>
        <p:spPr>
          <a:xfrm flipH="false" flipV="false" rot="0">
            <a:off x="10831480" y="4569732"/>
            <a:ext cx="2702559" cy="4342002"/>
          </a:xfrm>
          <a:custGeom>
            <a:avLst/>
            <a:gdLst/>
            <a:ahLst/>
            <a:cxnLst/>
            <a:rect r="r" b="b" t="t" l="l"/>
            <a:pathLst>
              <a:path h="4342002" w="2702559">
                <a:moveTo>
                  <a:pt x="0" y="0"/>
                </a:moveTo>
                <a:lnTo>
                  <a:pt x="2702559" y="0"/>
                </a:lnTo>
                <a:lnTo>
                  <a:pt x="2702559" y="4342002"/>
                </a:lnTo>
                <a:lnTo>
                  <a:pt x="0" y="43420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0995336" y="4743310"/>
            <a:ext cx="2374894" cy="1533769"/>
          </a:xfrm>
          <a:prstGeom prst="rect">
            <a:avLst/>
          </a:prstGeom>
        </p:spPr>
        <p:txBody>
          <a:bodyPr anchor="t" rtlCol="false" tIns="0" lIns="0" bIns="0" rIns="0">
            <a:spAutoFit/>
          </a:bodyPr>
          <a:lstStyle/>
          <a:p>
            <a:pPr algn="l">
              <a:lnSpc>
                <a:spcPts val="2434"/>
              </a:lnSpc>
            </a:pPr>
            <a:r>
              <a:rPr lang="en-US" sz="1591">
                <a:solidFill>
                  <a:srgbClr val="333333"/>
                </a:solidFill>
                <a:latin typeface="Calibri (MS)"/>
                <a:ea typeface="Calibri (MS)"/>
                <a:cs typeface="Calibri (MS)"/>
                <a:sym typeface="Calibri (MS)"/>
              </a:rPr>
              <a:t>Documenta incidentes y genera reportes con trazabilidad. Ayuda a cumplir ISO 27001, PCI-DSS, HIPAA o GDPR.</a:t>
            </a:r>
          </a:p>
        </p:txBody>
      </p:sp>
      <p:sp>
        <p:nvSpPr>
          <p:cNvPr name="Freeform 57" id="57"/>
          <p:cNvSpPr/>
          <p:nvPr/>
        </p:nvSpPr>
        <p:spPr>
          <a:xfrm flipH="false" flipV="false" rot="0">
            <a:off x="13711996" y="3589130"/>
            <a:ext cx="2702559" cy="971185"/>
          </a:xfrm>
          <a:custGeom>
            <a:avLst/>
            <a:gdLst/>
            <a:ahLst/>
            <a:cxnLst/>
            <a:rect r="r" b="b" t="t" l="l"/>
            <a:pathLst>
              <a:path h="971185" w="2702559">
                <a:moveTo>
                  <a:pt x="0" y="0"/>
                </a:moveTo>
                <a:lnTo>
                  <a:pt x="2702560" y="0"/>
                </a:lnTo>
                <a:lnTo>
                  <a:pt x="2702560" y="971185"/>
                </a:lnTo>
                <a:lnTo>
                  <a:pt x="0" y="97118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13722634" y="3599768"/>
            <a:ext cx="2681332" cy="949958"/>
            <a:chOff x="0" y="0"/>
            <a:chExt cx="4267200" cy="1511808"/>
          </a:xfrm>
        </p:grpSpPr>
        <p:sp>
          <p:nvSpPr>
            <p:cNvPr name="Freeform 59" id="59"/>
            <p:cNvSpPr/>
            <p:nvPr/>
          </p:nvSpPr>
          <p:spPr>
            <a:xfrm flipH="false" flipV="false" rot="0">
              <a:off x="0" y="0"/>
              <a:ext cx="4267200" cy="1511808"/>
            </a:xfrm>
            <a:custGeom>
              <a:avLst/>
              <a:gdLst/>
              <a:ahLst/>
              <a:cxnLst/>
              <a:rect r="r" b="b" t="t" l="l"/>
              <a:pathLst>
                <a:path h="1511808" w="4267200">
                  <a:moveTo>
                    <a:pt x="0" y="0"/>
                  </a:moveTo>
                  <a:lnTo>
                    <a:pt x="4267200" y="0"/>
                  </a:lnTo>
                  <a:lnTo>
                    <a:pt x="4267200" y="1511808"/>
                  </a:lnTo>
                  <a:lnTo>
                    <a:pt x="0" y="1511808"/>
                  </a:lnTo>
                  <a:close/>
                </a:path>
              </a:pathLst>
            </a:custGeom>
            <a:blipFill>
              <a:blip r:embed="rId7">
                <a:alphaModFix amt="0"/>
              </a:blip>
              <a:stretch>
                <a:fillRect l="0" t="-4959" r="0" b="-4959"/>
              </a:stretch>
            </a:blipFill>
          </p:spPr>
        </p:sp>
      </p:grpSp>
      <p:grpSp>
        <p:nvGrpSpPr>
          <p:cNvPr name="Group 60" id="60"/>
          <p:cNvGrpSpPr/>
          <p:nvPr/>
        </p:nvGrpSpPr>
        <p:grpSpPr>
          <a:xfrm rot="0">
            <a:off x="13722634" y="3575827"/>
            <a:ext cx="2681332" cy="973898"/>
            <a:chOff x="0" y="0"/>
            <a:chExt cx="4267200" cy="1549908"/>
          </a:xfrm>
        </p:grpSpPr>
        <p:sp>
          <p:nvSpPr>
            <p:cNvPr name="Freeform 61" id="61"/>
            <p:cNvSpPr/>
            <p:nvPr/>
          </p:nvSpPr>
          <p:spPr>
            <a:xfrm flipH="false" flipV="false" rot="0">
              <a:off x="0" y="0"/>
              <a:ext cx="4267200" cy="1549908"/>
            </a:xfrm>
            <a:custGeom>
              <a:avLst/>
              <a:gdLst/>
              <a:ahLst/>
              <a:cxnLst/>
              <a:rect r="r" b="b" t="t" l="l"/>
              <a:pathLst>
                <a:path h="1549908" w="4267200">
                  <a:moveTo>
                    <a:pt x="0" y="0"/>
                  </a:moveTo>
                  <a:lnTo>
                    <a:pt x="4267200" y="0"/>
                  </a:lnTo>
                  <a:lnTo>
                    <a:pt x="4267200" y="1549908"/>
                  </a:lnTo>
                  <a:lnTo>
                    <a:pt x="0" y="1549908"/>
                  </a:lnTo>
                  <a:close/>
                </a:path>
              </a:pathLst>
            </a:custGeom>
            <a:blipFill>
              <a:blip r:embed="rId8">
                <a:alphaModFix amt="0"/>
              </a:blip>
              <a:stretch>
                <a:fillRect l="0" t="-3646" r="0" b="-3646"/>
              </a:stretch>
            </a:blipFill>
          </p:spPr>
        </p:sp>
        <p:sp>
          <p:nvSpPr>
            <p:cNvPr name="TextBox 62" id="62"/>
            <p:cNvSpPr txBox="true"/>
            <p:nvPr/>
          </p:nvSpPr>
          <p:spPr>
            <a:xfrm>
              <a:off x="0" y="-38100"/>
              <a:ext cx="4267200" cy="158800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Alineación con</a:t>
              </a:r>
            </a:p>
            <a:p>
              <a:pPr algn="ctr">
                <a:lnSpc>
                  <a:spcPts val="2279"/>
                </a:lnSpc>
              </a:pPr>
              <a:r>
                <a:rPr lang="en-US" sz="1899" b="true">
                  <a:solidFill>
                    <a:srgbClr val="FFFFFF"/>
                  </a:solidFill>
                  <a:latin typeface="Calibri (MS) Bold"/>
                  <a:ea typeface="Calibri (MS) Bold"/>
                  <a:cs typeface="Calibri (MS) Bold"/>
                  <a:sym typeface="Calibri (MS) Bold"/>
                </a:rPr>
                <a:t>objetivos de negocio</a:t>
              </a:r>
            </a:p>
          </p:txBody>
        </p:sp>
      </p:grpSp>
      <p:sp>
        <p:nvSpPr>
          <p:cNvPr name="Freeform 63" id="63"/>
          <p:cNvSpPr/>
          <p:nvPr/>
        </p:nvSpPr>
        <p:spPr>
          <a:xfrm flipH="false" flipV="false" rot="0">
            <a:off x="13711996" y="4569732"/>
            <a:ext cx="2702559" cy="4342002"/>
          </a:xfrm>
          <a:custGeom>
            <a:avLst/>
            <a:gdLst/>
            <a:ahLst/>
            <a:cxnLst/>
            <a:rect r="r" b="b" t="t" l="l"/>
            <a:pathLst>
              <a:path h="4342002" w="2702559">
                <a:moveTo>
                  <a:pt x="0" y="0"/>
                </a:moveTo>
                <a:lnTo>
                  <a:pt x="2702560" y="0"/>
                </a:lnTo>
                <a:lnTo>
                  <a:pt x="2702560" y="4342002"/>
                </a:lnTo>
                <a:lnTo>
                  <a:pt x="0" y="43420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13875853" y="4743310"/>
            <a:ext cx="2374894" cy="1228919"/>
          </a:xfrm>
          <a:prstGeom prst="rect">
            <a:avLst/>
          </a:prstGeom>
        </p:spPr>
        <p:txBody>
          <a:bodyPr anchor="t" rtlCol="false" tIns="0" lIns="0" bIns="0" rIns="0">
            <a:spAutoFit/>
          </a:bodyPr>
          <a:lstStyle/>
          <a:p>
            <a:pPr algn="l">
              <a:lnSpc>
                <a:spcPts val="2434"/>
              </a:lnSpc>
            </a:pPr>
            <a:r>
              <a:rPr lang="en-US" sz="1591">
                <a:solidFill>
                  <a:srgbClr val="333333"/>
                </a:solidFill>
                <a:latin typeface="Calibri (MS)"/>
                <a:ea typeface="Calibri (MS)"/>
                <a:cs typeface="Calibri (MS)"/>
                <a:sym typeface="Calibri (MS)"/>
              </a:rPr>
              <a:t>Coordina con IT, legal, RRHH y liderazgo. Protege lo más valioso: operaciones, clientes y reputación.</a:t>
            </a:r>
          </a:p>
        </p:txBody>
      </p:sp>
      <p:grpSp>
        <p:nvGrpSpPr>
          <p:cNvPr name="Group 65" id="65"/>
          <p:cNvGrpSpPr/>
          <p:nvPr/>
        </p:nvGrpSpPr>
        <p:grpSpPr>
          <a:xfrm rot="0">
            <a:off x="15983863" y="24203"/>
            <a:ext cx="1855079" cy="1855079"/>
            <a:chOff x="0" y="0"/>
            <a:chExt cx="5852160" cy="5852160"/>
          </a:xfrm>
        </p:grpSpPr>
        <p:sp>
          <p:nvSpPr>
            <p:cNvPr name="Freeform 66" id="6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1.2</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36044"/>
            <a:ext cx="15544800" cy="2667476"/>
            <a:chOff x="0" y="0"/>
            <a:chExt cx="20726400" cy="3556635"/>
          </a:xfrm>
        </p:grpSpPr>
        <p:sp>
          <p:nvSpPr>
            <p:cNvPr name="Freeform 12" id="12"/>
            <p:cNvSpPr/>
            <p:nvPr/>
          </p:nvSpPr>
          <p:spPr>
            <a:xfrm flipH="false" flipV="false" rot="0">
              <a:off x="0" y="0"/>
              <a:ext cx="20726400" cy="3556635"/>
            </a:xfrm>
            <a:custGeom>
              <a:avLst/>
              <a:gdLst/>
              <a:ahLst/>
              <a:cxnLst/>
              <a:rect r="r" b="b" t="t" l="l"/>
              <a:pathLst>
                <a:path h="3556635" w="20726400">
                  <a:moveTo>
                    <a:pt x="0" y="0"/>
                  </a:moveTo>
                  <a:lnTo>
                    <a:pt x="20726400" y="0"/>
                  </a:lnTo>
                  <a:lnTo>
                    <a:pt x="20726400" y="3556635"/>
                  </a:lnTo>
                  <a:lnTo>
                    <a:pt x="0" y="3556635"/>
                  </a:lnTo>
                  <a:close/>
                </a:path>
              </a:pathLst>
            </a:custGeom>
            <a:blipFill>
              <a:blip r:embed="rId8">
                <a:alphaModFix amt="0"/>
              </a:blip>
              <a:stretch>
                <a:fillRect l="0" t="-63549" r="0" b="-63549"/>
              </a:stretch>
            </a:blipFill>
          </p:spPr>
        </p:sp>
        <p:sp>
          <p:nvSpPr>
            <p:cNvPr name="TextBox 13" id="13"/>
            <p:cNvSpPr txBox="true"/>
            <p:nvPr/>
          </p:nvSpPr>
          <p:spPr>
            <a:xfrm>
              <a:off x="0" y="-142875"/>
              <a:ext cx="20726400" cy="3699510"/>
            </a:xfrm>
            <a:prstGeom prst="rect">
              <a:avLst/>
            </a:prstGeom>
          </p:spPr>
          <p:txBody>
            <a:bodyPr anchor="ctr" rtlCol="false" tIns="0" lIns="0" bIns="0" rIns="0"/>
            <a:lstStyle/>
            <a:p>
              <a:pPr algn="l">
                <a:lnSpc>
                  <a:spcPts val="7678"/>
                </a:lnSpc>
              </a:pPr>
              <a:r>
                <a:rPr lang="en-US" sz="6398" b="true">
                  <a:solidFill>
                    <a:srgbClr val="FFFFFF"/>
                  </a:solidFill>
                  <a:latin typeface="Calibri (MS) Bold"/>
                  <a:ea typeface="Calibri (MS) Bold"/>
                  <a:cs typeface="Calibri (MS) Bold"/>
                  <a:sym typeface="Calibri (MS) Bold"/>
                </a:rPr>
                <a:t>Estructura y roles</a:t>
              </a:r>
            </a:p>
            <a:p>
              <a:pPr algn="l">
                <a:lnSpc>
                  <a:spcPts val="7678"/>
                </a:lnSpc>
              </a:pPr>
              <a:r>
                <a:rPr lang="en-US" sz="6398" b="true">
                  <a:solidFill>
                    <a:srgbClr val="FFFFFF"/>
                  </a:solidFill>
                  <a:latin typeface="Calibri (MS) Bold"/>
                  <a:ea typeface="Calibri (MS) Bold"/>
                  <a:cs typeface="Calibri (MS) Bold"/>
                  <a:sym typeface="Calibri (MS) Bold"/>
                </a:rPr>
                <a:t>dentro de un SOC</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Organización típica de un SOC por niveles: L1, L2, L3</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Funciones de cada nivel del SOC</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Otros roles: Team Leads, Threat Hunters, Ingenieros de Seguridad</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Jerarquías, turnos y dinámicas de trabajo</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p.11</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1.2  |  Organización típica por niveles: Tier 1, Tier 2, Tier 3</a:t>
              </a:r>
            </a:p>
          </p:txBody>
        </p:sp>
      </p:grpSp>
      <p:grpSp>
        <p:nvGrpSpPr>
          <p:cNvPr name="Group 20" id="20"/>
          <p:cNvGrpSpPr/>
          <p:nvPr/>
        </p:nvGrpSpPr>
        <p:grpSpPr>
          <a:xfrm rot="0">
            <a:off x="640080" y="1773936"/>
            <a:ext cx="17007840" cy="914400"/>
            <a:chOff x="0" y="0"/>
            <a:chExt cx="22677120" cy="1219200"/>
          </a:xfrm>
        </p:grpSpPr>
        <p:sp>
          <p:nvSpPr>
            <p:cNvPr name="Freeform 21" id="21"/>
            <p:cNvSpPr/>
            <p:nvPr/>
          </p:nvSpPr>
          <p:spPr>
            <a:xfrm flipH="false" flipV="false" rot="0">
              <a:off x="0" y="0"/>
              <a:ext cx="22677120" cy="1219200"/>
            </a:xfrm>
            <a:custGeom>
              <a:avLst/>
              <a:gdLst/>
              <a:ahLst/>
              <a:cxnLst/>
              <a:rect r="r" b="b" t="t" l="l"/>
              <a:pathLst>
                <a:path h="1219200" w="22677120">
                  <a:moveTo>
                    <a:pt x="0" y="0"/>
                  </a:moveTo>
                  <a:lnTo>
                    <a:pt x="22677120" y="0"/>
                  </a:lnTo>
                  <a:lnTo>
                    <a:pt x="22677120" y="1219200"/>
                  </a:lnTo>
                  <a:lnTo>
                    <a:pt x="0" y="1219200"/>
                  </a:lnTo>
                  <a:close/>
                </a:path>
              </a:pathLst>
            </a:custGeom>
            <a:blipFill>
              <a:blip r:embed="rId7">
                <a:alphaModFix amt="0"/>
              </a:blip>
              <a:stretch>
                <a:fillRect l="0" t="-312169" r="0" b="-312169"/>
              </a:stretch>
            </a:blipFill>
          </p:spPr>
        </p:sp>
      </p:grpSp>
      <p:grpSp>
        <p:nvGrpSpPr>
          <p:cNvPr name="Group 22" id="22"/>
          <p:cNvGrpSpPr/>
          <p:nvPr/>
        </p:nvGrpSpPr>
        <p:grpSpPr>
          <a:xfrm rot="0">
            <a:off x="640080" y="1952850"/>
            <a:ext cx="17007840" cy="950119"/>
            <a:chOff x="0" y="0"/>
            <a:chExt cx="22677120" cy="1266825"/>
          </a:xfrm>
        </p:grpSpPr>
        <p:sp>
          <p:nvSpPr>
            <p:cNvPr name="Freeform 23" id="23"/>
            <p:cNvSpPr/>
            <p:nvPr/>
          </p:nvSpPr>
          <p:spPr>
            <a:xfrm flipH="false" flipV="false" rot="0">
              <a:off x="0" y="0"/>
              <a:ext cx="22677120" cy="1266825"/>
            </a:xfrm>
            <a:custGeom>
              <a:avLst/>
              <a:gdLst/>
              <a:ahLst/>
              <a:cxnLst/>
              <a:rect r="r" b="b" t="t" l="l"/>
              <a:pathLst>
                <a:path h="1266825" w="22677120">
                  <a:moveTo>
                    <a:pt x="0" y="0"/>
                  </a:moveTo>
                  <a:lnTo>
                    <a:pt x="22677120" y="0"/>
                  </a:lnTo>
                  <a:lnTo>
                    <a:pt x="22677120" y="1266825"/>
                  </a:lnTo>
                  <a:lnTo>
                    <a:pt x="0" y="1266825"/>
                  </a:lnTo>
                  <a:close/>
                </a:path>
              </a:pathLst>
            </a:custGeom>
            <a:blipFill>
              <a:blip r:embed="rId8">
                <a:alphaModFix amt="0"/>
              </a:blip>
              <a:stretch>
                <a:fillRect l="0" t="-298796" r="0" b="-298796"/>
              </a:stretch>
            </a:blipFill>
          </p:spPr>
        </p:sp>
        <p:sp>
          <p:nvSpPr>
            <p:cNvPr name="TextBox 24" id="24"/>
            <p:cNvSpPr txBox="true"/>
            <p:nvPr/>
          </p:nvSpPr>
          <p:spPr>
            <a:xfrm>
              <a:off x="0" y="-47625"/>
              <a:ext cx="22677120" cy="131445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El modelo clásico de tiers sigue siendo una referencia útil, pero el SOC moderno tiende a ser más fluido: la automatización y el SOAR absorben gran parte del triage mecánico, y el analista de cualquier nivel necesita criterio, no solo clasificación.</a:t>
              </a:r>
            </a:p>
          </p:txBody>
        </p:sp>
      </p:grpSp>
      <p:sp>
        <p:nvSpPr>
          <p:cNvPr name="Freeform 25" id="25"/>
          <p:cNvSpPr/>
          <p:nvPr/>
        </p:nvSpPr>
        <p:spPr>
          <a:xfrm flipH="false" flipV="false" rot="0">
            <a:off x="6027649" y="3377393"/>
            <a:ext cx="6232702" cy="828967"/>
          </a:xfrm>
          <a:custGeom>
            <a:avLst/>
            <a:gdLst/>
            <a:ahLst/>
            <a:cxnLst/>
            <a:rect r="r" b="b" t="t" l="l"/>
            <a:pathLst>
              <a:path h="828967" w="6232702">
                <a:moveTo>
                  <a:pt x="0" y="0"/>
                </a:moveTo>
                <a:lnTo>
                  <a:pt x="6232702" y="0"/>
                </a:lnTo>
                <a:lnTo>
                  <a:pt x="6232702" y="828967"/>
                </a:lnTo>
                <a:lnTo>
                  <a:pt x="0" y="8289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6038430" y="3388173"/>
            <a:ext cx="6211189" cy="807455"/>
            <a:chOff x="0" y="0"/>
            <a:chExt cx="9753600" cy="1267968"/>
          </a:xfrm>
        </p:grpSpPr>
        <p:sp>
          <p:nvSpPr>
            <p:cNvPr name="Freeform 27" id="27"/>
            <p:cNvSpPr/>
            <p:nvPr/>
          </p:nvSpPr>
          <p:spPr>
            <a:xfrm flipH="false" flipV="false" rot="0">
              <a:off x="0" y="0"/>
              <a:ext cx="9753600" cy="1267968"/>
            </a:xfrm>
            <a:custGeom>
              <a:avLst/>
              <a:gdLst/>
              <a:ahLst/>
              <a:cxnLst/>
              <a:rect r="r" b="b" t="t" l="l"/>
              <a:pathLst>
                <a:path h="1267968" w="9753600">
                  <a:moveTo>
                    <a:pt x="0" y="0"/>
                  </a:moveTo>
                  <a:lnTo>
                    <a:pt x="9753600" y="0"/>
                  </a:lnTo>
                  <a:lnTo>
                    <a:pt x="9753600" y="1267968"/>
                  </a:lnTo>
                  <a:lnTo>
                    <a:pt x="0" y="1267968"/>
                  </a:lnTo>
                  <a:close/>
                </a:path>
              </a:pathLst>
            </a:custGeom>
            <a:blipFill>
              <a:blip r:embed="rId7">
                <a:alphaModFix amt="0"/>
              </a:blip>
              <a:stretch>
                <a:fillRect l="0" t="-99780" r="0" b="-99780"/>
              </a:stretch>
            </a:blipFill>
          </p:spPr>
        </p:sp>
      </p:grpSp>
      <p:grpSp>
        <p:nvGrpSpPr>
          <p:cNvPr name="Group 28" id="28"/>
          <p:cNvGrpSpPr/>
          <p:nvPr/>
        </p:nvGrpSpPr>
        <p:grpSpPr>
          <a:xfrm rot="0">
            <a:off x="6038430" y="3363911"/>
            <a:ext cx="6211189" cy="831717"/>
            <a:chOff x="0" y="0"/>
            <a:chExt cx="9753600" cy="1306068"/>
          </a:xfrm>
        </p:grpSpPr>
        <p:sp>
          <p:nvSpPr>
            <p:cNvPr name="Freeform 29" id="29"/>
            <p:cNvSpPr/>
            <p:nvPr/>
          </p:nvSpPr>
          <p:spPr>
            <a:xfrm flipH="false" flipV="false" rot="0">
              <a:off x="0" y="0"/>
              <a:ext cx="9753600" cy="1306068"/>
            </a:xfrm>
            <a:custGeom>
              <a:avLst/>
              <a:gdLst/>
              <a:ahLst/>
              <a:cxnLst/>
              <a:rect r="r" b="b" t="t" l="l"/>
              <a:pathLst>
                <a:path h="1306068" w="9753600">
                  <a:moveTo>
                    <a:pt x="0" y="0"/>
                  </a:moveTo>
                  <a:lnTo>
                    <a:pt x="9753600" y="0"/>
                  </a:lnTo>
                  <a:lnTo>
                    <a:pt x="9753600" y="1306068"/>
                  </a:lnTo>
                  <a:lnTo>
                    <a:pt x="0" y="1306068"/>
                  </a:lnTo>
                  <a:close/>
                </a:path>
              </a:pathLst>
            </a:custGeom>
            <a:blipFill>
              <a:blip r:embed="rId8">
                <a:alphaModFix amt="0"/>
              </a:blip>
              <a:stretch>
                <a:fillRect l="0" t="-95512" r="0" b="-95512"/>
              </a:stretch>
            </a:blipFill>
          </p:spPr>
        </p:sp>
        <p:sp>
          <p:nvSpPr>
            <p:cNvPr name="TextBox 30" id="30"/>
            <p:cNvSpPr txBox="true"/>
            <p:nvPr/>
          </p:nvSpPr>
          <p:spPr>
            <a:xfrm>
              <a:off x="0" y="-38100"/>
              <a:ext cx="9753600" cy="1344168"/>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TIER 3  ·  Investigación Avanzada</a:t>
              </a:r>
            </a:p>
          </p:txBody>
        </p:sp>
      </p:grpSp>
      <p:sp>
        <p:nvSpPr>
          <p:cNvPr name="Freeform 31" id="31"/>
          <p:cNvSpPr/>
          <p:nvPr/>
        </p:nvSpPr>
        <p:spPr>
          <a:xfrm flipH="false" flipV="false" rot="0">
            <a:off x="6027649" y="4215903"/>
            <a:ext cx="6232702" cy="673688"/>
          </a:xfrm>
          <a:custGeom>
            <a:avLst/>
            <a:gdLst/>
            <a:ahLst/>
            <a:cxnLst/>
            <a:rect r="r" b="b" t="t" l="l"/>
            <a:pathLst>
              <a:path h="673688" w="6232702">
                <a:moveTo>
                  <a:pt x="0" y="0"/>
                </a:moveTo>
                <a:lnTo>
                  <a:pt x="6232702" y="0"/>
                </a:lnTo>
                <a:lnTo>
                  <a:pt x="6232702" y="673688"/>
                </a:lnTo>
                <a:lnTo>
                  <a:pt x="0" y="67368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6193709" y="4226684"/>
            <a:ext cx="5900630" cy="652175"/>
            <a:chOff x="0" y="0"/>
            <a:chExt cx="9265920" cy="1024128"/>
          </a:xfrm>
        </p:grpSpPr>
        <p:sp>
          <p:nvSpPr>
            <p:cNvPr name="Freeform 33" id="33"/>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7">
                <a:alphaModFix amt="0"/>
              </a:blip>
              <a:stretch>
                <a:fillRect l="0" t="-126170" r="0" b="-126170"/>
              </a:stretch>
            </a:blipFill>
          </p:spPr>
        </p:sp>
      </p:grpSp>
      <p:grpSp>
        <p:nvGrpSpPr>
          <p:cNvPr name="Group 34" id="34"/>
          <p:cNvGrpSpPr/>
          <p:nvPr/>
        </p:nvGrpSpPr>
        <p:grpSpPr>
          <a:xfrm rot="0">
            <a:off x="6193709" y="4202421"/>
            <a:ext cx="5900630" cy="676437"/>
            <a:chOff x="0" y="0"/>
            <a:chExt cx="9265920" cy="1062228"/>
          </a:xfrm>
        </p:grpSpPr>
        <p:sp>
          <p:nvSpPr>
            <p:cNvPr name="Freeform 35" id="35"/>
            <p:cNvSpPr/>
            <p:nvPr/>
          </p:nvSpPr>
          <p:spPr>
            <a:xfrm flipH="false" flipV="false" rot="0">
              <a:off x="0" y="0"/>
              <a:ext cx="9265920" cy="1062228"/>
            </a:xfrm>
            <a:custGeom>
              <a:avLst/>
              <a:gdLst/>
              <a:ahLst/>
              <a:cxnLst/>
              <a:rect r="r" b="b" t="t" l="l"/>
              <a:pathLst>
                <a:path h="1062228" w="9265920">
                  <a:moveTo>
                    <a:pt x="0" y="0"/>
                  </a:moveTo>
                  <a:lnTo>
                    <a:pt x="9265920" y="0"/>
                  </a:lnTo>
                  <a:lnTo>
                    <a:pt x="9265920" y="1062228"/>
                  </a:lnTo>
                  <a:lnTo>
                    <a:pt x="0" y="1062228"/>
                  </a:lnTo>
                  <a:close/>
                </a:path>
              </a:pathLst>
            </a:custGeom>
            <a:blipFill>
              <a:blip r:embed="rId8">
                <a:alphaModFix amt="0"/>
              </a:blip>
              <a:stretch>
                <a:fillRect l="0" t="-119969" r="0" b="-119969"/>
              </a:stretch>
            </a:blipFill>
          </p:spPr>
        </p:sp>
        <p:sp>
          <p:nvSpPr>
            <p:cNvPr name="TextBox 36" id="36"/>
            <p:cNvSpPr txBox="true"/>
            <p:nvPr/>
          </p:nvSpPr>
          <p:spPr>
            <a:xfrm>
              <a:off x="0" y="-38100"/>
              <a:ext cx="9265920" cy="1100328"/>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Hunting proactivo · Análisis forense · CTI · MITRE ATT&amp;CK</a:t>
              </a:r>
            </a:p>
          </p:txBody>
        </p:sp>
      </p:grpSp>
      <p:sp>
        <p:nvSpPr>
          <p:cNvPr name="Freeform 37" id="37"/>
          <p:cNvSpPr/>
          <p:nvPr/>
        </p:nvSpPr>
        <p:spPr>
          <a:xfrm flipH="false" flipV="false" rot="0">
            <a:off x="4086652" y="4961246"/>
            <a:ext cx="10114695" cy="828967"/>
          </a:xfrm>
          <a:custGeom>
            <a:avLst/>
            <a:gdLst/>
            <a:ahLst/>
            <a:cxnLst/>
            <a:rect r="r" b="b" t="t" l="l"/>
            <a:pathLst>
              <a:path h="828967" w="10114695">
                <a:moveTo>
                  <a:pt x="0" y="0"/>
                </a:moveTo>
                <a:lnTo>
                  <a:pt x="10114696" y="0"/>
                </a:lnTo>
                <a:lnTo>
                  <a:pt x="10114696" y="828967"/>
                </a:lnTo>
                <a:lnTo>
                  <a:pt x="0" y="82896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4097433" y="4972027"/>
            <a:ext cx="10093183" cy="807455"/>
            <a:chOff x="0" y="0"/>
            <a:chExt cx="15849600" cy="1267968"/>
          </a:xfrm>
        </p:grpSpPr>
        <p:sp>
          <p:nvSpPr>
            <p:cNvPr name="Freeform 39" id="39"/>
            <p:cNvSpPr/>
            <p:nvPr/>
          </p:nvSpPr>
          <p:spPr>
            <a:xfrm flipH="false" flipV="false" rot="0">
              <a:off x="0" y="0"/>
              <a:ext cx="15849600" cy="1267968"/>
            </a:xfrm>
            <a:custGeom>
              <a:avLst/>
              <a:gdLst/>
              <a:ahLst/>
              <a:cxnLst/>
              <a:rect r="r" b="b" t="t" l="l"/>
              <a:pathLst>
                <a:path h="1267968" w="15849600">
                  <a:moveTo>
                    <a:pt x="0" y="0"/>
                  </a:moveTo>
                  <a:lnTo>
                    <a:pt x="15849600" y="0"/>
                  </a:lnTo>
                  <a:lnTo>
                    <a:pt x="15849600" y="1267968"/>
                  </a:lnTo>
                  <a:lnTo>
                    <a:pt x="0" y="1267968"/>
                  </a:lnTo>
                  <a:close/>
                </a:path>
              </a:pathLst>
            </a:custGeom>
            <a:blipFill>
              <a:blip r:embed="rId7">
                <a:alphaModFix amt="0"/>
              </a:blip>
              <a:stretch>
                <a:fillRect l="0" t="-193393" r="0" b="-193393"/>
              </a:stretch>
            </a:blipFill>
          </p:spPr>
        </p:sp>
      </p:grpSp>
      <p:grpSp>
        <p:nvGrpSpPr>
          <p:cNvPr name="Group 40" id="40"/>
          <p:cNvGrpSpPr/>
          <p:nvPr/>
        </p:nvGrpSpPr>
        <p:grpSpPr>
          <a:xfrm rot="0">
            <a:off x="4097433" y="4947764"/>
            <a:ext cx="10093183" cy="831717"/>
            <a:chOff x="0" y="0"/>
            <a:chExt cx="15849600" cy="1306068"/>
          </a:xfrm>
        </p:grpSpPr>
        <p:sp>
          <p:nvSpPr>
            <p:cNvPr name="Freeform 41" id="41"/>
            <p:cNvSpPr/>
            <p:nvPr/>
          </p:nvSpPr>
          <p:spPr>
            <a:xfrm flipH="false" flipV="false" rot="0">
              <a:off x="0" y="0"/>
              <a:ext cx="15849600" cy="1306068"/>
            </a:xfrm>
            <a:custGeom>
              <a:avLst/>
              <a:gdLst/>
              <a:ahLst/>
              <a:cxnLst/>
              <a:rect r="r" b="b" t="t" l="l"/>
              <a:pathLst>
                <a:path h="1306068" w="15849600">
                  <a:moveTo>
                    <a:pt x="0" y="0"/>
                  </a:moveTo>
                  <a:lnTo>
                    <a:pt x="15849600" y="0"/>
                  </a:lnTo>
                  <a:lnTo>
                    <a:pt x="15849600" y="1306068"/>
                  </a:lnTo>
                  <a:lnTo>
                    <a:pt x="0" y="1306068"/>
                  </a:lnTo>
                  <a:close/>
                </a:path>
              </a:pathLst>
            </a:custGeom>
            <a:blipFill>
              <a:blip r:embed="rId8">
                <a:alphaModFix amt="0"/>
              </a:blip>
              <a:stretch>
                <a:fillRect l="0" t="-186457" r="0" b="-186457"/>
              </a:stretch>
            </a:blipFill>
          </p:spPr>
        </p:sp>
        <p:sp>
          <p:nvSpPr>
            <p:cNvPr name="TextBox 42" id="42"/>
            <p:cNvSpPr txBox="true"/>
            <p:nvPr/>
          </p:nvSpPr>
          <p:spPr>
            <a:xfrm>
              <a:off x="0" y="-38100"/>
              <a:ext cx="15849600" cy="1344168"/>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TIER 2  ·  Análisis y Respuesta</a:t>
              </a:r>
            </a:p>
          </p:txBody>
        </p:sp>
      </p:grpSp>
      <p:sp>
        <p:nvSpPr>
          <p:cNvPr name="Freeform 43" id="43"/>
          <p:cNvSpPr/>
          <p:nvPr/>
        </p:nvSpPr>
        <p:spPr>
          <a:xfrm flipH="false" flipV="false" rot="0">
            <a:off x="4086652" y="5799757"/>
            <a:ext cx="10114695" cy="673688"/>
          </a:xfrm>
          <a:custGeom>
            <a:avLst/>
            <a:gdLst/>
            <a:ahLst/>
            <a:cxnLst/>
            <a:rect r="r" b="b" t="t" l="l"/>
            <a:pathLst>
              <a:path h="673688" w="10114695">
                <a:moveTo>
                  <a:pt x="0" y="0"/>
                </a:moveTo>
                <a:lnTo>
                  <a:pt x="10114696" y="0"/>
                </a:lnTo>
                <a:lnTo>
                  <a:pt x="10114696" y="673687"/>
                </a:lnTo>
                <a:lnTo>
                  <a:pt x="0" y="67368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4" id="44"/>
          <p:cNvGrpSpPr/>
          <p:nvPr/>
        </p:nvGrpSpPr>
        <p:grpSpPr>
          <a:xfrm rot="0">
            <a:off x="4252713" y="5810537"/>
            <a:ext cx="9782623" cy="652175"/>
            <a:chOff x="0" y="0"/>
            <a:chExt cx="15361920" cy="1024128"/>
          </a:xfrm>
        </p:grpSpPr>
        <p:sp>
          <p:nvSpPr>
            <p:cNvPr name="Freeform 45" id="45"/>
            <p:cNvSpPr/>
            <p:nvPr/>
          </p:nvSpPr>
          <p:spPr>
            <a:xfrm flipH="false" flipV="false" rot="0">
              <a:off x="0" y="0"/>
              <a:ext cx="15361920" cy="1024128"/>
            </a:xfrm>
            <a:custGeom>
              <a:avLst/>
              <a:gdLst/>
              <a:ahLst/>
              <a:cxnLst/>
              <a:rect r="r" b="b" t="t" l="l"/>
              <a:pathLst>
                <a:path h="1024128" w="15361920">
                  <a:moveTo>
                    <a:pt x="0" y="0"/>
                  </a:moveTo>
                  <a:lnTo>
                    <a:pt x="15361920" y="0"/>
                  </a:lnTo>
                  <a:lnTo>
                    <a:pt x="15361920" y="1024128"/>
                  </a:lnTo>
                  <a:lnTo>
                    <a:pt x="0" y="1024128"/>
                  </a:lnTo>
                  <a:close/>
                </a:path>
              </a:pathLst>
            </a:custGeom>
            <a:blipFill>
              <a:blip r:embed="rId7">
                <a:alphaModFix amt="0"/>
              </a:blip>
              <a:stretch>
                <a:fillRect l="0" t="-242072" r="0" b="-242072"/>
              </a:stretch>
            </a:blipFill>
          </p:spPr>
        </p:sp>
      </p:grpSp>
      <p:grpSp>
        <p:nvGrpSpPr>
          <p:cNvPr name="Group 46" id="46"/>
          <p:cNvGrpSpPr/>
          <p:nvPr/>
        </p:nvGrpSpPr>
        <p:grpSpPr>
          <a:xfrm rot="0">
            <a:off x="4252713" y="5786275"/>
            <a:ext cx="9782623" cy="676437"/>
            <a:chOff x="0" y="0"/>
            <a:chExt cx="15361920" cy="1062228"/>
          </a:xfrm>
        </p:grpSpPr>
        <p:sp>
          <p:nvSpPr>
            <p:cNvPr name="Freeform 47" id="47"/>
            <p:cNvSpPr/>
            <p:nvPr/>
          </p:nvSpPr>
          <p:spPr>
            <a:xfrm flipH="false" flipV="false" rot="0">
              <a:off x="0" y="0"/>
              <a:ext cx="15361920" cy="1062228"/>
            </a:xfrm>
            <a:custGeom>
              <a:avLst/>
              <a:gdLst/>
              <a:ahLst/>
              <a:cxnLst/>
              <a:rect r="r" b="b" t="t" l="l"/>
              <a:pathLst>
                <a:path h="1062228" w="15361920">
                  <a:moveTo>
                    <a:pt x="0" y="0"/>
                  </a:moveTo>
                  <a:lnTo>
                    <a:pt x="15361920" y="0"/>
                  </a:lnTo>
                  <a:lnTo>
                    <a:pt x="15361920" y="1062228"/>
                  </a:lnTo>
                  <a:lnTo>
                    <a:pt x="0" y="1062228"/>
                  </a:lnTo>
                  <a:close/>
                </a:path>
              </a:pathLst>
            </a:custGeom>
            <a:blipFill>
              <a:blip r:embed="rId8">
                <a:alphaModFix amt="0"/>
              </a:blip>
              <a:stretch>
                <a:fillRect l="0" t="-231792" r="0" b="-231792"/>
              </a:stretch>
            </a:blipFill>
          </p:spPr>
        </p:sp>
        <p:sp>
          <p:nvSpPr>
            <p:cNvPr name="TextBox 48" id="48"/>
            <p:cNvSpPr txBox="true"/>
            <p:nvPr/>
          </p:nvSpPr>
          <p:spPr>
            <a:xfrm>
              <a:off x="0" y="-38100"/>
              <a:ext cx="15361920" cy="1100328"/>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Investigación de incidentes · Contención · Coordinación técnica</a:t>
              </a:r>
            </a:p>
          </p:txBody>
        </p:sp>
      </p:grpSp>
      <p:sp>
        <p:nvSpPr>
          <p:cNvPr name="Freeform 49" id="49"/>
          <p:cNvSpPr/>
          <p:nvPr/>
        </p:nvSpPr>
        <p:spPr>
          <a:xfrm flipH="false" flipV="false" rot="0">
            <a:off x="1990376" y="6545099"/>
            <a:ext cx="14307248" cy="828967"/>
          </a:xfrm>
          <a:custGeom>
            <a:avLst/>
            <a:gdLst/>
            <a:ahLst/>
            <a:cxnLst/>
            <a:rect r="r" b="b" t="t" l="l"/>
            <a:pathLst>
              <a:path h="828967" w="14307248">
                <a:moveTo>
                  <a:pt x="0" y="0"/>
                </a:moveTo>
                <a:lnTo>
                  <a:pt x="14307248" y="0"/>
                </a:lnTo>
                <a:lnTo>
                  <a:pt x="14307248" y="828968"/>
                </a:lnTo>
                <a:lnTo>
                  <a:pt x="0" y="82896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2001157" y="6555880"/>
            <a:ext cx="14285735" cy="807455"/>
            <a:chOff x="0" y="0"/>
            <a:chExt cx="22433280" cy="1267968"/>
          </a:xfrm>
        </p:grpSpPr>
        <p:sp>
          <p:nvSpPr>
            <p:cNvPr name="Freeform 51" id="51"/>
            <p:cNvSpPr/>
            <p:nvPr/>
          </p:nvSpPr>
          <p:spPr>
            <a:xfrm flipH="false" flipV="false" rot="0">
              <a:off x="0" y="0"/>
              <a:ext cx="22433280" cy="1267968"/>
            </a:xfrm>
            <a:custGeom>
              <a:avLst/>
              <a:gdLst/>
              <a:ahLst/>
              <a:cxnLst/>
              <a:rect r="r" b="b" t="t" l="l"/>
              <a:pathLst>
                <a:path h="1267968" w="22433280">
                  <a:moveTo>
                    <a:pt x="0" y="0"/>
                  </a:moveTo>
                  <a:lnTo>
                    <a:pt x="22433280" y="0"/>
                  </a:lnTo>
                  <a:lnTo>
                    <a:pt x="22433280" y="1267968"/>
                  </a:lnTo>
                  <a:lnTo>
                    <a:pt x="0" y="1267968"/>
                  </a:lnTo>
                  <a:close/>
                </a:path>
              </a:pathLst>
            </a:custGeom>
            <a:blipFill>
              <a:blip r:embed="rId7">
                <a:alphaModFix amt="0"/>
              </a:blip>
              <a:stretch>
                <a:fillRect l="0" t="-294495" r="0" b="-294496"/>
              </a:stretch>
            </a:blipFill>
          </p:spPr>
        </p:sp>
      </p:grpSp>
      <p:grpSp>
        <p:nvGrpSpPr>
          <p:cNvPr name="Group 52" id="52"/>
          <p:cNvGrpSpPr/>
          <p:nvPr/>
        </p:nvGrpSpPr>
        <p:grpSpPr>
          <a:xfrm rot="0">
            <a:off x="2001157" y="6531617"/>
            <a:ext cx="14285735" cy="831717"/>
            <a:chOff x="0" y="0"/>
            <a:chExt cx="22433280" cy="1306068"/>
          </a:xfrm>
        </p:grpSpPr>
        <p:sp>
          <p:nvSpPr>
            <p:cNvPr name="Freeform 53" id="53"/>
            <p:cNvSpPr/>
            <p:nvPr/>
          </p:nvSpPr>
          <p:spPr>
            <a:xfrm flipH="false" flipV="false" rot="0">
              <a:off x="0" y="0"/>
              <a:ext cx="22433280" cy="1306068"/>
            </a:xfrm>
            <a:custGeom>
              <a:avLst/>
              <a:gdLst/>
              <a:ahLst/>
              <a:cxnLst/>
              <a:rect r="r" b="b" t="t" l="l"/>
              <a:pathLst>
                <a:path h="1306068" w="22433280">
                  <a:moveTo>
                    <a:pt x="0" y="0"/>
                  </a:moveTo>
                  <a:lnTo>
                    <a:pt x="22433280" y="0"/>
                  </a:lnTo>
                  <a:lnTo>
                    <a:pt x="22433280" y="1306068"/>
                  </a:lnTo>
                  <a:lnTo>
                    <a:pt x="0" y="1306068"/>
                  </a:lnTo>
                  <a:close/>
                </a:path>
              </a:pathLst>
            </a:custGeom>
            <a:blipFill>
              <a:blip r:embed="rId8">
                <a:alphaModFix amt="0"/>
              </a:blip>
              <a:stretch>
                <a:fillRect l="0" t="-284678" r="0" b="-284678"/>
              </a:stretch>
            </a:blipFill>
          </p:spPr>
        </p:sp>
        <p:sp>
          <p:nvSpPr>
            <p:cNvPr name="TextBox 54" id="54"/>
            <p:cNvSpPr txBox="true"/>
            <p:nvPr/>
          </p:nvSpPr>
          <p:spPr>
            <a:xfrm>
              <a:off x="0" y="-38100"/>
              <a:ext cx="22433280" cy="1344168"/>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TIER 1  ·  Monitoreo y Triage</a:t>
              </a:r>
            </a:p>
          </p:txBody>
        </p:sp>
      </p:grpSp>
      <p:sp>
        <p:nvSpPr>
          <p:cNvPr name="Freeform 55" id="55"/>
          <p:cNvSpPr/>
          <p:nvPr/>
        </p:nvSpPr>
        <p:spPr>
          <a:xfrm flipH="false" flipV="false" rot="0">
            <a:off x="1990376" y="7383610"/>
            <a:ext cx="14307248" cy="673688"/>
          </a:xfrm>
          <a:custGeom>
            <a:avLst/>
            <a:gdLst/>
            <a:ahLst/>
            <a:cxnLst/>
            <a:rect r="r" b="b" t="t" l="l"/>
            <a:pathLst>
              <a:path h="673688" w="14307248">
                <a:moveTo>
                  <a:pt x="0" y="0"/>
                </a:moveTo>
                <a:lnTo>
                  <a:pt x="14307248" y="0"/>
                </a:lnTo>
                <a:lnTo>
                  <a:pt x="14307248" y="673687"/>
                </a:lnTo>
                <a:lnTo>
                  <a:pt x="0" y="67368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6" id="56"/>
          <p:cNvGrpSpPr/>
          <p:nvPr/>
        </p:nvGrpSpPr>
        <p:grpSpPr>
          <a:xfrm rot="0">
            <a:off x="2156436" y="7394391"/>
            <a:ext cx="13975176" cy="652175"/>
            <a:chOff x="0" y="0"/>
            <a:chExt cx="21945600" cy="1024128"/>
          </a:xfrm>
        </p:grpSpPr>
        <p:sp>
          <p:nvSpPr>
            <p:cNvPr name="Freeform 57" id="57"/>
            <p:cNvSpPr/>
            <p:nvPr/>
          </p:nvSpPr>
          <p:spPr>
            <a:xfrm flipH="false" flipV="false" rot="0">
              <a:off x="0" y="0"/>
              <a:ext cx="21945600" cy="1024128"/>
            </a:xfrm>
            <a:custGeom>
              <a:avLst/>
              <a:gdLst/>
              <a:ahLst/>
              <a:cxnLst/>
              <a:rect r="r" b="b" t="t" l="l"/>
              <a:pathLst>
                <a:path h="1024128" w="21945600">
                  <a:moveTo>
                    <a:pt x="0" y="0"/>
                  </a:moveTo>
                  <a:lnTo>
                    <a:pt x="21945600" y="0"/>
                  </a:lnTo>
                  <a:lnTo>
                    <a:pt x="21945600" y="1024128"/>
                  </a:lnTo>
                  <a:lnTo>
                    <a:pt x="0" y="1024128"/>
                  </a:lnTo>
                  <a:close/>
                </a:path>
              </a:pathLst>
            </a:custGeom>
            <a:blipFill>
              <a:blip r:embed="rId7">
                <a:alphaModFix amt="0"/>
              </a:blip>
              <a:stretch>
                <a:fillRect l="0" t="-367245" r="0" b="-367247"/>
              </a:stretch>
            </a:blipFill>
          </p:spPr>
        </p:sp>
      </p:grpSp>
      <p:grpSp>
        <p:nvGrpSpPr>
          <p:cNvPr name="Group 58" id="58"/>
          <p:cNvGrpSpPr/>
          <p:nvPr/>
        </p:nvGrpSpPr>
        <p:grpSpPr>
          <a:xfrm rot="0">
            <a:off x="2156436" y="7370128"/>
            <a:ext cx="13975176" cy="676437"/>
            <a:chOff x="0" y="0"/>
            <a:chExt cx="21945600" cy="1062228"/>
          </a:xfrm>
        </p:grpSpPr>
        <p:sp>
          <p:nvSpPr>
            <p:cNvPr name="Freeform 59" id="59"/>
            <p:cNvSpPr/>
            <p:nvPr/>
          </p:nvSpPr>
          <p:spPr>
            <a:xfrm flipH="false" flipV="false" rot="0">
              <a:off x="0" y="0"/>
              <a:ext cx="21945600" cy="1062228"/>
            </a:xfrm>
            <a:custGeom>
              <a:avLst/>
              <a:gdLst/>
              <a:ahLst/>
              <a:cxnLst/>
              <a:rect r="r" b="b" t="t" l="l"/>
              <a:pathLst>
                <a:path h="1062228" w="21945600">
                  <a:moveTo>
                    <a:pt x="0" y="0"/>
                  </a:moveTo>
                  <a:lnTo>
                    <a:pt x="21945600" y="0"/>
                  </a:lnTo>
                  <a:lnTo>
                    <a:pt x="21945600" y="1062228"/>
                  </a:lnTo>
                  <a:lnTo>
                    <a:pt x="0" y="1062228"/>
                  </a:lnTo>
                  <a:close/>
                </a:path>
              </a:pathLst>
            </a:custGeom>
            <a:blipFill>
              <a:blip r:embed="rId8">
                <a:alphaModFix amt="0"/>
              </a:blip>
              <a:stretch>
                <a:fillRect l="0" t="-352560" r="0" b="-352560"/>
              </a:stretch>
            </a:blipFill>
          </p:spPr>
        </p:sp>
        <p:sp>
          <p:nvSpPr>
            <p:cNvPr name="TextBox 60" id="60"/>
            <p:cNvSpPr txBox="true"/>
            <p:nvPr/>
          </p:nvSpPr>
          <p:spPr>
            <a:xfrm>
              <a:off x="0" y="-38100"/>
              <a:ext cx="21945600" cy="1100328"/>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Monitoreo 24/7 · Clasificación · Documentación · Escalamiento</a:t>
              </a:r>
            </a:p>
          </p:txBody>
        </p:sp>
      </p:grpSp>
      <p:sp>
        <p:nvSpPr>
          <p:cNvPr name="Freeform 61" id="61"/>
          <p:cNvSpPr/>
          <p:nvPr/>
        </p:nvSpPr>
        <p:spPr>
          <a:xfrm flipH="false" flipV="false" rot="0">
            <a:off x="2491728" y="8700263"/>
            <a:ext cx="13304486" cy="705452"/>
          </a:xfrm>
          <a:custGeom>
            <a:avLst/>
            <a:gdLst/>
            <a:ahLst/>
            <a:cxnLst/>
            <a:rect r="r" b="b" t="t" l="l"/>
            <a:pathLst>
              <a:path h="705452" w="13304486">
                <a:moveTo>
                  <a:pt x="0" y="0"/>
                </a:moveTo>
                <a:lnTo>
                  <a:pt x="13304486" y="0"/>
                </a:lnTo>
                <a:lnTo>
                  <a:pt x="13304486" y="705452"/>
                </a:lnTo>
                <a:lnTo>
                  <a:pt x="0" y="70545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2" id="62"/>
          <p:cNvGrpSpPr/>
          <p:nvPr/>
        </p:nvGrpSpPr>
        <p:grpSpPr>
          <a:xfrm rot="0">
            <a:off x="914400" y="8631936"/>
            <a:ext cx="16459200" cy="877824"/>
            <a:chOff x="0" y="0"/>
            <a:chExt cx="21945600" cy="1170432"/>
          </a:xfrm>
        </p:grpSpPr>
        <p:sp>
          <p:nvSpPr>
            <p:cNvPr name="Freeform 63" id="63"/>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7">
                <a:alphaModFix amt="0"/>
              </a:blip>
              <a:stretch>
                <a:fillRect l="0" t="-315090" r="0" b="-315091"/>
              </a:stretch>
            </a:blipFill>
          </p:spPr>
        </p:sp>
      </p:grpSp>
      <p:grpSp>
        <p:nvGrpSpPr>
          <p:cNvPr name="Group 64" id="64"/>
          <p:cNvGrpSpPr/>
          <p:nvPr/>
        </p:nvGrpSpPr>
        <p:grpSpPr>
          <a:xfrm rot="0">
            <a:off x="914400" y="8596217"/>
            <a:ext cx="16459200" cy="913543"/>
            <a:chOff x="0" y="0"/>
            <a:chExt cx="21945600" cy="1218057"/>
          </a:xfrm>
        </p:grpSpPr>
        <p:sp>
          <p:nvSpPr>
            <p:cNvPr name="Freeform 65" id="65"/>
            <p:cNvSpPr/>
            <p:nvPr/>
          </p:nvSpPr>
          <p:spPr>
            <a:xfrm flipH="false" flipV="false" rot="0">
              <a:off x="0" y="0"/>
              <a:ext cx="21945600" cy="1218057"/>
            </a:xfrm>
            <a:custGeom>
              <a:avLst/>
              <a:gdLst/>
              <a:ahLst/>
              <a:cxnLst/>
              <a:rect r="r" b="b" t="t" l="l"/>
              <a:pathLst>
                <a:path h="1218057" w="21945600">
                  <a:moveTo>
                    <a:pt x="0" y="0"/>
                  </a:moveTo>
                  <a:lnTo>
                    <a:pt x="21945600" y="0"/>
                  </a:lnTo>
                  <a:lnTo>
                    <a:pt x="21945600" y="1218057"/>
                  </a:lnTo>
                  <a:lnTo>
                    <a:pt x="0" y="1218057"/>
                  </a:lnTo>
                  <a:close/>
                </a:path>
              </a:pathLst>
            </a:custGeom>
            <a:blipFill>
              <a:blip r:embed="rId8">
                <a:alphaModFix amt="0"/>
              </a:blip>
              <a:stretch>
                <a:fillRect l="0" t="-301059" r="0" b="-301059"/>
              </a:stretch>
            </a:blipFill>
          </p:spPr>
        </p:sp>
        <p:sp>
          <p:nvSpPr>
            <p:cNvPr name="TextBox 66" id="66"/>
            <p:cNvSpPr txBox="true"/>
            <p:nvPr/>
          </p:nvSpPr>
          <p:spPr>
            <a:xfrm>
              <a:off x="0" y="-47625"/>
              <a:ext cx="21945600" cy="1265682"/>
            </a:xfrm>
            <a:prstGeom prst="rect">
              <a:avLst/>
            </a:prstGeom>
          </p:spPr>
          <p:txBody>
            <a:bodyPr anchor="ctr" rtlCol="false" tIns="0" lIns="0" bIns="0" rIns="0"/>
            <a:lstStyle/>
            <a:p>
              <a:pPr algn="ctr">
                <a:lnSpc>
                  <a:spcPts val="2520"/>
                </a:lnSpc>
              </a:pPr>
              <a:r>
                <a:rPr lang="en-US" sz="2100">
                  <a:solidFill>
                    <a:srgbClr val="1A73C0"/>
                  </a:solidFill>
                  <a:latin typeface="Calibri (MS)"/>
                  <a:ea typeface="Calibri (MS)"/>
                  <a:cs typeface="Calibri (MS)"/>
                  <a:sym typeface="Calibri (MS)"/>
                </a:rPr>
                <a:t>Flujo escalonado:  </a:t>
              </a:r>
              <a:r>
                <a:rPr lang="en-US" sz="2100">
                  <a:solidFill>
                    <a:srgbClr val="222222"/>
                  </a:solidFill>
                  <a:latin typeface="Calibri (MS)"/>
                  <a:ea typeface="Calibri (MS)"/>
                  <a:cs typeface="Calibri (MS)"/>
                  <a:sym typeface="Calibri (MS)"/>
                </a:rPr>
                <a:t>Automatización filtra y enriquece  →  Analista valida y decide  →  Especialistas profundizan y mejoran</a:t>
              </a:r>
            </a:p>
          </p:txBody>
        </p:sp>
      </p:grpSp>
      <p:grpSp>
        <p:nvGrpSpPr>
          <p:cNvPr name="Group 67" id="67"/>
          <p:cNvGrpSpPr/>
          <p:nvPr/>
        </p:nvGrpSpPr>
        <p:grpSpPr>
          <a:xfrm rot="0">
            <a:off x="15983863" y="24203"/>
            <a:ext cx="1855079" cy="1855079"/>
            <a:chOff x="0" y="0"/>
            <a:chExt cx="5852160" cy="5852160"/>
          </a:xfrm>
        </p:grpSpPr>
        <p:sp>
          <p:nvSpPr>
            <p:cNvPr name="Freeform 68" id="6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p.13</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1.2  |  Funciones de cada nivel: TIER 1</a:t>
              </a:r>
            </a:p>
          </p:txBody>
        </p:sp>
      </p:grpSp>
      <p:sp>
        <p:nvSpPr>
          <p:cNvPr name="Freeform 20" id="20"/>
          <p:cNvSpPr/>
          <p:nvPr/>
        </p:nvSpPr>
        <p:spPr>
          <a:xfrm flipH="false" flipV="false" rot="0">
            <a:off x="762448" y="2148754"/>
            <a:ext cx="2326479" cy="979732"/>
          </a:xfrm>
          <a:custGeom>
            <a:avLst/>
            <a:gdLst/>
            <a:ahLst/>
            <a:cxnLst/>
            <a:rect r="r" b="b" t="t" l="l"/>
            <a:pathLst>
              <a:path h="979732" w="2326479">
                <a:moveTo>
                  <a:pt x="0" y="0"/>
                </a:moveTo>
                <a:lnTo>
                  <a:pt x="2326479" y="0"/>
                </a:lnTo>
                <a:lnTo>
                  <a:pt x="2326479" y="979732"/>
                </a:lnTo>
                <a:lnTo>
                  <a:pt x="0" y="97973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771353" y="2157659"/>
            <a:ext cx="2308710" cy="961962"/>
            <a:chOff x="0" y="0"/>
            <a:chExt cx="4389120" cy="1828800"/>
          </a:xfrm>
        </p:grpSpPr>
        <p:sp>
          <p:nvSpPr>
            <p:cNvPr name="Freeform 22" id="22"/>
            <p:cNvSpPr/>
            <p:nvPr/>
          </p:nvSpPr>
          <p:spPr>
            <a:xfrm flipH="false" flipV="false" rot="0">
              <a:off x="0" y="0"/>
              <a:ext cx="4389120" cy="1828800"/>
            </a:xfrm>
            <a:custGeom>
              <a:avLst/>
              <a:gdLst/>
              <a:ahLst/>
              <a:cxnLst/>
              <a:rect r="r" b="b" t="t" l="l"/>
              <a:pathLst>
                <a:path h="1828800" w="4389120">
                  <a:moveTo>
                    <a:pt x="0" y="0"/>
                  </a:moveTo>
                  <a:lnTo>
                    <a:pt x="4389120" y="0"/>
                  </a:lnTo>
                  <a:lnTo>
                    <a:pt x="4389120" y="1828800"/>
                  </a:lnTo>
                  <a:lnTo>
                    <a:pt x="0" y="1828800"/>
                  </a:lnTo>
                  <a:close/>
                </a:path>
              </a:pathLst>
            </a:custGeom>
            <a:blipFill>
              <a:blip r:embed="rId7">
                <a:alphaModFix amt="0"/>
              </a:blip>
              <a:stretch>
                <a:fillRect l="-3497" t="0" r="-3496" b="0"/>
              </a:stretch>
            </a:blipFill>
          </p:spPr>
        </p:sp>
      </p:grpSp>
      <p:grpSp>
        <p:nvGrpSpPr>
          <p:cNvPr name="Group 23" id="23"/>
          <p:cNvGrpSpPr/>
          <p:nvPr/>
        </p:nvGrpSpPr>
        <p:grpSpPr>
          <a:xfrm rot="0">
            <a:off x="771353" y="2137618"/>
            <a:ext cx="2308710" cy="982003"/>
            <a:chOff x="0" y="0"/>
            <a:chExt cx="4389120" cy="1866900"/>
          </a:xfrm>
        </p:grpSpPr>
        <p:sp>
          <p:nvSpPr>
            <p:cNvPr name="Freeform 24" id="24"/>
            <p:cNvSpPr/>
            <p:nvPr/>
          </p:nvSpPr>
          <p:spPr>
            <a:xfrm flipH="false" flipV="false" rot="0">
              <a:off x="0" y="0"/>
              <a:ext cx="4389120" cy="1866900"/>
            </a:xfrm>
            <a:custGeom>
              <a:avLst/>
              <a:gdLst/>
              <a:ahLst/>
              <a:cxnLst/>
              <a:rect r="r" b="b" t="t" l="l"/>
              <a:pathLst>
                <a:path h="1866900" w="4389120">
                  <a:moveTo>
                    <a:pt x="0" y="0"/>
                  </a:moveTo>
                  <a:lnTo>
                    <a:pt x="4389120" y="0"/>
                  </a:lnTo>
                  <a:lnTo>
                    <a:pt x="4389120" y="1866900"/>
                  </a:lnTo>
                  <a:lnTo>
                    <a:pt x="0" y="1866900"/>
                  </a:lnTo>
                  <a:close/>
                </a:path>
              </a:pathLst>
            </a:custGeom>
            <a:blipFill>
              <a:blip r:embed="rId8">
                <a:alphaModFix amt="0"/>
              </a:blip>
              <a:stretch>
                <a:fillRect l="-4573" t="0" r="-4573" b="0"/>
              </a:stretch>
            </a:blipFill>
          </p:spPr>
        </p:sp>
        <p:sp>
          <p:nvSpPr>
            <p:cNvPr name="TextBox 25" id="25"/>
            <p:cNvSpPr txBox="true"/>
            <p:nvPr/>
          </p:nvSpPr>
          <p:spPr>
            <a:xfrm>
              <a:off x="0" y="-38100"/>
              <a:ext cx="4389120" cy="19050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TIER 1</a:t>
              </a:r>
            </a:p>
            <a:p>
              <a:pPr algn="ctr">
                <a:lnSpc>
                  <a:spcPts val="2279"/>
                </a:lnSpc>
              </a:pPr>
              <a:r>
                <a:rPr lang="en-US" sz="1899" b="true">
                  <a:solidFill>
                    <a:srgbClr val="FFFFFF"/>
                  </a:solidFill>
                  <a:latin typeface="Calibri (MS) Bold"/>
                  <a:ea typeface="Calibri (MS) Bold"/>
                  <a:cs typeface="Calibri (MS) Bold"/>
                  <a:sym typeface="Calibri (MS) Bold"/>
                </a:rPr>
                <a:t>SOC ANALYST</a:t>
              </a:r>
            </a:p>
          </p:txBody>
        </p:sp>
      </p:grpSp>
      <p:sp>
        <p:nvSpPr>
          <p:cNvPr name="Freeform 26" id="26"/>
          <p:cNvSpPr/>
          <p:nvPr/>
        </p:nvSpPr>
        <p:spPr>
          <a:xfrm flipH="false" flipV="false" rot="0">
            <a:off x="3199419" y="2148754"/>
            <a:ext cx="9509132" cy="979732"/>
          </a:xfrm>
          <a:custGeom>
            <a:avLst/>
            <a:gdLst/>
            <a:ahLst/>
            <a:cxnLst/>
            <a:rect r="r" b="b" t="t" l="l"/>
            <a:pathLst>
              <a:path h="979732" w="9509132">
                <a:moveTo>
                  <a:pt x="0" y="0"/>
                </a:moveTo>
                <a:lnTo>
                  <a:pt x="9509132" y="0"/>
                </a:lnTo>
                <a:lnTo>
                  <a:pt x="9509132" y="979732"/>
                </a:lnTo>
                <a:lnTo>
                  <a:pt x="0" y="9797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3426369" y="2157659"/>
            <a:ext cx="9170708" cy="961962"/>
            <a:chOff x="0" y="0"/>
            <a:chExt cx="17434560" cy="1828800"/>
          </a:xfrm>
        </p:grpSpPr>
        <p:sp>
          <p:nvSpPr>
            <p:cNvPr name="Freeform 28" id="28"/>
            <p:cNvSpPr/>
            <p:nvPr/>
          </p:nvSpPr>
          <p:spPr>
            <a:xfrm flipH="false" flipV="false" rot="0">
              <a:off x="0" y="0"/>
              <a:ext cx="17434561" cy="1828800"/>
            </a:xfrm>
            <a:custGeom>
              <a:avLst/>
              <a:gdLst/>
              <a:ahLst/>
              <a:cxnLst/>
              <a:rect r="r" b="b" t="t" l="l"/>
              <a:pathLst>
                <a:path h="1828800" w="17434561">
                  <a:moveTo>
                    <a:pt x="0" y="0"/>
                  </a:moveTo>
                  <a:lnTo>
                    <a:pt x="17434561" y="0"/>
                  </a:lnTo>
                  <a:lnTo>
                    <a:pt x="17434561" y="1828800"/>
                  </a:lnTo>
                  <a:lnTo>
                    <a:pt x="0" y="1828800"/>
                  </a:lnTo>
                  <a:close/>
                </a:path>
              </a:pathLst>
            </a:custGeom>
            <a:blipFill>
              <a:blip r:embed="rId7">
                <a:alphaModFix amt="0"/>
              </a:blip>
              <a:stretch>
                <a:fillRect l="0" t="-135628" r="0" b="-135627"/>
              </a:stretch>
            </a:blipFill>
          </p:spPr>
        </p:sp>
      </p:grpSp>
      <p:grpSp>
        <p:nvGrpSpPr>
          <p:cNvPr name="Group 29" id="29"/>
          <p:cNvGrpSpPr/>
          <p:nvPr/>
        </p:nvGrpSpPr>
        <p:grpSpPr>
          <a:xfrm rot="0">
            <a:off x="3426369" y="2127598"/>
            <a:ext cx="9170708" cy="992024"/>
            <a:chOff x="0" y="0"/>
            <a:chExt cx="17434560" cy="1885950"/>
          </a:xfrm>
        </p:grpSpPr>
        <p:sp>
          <p:nvSpPr>
            <p:cNvPr name="Freeform 30" id="30"/>
            <p:cNvSpPr/>
            <p:nvPr/>
          </p:nvSpPr>
          <p:spPr>
            <a:xfrm flipH="false" flipV="false" rot="0">
              <a:off x="0" y="0"/>
              <a:ext cx="17434561" cy="1885950"/>
            </a:xfrm>
            <a:custGeom>
              <a:avLst/>
              <a:gdLst/>
              <a:ahLst/>
              <a:cxnLst/>
              <a:rect r="r" b="b" t="t" l="l"/>
              <a:pathLst>
                <a:path h="1885950" w="17434561">
                  <a:moveTo>
                    <a:pt x="0" y="0"/>
                  </a:moveTo>
                  <a:lnTo>
                    <a:pt x="17434561" y="0"/>
                  </a:lnTo>
                  <a:lnTo>
                    <a:pt x="17434561" y="1885950"/>
                  </a:lnTo>
                  <a:lnTo>
                    <a:pt x="0" y="1885950"/>
                  </a:lnTo>
                  <a:close/>
                </a:path>
              </a:pathLst>
            </a:custGeom>
            <a:blipFill>
              <a:blip r:embed="rId8">
                <a:alphaModFix amt="0"/>
              </a:blip>
              <a:stretch>
                <a:fillRect l="0" t="-130128" r="0" b="-130128"/>
              </a:stretch>
            </a:blipFill>
          </p:spPr>
        </p:sp>
        <p:sp>
          <p:nvSpPr>
            <p:cNvPr name="TextBox 31" id="31"/>
            <p:cNvSpPr txBox="true"/>
            <p:nvPr/>
          </p:nvSpPr>
          <p:spPr>
            <a:xfrm>
              <a:off x="0" y="-57150"/>
              <a:ext cx="17434560" cy="1943100"/>
            </a:xfrm>
            <a:prstGeom prst="rect">
              <a:avLst/>
            </a:prstGeom>
          </p:spPr>
          <p:txBody>
            <a:bodyPr anchor="ctr" rtlCol="false" tIns="0" lIns="0" bIns="0" rIns="0"/>
            <a:lstStyle/>
            <a:p>
              <a:pPr algn="l">
                <a:lnSpc>
                  <a:spcPts val="3120"/>
                </a:lnSpc>
              </a:pPr>
              <a:r>
                <a:rPr lang="en-US" sz="2600" b="true">
                  <a:solidFill>
                    <a:srgbClr val="111111"/>
                  </a:solidFill>
                  <a:latin typeface="Calibri (MS) Bold"/>
                  <a:ea typeface="Calibri (MS) Bold"/>
                  <a:cs typeface="Calibri (MS) Bold"/>
                  <a:sym typeface="Calibri (MS) Bold"/>
                </a:rPr>
                <a:t>Es la primera línea de defensa.</a:t>
              </a:r>
            </a:p>
          </p:txBody>
        </p:sp>
      </p:grpSp>
      <p:grpSp>
        <p:nvGrpSpPr>
          <p:cNvPr name="Group 32" id="32"/>
          <p:cNvGrpSpPr/>
          <p:nvPr/>
        </p:nvGrpSpPr>
        <p:grpSpPr>
          <a:xfrm rot="0">
            <a:off x="640080" y="3383280"/>
            <a:ext cx="17007840" cy="585216"/>
            <a:chOff x="0" y="0"/>
            <a:chExt cx="22677120" cy="780288"/>
          </a:xfrm>
        </p:grpSpPr>
        <p:sp>
          <p:nvSpPr>
            <p:cNvPr name="Freeform 33" id="33"/>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34" id="34"/>
          <p:cNvGrpSpPr/>
          <p:nvPr/>
        </p:nvGrpSpPr>
        <p:grpSpPr>
          <a:xfrm rot="0">
            <a:off x="762448" y="3738086"/>
            <a:ext cx="17007840" cy="620935"/>
            <a:chOff x="0" y="0"/>
            <a:chExt cx="22677120" cy="827913"/>
          </a:xfrm>
        </p:grpSpPr>
        <p:sp>
          <p:nvSpPr>
            <p:cNvPr name="Freeform 35" id="35"/>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36" id="36"/>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Principales responsabilidades:</a:t>
              </a:r>
            </a:p>
          </p:txBody>
        </p:sp>
      </p:grpSp>
      <p:sp>
        <p:nvSpPr>
          <p:cNvPr name="TextBox 37" id="37"/>
          <p:cNvSpPr txBox="true"/>
          <p:nvPr/>
        </p:nvSpPr>
        <p:spPr>
          <a:xfrm rot="0">
            <a:off x="1097280" y="4559046"/>
            <a:ext cx="16459200" cy="4027170"/>
          </a:xfrm>
          <a:prstGeom prst="rect">
            <a:avLst/>
          </a:prstGeom>
        </p:spPr>
        <p:txBody>
          <a:bodyPr anchor="t" rtlCol="false" tIns="0" lIns="0" bIns="0" rIns="0">
            <a:spAutoFit/>
          </a:bodyPr>
          <a:lstStyle/>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Monitorear eventos y alertas en tiempo real usando herramientas como SIEM.</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Realizar el triage inicial: clasificar y priorizar alertas.</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Detectar falsos positivos y descartar ruido operativo.</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Documentar y escalar los incidentes que requieran análisis más profundo.</a:t>
            </a:r>
          </a:p>
        </p:txBody>
      </p:sp>
      <p:sp>
        <p:nvSpPr>
          <p:cNvPr name="Freeform 38" id="38"/>
          <p:cNvSpPr/>
          <p:nvPr/>
        </p:nvSpPr>
        <p:spPr>
          <a:xfrm flipH="false" flipV="false" rot="0">
            <a:off x="1040213" y="7534224"/>
            <a:ext cx="15445423" cy="852139"/>
          </a:xfrm>
          <a:custGeom>
            <a:avLst/>
            <a:gdLst/>
            <a:ahLst/>
            <a:cxnLst/>
            <a:rect r="r" b="b" t="t" l="l"/>
            <a:pathLst>
              <a:path h="852139" w="15445423">
                <a:moveTo>
                  <a:pt x="0" y="0"/>
                </a:moveTo>
                <a:lnTo>
                  <a:pt x="15445423" y="0"/>
                </a:lnTo>
                <a:lnTo>
                  <a:pt x="15445423" y="852139"/>
                </a:lnTo>
                <a:lnTo>
                  <a:pt x="0" y="8521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false" flipV="false" rot="0">
            <a:off x="1028700" y="7534224"/>
            <a:ext cx="122474" cy="852139"/>
          </a:xfrm>
          <a:custGeom>
            <a:avLst/>
            <a:gdLst/>
            <a:ahLst/>
            <a:cxnLst/>
            <a:rect r="r" b="b" t="t" l="l"/>
            <a:pathLst>
              <a:path h="852139" w="122474">
                <a:moveTo>
                  <a:pt x="0" y="0"/>
                </a:moveTo>
                <a:lnTo>
                  <a:pt x="122474" y="0"/>
                </a:lnTo>
                <a:lnTo>
                  <a:pt x="122474" y="852139"/>
                </a:lnTo>
                <a:lnTo>
                  <a:pt x="0" y="85213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0" id="40"/>
          <p:cNvGrpSpPr/>
          <p:nvPr/>
        </p:nvGrpSpPr>
        <p:grpSpPr>
          <a:xfrm rot="0">
            <a:off x="1396348" y="7546558"/>
            <a:ext cx="15633812" cy="888285"/>
            <a:chOff x="0" y="0"/>
            <a:chExt cx="21457920" cy="1219200"/>
          </a:xfrm>
        </p:grpSpPr>
        <p:sp>
          <p:nvSpPr>
            <p:cNvPr name="Freeform 41" id="4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7">
                <a:alphaModFix amt="0"/>
              </a:blip>
              <a:stretch>
                <a:fillRect l="0" t="-292697" r="0" b="-292698"/>
              </a:stretch>
            </a:blipFill>
          </p:spPr>
        </p:sp>
      </p:grpSp>
      <p:grpSp>
        <p:nvGrpSpPr>
          <p:cNvPr name="Group 42" id="42"/>
          <p:cNvGrpSpPr/>
          <p:nvPr/>
        </p:nvGrpSpPr>
        <p:grpSpPr>
          <a:xfrm rot="0">
            <a:off x="1449462" y="7546558"/>
            <a:ext cx="15633812" cy="916044"/>
            <a:chOff x="0" y="0"/>
            <a:chExt cx="21457920" cy="1257300"/>
          </a:xfrm>
        </p:grpSpPr>
        <p:sp>
          <p:nvSpPr>
            <p:cNvPr name="Freeform 43" id="43"/>
            <p:cNvSpPr/>
            <p:nvPr/>
          </p:nvSpPr>
          <p:spPr>
            <a:xfrm flipH="false" flipV="false" rot="0">
              <a:off x="0" y="0"/>
              <a:ext cx="21457920" cy="1257300"/>
            </a:xfrm>
            <a:custGeom>
              <a:avLst/>
              <a:gdLst/>
              <a:ahLst/>
              <a:cxnLst/>
              <a:rect r="r" b="b" t="t" l="l"/>
              <a:pathLst>
                <a:path h="1257300" w="21457920">
                  <a:moveTo>
                    <a:pt x="0" y="0"/>
                  </a:moveTo>
                  <a:lnTo>
                    <a:pt x="21457920" y="0"/>
                  </a:lnTo>
                  <a:lnTo>
                    <a:pt x="21457920" y="1257300"/>
                  </a:lnTo>
                  <a:lnTo>
                    <a:pt x="0" y="1257300"/>
                  </a:lnTo>
                  <a:close/>
                </a:path>
              </a:pathLst>
            </a:custGeom>
            <a:blipFill>
              <a:blip r:embed="rId8">
                <a:alphaModFix amt="0"/>
              </a:blip>
              <a:stretch>
                <a:fillRect l="0" t="-282544" r="0" b="-282544"/>
              </a:stretch>
            </a:blipFill>
          </p:spPr>
        </p:sp>
        <p:sp>
          <p:nvSpPr>
            <p:cNvPr name="TextBox 44" id="44"/>
            <p:cNvSpPr txBox="true"/>
            <p:nvPr/>
          </p:nvSpPr>
          <p:spPr>
            <a:xfrm>
              <a:off x="0" y="-38100"/>
              <a:ext cx="21457920" cy="1295400"/>
            </a:xfrm>
            <a:prstGeom prst="rect">
              <a:avLst/>
            </a:prstGeom>
          </p:spPr>
          <p:txBody>
            <a:bodyPr anchor="ctr" rtlCol="false" tIns="0" lIns="0" bIns="0" rIns="0"/>
            <a:lstStyle/>
            <a:p>
              <a:pPr algn="l">
                <a:lnSpc>
                  <a:spcPts val="2160"/>
                </a:lnSpc>
              </a:pPr>
              <a:r>
                <a:rPr lang="en-US" sz="1800" i="true">
                  <a:solidFill>
                    <a:srgbClr val="555555"/>
                  </a:solidFill>
                  <a:latin typeface="Calibri (MS) Italics"/>
                  <a:ea typeface="Calibri (MS) Italics"/>
                  <a:cs typeface="Calibri (MS) Italics"/>
                  <a:sym typeface="Calibri (MS) Italics"/>
                </a:rPr>
                <a:t>En el SOC moderno, este nivel se apoya cada vez más en automatización y SOAR, lo que libera al analista para aplicar criterio en vez de ejecutar pasos mecánicos.</a:t>
              </a:r>
            </a:p>
          </p:txBody>
        </p:sp>
      </p:grpSp>
      <p:sp>
        <p:nvSpPr>
          <p:cNvPr name="Freeform 45" id="45"/>
          <p:cNvSpPr/>
          <p:nvPr/>
        </p:nvSpPr>
        <p:spPr>
          <a:xfrm flipH="false" flipV="false" rot="0">
            <a:off x="13041926" y="2271408"/>
            <a:ext cx="4871656" cy="720280"/>
          </a:xfrm>
          <a:custGeom>
            <a:avLst/>
            <a:gdLst/>
            <a:ahLst/>
            <a:cxnLst/>
            <a:rect r="r" b="b" t="t" l="l"/>
            <a:pathLst>
              <a:path h="720280" w="4871656">
                <a:moveTo>
                  <a:pt x="0" y="0"/>
                </a:moveTo>
                <a:lnTo>
                  <a:pt x="4871657" y="0"/>
                </a:lnTo>
                <a:lnTo>
                  <a:pt x="4871657" y="720281"/>
                </a:lnTo>
                <a:lnTo>
                  <a:pt x="0" y="72028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46" id="46"/>
          <p:cNvGrpSpPr/>
          <p:nvPr/>
        </p:nvGrpSpPr>
        <p:grpSpPr>
          <a:xfrm rot="0">
            <a:off x="13054623" y="2284105"/>
            <a:ext cx="4846320" cy="694944"/>
            <a:chOff x="0" y="0"/>
            <a:chExt cx="6461760" cy="926592"/>
          </a:xfrm>
        </p:grpSpPr>
        <p:sp>
          <p:nvSpPr>
            <p:cNvPr name="Freeform 47" id="47"/>
            <p:cNvSpPr/>
            <p:nvPr/>
          </p:nvSpPr>
          <p:spPr>
            <a:xfrm flipH="false" flipV="false" rot="0">
              <a:off x="0" y="0"/>
              <a:ext cx="6461760" cy="926592"/>
            </a:xfrm>
            <a:custGeom>
              <a:avLst/>
              <a:gdLst/>
              <a:ahLst/>
              <a:cxnLst/>
              <a:rect r="r" b="b" t="t" l="l"/>
              <a:pathLst>
                <a:path h="926592" w="6461760">
                  <a:moveTo>
                    <a:pt x="0" y="0"/>
                  </a:moveTo>
                  <a:lnTo>
                    <a:pt x="6461760" y="0"/>
                  </a:lnTo>
                  <a:lnTo>
                    <a:pt x="6461760" y="926592"/>
                  </a:lnTo>
                  <a:lnTo>
                    <a:pt x="0" y="926592"/>
                  </a:lnTo>
                  <a:close/>
                </a:path>
              </a:pathLst>
            </a:custGeom>
            <a:blipFill>
              <a:blip r:embed="rId7">
                <a:alphaModFix amt="0"/>
              </a:blip>
              <a:stretch>
                <a:fillRect l="0" t="-85788" r="0" b="-85788"/>
              </a:stretch>
            </a:blipFill>
          </p:spPr>
        </p:sp>
      </p:grpSp>
      <p:grpSp>
        <p:nvGrpSpPr>
          <p:cNvPr name="Group 48" id="48"/>
          <p:cNvGrpSpPr/>
          <p:nvPr/>
        </p:nvGrpSpPr>
        <p:grpSpPr>
          <a:xfrm rot="0">
            <a:off x="13054623" y="2255530"/>
            <a:ext cx="4846320" cy="723519"/>
            <a:chOff x="0" y="0"/>
            <a:chExt cx="6461760" cy="964692"/>
          </a:xfrm>
        </p:grpSpPr>
        <p:sp>
          <p:nvSpPr>
            <p:cNvPr name="Freeform 49" id="49"/>
            <p:cNvSpPr/>
            <p:nvPr/>
          </p:nvSpPr>
          <p:spPr>
            <a:xfrm flipH="false" flipV="false" rot="0">
              <a:off x="0" y="0"/>
              <a:ext cx="6461760" cy="964692"/>
            </a:xfrm>
            <a:custGeom>
              <a:avLst/>
              <a:gdLst/>
              <a:ahLst/>
              <a:cxnLst/>
              <a:rect r="r" b="b" t="t" l="l"/>
              <a:pathLst>
                <a:path h="964692" w="6461760">
                  <a:moveTo>
                    <a:pt x="0" y="0"/>
                  </a:moveTo>
                  <a:lnTo>
                    <a:pt x="6461760" y="0"/>
                  </a:lnTo>
                  <a:lnTo>
                    <a:pt x="6461760" y="964692"/>
                  </a:lnTo>
                  <a:lnTo>
                    <a:pt x="0" y="964692"/>
                  </a:lnTo>
                  <a:close/>
                </a:path>
              </a:pathLst>
            </a:custGeom>
            <a:blipFill>
              <a:blip r:embed="rId8">
                <a:alphaModFix amt="0"/>
              </a:blip>
              <a:stretch>
                <a:fillRect l="0" t="-80515" r="0" b="-80515"/>
              </a:stretch>
            </a:blipFill>
          </p:spPr>
        </p:sp>
        <p:sp>
          <p:nvSpPr>
            <p:cNvPr name="TextBox 50" id="50"/>
            <p:cNvSpPr txBox="true"/>
            <p:nvPr/>
          </p:nvSpPr>
          <p:spPr>
            <a:xfrm>
              <a:off x="0" y="-38100"/>
              <a:ext cx="6461760" cy="100279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El punto de partida operativo</a:t>
              </a:r>
            </a:p>
          </p:txBody>
        </p:sp>
      </p:grpSp>
      <p:grpSp>
        <p:nvGrpSpPr>
          <p:cNvPr name="Group 51" id="51"/>
          <p:cNvGrpSpPr/>
          <p:nvPr/>
        </p:nvGrpSpPr>
        <p:grpSpPr>
          <a:xfrm rot="0">
            <a:off x="15983863" y="24203"/>
            <a:ext cx="1855079" cy="1855079"/>
            <a:chOff x="0" y="0"/>
            <a:chExt cx="5852160" cy="5852160"/>
          </a:xfrm>
        </p:grpSpPr>
        <p:sp>
          <p:nvSpPr>
            <p:cNvPr name="Freeform 52" id="52"/>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1.2  |  Funciones de cada nivel: TIER 2</a:t>
              </a:r>
            </a:p>
          </p:txBody>
        </p:sp>
      </p:grpSp>
      <p:sp>
        <p:nvSpPr>
          <p:cNvPr name="Freeform 20" id="20"/>
          <p:cNvSpPr/>
          <p:nvPr/>
        </p:nvSpPr>
        <p:spPr>
          <a:xfrm flipH="false" flipV="false" rot="0">
            <a:off x="762448" y="2222384"/>
            <a:ext cx="2324292" cy="978811"/>
          </a:xfrm>
          <a:custGeom>
            <a:avLst/>
            <a:gdLst/>
            <a:ahLst/>
            <a:cxnLst/>
            <a:rect r="r" b="b" t="t" l="l"/>
            <a:pathLst>
              <a:path h="978811" w="2324292">
                <a:moveTo>
                  <a:pt x="0" y="0"/>
                </a:moveTo>
                <a:lnTo>
                  <a:pt x="2324291" y="0"/>
                </a:lnTo>
                <a:lnTo>
                  <a:pt x="2324291" y="978810"/>
                </a:lnTo>
                <a:lnTo>
                  <a:pt x="0" y="9788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771344" y="2231280"/>
            <a:ext cx="2306539" cy="961058"/>
            <a:chOff x="0" y="0"/>
            <a:chExt cx="4389120" cy="1828800"/>
          </a:xfrm>
        </p:grpSpPr>
        <p:sp>
          <p:nvSpPr>
            <p:cNvPr name="Freeform 22" id="22"/>
            <p:cNvSpPr/>
            <p:nvPr/>
          </p:nvSpPr>
          <p:spPr>
            <a:xfrm flipH="false" flipV="false" rot="0">
              <a:off x="0" y="0"/>
              <a:ext cx="4389120" cy="1828800"/>
            </a:xfrm>
            <a:custGeom>
              <a:avLst/>
              <a:gdLst/>
              <a:ahLst/>
              <a:cxnLst/>
              <a:rect r="r" b="b" t="t" l="l"/>
              <a:pathLst>
                <a:path h="1828800" w="4389120">
                  <a:moveTo>
                    <a:pt x="0" y="0"/>
                  </a:moveTo>
                  <a:lnTo>
                    <a:pt x="4389120" y="0"/>
                  </a:lnTo>
                  <a:lnTo>
                    <a:pt x="4389120" y="1828800"/>
                  </a:lnTo>
                  <a:lnTo>
                    <a:pt x="0" y="1828800"/>
                  </a:lnTo>
                  <a:close/>
                </a:path>
              </a:pathLst>
            </a:custGeom>
            <a:blipFill>
              <a:blip r:embed="rId7">
                <a:alphaModFix amt="0"/>
              </a:blip>
              <a:stretch>
                <a:fillRect l="-3497" t="0" r="-3496" b="0"/>
              </a:stretch>
            </a:blipFill>
          </p:spPr>
        </p:sp>
      </p:grpSp>
      <p:grpSp>
        <p:nvGrpSpPr>
          <p:cNvPr name="Group 23" id="23"/>
          <p:cNvGrpSpPr/>
          <p:nvPr/>
        </p:nvGrpSpPr>
        <p:grpSpPr>
          <a:xfrm rot="0">
            <a:off x="771344" y="2211258"/>
            <a:ext cx="2306539" cy="981080"/>
            <a:chOff x="0" y="0"/>
            <a:chExt cx="4389120" cy="1866900"/>
          </a:xfrm>
        </p:grpSpPr>
        <p:sp>
          <p:nvSpPr>
            <p:cNvPr name="Freeform 24" id="24"/>
            <p:cNvSpPr/>
            <p:nvPr/>
          </p:nvSpPr>
          <p:spPr>
            <a:xfrm flipH="false" flipV="false" rot="0">
              <a:off x="0" y="0"/>
              <a:ext cx="4389120" cy="1866900"/>
            </a:xfrm>
            <a:custGeom>
              <a:avLst/>
              <a:gdLst/>
              <a:ahLst/>
              <a:cxnLst/>
              <a:rect r="r" b="b" t="t" l="l"/>
              <a:pathLst>
                <a:path h="1866900" w="4389120">
                  <a:moveTo>
                    <a:pt x="0" y="0"/>
                  </a:moveTo>
                  <a:lnTo>
                    <a:pt x="4389120" y="0"/>
                  </a:lnTo>
                  <a:lnTo>
                    <a:pt x="4389120" y="1866900"/>
                  </a:lnTo>
                  <a:lnTo>
                    <a:pt x="0" y="1866900"/>
                  </a:lnTo>
                  <a:close/>
                </a:path>
              </a:pathLst>
            </a:custGeom>
            <a:blipFill>
              <a:blip r:embed="rId8">
                <a:alphaModFix amt="0"/>
              </a:blip>
              <a:stretch>
                <a:fillRect l="-4573" t="0" r="-4573" b="0"/>
              </a:stretch>
            </a:blipFill>
          </p:spPr>
        </p:sp>
        <p:sp>
          <p:nvSpPr>
            <p:cNvPr name="TextBox 25" id="25"/>
            <p:cNvSpPr txBox="true"/>
            <p:nvPr/>
          </p:nvSpPr>
          <p:spPr>
            <a:xfrm>
              <a:off x="0" y="-38100"/>
              <a:ext cx="4389120" cy="19050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TIER 2</a:t>
              </a:r>
            </a:p>
            <a:p>
              <a:pPr algn="ctr">
                <a:lnSpc>
                  <a:spcPts val="2279"/>
                </a:lnSpc>
              </a:pPr>
              <a:r>
                <a:rPr lang="en-US" sz="1899" b="true">
                  <a:solidFill>
                    <a:srgbClr val="FFFFFF"/>
                  </a:solidFill>
                  <a:latin typeface="Calibri (MS) Bold"/>
                  <a:ea typeface="Calibri (MS) Bold"/>
                  <a:cs typeface="Calibri (MS) Bold"/>
                  <a:sym typeface="Calibri (MS) Bold"/>
                </a:rPr>
                <a:t>INCIDENT RESPONDER</a:t>
              </a:r>
            </a:p>
          </p:txBody>
        </p:sp>
      </p:grpSp>
      <p:sp>
        <p:nvSpPr>
          <p:cNvPr name="Freeform 26" id="26"/>
          <p:cNvSpPr/>
          <p:nvPr/>
        </p:nvSpPr>
        <p:spPr>
          <a:xfrm flipH="false" flipV="false" rot="0">
            <a:off x="3197128" y="2222384"/>
            <a:ext cx="9500191" cy="978811"/>
          </a:xfrm>
          <a:custGeom>
            <a:avLst/>
            <a:gdLst/>
            <a:ahLst/>
            <a:cxnLst/>
            <a:rect r="r" b="b" t="t" l="l"/>
            <a:pathLst>
              <a:path h="978811" w="9500191">
                <a:moveTo>
                  <a:pt x="0" y="0"/>
                </a:moveTo>
                <a:lnTo>
                  <a:pt x="9500190" y="0"/>
                </a:lnTo>
                <a:lnTo>
                  <a:pt x="9500190" y="978810"/>
                </a:lnTo>
                <a:lnTo>
                  <a:pt x="0" y="97881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3423864" y="2231280"/>
            <a:ext cx="9162085" cy="961058"/>
            <a:chOff x="0" y="0"/>
            <a:chExt cx="17434560" cy="1828800"/>
          </a:xfrm>
        </p:grpSpPr>
        <p:sp>
          <p:nvSpPr>
            <p:cNvPr name="Freeform 28" id="28"/>
            <p:cNvSpPr/>
            <p:nvPr/>
          </p:nvSpPr>
          <p:spPr>
            <a:xfrm flipH="false" flipV="false" rot="0">
              <a:off x="0" y="0"/>
              <a:ext cx="17434561" cy="1828800"/>
            </a:xfrm>
            <a:custGeom>
              <a:avLst/>
              <a:gdLst/>
              <a:ahLst/>
              <a:cxnLst/>
              <a:rect r="r" b="b" t="t" l="l"/>
              <a:pathLst>
                <a:path h="1828800" w="17434561">
                  <a:moveTo>
                    <a:pt x="0" y="0"/>
                  </a:moveTo>
                  <a:lnTo>
                    <a:pt x="17434561" y="0"/>
                  </a:lnTo>
                  <a:lnTo>
                    <a:pt x="17434561" y="1828800"/>
                  </a:lnTo>
                  <a:lnTo>
                    <a:pt x="0" y="1828800"/>
                  </a:lnTo>
                  <a:close/>
                </a:path>
              </a:pathLst>
            </a:custGeom>
            <a:blipFill>
              <a:blip r:embed="rId7">
                <a:alphaModFix amt="0"/>
              </a:blip>
              <a:stretch>
                <a:fillRect l="0" t="-135628" r="0" b="-135627"/>
              </a:stretch>
            </a:blipFill>
          </p:spPr>
        </p:sp>
      </p:grpSp>
      <p:grpSp>
        <p:nvGrpSpPr>
          <p:cNvPr name="Group 29" id="29"/>
          <p:cNvGrpSpPr/>
          <p:nvPr/>
        </p:nvGrpSpPr>
        <p:grpSpPr>
          <a:xfrm rot="0">
            <a:off x="3423864" y="2201247"/>
            <a:ext cx="9162085" cy="991091"/>
            <a:chOff x="0" y="0"/>
            <a:chExt cx="17434560" cy="1885950"/>
          </a:xfrm>
        </p:grpSpPr>
        <p:sp>
          <p:nvSpPr>
            <p:cNvPr name="Freeform 30" id="30"/>
            <p:cNvSpPr/>
            <p:nvPr/>
          </p:nvSpPr>
          <p:spPr>
            <a:xfrm flipH="false" flipV="false" rot="0">
              <a:off x="0" y="0"/>
              <a:ext cx="17434561" cy="1885950"/>
            </a:xfrm>
            <a:custGeom>
              <a:avLst/>
              <a:gdLst/>
              <a:ahLst/>
              <a:cxnLst/>
              <a:rect r="r" b="b" t="t" l="l"/>
              <a:pathLst>
                <a:path h="1885950" w="17434561">
                  <a:moveTo>
                    <a:pt x="0" y="0"/>
                  </a:moveTo>
                  <a:lnTo>
                    <a:pt x="17434561" y="0"/>
                  </a:lnTo>
                  <a:lnTo>
                    <a:pt x="17434561" y="1885950"/>
                  </a:lnTo>
                  <a:lnTo>
                    <a:pt x="0" y="1885950"/>
                  </a:lnTo>
                  <a:close/>
                </a:path>
              </a:pathLst>
            </a:custGeom>
            <a:blipFill>
              <a:blip r:embed="rId8">
                <a:alphaModFix amt="0"/>
              </a:blip>
              <a:stretch>
                <a:fillRect l="0" t="-130128" r="0" b="-130128"/>
              </a:stretch>
            </a:blipFill>
          </p:spPr>
        </p:sp>
        <p:sp>
          <p:nvSpPr>
            <p:cNvPr name="TextBox 31" id="31"/>
            <p:cNvSpPr txBox="true"/>
            <p:nvPr/>
          </p:nvSpPr>
          <p:spPr>
            <a:xfrm>
              <a:off x="0" y="-57150"/>
              <a:ext cx="17434560" cy="1943100"/>
            </a:xfrm>
            <a:prstGeom prst="rect">
              <a:avLst/>
            </a:prstGeom>
          </p:spPr>
          <p:txBody>
            <a:bodyPr anchor="ctr" rtlCol="false" tIns="0" lIns="0" bIns="0" rIns="0"/>
            <a:lstStyle/>
            <a:p>
              <a:pPr algn="l">
                <a:lnSpc>
                  <a:spcPts val="3120"/>
                </a:lnSpc>
              </a:pPr>
              <a:r>
                <a:rPr lang="en-US" sz="2600" b="true">
                  <a:solidFill>
                    <a:srgbClr val="111111"/>
                  </a:solidFill>
                  <a:latin typeface="Calibri (MS) Bold"/>
                  <a:ea typeface="Calibri (MS) Bold"/>
                  <a:cs typeface="Calibri (MS) Bold"/>
                  <a:sym typeface="Calibri (MS) Bold"/>
                </a:rPr>
                <a:t>Investiga los incidentes escalados por L1.</a:t>
              </a:r>
            </a:p>
          </p:txBody>
        </p:sp>
      </p:grpSp>
      <p:grpSp>
        <p:nvGrpSpPr>
          <p:cNvPr name="Group 32" id="32"/>
          <p:cNvGrpSpPr/>
          <p:nvPr/>
        </p:nvGrpSpPr>
        <p:grpSpPr>
          <a:xfrm rot="0">
            <a:off x="640080" y="3383280"/>
            <a:ext cx="17007840" cy="585216"/>
            <a:chOff x="0" y="0"/>
            <a:chExt cx="22677120" cy="780288"/>
          </a:xfrm>
        </p:grpSpPr>
        <p:sp>
          <p:nvSpPr>
            <p:cNvPr name="Freeform 33" id="33"/>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34" id="34"/>
          <p:cNvGrpSpPr/>
          <p:nvPr/>
        </p:nvGrpSpPr>
        <p:grpSpPr>
          <a:xfrm rot="0">
            <a:off x="640080" y="3499961"/>
            <a:ext cx="17007840" cy="620935"/>
            <a:chOff x="0" y="0"/>
            <a:chExt cx="22677120" cy="827913"/>
          </a:xfrm>
        </p:grpSpPr>
        <p:sp>
          <p:nvSpPr>
            <p:cNvPr name="Freeform 35" id="35"/>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36" id="36"/>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Principales responsabilidades:</a:t>
              </a:r>
            </a:p>
          </p:txBody>
        </p:sp>
      </p:grpSp>
      <p:sp>
        <p:nvSpPr>
          <p:cNvPr name="TextBox 37" id="37"/>
          <p:cNvSpPr txBox="true"/>
          <p:nvPr/>
        </p:nvSpPr>
        <p:spPr>
          <a:xfrm rot="0">
            <a:off x="1028700" y="4073271"/>
            <a:ext cx="16459200" cy="4027170"/>
          </a:xfrm>
          <a:prstGeom prst="rect">
            <a:avLst/>
          </a:prstGeom>
        </p:spPr>
        <p:txBody>
          <a:bodyPr anchor="t" rtlCol="false" tIns="0" lIns="0" bIns="0" rIns="0">
            <a:spAutoFit/>
          </a:bodyPr>
          <a:lstStyle/>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Análisis más profundo de logs, tráfico de red y sistemas afectados.</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Contención del incidente para evitar propagación.</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Coordinación con otras áreas para aplicar parches o tomar medidas técnicas.</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Participación activa en la respuesta y seguimiento del incidente.</a:t>
            </a:r>
          </a:p>
        </p:txBody>
      </p:sp>
      <p:sp>
        <p:nvSpPr>
          <p:cNvPr name="Freeform 38" id="38"/>
          <p:cNvSpPr/>
          <p:nvPr/>
        </p:nvSpPr>
        <p:spPr>
          <a:xfrm flipH="false" flipV="false" rot="0">
            <a:off x="993143" y="7499188"/>
            <a:ext cx="15732897" cy="867999"/>
          </a:xfrm>
          <a:custGeom>
            <a:avLst/>
            <a:gdLst/>
            <a:ahLst/>
            <a:cxnLst/>
            <a:rect r="r" b="b" t="t" l="l"/>
            <a:pathLst>
              <a:path h="867999" w="15732897">
                <a:moveTo>
                  <a:pt x="0" y="0"/>
                </a:moveTo>
                <a:lnTo>
                  <a:pt x="15732897" y="0"/>
                </a:lnTo>
                <a:lnTo>
                  <a:pt x="15732897" y="867999"/>
                </a:lnTo>
                <a:lnTo>
                  <a:pt x="0" y="86799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false" flipV="false" rot="0">
            <a:off x="993143" y="7499188"/>
            <a:ext cx="124754" cy="867999"/>
          </a:xfrm>
          <a:custGeom>
            <a:avLst/>
            <a:gdLst/>
            <a:ahLst/>
            <a:cxnLst/>
            <a:rect r="r" b="b" t="t" l="l"/>
            <a:pathLst>
              <a:path h="867999" w="124754">
                <a:moveTo>
                  <a:pt x="0" y="0"/>
                </a:moveTo>
                <a:lnTo>
                  <a:pt x="124754" y="0"/>
                </a:lnTo>
                <a:lnTo>
                  <a:pt x="124754" y="867999"/>
                </a:lnTo>
                <a:lnTo>
                  <a:pt x="0" y="86799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0" id="40"/>
          <p:cNvGrpSpPr/>
          <p:nvPr/>
        </p:nvGrpSpPr>
        <p:grpSpPr>
          <a:xfrm rot="0">
            <a:off x="1286508" y="7657529"/>
            <a:ext cx="16093440" cy="914400"/>
            <a:chOff x="0" y="0"/>
            <a:chExt cx="21457920" cy="1219200"/>
          </a:xfrm>
        </p:grpSpPr>
        <p:sp>
          <p:nvSpPr>
            <p:cNvPr name="Freeform 41" id="4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7">
                <a:alphaModFix amt="0"/>
              </a:blip>
              <a:stretch>
                <a:fillRect l="0" t="-292697" r="0" b="-292698"/>
              </a:stretch>
            </a:blipFill>
          </p:spPr>
        </p:sp>
      </p:grpSp>
      <p:grpSp>
        <p:nvGrpSpPr>
          <p:cNvPr name="Group 42" id="42"/>
          <p:cNvGrpSpPr/>
          <p:nvPr/>
        </p:nvGrpSpPr>
        <p:grpSpPr>
          <a:xfrm rot="0">
            <a:off x="1371600" y="7483310"/>
            <a:ext cx="16093440" cy="942975"/>
            <a:chOff x="0" y="0"/>
            <a:chExt cx="21457920" cy="1257300"/>
          </a:xfrm>
        </p:grpSpPr>
        <p:sp>
          <p:nvSpPr>
            <p:cNvPr name="Freeform 43" id="43"/>
            <p:cNvSpPr/>
            <p:nvPr/>
          </p:nvSpPr>
          <p:spPr>
            <a:xfrm flipH="false" flipV="false" rot="0">
              <a:off x="0" y="0"/>
              <a:ext cx="21457920" cy="1257300"/>
            </a:xfrm>
            <a:custGeom>
              <a:avLst/>
              <a:gdLst/>
              <a:ahLst/>
              <a:cxnLst/>
              <a:rect r="r" b="b" t="t" l="l"/>
              <a:pathLst>
                <a:path h="1257300" w="21457920">
                  <a:moveTo>
                    <a:pt x="0" y="0"/>
                  </a:moveTo>
                  <a:lnTo>
                    <a:pt x="21457920" y="0"/>
                  </a:lnTo>
                  <a:lnTo>
                    <a:pt x="21457920" y="1257300"/>
                  </a:lnTo>
                  <a:lnTo>
                    <a:pt x="0" y="1257300"/>
                  </a:lnTo>
                  <a:close/>
                </a:path>
              </a:pathLst>
            </a:custGeom>
            <a:blipFill>
              <a:blip r:embed="rId8">
                <a:alphaModFix amt="0"/>
              </a:blip>
              <a:stretch>
                <a:fillRect l="0" t="-282544" r="0" b="-282544"/>
              </a:stretch>
            </a:blipFill>
          </p:spPr>
        </p:sp>
        <p:sp>
          <p:nvSpPr>
            <p:cNvPr name="TextBox 44" id="44"/>
            <p:cNvSpPr txBox="true"/>
            <p:nvPr/>
          </p:nvSpPr>
          <p:spPr>
            <a:xfrm>
              <a:off x="0" y="-38100"/>
              <a:ext cx="21457920" cy="1295400"/>
            </a:xfrm>
            <a:prstGeom prst="rect">
              <a:avLst/>
            </a:prstGeom>
          </p:spPr>
          <p:txBody>
            <a:bodyPr anchor="ctr" rtlCol="false" tIns="0" lIns="0" bIns="0" rIns="0"/>
            <a:lstStyle/>
            <a:p>
              <a:pPr algn="l">
                <a:lnSpc>
                  <a:spcPts val="2160"/>
                </a:lnSpc>
              </a:pPr>
              <a:r>
                <a:rPr lang="en-US" sz="1800" i="true">
                  <a:solidFill>
                    <a:srgbClr val="555555"/>
                  </a:solidFill>
                  <a:latin typeface="Calibri (MS) Italics"/>
                  <a:ea typeface="Calibri (MS) Italics"/>
                  <a:cs typeface="Calibri (MS) Italics"/>
                  <a:sym typeface="Calibri (MS) Italics"/>
                </a:rPr>
                <a:t>L2 trabaja con los casos que L1 identificó como potencialmente reales y de alta complejidad.</a:t>
              </a:r>
            </a:p>
          </p:txBody>
        </p:sp>
      </p:grpSp>
      <p:sp>
        <p:nvSpPr>
          <p:cNvPr name="Freeform 45" id="45"/>
          <p:cNvSpPr/>
          <p:nvPr/>
        </p:nvSpPr>
        <p:spPr>
          <a:xfrm flipH="false" flipV="false" rot="0">
            <a:off x="13049743" y="2344591"/>
            <a:ext cx="4871656" cy="720280"/>
          </a:xfrm>
          <a:custGeom>
            <a:avLst/>
            <a:gdLst/>
            <a:ahLst/>
            <a:cxnLst/>
            <a:rect r="r" b="b" t="t" l="l"/>
            <a:pathLst>
              <a:path h="720280" w="4871656">
                <a:moveTo>
                  <a:pt x="0" y="0"/>
                </a:moveTo>
                <a:lnTo>
                  <a:pt x="4871657" y="0"/>
                </a:lnTo>
                <a:lnTo>
                  <a:pt x="4871657" y="720281"/>
                </a:lnTo>
                <a:lnTo>
                  <a:pt x="0" y="72028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46" id="46"/>
          <p:cNvGrpSpPr/>
          <p:nvPr/>
        </p:nvGrpSpPr>
        <p:grpSpPr>
          <a:xfrm rot="0">
            <a:off x="13062440" y="2357288"/>
            <a:ext cx="4846320" cy="694944"/>
            <a:chOff x="0" y="0"/>
            <a:chExt cx="6461760" cy="926592"/>
          </a:xfrm>
        </p:grpSpPr>
        <p:sp>
          <p:nvSpPr>
            <p:cNvPr name="Freeform 47" id="47"/>
            <p:cNvSpPr/>
            <p:nvPr/>
          </p:nvSpPr>
          <p:spPr>
            <a:xfrm flipH="false" flipV="false" rot="0">
              <a:off x="0" y="0"/>
              <a:ext cx="6461760" cy="926592"/>
            </a:xfrm>
            <a:custGeom>
              <a:avLst/>
              <a:gdLst/>
              <a:ahLst/>
              <a:cxnLst/>
              <a:rect r="r" b="b" t="t" l="l"/>
              <a:pathLst>
                <a:path h="926592" w="6461760">
                  <a:moveTo>
                    <a:pt x="0" y="0"/>
                  </a:moveTo>
                  <a:lnTo>
                    <a:pt x="6461760" y="0"/>
                  </a:lnTo>
                  <a:lnTo>
                    <a:pt x="6461760" y="926592"/>
                  </a:lnTo>
                  <a:lnTo>
                    <a:pt x="0" y="926592"/>
                  </a:lnTo>
                  <a:close/>
                </a:path>
              </a:pathLst>
            </a:custGeom>
            <a:blipFill>
              <a:blip r:embed="rId7">
                <a:alphaModFix amt="0"/>
              </a:blip>
              <a:stretch>
                <a:fillRect l="0" t="-85788" r="0" b="-85788"/>
              </a:stretch>
            </a:blipFill>
          </p:spPr>
        </p:sp>
      </p:grpSp>
      <p:grpSp>
        <p:nvGrpSpPr>
          <p:cNvPr name="Group 48" id="48"/>
          <p:cNvGrpSpPr/>
          <p:nvPr/>
        </p:nvGrpSpPr>
        <p:grpSpPr>
          <a:xfrm rot="0">
            <a:off x="13062440" y="2328713"/>
            <a:ext cx="4846320" cy="723519"/>
            <a:chOff x="0" y="0"/>
            <a:chExt cx="6461760" cy="964692"/>
          </a:xfrm>
        </p:grpSpPr>
        <p:sp>
          <p:nvSpPr>
            <p:cNvPr name="Freeform 49" id="49"/>
            <p:cNvSpPr/>
            <p:nvPr/>
          </p:nvSpPr>
          <p:spPr>
            <a:xfrm flipH="false" flipV="false" rot="0">
              <a:off x="0" y="0"/>
              <a:ext cx="6461760" cy="964692"/>
            </a:xfrm>
            <a:custGeom>
              <a:avLst/>
              <a:gdLst/>
              <a:ahLst/>
              <a:cxnLst/>
              <a:rect r="r" b="b" t="t" l="l"/>
              <a:pathLst>
                <a:path h="964692" w="6461760">
                  <a:moveTo>
                    <a:pt x="0" y="0"/>
                  </a:moveTo>
                  <a:lnTo>
                    <a:pt x="6461760" y="0"/>
                  </a:lnTo>
                  <a:lnTo>
                    <a:pt x="6461760" y="964692"/>
                  </a:lnTo>
                  <a:lnTo>
                    <a:pt x="0" y="964692"/>
                  </a:lnTo>
                  <a:close/>
                </a:path>
              </a:pathLst>
            </a:custGeom>
            <a:blipFill>
              <a:blip r:embed="rId8">
                <a:alphaModFix amt="0"/>
              </a:blip>
              <a:stretch>
                <a:fillRect l="0" t="-80515" r="0" b="-80515"/>
              </a:stretch>
            </a:blipFill>
          </p:spPr>
        </p:sp>
        <p:sp>
          <p:nvSpPr>
            <p:cNvPr name="TextBox 50" id="50"/>
            <p:cNvSpPr txBox="true"/>
            <p:nvPr/>
          </p:nvSpPr>
          <p:spPr>
            <a:xfrm>
              <a:off x="0" y="-38100"/>
              <a:ext cx="6461760" cy="100279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Siguiente paso</a:t>
              </a:r>
            </a:p>
          </p:txBody>
        </p:sp>
      </p:grpSp>
      <p:grpSp>
        <p:nvGrpSpPr>
          <p:cNvPr name="Group 51" id="51"/>
          <p:cNvGrpSpPr/>
          <p:nvPr/>
        </p:nvGrpSpPr>
        <p:grpSpPr>
          <a:xfrm rot="0">
            <a:off x="15983863" y="24203"/>
            <a:ext cx="1855079" cy="1855079"/>
            <a:chOff x="0" y="0"/>
            <a:chExt cx="5852160" cy="5852160"/>
          </a:xfrm>
        </p:grpSpPr>
        <p:sp>
          <p:nvSpPr>
            <p:cNvPr name="Freeform 52" id="52"/>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p.15</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1.2  |  Funciones de cada nivel: TIER 3</a:t>
              </a:r>
            </a:p>
          </p:txBody>
        </p:sp>
      </p:grpSp>
      <p:sp>
        <p:nvSpPr>
          <p:cNvPr name="Freeform 20" id="20"/>
          <p:cNvSpPr/>
          <p:nvPr/>
        </p:nvSpPr>
        <p:spPr>
          <a:xfrm flipH="false" flipV="false" rot="0">
            <a:off x="1005840" y="2199120"/>
            <a:ext cx="2253476" cy="948989"/>
          </a:xfrm>
          <a:custGeom>
            <a:avLst/>
            <a:gdLst/>
            <a:ahLst/>
            <a:cxnLst/>
            <a:rect r="r" b="b" t="t" l="l"/>
            <a:pathLst>
              <a:path h="948989" w="2253476">
                <a:moveTo>
                  <a:pt x="0" y="0"/>
                </a:moveTo>
                <a:lnTo>
                  <a:pt x="2253476" y="0"/>
                </a:lnTo>
                <a:lnTo>
                  <a:pt x="2253476" y="948988"/>
                </a:lnTo>
                <a:lnTo>
                  <a:pt x="0" y="9489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1014465" y="2207745"/>
            <a:ext cx="2236264" cy="931777"/>
            <a:chOff x="0" y="0"/>
            <a:chExt cx="4389120" cy="1828800"/>
          </a:xfrm>
        </p:grpSpPr>
        <p:sp>
          <p:nvSpPr>
            <p:cNvPr name="Freeform 22" id="22"/>
            <p:cNvSpPr/>
            <p:nvPr/>
          </p:nvSpPr>
          <p:spPr>
            <a:xfrm flipH="false" flipV="false" rot="0">
              <a:off x="0" y="0"/>
              <a:ext cx="4389120" cy="1828800"/>
            </a:xfrm>
            <a:custGeom>
              <a:avLst/>
              <a:gdLst/>
              <a:ahLst/>
              <a:cxnLst/>
              <a:rect r="r" b="b" t="t" l="l"/>
              <a:pathLst>
                <a:path h="1828800" w="4389120">
                  <a:moveTo>
                    <a:pt x="0" y="0"/>
                  </a:moveTo>
                  <a:lnTo>
                    <a:pt x="4389120" y="0"/>
                  </a:lnTo>
                  <a:lnTo>
                    <a:pt x="4389120" y="1828800"/>
                  </a:lnTo>
                  <a:lnTo>
                    <a:pt x="0" y="1828800"/>
                  </a:lnTo>
                  <a:close/>
                </a:path>
              </a:pathLst>
            </a:custGeom>
            <a:blipFill>
              <a:blip r:embed="rId7">
                <a:alphaModFix amt="0"/>
              </a:blip>
              <a:stretch>
                <a:fillRect l="-3497" t="0" r="-3496" b="0"/>
              </a:stretch>
            </a:blipFill>
          </p:spPr>
        </p:sp>
      </p:grpSp>
      <p:grpSp>
        <p:nvGrpSpPr>
          <p:cNvPr name="Group 23" id="23"/>
          <p:cNvGrpSpPr/>
          <p:nvPr/>
        </p:nvGrpSpPr>
        <p:grpSpPr>
          <a:xfrm rot="0">
            <a:off x="1014465" y="2188333"/>
            <a:ext cx="2236264" cy="951189"/>
            <a:chOff x="0" y="0"/>
            <a:chExt cx="4389120" cy="1866900"/>
          </a:xfrm>
        </p:grpSpPr>
        <p:sp>
          <p:nvSpPr>
            <p:cNvPr name="Freeform 24" id="24"/>
            <p:cNvSpPr/>
            <p:nvPr/>
          </p:nvSpPr>
          <p:spPr>
            <a:xfrm flipH="false" flipV="false" rot="0">
              <a:off x="0" y="0"/>
              <a:ext cx="4389120" cy="1866900"/>
            </a:xfrm>
            <a:custGeom>
              <a:avLst/>
              <a:gdLst/>
              <a:ahLst/>
              <a:cxnLst/>
              <a:rect r="r" b="b" t="t" l="l"/>
              <a:pathLst>
                <a:path h="1866900" w="4389120">
                  <a:moveTo>
                    <a:pt x="0" y="0"/>
                  </a:moveTo>
                  <a:lnTo>
                    <a:pt x="4389120" y="0"/>
                  </a:lnTo>
                  <a:lnTo>
                    <a:pt x="4389120" y="1866900"/>
                  </a:lnTo>
                  <a:lnTo>
                    <a:pt x="0" y="1866900"/>
                  </a:lnTo>
                  <a:close/>
                </a:path>
              </a:pathLst>
            </a:custGeom>
            <a:blipFill>
              <a:blip r:embed="rId8">
                <a:alphaModFix amt="0"/>
              </a:blip>
              <a:stretch>
                <a:fillRect l="-4573" t="0" r="-4573" b="0"/>
              </a:stretch>
            </a:blipFill>
          </p:spPr>
        </p:sp>
        <p:sp>
          <p:nvSpPr>
            <p:cNvPr name="TextBox 25" id="25"/>
            <p:cNvSpPr txBox="true"/>
            <p:nvPr/>
          </p:nvSpPr>
          <p:spPr>
            <a:xfrm>
              <a:off x="0" y="-38100"/>
              <a:ext cx="4389120" cy="19050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TIER 3</a:t>
              </a:r>
            </a:p>
            <a:p>
              <a:pPr algn="ctr">
                <a:lnSpc>
                  <a:spcPts val="2279"/>
                </a:lnSpc>
              </a:pPr>
              <a:r>
                <a:rPr lang="en-US" sz="1899" b="true">
                  <a:solidFill>
                    <a:srgbClr val="FFFFFF"/>
                  </a:solidFill>
                  <a:latin typeface="Calibri (MS) Bold"/>
                  <a:ea typeface="Calibri (MS) Bold"/>
                  <a:cs typeface="Calibri (MS) Bold"/>
                  <a:sym typeface="Calibri (MS) Bold"/>
                </a:rPr>
                <a:t>SENIOR ANALYST / THREAT HUNTER</a:t>
              </a:r>
            </a:p>
          </p:txBody>
        </p:sp>
      </p:grpSp>
      <p:sp>
        <p:nvSpPr>
          <p:cNvPr name="Freeform 26" id="26"/>
          <p:cNvSpPr/>
          <p:nvPr/>
        </p:nvSpPr>
        <p:spPr>
          <a:xfrm flipH="false" flipV="false" rot="0">
            <a:off x="3366341" y="2199120"/>
            <a:ext cx="9210742" cy="948989"/>
          </a:xfrm>
          <a:custGeom>
            <a:avLst/>
            <a:gdLst/>
            <a:ahLst/>
            <a:cxnLst/>
            <a:rect r="r" b="b" t="t" l="l"/>
            <a:pathLst>
              <a:path h="948989" w="9210742">
                <a:moveTo>
                  <a:pt x="0" y="0"/>
                </a:moveTo>
                <a:lnTo>
                  <a:pt x="9210741" y="0"/>
                </a:lnTo>
                <a:lnTo>
                  <a:pt x="9210741" y="948988"/>
                </a:lnTo>
                <a:lnTo>
                  <a:pt x="0" y="94898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3586169" y="2207745"/>
            <a:ext cx="8882937" cy="931777"/>
            <a:chOff x="0" y="0"/>
            <a:chExt cx="17434560" cy="1828800"/>
          </a:xfrm>
        </p:grpSpPr>
        <p:sp>
          <p:nvSpPr>
            <p:cNvPr name="Freeform 28" id="28"/>
            <p:cNvSpPr/>
            <p:nvPr/>
          </p:nvSpPr>
          <p:spPr>
            <a:xfrm flipH="false" flipV="false" rot="0">
              <a:off x="0" y="0"/>
              <a:ext cx="17434561" cy="1828800"/>
            </a:xfrm>
            <a:custGeom>
              <a:avLst/>
              <a:gdLst/>
              <a:ahLst/>
              <a:cxnLst/>
              <a:rect r="r" b="b" t="t" l="l"/>
              <a:pathLst>
                <a:path h="1828800" w="17434561">
                  <a:moveTo>
                    <a:pt x="0" y="0"/>
                  </a:moveTo>
                  <a:lnTo>
                    <a:pt x="17434561" y="0"/>
                  </a:lnTo>
                  <a:lnTo>
                    <a:pt x="17434561" y="1828800"/>
                  </a:lnTo>
                  <a:lnTo>
                    <a:pt x="0" y="1828800"/>
                  </a:lnTo>
                  <a:close/>
                </a:path>
              </a:pathLst>
            </a:custGeom>
            <a:blipFill>
              <a:blip r:embed="rId7">
                <a:alphaModFix amt="0"/>
              </a:blip>
              <a:stretch>
                <a:fillRect l="0" t="-135628" r="0" b="-135627"/>
              </a:stretch>
            </a:blipFill>
          </p:spPr>
        </p:sp>
      </p:grpSp>
      <p:grpSp>
        <p:nvGrpSpPr>
          <p:cNvPr name="Group 29" id="29"/>
          <p:cNvGrpSpPr/>
          <p:nvPr/>
        </p:nvGrpSpPr>
        <p:grpSpPr>
          <a:xfrm rot="0">
            <a:off x="3586169" y="2178627"/>
            <a:ext cx="8882937" cy="960895"/>
            <a:chOff x="0" y="0"/>
            <a:chExt cx="17434560" cy="1885950"/>
          </a:xfrm>
        </p:grpSpPr>
        <p:sp>
          <p:nvSpPr>
            <p:cNvPr name="Freeform 30" id="30"/>
            <p:cNvSpPr/>
            <p:nvPr/>
          </p:nvSpPr>
          <p:spPr>
            <a:xfrm flipH="false" flipV="false" rot="0">
              <a:off x="0" y="0"/>
              <a:ext cx="17434561" cy="1885950"/>
            </a:xfrm>
            <a:custGeom>
              <a:avLst/>
              <a:gdLst/>
              <a:ahLst/>
              <a:cxnLst/>
              <a:rect r="r" b="b" t="t" l="l"/>
              <a:pathLst>
                <a:path h="1885950" w="17434561">
                  <a:moveTo>
                    <a:pt x="0" y="0"/>
                  </a:moveTo>
                  <a:lnTo>
                    <a:pt x="17434561" y="0"/>
                  </a:lnTo>
                  <a:lnTo>
                    <a:pt x="17434561" y="1885950"/>
                  </a:lnTo>
                  <a:lnTo>
                    <a:pt x="0" y="1885950"/>
                  </a:lnTo>
                  <a:close/>
                </a:path>
              </a:pathLst>
            </a:custGeom>
            <a:blipFill>
              <a:blip r:embed="rId8">
                <a:alphaModFix amt="0"/>
              </a:blip>
              <a:stretch>
                <a:fillRect l="0" t="-130128" r="0" b="-130128"/>
              </a:stretch>
            </a:blipFill>
          </p:spPr>
        </p:sp>
        <p:sp>
          <p:nvSpPr>
            <p:cNvPr name="TextBox 31" id="31"/>
            <p:cNvSpPr txBox="true"/>
            <p:nvPr/>
          </p:nvSpPr>
          <p:spPr>
            <a:xfrm>
              <a:off x="0" y="-57150"/>
              <a:ext cx="17434560" cy="1943100"/>
            </a:xfrm>
            <a:prstGeom prst="rect">
              <a:avLst/>
            </a:prstGeom>
          </p:spPr>
          <p:txBody>
            <a:bodyPr anchor="ctr" rtlCol="false" tIns="0" lIns="0" bIns="0" rIns="0"/>
            <a:lstStyle/>
            <a:p>
              <a:pPr algn="l">
                <a:lnSpc>
                  <a:spcPts val="3120"/>
                </a:lnSpc>
              </a:pPr>
              <a:r>
                <a:rPr lang="en-US" sz="2600" b="true">
                  <a:solidFill>
                    <a:srgbClr val="111111"/>
                  </a:solidFill>
                  <a:latin typeface="Calibri (MS) Bold"/>
                  <a:ea typeface="Calibri (MS) Bold"/>
                  <a:cs typeface="Calibri (MS) Bold"/>
                  <a:sym typeface="Calibri (MS) Bold"/>
                </a:rPr>
                <a:t>Especialistas en amenazas avanzadas.</a:t>
              </a:r>
            </a:p>
          </p:txBody>
        </p:sp>
      </p:grpSp>
      <p:grpSp>
        <p:nvGrpSpPr>
          <p:cNvPr name="Group 32" id="32"/>
          <p:cNvGrpSpPr/>
          <p:nvPr/>
        </p:nvGrpSpPr>
        <p:grpSpPr>
          <a:xfrm rot="0">
            <a:off x="640080" y="3383280"/>
            <a:ext cx="17007840" cy="585216"/>
            <a:chOff x="0" y="0"/>
            <a:chExt cx="22677120" cy="780288"/>
          </a:xfrm>
        </p:grpSpPr>
        <p:sp>
          <p:nvSpPr>
            <p:cNvPr name="Freeform 33" id="33"/>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34" id="34"/>
          <p:cNvGrpSpPr/>
          <p:nvPr/>
        </p:nvGrpSpPr>
        <p:grpSpPr>
          <a:xfrm rot="0">
            <a:off x="640051" y="3599021"/>
            <a:ext cx="17007840" cy="620935"/>
            <a:chOff x="0" y="0"/>
            <a:chExt cx="22677120" cy="827913"/>
          </a:xfrm>
        </p:grpSpPr>
        <p:sp>
          <p:nvSpPr>
            <p:cNvPr name="Freeform 35" id="35"/>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36" id="36"/>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Principales responsabilidades:</a:t>
              </a:r>
            </a:p>
          </p:txBody>
        </p:sp>
      </p:grpSp>
      <p:sp>
        <p:nvSpPr>
          <p:cNvPr name="TextBox 37" id="37"/>
          <p:cNvSpPr txBox="true"/>
          <p:nvPr/>
        </p:nvSpPr>
        <p:spPr>
          <a:xfrm rot="0">
            <a:off x="1005840" y="4185809"/>
            <a:ext cx="16459200" cy="5033010"/>
          </a:xfrm>
          <a:prstGeom prst="rect">
            <a:avLst/>
          </a:prstGeom>
        </p:spPr>
        <p:txBody>
          <a:bodyPr anchor="t" rtlCol="false" tIns="0" lIns="0" bIns="0" rIns="0">
            <a:spAutoFit/>
          </a:bodyPr>
          <a:lstStyle/>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Investigaciones proactivas (threat hunting) para encontrar amenazas no detectadas.</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Análisis forense y de malware.</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Desarrollo de reglas avanzadas de detección.</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Uso de inteligencia de amenazas (CTI) y marcos como MITRE ATT&amp;CK.</a:t>
            </a:r>
          </a:p>
          <a:p>
            <a:pPr algn="l" marL="530739" indent="-176913" lvl="2">
              <a:lnSpc>
                <a:spcPts val="2638"/>
              </a:lnSpc>
              <a:buFont typeface="Arial"/>
              <a:buChar char="⚬"/>
            </a:pPr>
            <a:r>
              <a:rPr lang="en-US" sz="2199">
                <a:solidFill>
                  <a:srgbClr val="111111"/>
                </a:solidFill>
                <a:latin typeface="Calibri (MS)"/>
                <a:ea typeface="Calibri (MS)"/>
                <a:cs typeface="Calibri (MS)"/>
                <a:sym typeface="Calibri (MS)"/>
              </a:rPr>
              <a:t>Creación y afinamiento de playbooks y automatizaciones del SOC.</a:t>
            </a:r>
          </a:p>
        </p:txBody>
      </p:sp>
      <p:sp>
        <p:nvSpPr>
          <p:cNvPr name="Freeform 38" id="38"/>
          <p:cNvSpPr/>
          <p:nvPr/>
        </p:nvSpPr>
        <p:spPr>
          <a:xfrm flipH="false" flipV="false" rot="0">
            <a:off x="1139227" y="7491576"/>
            <a:ext cx="15042124" cy="829888"/>
          </a:xfrm>
          <a:custGeom>
            <a:avLst/>
            <a:gdLst/>
            <a:ahLst/>
            <a:cxnLst/>
            <a:rect r="r" b="b" t="t" l="l"/>
            <a:pathLst>
              <a:path h="829888" w="15042124">
                <a:moveTo>
                  <a:pt x="0" y="0"/>
                </a:moveTo>
                <a:lnTo>
                  <a:pt x="15042124" y="0"/>
                </a:lnTo>
                <a:lnTo>
                  <a:pt x="15042124" y="829888"/>
                </a:lnTo>
                <a:lnTo>
                  <a:pt x="0" y="8298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false" flipV="false" rot="0">
            <a:off x="1139227" y="7491576"/>
            <a:ext cx="119276" cy="829888"/>
          </a:xfrm>
          <a:custGeom>
            <a:avLst/>
            <a:gdLst/>
            <a:ahLst/>
            <a:cxnLst/>
            <a:rect r="r" b="b" t="t" l="l"/>
            <a:pathLst>
              <a:path h="829888" w="119276">
                <a:moveTo>
                  <a:pt x="0" y="0"/>
                </a:moveTo>
                <a:lnTo>
                  <a:pt x="119276" y="0"/>
                </a:lnTo>
                <a:lnTo>
                  <a:pt x="119276" y="829888"/>
                </a:lnTo>
                <a:lnTo>
                  <a:pt x="0" y="8298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0" id="40"/>
          <p:cNvGrpSpPr/>
          <p:nvPr/>
        </p:nvGrpSpPr>
        <p:grpSpPr>
          <a:xfrm rot="0">
            <a:off x="1982632" y="7640070"/>
            <a:ext cx="13427635" cy="762934"/>
            <a:chOff x="0" y="0"/>
            <a:chExt cx="21457920" cy="1219200"/>
          </a:xfrm>
        </p:grpSpPr>
        <p:sp>
          <p:nvSpPr>
            <p:cNvPr name="Freeform 41" id="4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7">
                <a:alphaModFix amt="0"/>
              </a:blip>
              <a:stretch>
                <a:fillRect l="0" t="-292697" r="0" b="-292698"/>
              </a:stretch>
            </a:blipFill>
          </p:spPr>
        </p:sp>
      </p:grpSp>
      <p:grpSp>
        <p:nvGrpSpPr>
          <p:cNvPr name="Group 42" id="42"/>
          <p:cNvGrpSpPr/>
          <p:nvPr/>
        </p:nvGrpSpPr>
        <p:grpSpPr>
          <a:xfrm rot="0">
            <a:off x="1456850" y="7478250"/>
            <a:ext cx="13506572" cy="791401"/>
            <a:chOff x="0" y="0"/>
            <a:chExt cx="21457920" cy="1257300"/>
          </a:xfrm>
        </p:grpSpPr>
        <p:sp>
          <p:nvSpPr>
            <p:cNvPr name="Freeform 43" id="43"/>
            <p:cNvSpPr/>
            <p:nvPr/>
          </p:nvSpPr>
          <p:spPr>
            <a:xfrm flipH="false" flipV="false" rot="0">
              <a:off x="0" y="0"/>
              <a:ext cx="21457920" cy="1257300"/>
            </a:xfrm>
            <a:custGeom>
              <a:avLst/>
              <a:gdLst/>
              <a:ahLst/>
              <a:cxnLst/>
              <a:rect r="r" b="b" t="t" l="l"/>
              <a:pathLst>
                <a:path h="1257300" w="21457920">
                  <a:moveTo>
                    <a:pt x="0" y="0"/>
                  </a:moveTo>
                  <a:lnTo>
                    <a:pt x="21457920" y="0"/>
                  </a:lnTo>
                  <a:lnTo>
                    <a:pt x="21457920" y="1257300"/>
                  </a:lnTo>
                  <a:lnTo>
                    <a:pt x="0" y="1257300"/>
                  </a:lnTo>
                  <a:close/>
                </a:path>
              </a:pathLst>
            </a:custGeom>
            <a:blipFill>
              <a:blip r:embed="rId8">
                <a:alphaModFix amt="0"/>
              </a:blip>
              <a:stretch>
                <a:fillRect l="0" t="-282544" r="0" b="-282544"/>
              </a:stretch>
            </a:blipFill>
          </p:spPr>
        </p:sp>
        <p:sp>
          <p:nvSpPr>
            <p:cNvPr name="TextBox 44" id="44"/>
            <p:cNvSpPr txBox="true"/>
            <p:nvPr/>
          </p:nvSpPr>
          <p:spPr>
            <a:xfrm>
              <a:off x="0" y="-38100"/>
              <a:ext cx="21457920" cy="1295400"/>
            </a:xfrm>
            <a:prstGeom prst="rect">
              <a:avLst/>
            </a:prstGeom>
          </p:spPr>
          <p:txBody>
            <a:bodyPr anchor="ctr" rtlCol="false" tIns="0" lIns="0" bIns="0" rIns="0"/>
            <a:lstStyle/>
            <a:p>
              <a:pPr algn="l">
                <a:lnSpc>
                  <a:spcPts val="2160"/>
                </a:lnSpc>
              </a:pPr>
              <a:r>
                <a:rPr lang="en-US" sz="1800" i="true">
                  <a:solidFill>
                    <a:srgbClr val="555555"/>
                  </a:solidFill>
                  <a:latin typeface="Calibri (MS) Italics"/>
                  <a:ea typeface="Calibri (MS) Italics"/>
                  <a:cs typeface="Calibri (MS) Italics"/>
                  <a:sym typeface="Calibri (MS) Italics"/>
                </a:rPr>
                <a:t>L3 también ayuda a mejorar las herramientas y procesos del SOC a partir de lo que aprende en cada incidente.</a:t>
              </a:r>
            </a:p>
          </p:txBody>
        </p:sp>
      </p:grpSp>
      <p:sp>
        <p:nvSpPr>
          <p:cNvPr name="Freeform 45" id="45"/>
          <p:cNvSpPr/>
          <p:nvPr/>
        </p:nvSpPr>
        <p:spPr>
          <a:xfrm flipH="false" flipV="false" rot="0">
            <a:off x="12788903" y="10320023"/>
            <a:ext cx="4871656" cy="720281"/>
          </a:xfrm>
          <a:custGeom>
            <a:avLst/>
            <a:gdLst/>
            <a:ahLst/>
            <a:cxnLst/>
            <a:rect r="r" b="b" t="t" l="l"/>
            <a:pathLst>
              <a:path h="720281" w="4871656">
                <a:moveTo>
                  <a:pt x="0" y="0"/>
                </a:moveTo>
                <a:lnTo>
                  <a:pt x="4871657" y="0"/>
                </a:lnTo>
                <a:lnTo>
                  <a:pt x="4871657" y="720281"/>
                </a:lnTo>
                <a:lnTo>
                  <a:pt x="0" y="72028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46" id="46"/>
          <p:cNvGrpSpPr/>
          <p:nvPr/>
        </p:nvGrpSpPr>
        <p:grpSpPr>
          <a:xfrm rot="0">
            <a:off x="12801600" y="10332720"/>
            <a:ext cx="4846320" cy="694944"/>
            <a:chOff x="0" y="0"/>
            <a:chExt cx="6461760" cy="926592"/>
          </a:xfrm>
        </p:grpSpPr>
        <p:sp>
          <p:nvSpPr>
            <p:cNvPr name="Freeform 47" id="47"/>
            <p:cNvSpPr/>
            <p:nvPr/>
          </p:nvSpPr>
          <p:spPr>
            <a:xfrm flipH="false" flipV="false" rot="0">
              <a:off x="0" y="0"/>
              <a:ext cx="6461760" cy="926592"/>
            </a:xfrm>
            <a:custGeom>
              <a:avLst/>
              <a:gdLst/>
              <a:ahLst/>
              <a:cxnLst/>
              <a:rect r="r" b="b" t="t" l="l"/>
              <a:pathLst>
                <a:path h="926592" w="6461760">
                  <a:moveTo>
                    <a:pt x="0" y="0"/>
                  </a:moveTo>
                  <a:lnTo>
                    <a:pt x="6461760" y="0"/>
                  </a:lnTo>
                  <a:lnTo>
                    <a:pt x="6461760" y="926592"/>
                  </a:lnTo>
                  <a:lnTo>
                    <a:pt x="0" y="926592"/>
                  </a:lnTo>
                  <a:close/>
                </a:path>
              </a:pathLst>
            </a:custGeom>
            <a:blipFill>
              <a:blip r:embed="rId7">
                <a:alphaModFix amt="0"/>
              </a:blip>
              <a:stretch>
                <a:fillRect l="0" t="-85788" r="0" b="-85788"/>
              </a:stretch>
            </a:blipFill>
          </p:spPr>
        </p:sp>
      </p:grpSp>
      <p:grpSp>
        <p:nvGrpSpPr>
          <p:cNvPr name="Group 48" id="48"/>
          <p:cNvGrpSpPr/>
          <p:nvPr/>
        </p:nvGrpSpPr>
        <p:grpSpPr>
          <a:xfrm rot="0">
            <a:off x="12801600" y="10304145"/>
            <a:ext cx="4846320" cy="723519"/>
            <a:chOff x="0" y="0"/>
            <a:chExt cx="6461760" cy="964692"/>
          </a:xfrm>
        </p:grpSpPr>
        <p:sp>
          <p:nvSpPr>
            <p:cNvPr name="Freeform 49" id="49"/>
            <p:cNvSpPr/>
            <p:nvPr/>
          </p:nvSpPr>
          <p:spPr>
            <a:xfrm flipH="false" flipV="false" rot="0">
              <a:off x="0" y="0"/>
              <a:ext cx="6461760" cy="964692"/>
            </a:xfrm>
            <a:custGeom>
              <a:avLst/>
              <a:gdLst/>
              <a:ahLst/>
              <a:cxnLst/>
              <a:rect r="r" b="b" t="t" l="l"/>
              <a:pathLst>
                <a:path h="964692" w="6461760">
                  <a:moveTo>
                    <a:pt x="0" y="0"/>
                  </a:moveTo>
                  <a:lnTo>
                    <a:pt x="6461760" y="0"/>
                  </a:lnTo>
                  <a:lnTo>
                    <a:pt x="6461760" y="964692"/>
                  </a:lnTo>
                  <a:lnTo>
                    <a:pt x="0" y="964692"/>
                  </a:lnTo>
                  <a:close/>
                </a:path>
              </a:pathLst>
            </a:custGeom>
            <a:blipFill>
              <a:blip r:embed="rId8">
                <a:alphaModFix amt="0"/>
              </a:blip>
              <a:stretch>
                <a:fillRect l="0" t="-80515" r="0" b="-80515"/>
              </a:stretch>
            </a:blipFill>
          </p:spPr>
        </p:sp>
        <p:sp>
          <p:nvSpPr>
            <p:cNvPr name="TextBox 50" id="50"/>
            <p:cNvSpPr txBox="true"/>
            <p:nvPr/>
          </p:nvSpPr>
          <p:spPr>
            <a:xfrm>
              <a:off x="0" y="-38100"/>
              <a:ext cx="6461760" cy="100279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Objetivo a largo plazo</a:t>
              </a:r>
            </a:p>
          </p:txBody>
        </p:sp>
      </p:grpSp>
      <p:grpSp>
        <p:nvGrpSpPr>
          <p:cNvPr name="Group 51" id="51"/>
          <p:cNvGrpSpPr/>
          <p:nvPr/>
        </p:nvGrpSpPr>
        <p:grpSpPr>
          <a:xfrm rot="0">
            <a:off x="15983863" y="24203"/>
            <a:ext cx="1855079" cy="1855079"/>
            <a:chOff x="0" y="0"/>
            <a:chExt cx="5852160" cy="5852160"/>
          </a:xfrm>
        </p:grpSpPr>
        <p:sp>
          <p:nvSpPr>
            <p:cNvPr name="Freeform 52" id="52"/>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p.16</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1.2  |  Otros roles: Team Lead, Threat Hunter, Ingeniero de Seguridad y más</a:t>
              </a:r>
            </a:p>
          </p:txBody>
        </p:sp>
      </p:grpSp>
      <p:grpSp>
        <p:nvGrpSpPr>
          <p:cNvPr name="Group 20" id="20"/>
          <p:cNvGrpSpPr/>
          <p:nvPr/>
        </p:nvGrpSpPr>
        <p:grpSpPr>
          <a:xfrm rot="0">
            <a:off x="640080" y="1773936"/>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40080" y="2158122"/>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El SOC no está compuesto solo por analistas por niveles.</a:t>
              </a:r>
            </a:p>
            <a:p>
              <a:pPr algn="l">
                <a:lnSpc>
                  <a:spcPts val="2520"/>
                </a:lnSpc>
              </a:pPr>
              <a:r>
                <a:rPr lang="en-US" sz="2100">
                  <a:solidFill>
                    <a:srgbClr val="6B6B6B"/>
                  </a:solidFill>
                  <a:latin typeface="Calibri (MS)"/>
                  <a:ea typeface="Calibri (MS)"/>
                  <a:cs typeface="Calibri (MS)"/>
                  <a:sym typeface="Calibri (MS)"/>
                </a:rPr>
                <a:t>Existen roles especializados y de liderazgo que sostienen la operación y mejoran las capacidades del equipo.</a:t>
              </a:r>
            </a:p>
          </p:txBody>
        </p:sp>
      </p:grpSp>
      <p:sp>
        <p:nvSpPr>
          <p:cNvPr name="Freeform 25" id="25"/>
          <p:cNvSpPr/>
          <p:nvPr/>
        </p:nvSpPr>
        <p:spPr>
          <a:xfrm flipH="false" flipV="false" rot="0">
            <a:off x="1640126" y="3249644"/>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651136" y="3260654"/>
            <a:ext cx="4836661" cy="713606"/>
            <a:chOff x="0" y="0"/>
            <a:chExt cx="7437120" cy="1097280"/>
          </a:xfrm>
        </p:grpSpPr>
        <p:sp>
          <p:nvSpPr>
            <p:cNvPr name="Freeform 27" id="27"/>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28" id="28"/>
          <p:cNvGrpSpPr/>
          <p:nvPr/>
        </p:nvGrpSpPr>
        <p:grpSpPr>
          <a:xfrm rot="0">
            <a:off x="1651136" y="3235876"/>
            <a:ext cx="4836661" cy="738384"/>
            <a:chOff x="0" y="0"/>
            <a:chExt cx="7437120" cy="1135380"/>
          </a:xfrm>
        </p:grpSpPr>
        <p:sp>
          <p:nvSpPr>
            <p:cNvPr name="Freeform 29" id="29"/>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30" id="30"/>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Team Lead / SOC Manager</a:t>
              </a:r>
            </a:p>
          </p:txBody>
        </p:sp>
      </p:grpSp>
      <p:sp>
        <p:nvSpPr>
          <p:cNvPr name="Freeform 31" id="31"/>
          <p:cNvSpPr/>
          <p:nvPr/>
        </p:nvSpPr>
        <p:spPr>
          <a:xfrm flipH="false" flipV="false" rot="0">
            <a:off x="1640126" y="3994966"/>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889008" y="4156670"/>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Supervisión y liderazgo operativo. Coordina analistas, asigna turnos y prioridades. Informa a otras áreas (gestión, IT, legal). Asegura el seguimiento de procesos y documentación.</a:t>
            </a:r>
          </a:p>
        </p:txBody>
      </p:sp>
      <p:sp>
        <p:nvSpPr>
          <p:cNvPr name="Freeform 33" id="33"/>
          <p:cNvSpPr/>
          <p:nvPr/>
        </p:nvSpPr>
        <p:spPr>
          <a:xfrm flipH="false" flipV="false" rot="0">
            <a:off x="6714656" y="3249644"/>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725666" y="3260654"/>
            <a:ext cx="4836661" cy="713606"/>
            <a:chOff x="0" y="0"/>
            <a:chExt cx="7437120" cy="1097280"/>
          </a:xfrm>
        </p:grpSpPr>
        <p:sp>
          <p:nvSpPr>
            <p:cNvPr name="Freeform 35" id="35"/>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36" id="36"/>
          <p:cNvGrpSpPr/>
          <p:nvPr/>
        </p:nvGrpSpPr>
        <p:grpSpPr>
          <a:xfrm rot="0">
            <a:off x="6725666" y="3235876"/>
            <a:ext cx="4836661" cy="738384"/>
            <a:chOff x="0" y="0"/>
            <a:chExt cx="7437120" cy="1135380"/>
          </a:xfrm>
        </p:grpSpPr>
        <p:sp>
          <p:nvSpPr>
            <p:cNvPr name="Freeform 37" id="37"/>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38" id="38"/>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Ingeniero de Seguridad</a:t>
              </a:r>
            </a:p>
          </p:txBody>
        </p:sp>
      </p:grpSp>
      <p:sp>
        <p:nvSpPr>
          <p:cNvPr name="Freeform 39" id="39"/>
          <p:cNvSpPr/>
          <p:nvPr/>
        </p:nvSpPr>
        <p:spPr>
          <a:xfrm flipH="false" flipV="false" rot="0">
            <a:off x="6714656" y="3994966"/>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963538" y="4156670"/>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Responsable de la infraestructura técnica del SOC: SIEM, EDR, firewalls, dashboards, parsers de logs. Desarrolla integraciones, automatizaciones (SOAR), alertas y reglas de correlación.</a:t>
            </a:r>
          </a:p>
        </p:txBody>
      </p:sp>
      <p:sp>
        <p:nvSpPr>
          <p:cNvPr name="Freeform 41" id="41"/>
          <p:cNvSpPr/>
          <p:nvPr/>
        </p:nvSpPr>
        <p:spPr>
          <a:xfrm flipH="false" flipV="false" rot="0">
            <a:off x="11789186" y="3249644"/>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1800195" y="3260654"/>
            <a:ext cx="4836661" cy="713606"/>
            <a:chOff x="0" y="0"/>
            <a:chExt cx="7437120" cy="1097280"/>
          </a:xfrm>
        </p:grpSpPr>
        <p:sp>
          <p:nvSpPr>
            <p:cNvPr name="Freeform 43" id="43"/>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44" id="44"/>
          <p:cNvGrpSpPr/>
          <p:nvPr/>
        </p:nvGrpSpPr>
        <p:grpSpPr>
          <a:xfrm rot="0">
            <a:off x="11800195" y="3235876"/>
            <a:ext cx="4836661" cy="738384"/>
            <a:chOff x="0" y="0"/>
            <a:chExt cx="7437120" cy="1135380"/>
          </a:xfrm>
        </p:grpSpPr>
        <p:sp>
          <p:nvSpPr>
            <p:cNvPr name="Freeform 45" id="45"/>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46" id="46"/>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Threat Hunter</a:t>
              </a:r>
            </a:p>
          </p:txBody>
        </p:sp>
      </p:grpSp>
      <p:sp>
        <p:nvSpPr>
          <p:cNvPr name="Freeform 47" id="47"/>
          <p:cNvSpPr/>
          <p:nvPr/>
        </p:nvSpPr>
        <p:spPr>
          <a:xfrm flipH="false" flipV="false" rot="0">
            <a:off x="11789186" y="3994966"/>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038068" y="4156670"/>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Búsqueda proactiva de amenazas no detectadas. Usa hipótesis basadas en inteligencia, comportamiento anómalo y nuevas TTPs. Trabaja con SIEM, EDR, telemetría y scripting.</a:t>
            </a:r>
          </a:p>
        </p:txBody>
      </p:sp>
      <p:sp>
        <p:nvSpPr>
          <p:cNvPr name="Freeform 49" id="49"/>
          <p:cNvSpPr/>
          <p:nvPr/>
        </p:nvSpPr>
        <p:spPr>
          <a:xfrm flipH="false" flipV="false" rot="0">
            <a:off x="1640126" y="6135783"/>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651136" y="6146793"/>
            <a:ext cx="4836661" cy="713606"/>
            <a:chOff x="0" y="0"/>
            <a:chExt cx="7437120" cy="1097280"/>
          </a:xfrm>
        </p:grpSpPr>
        <p:sp>
          <p:nvSpPr>
            <p:cNvPr name="Freeform 51" id="51"/>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52" id="52"/>
          <p:cNvGrpSpPr/>
          <p:nvPr/>
        </p:nvGrpSpPr>
        <p:grpSpPr>
          <a:xfrm rot="0">
            <a:off x="1651136" y="6122015"/>
            <a:ext cx="4836661" cy="738384"/>
            <a:chOff x="0" y="0"/>
            <a:chExt cx="7437120" cy="1135380"/>
          </a:xfrm>
        </p:grpSpPr>
        <p:sp>
          <p:nvSpPr>
            <p:cNvPr name="Freeform 53" id="53"/>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54" id="54"/>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Threat Intelligence Analyst</a:t>
              </a:r>
            </a:p>
          </p:txBody>
        </p:sp>
      </p:grpSp>
      <p:sp>
        <p:nvSpPr>
          <p:cNvPr name="Freeform 55" id="55"/>
          <p:cNvSpPr/>
          <p:nvPr/>
        </p:nvSpPr>
        <p:spPr>
          <a:xfrm flipH="false" flipV="false" rot="0">
            <a:off x="1640126" y="6881105"/>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889008" y="7042809"/>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Recopila, analiza y distribuye información sobre amenazas (TTPs, IOCs, actores, campañas). Usa plataformas TIP, bases de datos OSINT y MITRE ATT&amp;CK.</a:t>
            </a:r>
          </a:p>
        </p:txBody>
      </p:sp>
      <p:sp>
        <p:nvSpPr>
          <p:cNvPr name="Freeform 57" id="57"/>
          <p:cNvSpPr/>
          <p:nvPr/>
        </p:nvSpPr>
        <p:spPr>
          <a:xfrm flipH="false" flipV="false" rot="0">
            <a:off x="6714656" y="6135783"/>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6725666" y="6146793"/>
            <a:ext cx="4836661" cy="713606"/>
            <a:chOff x="0" y="0"/>
            <a:chExt cx="7437120" cy="1097280"/>
          </a:xfrm>
        </p:grpSpPr>
        <p:sp>
          <p:nvSpPr>
            <p:cNvPr name="Freeform 59" id="59"/>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60" id="60"/>
          <p:cNvGrpSpPr/>
          <p:nvPr/>
        </p:nvGrpSpPr>
        <p:grpSpPr>
          <a:xfrm rot="0">
            <a:off x="6725666" y="6122015"/>
            <a:ext cx="4836661" cy="738384"/>
            <a:chOff x="0" y="0"/>
            <a:chExt cx="7437120" cy="1135380"/>
          </a:xfrm>
        </p:grpSpPr>
        <p:sp>
          <p:nvSpPr>
            <p:cNvPr name="Freeform 61" id="61"/>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62" id="62"/>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Forensics Specialist</a:t>
              </a:r>
            </a:p>
          </p:txBody>
        </p:sp>
      </p:grpSp>
      <p:sp>
        <p:nvSpPr>
          <p:cNvPr name="Freeform 63" id="63"/>
          <p:cNvSpPr/>
          <p:nvPr/>
        </p:nvSpPr>
        <p:spPr>
          <a:xfrm flipH="false" flipV="false" rot="0">
            <a:off x="6714656" y="6881105"/>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963538" y="7042809"/>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Análisis forense en endpoints, redes o discos. Investiga cómo ocurrió un ataque y cómo evitar su repetición. Usa FTK Imager, Autopsy, Volatility, Wireshark.</a:t>
            </a:r>
          </a:p>
        </p:txBody>
      </p:sp>
      <p:sp>
        <p:nvSpPr>
          <p:cNvPr name="Freeform 65" id="65"/>
          <p:cNvSpPr/>
          <p:nvPr/>
        </p:nvSpPr>
        <p:spPr>
          <a:xfrm flipH="false" flipV="false" rot="0">
            <a:off x="11789186" y="6135783"/>
            <a:ext cx="4858631" cy="735576"/>
          </a:xfrm>
          <a:custGeom>
            <a:avLst/>
            <a:gdLst/>
            <a:ahLst/>
            <a:cxnLst/>
            <a:rect r="r" b="b" t="t" l="l"/>
            <a:pathLst>
              <a:path h="735576" w="4858631">
                <a:moveTo>
                  <a:pt x="0" y="0"/>
                </a:moveTo>
                <a:lnTo>
                  <a:pt x="4858631" y="0"/>
                </a:lnTo>
                <a:lnTo>
                  <a:pt x="4858631" y="735576"/>
                </a:lnTo>
                <a:lnTo>
                  <a:pt x="0" y="73557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6" id="66"/>
          <p:cNvGrpSpPr/>
          <p:nvPr/>
        </p:nvGrpSpPr>
        <p:grpSpPr>
          <a:xfrm rot="0">
            <a:off x="11800195" y="6146793"/>
            <a:ext cx="4836661" cy="713606"/>
            <a:chOff x="0" y="0"/>
            <a:chExt cx="7437120" cy="1097280"/>
          </a:xfrm>
        </p:grpSpPr>
        <p:sp>
          <p:nvSpPr>
            <p:cNvPr name="Freeform 67" id="67"/>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7">
                <a:alphaModFix amt="0"/>
              </a:blip>
              <a:stretch>
                <a:fillRect l="0" t="-81973" r="0" b="-81973"/>
              </a:stretch>
            </a:blipFill>
          </p:spPr>
        </p:sp>
      </p:grpSp>
      <p:grpSp>
        <p:nvGrpSpPr>
          <p:cNvPr name="Group 68" id="68"/>
          <p:cNvGrpSpPr/>
          <p:nvPr/>
        </p:nvGrpSpPr>
        <p:grpSpPr>
          <a:xfrm rot="0">
            <a:off x="11800195" y="6122015"/>
            <a:ext cx="4836661" cy="738384"/>
            <a:chOff x="0" y="0"/>
            <a:chExt cx="7437120" cy="1135380"/>
          </a:xfrm>
        </p:grpSpPr>
        <p:sp>
          <p:nvSpPr>
            <p:cNvPr name="Freeform 69" id="69"/>
            <p:cNvSpPr/>
            <p:nvPr/>
          </p:nvSpPr>
          <p:spPr>
            <a:xfrm flipH="false" flipV="false" rot="0">
              <a:off x="0" y="0"/>
              <a:ext cx="7437120" cy="1135380"/>
            </a:xfrm>
            <a:custGeom>
              <a:avLst/>
              <a:gdLst/>
              <a:ahLst/>
              <a:cxnLst/>
              <a:rect r="r" b="b" t="t" l="l"/>
              <a:pathLst>
                <a:path h="1135380" w="7437120">
                  <a:moveTo>
                    <a:pt x="0" y="0"/>
                  </a:moveTo>
                  <a:lnTo>
                    <a:pt x="7437120" y="0"/>
                  </a:lnTo>
                  <a:lnTo>
                    <a:pt x="7437120" y="1135380"/>
                  </a:lnTo>
                  <a:lnTo>
                    <a:pt x="0" y="1135380"/>
                  </a:lnTo>
                  <a:close/>
                </a:path>
              </a:pathLst>
            </a:custGeom>
            <a:blipFill>
              <a:blip r:embed="rId8">
                <a:alphaModFix amt="0"/>
              </a:blip>
              <a:stretch>
                <a:fillRect l="0" t="-77633" r="0" b="-77633"/>
              </a:stretch>
            </a:blipFill>
          </p:spPr>
        </p:sp>
        <p:sp>
          <p:nvSpPr>
            <p:cNvPr name="TextBox 70" id="70"/>
            <p:cNvSpPr txBox="true"/>
            <p:nvPr/>
          </p:nvSpPr>
          <p:spPr>
            <a:xfrm>
              <a:off x="0" y="-38100"/>
              <a:ext cx="7437120" cy="117348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Red Team Specialist</a:t>
              </a:r>
            </a:p>
          </p:txBody>
        </p:sp>
      </p:grpSp>
      <p:sp>
        <p:nvSpPr>
          <p:cNvPr name="Freeform 71" id="71"/>
          <p:cNvSpPr/>
          <p:nvPr/>
        </p:nvSpPr>
        <p:spPr>
          <a:xfrm flipH="false" flipV="false" rot="0">
            <a:off x="11789186" y="6881105"/>
            <a:ext cx="4858631" cy="2051782"/>
          </a:xfrm>
          <a:custGeom>
            <a:avLst/>
            <a:gdLst/>
            <a:ahLst/>
            <a:cxnLst/>
            <a:rect r="r" b="b" t="t" l="l"/>
            <a:pathLst>
              <a:path h="2051782" w="4858631">
                <a:moveTo>
                  <a:pt x="0" y="0"/>
                </a:moveTo>
                <a:lnTo>
                  <a:pt x="4858631" y="0"/>
                </a:lnTo>
                <a:lnTo>
                  <a:pt x="4858631" y="2051782"/>
                </a:lnTo>
                <a:lnTo>
                  <a:pt x="0" y="20517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2" id="72"/>
          <p:cNvSpPr txBox="true"/>
          <p:nvPr/>
        </p:nvSpPr>
        <p:spPr>
          <a:xfrm rot="0">
            <a:off x="12038068" y="7042809"/>
            <a:ext cx="4360924" cy="1222256"/>
          </a:xfrm>
          <a:prstGeom prst="rect">
            <a:avLst/>
          </a:prstGeom>
        </p:spPr>
        <p:txBody>
          <a:bodyPr anchor="t" rtlCol="false" tIns="0" lIns="0" bIns="0" rIns="0">
            <a:spAutoFit/>
          </a:bodyPr>
          <a:lstStyle/>
          <a:p>
            <a:pPr algn="l">
              <a:lnSpc>
                <a:spcPts val="2450"/>
              </a:lnSpc>
            </a:pPr>
            <a:r>
              <a:rPr lang="en-US" sz="1560">
                <a:solidFill>
                  <a:srgbClr val="333333"/>
                </a:solidFill>
                <a:latin typeface="Calibri (MS)"/>
                <a:ea typeface="Calibri (MS)"/>
                <a:cs typeface="Calibri (MS)"/>
                <a:sym typeface="Calibri (MS)"/>
              </a:rPr>
              <a:t>Simula ataques reales para probar la capacidad de detección del SOC. Aporta información clave para mejorar defensas. Ejercicios: phishing, lateral movement, exfiltración.</a:t>
            </a:r>
          </a:p>
        </p:txBody>
      </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p.17</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1.2  |  Jerarquías, turnos y dinámicas de trabajo en un SOC</a:t>
              </a:r>
            </a:p>
          </p:txBody>
        </p:sp>
      </p:grpSp>
      <p:sp>
        <p:nvSpPr>
          <p:cNvPr name="Freeform 20" id="20"/>
          <p:cNvSpPr/>
          <p:nvPr/>
        </p:nvSpPr>
        <p:spPr>
          <a:xfrm flipH="false" flipV="false" rot="0">
            <a:off x="1619300" y="2433803"/>
            <a:ext cx="4872116" cy="785323"/>
          </a:xfrm>
          <a:custGeom>
            <a:avLst/>
            <a:gdLst/>
            <a:ahLst/>
            <a:cxnLst/>
            <a:rect r="r" b="b" t="t" l="l"/>
            <a:pathLst>
              <a:path h="785323" w="4872116">
                <a:moveTo>
                  <a:pt x="0" y="0"/>
                </a:moveTo>
                <a:lnTo>
                  <a:pt x="4872116" y="0"/>
                </a:lnTo>
                <a:lnTo>
                  <a:pt x="4872116" y="785323"/>
                </a:lnTo>
                <a:lnTo>
                  <a:pt x="0" y="7853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1630340" y="2444843"/>
            <a:ext cx="4850085" cy="763292"/>
            <a:chOff x="0" y="0"/>
            <a:chExt cx="7437120" cy="1170432"/>
          </a:xfrm>
        </p:grpSpPr>
        <p:sp>
          <p:nvSpPr>
            <p:cNvPr name="Freeform 22" id="22"/>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23" id="23"/>
          <p:cNvGrpSpPr/>
          <p:nvPr/>
        </p:nvGrpSpPr>
        <p:grpSpPr>
          <a:xfrm rot="0">
            <a:off x="1630340" y="2413785"/>
            <a:ext cx="4850085" cy="794350"/>
            <a:chOff x="0" y="0"/>
            <a:chExt cx="7437120" cy="1218057"/>
          </a:xfrm>
        </p:grpSpPr>
        <p:sp>
          <p:nvSpPr>
            <p:cNvPr name="Freeform 24" id="24"/>
            <p:cNvSpPr/>
            <p:nvPr/>
          </p:nvSpPr>
          <p:spPr>
            <a:xfrm flipH="false" flipV="false" rot="0">
              <a:off x="0" y="0"/>
              <a:ext cx="7437120" cy="1218057"/>
            </a:xfrm>
            <a:custGeom>
              <a:avLst/>
              <a:gdLst/>
              <a:ahLst/>
              <a:cxnLst/>
              <a:rect r="r" b="b" t="t" l="l"/>
              <a:pathLst>
                <a:path h="1218057" w="7437120">
                  <a:moveTo>
                    <a:pt x="0" y="0"/>
                  </a:moveTo>
                  <a:lnTo>
                    <a:pt x="7437120" y="0"/>
                  </a:lnTo>
                  <a:lnTo>
                    <a:pt x="7437120" y="1218057"/>
                  </a:lnTo>
                  <a:lnTo>
                    <a:pt x="0" y="1218057"/>
                  </a:lnTo>
                  <a:close/>
                </a:path>
              </a:pathLst>
            </a:custGeom>
            <a:blipFill>
              <a:blip r:embed="rId8">
                <a:alphaModFix amt="0"/>
              </a:blip>
              <a:stretch>
                <a:fillRect l="0" t="-68970" r="0" b="-68970"/>
              </a:stretch>
            </a:blipFill>
          </p:spPr>
        </p:sp>
        <p:sp>
          <p:nvSpPr>
            <p:cNvPr name="TextBox 25" id="25"/>
            <p:cNvSpPr txBox="true"/>
            <p:nvPr/>
          </p:nvSpPr>
          <p:spPr>
            <a:xfrm>
              <a:off x="0" y="-47625"/>
              <a:ext cx="7437120" cy="126568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Jerarquía y Escalamiento</a:t>
              </a:r>
            </a:p>
          </p:txBody>
        </p:sp>
      </p:grpSp>
      <p:sp>
        <p:nvSpPr>
          <p:cNvPr name="Freeform 26" id="26"/>
          <p:cNvSpPr/>
          <p:nvPr/>
        </p:nvSpPr>
        <p:spPr>
          <a:xfrm flipH="false" flipV="false" rot="0">
            <a:off x="1619300" y="3228899"/>
            <a:ext cx="4872116" cy="5778525"/>
          </a:xfrm>
          <a:custGeom>
            <a:avLst/>
            <a:gdLst/>
            <a:ahLst/>
            <a:cxnLst/>
            <a:rect r="r" b="b" t="t" l="l"/>
            <a:pathLst>
              <a:path h="5778525" w="4872116">
                <a:moveTo>
                  <a:pt x="0" y="0"/>
                </a:moveTo>
                <a:lnTo>
                  <a:pt x="4872116" y="0"/>
                </a:lnTo>
                <a:lnTo>
                  <a:pt x="4872116" y="5778525"/>
                </a:lnTo>
                <a:lnTo>
                  <a:pt x="0" y="57785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7" id="27"/>
          <p:cNvSpPr txBox="true"/>
          <p:nvPr/>
        </p:nvSpPr>
        <p:spPr>
          <a:xfrm rot="0">
            <a:off x="1844991" y="3584006"/>
            <a:ext cx="4420733" cy="3013840"/>
          </a:xfrm>
          <a:prstGeom prst="rect">
            <a:avLst/>
          </a:prstGeom>
        </p:spPr>
        <p:txBody>
          <a:bodyPr anchor="t" rtlCol="false" tIns="0" lIns="0" bIns="0" rIns="0">
            <a:spAutoFit/>
          </a:bodyPr>
          <a:lstStyle/>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Tier 1: primera línea (monitorea, filtra, documenta).</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Tier 2: responde incidentes, investiga y mitiga.</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Tier 3: realiza hunting avanzado y tuning de herramientas.</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Los incidentes escalan según complejidad: L1 → L2 → L3.</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Estructura diseñada para resolver incidentes rápida y precisamente.</a:t>
            </a:r>
          </a:p>
        </p:txBody>
      </p:sp>
      <p:sp>
        <p:nvSpPr>
          <p:cNvPr name="Freeform 28" id="28"/>
          <p:cNvSpPr/>
          <p:nvPr/>
        </p:nvSpPr>
        <p:spPr>
          <a:xfrm flipH="false" flipV="false" rot="0">
            <a:off x="6707914" y="2433803"/>
            <a:ext cx="4872116" cy="785323"/>
          </a:xfrm>
          <a:custGeom>
            <a:avLst/>
            <a:gdLst/>
            <a:ahLst/>
            <a:cxnLst/>
            <a:rect r="r" b="b" t="t" l="l"/>
            <a:pathLst>
              <a:path h="785323" w="4872116">
                <a:moveTo>
                  <a:pt x="0" y="0"/>
                </a:moveTo>
                <a:lnTo>
                  <a:pt x="4872115" y="0"/>
                </a:lnTo>
                <a:lnTo>
                  <a:pt x="4872115" y="785323"/>
                </a:lnTo>
                <a:lnTo>
                  <a:pt x="0" y="78532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9" id="29"/>
          <p:cNvGrpSpPr/>
          <p:nvPr/>
        </p:nvGrpSpPr>
        <p:grpSpPr>
          <a:xfrm rot="0">
            <a:off x="6718954" y="2444843"/>
            <a:ext cx="4850085" cy="763292"/>
            <a:chOff x="0" y="0"/>
            <a:chExt cx="7437120" cy="1170432"/>
          </a:xfrm>
        </p:grpSpPr>
        <p:sp>
          <p:nvSpPr>
            <p:cNvPr name="Freeform 30" id="30"/>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31" id="31"/>
          <p:cNvGrpSpPr/>
          <p:nvPr/>
        </p:nvGrpSpPr>
        <p:grpSpPr>
          <a:xfrm rot="0">
            <a:off x="6718954" y="2413785"/>
            <a:ext cx="4850085" cy="794350"/>
            <a:chOff x="0" y="0"/>
            <a:chExt cx="7437120" cy="1218057"/>
          </a:xfrm>
        </p:grpSpPr>
        <p:sp>
          <p:nvSpPr>
            <p:cNvPr name="Freeform 32" id="32"/>
            <p:cNvSpPr/>
            <p:nvPr/>
          </p:nvSpPr>
          <p:spPr>
            <a:xfrm flipH="false" flipV="false" rot="0">
              <a:off x="0" y="0"/>
              <a:ext cx="7437120" cy="1218057"/>
            </a:xfrm>
            <a:custGeom>
              <a:avLst/>
              <a:gdLst/>
              <a:ahLst/>
              <a:cxnLst/>
              <a:rect r="r" b="b" t="t" l="l"/>
              <a:pathLst>
                <a:path h="1218057" w="7437120">
                  <a:moveTo>
                    <a:pt x="0" y="0"/>
                  </a:moveTo>
                  <a:lnTo>
                    <a:pt x="7437120" y="0"/>
                  </a:lnTo>
                  <a:lnTo>
                    <a:pt x="7437120" y="1218057"/>
                  </a:lnTo>
                  <a:lnTo>
                    <a:pt x="0" y="1218057"/>
                  </a:lnTo>
                  <a:close/>
                </a:path>
              </a:pathLst>
            </a:custGeom>
            <a:blipFill>
              <a:blip r:embed="rId8">
                <a:alphaModFix amt="0"/>
              </a:blip>
              <a:stretch>
                <a:fillRect l="0" t="-68970" r="0" b="-68970"/>
              </a:stretch>
            </a:blipFill>
          </p:spPr>
        </p:sp>
        <p:sp>
          <p:nvSpPr>
            <p:cNvPr name="TextBox 33" id="33"/>
            <p:cNvSpPr txBox="true"/>
            <p:nvPr/>
          </p:nvSpPr>
          <p:spPr>
            <a:xfrm>
              <a:off x="0" y="-47625"/>
              <a:ext cx="7437120" cy="126568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Turnos y Cobertura 24/7</a:t>
              </a:r>
            </a:p>
          </p:txBody>
        </p:sp>
      </p:grpSp>
      <p:sp>
        <p:nvSpPr>
          <p:cNvPr name="Freeform 34" id="34"/>
          <p:cNvSpPr/>
          <p:nvPr/>
        </p:nvSpPr>
        <p:spPr>
          <a:xfrm flipH="false" flipV="false" rot="0">
            <a:off x="6707914" y="3228899"/>
            <a:ext cx="4872116" cy="5778525"/>
          </a:xfrm>
          <a:custGeom>
            <a:avLst/>
            <a:gdLst/>
            <a:ahLst/>
            <a:cxnLst/>
            <a:rect r="r" b="b" t="t" l="l"/>
            <a:pathLst>
              <a:path h="5778525" w="4872116">
                <a:moveTo>
                  <a:pt x="0" y="0"/>
                </a:moveTo>
                <a:lnTo>
                  <a:pt x="4872115" y="0"/>
                </a:lnTo>
                <a:lnTo>
                  <a:pt x="4872115" y="5778525"/>
                </a:lnTo>
                <a:lnTo>
                  <a:pt x="0" y="57785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5" id="35"/>
          <p:cNvSpPr txBox="true"/>
          <p:nvPr/>
        </p:nvSpPr>
        <p:spPr>
          <a:xfrm rot="0">
            <a:off x="6933605" y="3584006"/>
            <a:ext cx="4420733" cy="3347215"/>
          </a:xfrm>
          <a:prstGeom prst="rect">
            <a:avLst/>
          </a:prstGeom>
        </p:spPr>
        <p:txBody>
          <a:bodyPr anchor="t" rtlCol="false" tIns="0" lIns="0" bIns="0" rIns="0">
            <a:spAutoFit/>
          </a:bodyPr>
          <a:lstStyle/>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Esquema 'follow-the-sun' o 'shift rotation'.</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Turnos rotativos: mañana / tarde / noche.</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Trabajo medido por métricas: alertas procesadas, tiempos SLA, calidad de documentación.</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Relevos documentados: cada turno deja registro para que el siguiente continúe sin perder contexto.</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En SOCs globales, el monitoreo se distribuye entre regiones del mundo.</a:t>
            </a:r>
          </a:p>
        </p:txBody>
      </p:sp>
      <p:sp>
        <p:nvSpPr>
          <p:cNvPr name="Freeform 36" id="36"/>
          <p:cNvSpPr/>
          <p:nvPr/>
        </p:nvSpPr>
        <p:spPr>
          <a:xfrm flipH="false" flipV="false" rot="0">
            <a:off x="11796527" y="2433803"/>
            <a:ext cx="4872116" cy="785323"/>
          </a:xfrm>
          <a:custGeom>
            <a:avLst/>
            <a:gdLst/>
            <a:ahLst/>
            <a:cxnLst/>
            <a:rect r="r" b="b" t="t" l="l"/>
            <a:pathLst>
              <a:path h="785323" w="4872116">
                <a:moveTo>
                  <a:pt x="0" y="0"/>
                </a:moveTo>
                <a:lnTo>
                  <a:pt x="4872116" y="0"/>
                </a:lnTo>
                <a:lnTo>
                  <a:pt x="4872116" y="785323"/>
                </a:lnTo>
                <a:lnTo>
                  <a:pt x="0" y="78532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37" id="37"/>
          <p:cNvGrpSpPr/>
          <p:nvPr/>
        </p:nvGrpSpPr>
        <p:grpSpPr>
          <a:xfrm rot="0">
            <a:off x="11807567" y="2444843"/>
            <a:ext cx="4850085" cy="763292"/>
            <a:chOff x="0" y="0"/>
            <a:chExt cx="7437120" cy="1170432"/>
          </a:xfrm>
        </p:grpSpPr>
        <p:sp>
          <p:nvSpPr>
            <p:cNvPr name="Freeform 38" id="38"/>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39" id="39"/>
          <p:cNvGrpSpPr/>
          <p:nvPr/>
        </p:nvGrpSpPr>
        <p:grpSpPr>
          <a:xfrm rot="0">
            <a:off x="11807567" y="2413785"/>
            <a:ext cx="4850085" cy="794350"/>
            <a:chOff x="0" y="0"/>
            <a:chExt cx="7437120" cy="1218057"/>
          </a:xfrm>
        </p:grpSpPr>
        <p:sp>
          <p:nvSpPr>
            <p:cNvPr name="Freeform 40" id="40"/>
            <p:cNvSpPr/>
            <p:nvPr/>
          </p:nvSpPr>
          <p:spPr>
            <a:xfrm flipH="false" flipV="false" rot="0">
              <a:off x="0" y="0"/>
              <a:ext cx="7437120" cy="1218057"/>
            </a:xfrm>
            <a:custGeom>
              <a:avLst/>
              <a:gdLst/>
              <a:ahLst/>
              <a:cxnLst/>
              <a:rect r="r" b="b" t="t" l="l"/>
              <a:pathLst>
                <a:path h="1218057" w="7437120">
                  <a:moveTo>
                    <a:pt x="0" y="0"/>
                  </a:moveTo>
                  <a:lnTo>
                    <a:pt x="7437120" y="0"/>
                  </a:lnTo>
                  <a:lnTo>
                    <a:pt x="7437120" y="1218057"/>
                  </a:lnTo>
                  <a:lnTo>
                    <a:pt x="0" y="1218057"/>
                  </a:lnTo>
                  <a:close/>
                </a:path>
              </a:pathLst>
            </a:custGeom>
            <a:blipFill>
              <a:blip r:embed="rId8">
                <a:alphaModFix amt="0"/>
              </a:blip>
              <a:stretch>
                <a:fillRect l="0" t="-68970" r="0" b="-68970"/>
              </a:stretch>
            </a:blipFill>
          </p:spPr>
        </p:sp>
        <p:sp>
          <p:nvSpPr>
            <p:cNvPr name="TextBox 41" id="41"/>
            <p:cNvSpPr txBox="true"/>
            <p:nvPr/>
          </p:nvSpPr>
          <p:spPr>
            <a:xfrm>
              <a:off x="0" y="-47625"/>
              <a:ext cx="7437120" cy="1265682"/>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Dinámicas de Trabajo</a:t>
              </a:r>
            </a:p>
          </p:txBody>
        </p:sp>
      </p:grpSp>
      <p:sp>
        <p:nvSpPr>
          <p:cNvPr name="Freeform 42" id="42"/>
          <p:cNvSpPr/>
          <p:nvPr/>
        </p:nvSpPr>
        <p:spPr>
          <a:xfrm flipH="false" flipV="false" rot="0">
            <a:off x="11796527" y="3228899"/>
            <a:ext cx="4872116" cy="5778525"/>
          </a:xfrm>
          <a:custGeom>
            <a:avLst/>
            <a:gdLst/>
            <a:ahLst/>
            <a:cxnLst/>
            <a:rect r="r" b="b" t="t" l="l"/>
            <a:pathLst>
              <a:path h="5778525" w="4872116">
                <a:moveTo>
                  <a:pt x="0" y="0"/>
                </a:moveTo>
                <a:lnTo>
                  <a:pt x="4872116" y="0"/>
                </a:lnTo>
                <a:lnTo>
                  <a:pt x="4872116" y="5778525"/>
                </a:lnTo>
                <a:lnTo>
                  <a:pt x="0" y="57785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3" id="43"/>
          <p:cNvSpPr txBox="true"/>
          <p:nvPr/>
        </p:nvSpPr>
        <p:spPr>
          <a:xfrm rot="0">
            <a:off x="12022219" y="3584006"/>
            <a:ext cx="4420733" cy="3013840"/>
          </a:xfrm>
          <a:prstGeom prst="rect">
            <a:avLst/>
          </a:prstGeom>
        </p:spPr>
        <p:txBody>
          <a:bodyPr anchor="t" rtlCol="false" tIns="0" lIns="0" bIns="0" rIns="0">
            <a:spAutoFit/>
          </a:bodyPr>
          <a:lstStyle/>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Escalamiento estructurado: L1 → L2 → L3.</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Reuniones de cambio de turno para compartir eventos críticos.</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Plataformas de tickets (JIRA, ServiceNow, TheHive) para trazabilidad.</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Coordinación con IT, legal, RRHH según el tipo de incidente.</a:t>
            </a:r>
          </a:p>
          <a:p>
            <a:pPr algn="l" marL="398547" indent="-132849" lvl="2">
              <a:lnSpc>
                <a:spcPts val="2625"/>
              </a:lnSpc>
              <a:buFont typeface="Arial"/>
              <a:buChar char="⚬"/>
            </a:pPr>
            <a:r>
              <a:rPr lang="en-US" sz="1651">
                <a:solidFill>
                  <a:srgbClr val="333333"/>
                </a:solidFill>
                <a:latin typeface="Calibri (MS)"/>
                <a:ea typeface="Calibri (MS)"/>
                <a:cs typeface="Calibri (MS)"/>
                <a:sym typeface="Calibri (MS)"/>
              </a:rPr>
              <a:t>Participación en simulacros (Table Top Exercises).</a:t>
            </a:r>
          </a:p>
        </p:txBody>
      </p:sp>
      <p:grpSp>
        <p:nvGrpSpPr>
          <p:cNvPr name="Group 44" id="44"/>
          <p:cNvGrpSpPr/>
          <p:nvPr/>
        </p:nvGrpSpPr>
        <p:grpSpPr>
          <a:xfrm rot="0">
            <a:off x="15983863" y="24203"/>
            <a:ext cx="1855079" cy="1855079"/>
            <a:chOff x="0" y="0"/>
            <a:chExt cx="5852160" cy="5852160"/>
          </a:xfrm>
        </p:grpSpPr>
        <p:sp>
          <p:nvSpPr>
            <p:cNvPr name="Freeform 45" id="45"/>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9"/>
              <a:stretch>
                <a:fillRect l="0" t="0" r="0"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1.3</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36044"/>
            <a:ext cx="15544800" cy="2667476"/>
            <a:chOff x="0" y="0"/>
            <a:chExt cx="20726400" cy="3556635"/>
          </a:xfrm>
        </p:grpSpPr>
        <p:sp>
          <p:nvSpPr>
            <p:cNvPr name="Freeform 12" id="12"/>
            <p:cNvSpPr/>
            <p:nvPr/>
          </p:nvSpPr>
          <p:spPr>
            <a:xfrm flipH="false" flipV="false" rot="0">
              <a:off x="0" y="0"/>
              <a:ext cx="20726400" cy="3556635"/>
            </a:xfrm>
            <a:custGeom>
              <a:avLst/>
              <a:gdLst/>
              <a:ahLst/>
              <a:cxnLst/>
              <a:rect r="r" b="b" t="t" l="l"/>
              <a:pathLst>
                <a:path h="3556635" w="20726400">
                  <a:moveTo>
                    <a:pt x="0" y="0"/>
                  </a:moveTo>
                  <a:lnTo>
                    <a:pt x="20726400" y="0"/>
                  </a:lnTo>
                  <a:lnTo>
                    <a:pt x="20726400" y="3556635"/>
                  </a:lnTo>
                  <a:lnTo>
                    <a:pt x="0" y="3556635"/>
                  </a:lnTo>
                  <a:close/>
                </a:path>
              </a:pathLst>
            </a:custGeom>
            <a:blipFill>
              <a:blip r:embed="rId8">
                <a:alphaModFix amt="0"/>
              </a:blip>
              <a:stretch>
                <a:fillRect l="0" t="-63549" r="0" b="-63549"/>
              </a:stretch>
            </a:blipFill>
          </p:spPr>
        </p:sp>
        <p:sp>
          <p:nvSpPr>
            <p:cNvPr name="TextBox 13" id="13"/>
            <p:cNvSpPr txBox="true"/>
            <p:nvPr/>
          </p:nvSpPr>
          <p:spPr>
            <a:xfrm>
              <a:off x="0" y="-142875"/>
              <a:ext cx="20726400" cy="3699510"/>
            </a:xfrm>
            <a:prstGeom prst="rect">
              <a:avLst/>
            </a:prstGeom>
          </p:spPr>
          <p:txBody>
            <a:bodyPr anchor="ctr" rtlCol="false" tIns="0" lIns="0" bIns="0" rIns="0"/>
            <a:lstStyle/>
            <a:p>
              <a:pPr algn="l">
                <a:lnSpc>
                  <a:spcPts val="7678"/>
                </a:lnSpc>
              </a:pPr>
              <a:r>
                <a:rPr lang="en-US" sz="6398" b="true">
                  <a:solidFill>
                    <a:srgbClr val="FFFFFF"/>
                  </a:solidFill>
                  <a:latin typeface="Calibri (MS) Bold"/>
                  <a:ea typeface="Calibri (MS) Bold"/>
                  <a:cs typeface="Calibri (MS) Bold"/>
                  <a:sym typeface="Calibri (MS) Bold"/>
                </a:rPr>
                <a:t>El Rol del Analista</a:t>
              </a:r>
            </a:p>
            <a:p>
              <a:pPr algn="l">
                <a:lnSpc>
                  <a:spcPts val="7678"/>
                </a:lnSpc>
              </a:pPr>
              <a:r>
                <a:rPr lang="en-US" sz="6398" b="true">
                  <a:solidFill>
                    <a:srgbClr val="FFFFFF"/>
                  </a:solidFill>
                  <a:latin typeface="Calibri (MS) Bold"/>
                  <a:ea typeface="Calibri (MS) Bold"/>
                  <a:cs typeface="Calibri (MS) Bold"/>
                  <a:sym typeface="Calibri (MS) Bold"/>
                </a:rPr>
                <a:t>SOC en el SOC Moderno</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El analista SOC moderno: criterio por encima del triage mecánico</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Responsabilidades: análisis, validación, decisión, escalamiento y documentación</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Habilidades técnicas, criterio operativo y soft skills</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Herramientas: SIEM, EDR, XDR, SOAR, NDR, identidad, WAF — y cuándo usar cada una</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p.18</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p.19</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600"/>
                </a:lnSpc>
              </a:pPr>
              <a:r>
                <a:rPr lang="en-US" sz="3000" b="true">
                  <a:solidFill>
                    <a:srgbClr val="FFFFFF"/>
                  </a:solidFill>
                  <a:latin typeface="Calibri (MS) Bold"/>
                  <a:ea typeface="Calibri (MS) Bold"/>
                  <a:cs typeface="Calibri (MS) Bold"/>
                  <a:sym typeface="Calibri (MS) Bold"/>
                </a:rPr>
                <a:t>1.3  |  El analista SOC moderno: criterio, no solo triage</a:t>
              </a:r>
            </a:p>
          </p:txBody>
        </p:sp>
      </p:grpSp>
      <p:sp>
        <p:nvSpPr>
          <p:cNvPr name="Freeform 20" id="20"/>
          <p:cNvSpPr/>
          <p:nvPr/>
        </p:nvSpPr>
        <p:spPr>
          <a:xfrm flipH="false" flipV="false" rot="0">
            <a:off x="572519" y="1816103"/>
            <a:ext cx="16338884" cy="1680024"/>
          </a:xfrm>
          <a:custGeom>
            <a:avLst/>
            <a:gdLst/>
            <a:ahLst/>
            <a:cxnLst/>
            <a:rect r="r" b="b" t="t" l="l"/>
            <a:pathLst>
              <a:path h="1680024" w="16338884">
                <a:moveTo>
                  <a:pt x="0" y="0"/>
                </a:moveTo>
                <a:lnTo>
                  <a:pt x="16338884" y="0"/>
                </a:lnTo>
                <a:lnTo>
                  <a:pt x="16338884" y="1680024"/>
                </a:lnTo>
                <a:lnTo>
                  <a:pt x="0" y="16800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572519" y="1816103"/>
            <a:ext cx="146160" cy="1680024"/>
          </a:xfrm>
          <a:custGeom>
            <a:avLst/>
            <a:gdLst/>
            <a:ahLst/>
            <a:cxnLst/>
            <a:rect r="r" b="b" t="t" l="l"/>
            <a:pathLst>
              <a:path h="1680024" w="146160">
                <a:moveTo>
                  <a:pt x="0" y="0"/>
                </a:moveTo>
                <a:lnTo>
                  <a:pt x="146160" y="0"/>
                </a:lnTo>
                <a:lnTo>
                  <a:pt x="146160" y="1680024"/>
                </a:lnTo>
                <a:lnTo>
                  <a:pt x="0" y="168002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2" id="22"/>
          <p:cNvGrpSpPr/>
          <p:nvPr/>
        </p:nvGrpSpPr>
        <p:grpSpPr>
          <a:xfrm rot="0">
            <a:off x="1005840" y="1828800"/>
            <a:ext cx="16459200" cy="1737360"/>
            <a:chOff x="0" y="0"/>
            <a:chExt cx="21945600" cy="2316480"/>
          </a:xfrm>
        </p:grpSpPr>
        <p:sp>
          <p:nvSpPr>
            <p:cNvPr name="Freeform 23" id="23"/>
            <p:cNvSpPr/>
            <p:nvPr/>
          </p:nvSpPr>
          <p:spPr>
            <a:xfrm flipH="false" flipV="false" rot="0">
              <a:off x="0" y="0"/>
              <a:ext cx="21945600" cy="2316480"/>
            </a:xfrm>
            <a:custGeom>
              <a:avLst/>
              <a:gdLst/>
              <a:ahLst/>
              <a:cxnLst/>
              <a:rect r="r" b="b" t="t" l="l"/>
              <a:pathLst>
                <a:path h="2316480" w="21945600">
                  <a:moveTo>
                    <a:pt x="0" y="0"/>
                  </a:moveTo>
                  <a:lnTo>
                    <a:pt x="21945600" y="0"/>
                  </a:lnTo>
                  <a:lnTo>
                    <a:pt x="21945600" y="2316480"/>
                  </a:lnTo>
                  <a:lnTo>
                    <a:pt x="0" y="2316480"/>
                  </a:lnTo>
                  <a:close/>
                </a:path>
              </a:pathLst>
            </a:custGeom>
            <a:blipFill>
              <a:blip r:embed="rId7">
                <a:alphaModFix amt="0"/>
              </a:blip>
              <a:stretch>
                <a:fillRect l="0" t="-134466" r="0" b="-134467"/>
              </a:stretch>
            </a:blipFill>
          </p:spPr>
        </p:sp>
      </p:grpSp>
      <p:grpSp>
        <p:nvGrpSpPr>
          <p:cNvPr name="Group 24" id="24"/>
          <p:cNvGrpSpPr/>
          <p:nvPr/>
        </p:nvGrpSpPr>
        <p:grpSpPr>
          <a:xfrm rot="0">
            <a:off x="1005840" y="1800225"/>
            <a:ext cx="15432029" cy="1765935"/>
            <a:chOff x="0" y="0"/>
            <a:chExt cx="20576039" cy="2354580"/>
          </a:xfrm>
        </p:grpSpPr>
        <p:sp>
          <p:nvSpPr>
            <p:cNvPr name="Freeform 25" id="25"/>
            <p:cNvSpPr/>
            <p:nvPr/>
          </p:nvSpPr>
          <p:spPr>
            <a:xfrm flipH="false" flipV="false" rot="0">
              <a:off x="0" y="0"/>
              <a:ext cx="20576039" cy="2354580"/>
            </a:xfrm>
            <a:custGeom>
              <a:avLst/>
              <a:gdLst/>
              <a:ahLst/>
              <a:cxnLst/>
              <a:rect r="r" b="b" t="t" l="l"/>
              <a:pathLst>
                <a:path h="2354580" w="20576039">
                  <a:moveTo>
                    <a:pt x="0" y="0"/>
                  </a:moveTo>
                  <a:lnTo>
                    <a:pt x="20576039" y="0"/>
                  </a:lnTo>
                  <a:lnTo>
                    <a:pt x="20576039" y="2354580"/>
                  </a:lnTo>
                  <a:lnTo>
                    <a:pt x="0" y="2354580"/>
                  </a:lnTo>
                  <a:close/>
                </a:path>
              </a:pathLst>
            </a:custGeom>
            <a:blipFill>
              <a:blip r:embed="rId8">
                <a:alphaModFix amt="0"/>
              </a:blip>
              <a:stretch>
                <a:fillRect l="0" t="-131608" r="-6656" b="-131608"/>
              </a:stretch>
            </a:blipFill>
          </p:spPr>
        </p:sp>
        <p:sp>
          <p:nvSpPr>
            <p:cNvPr name="TextBox 26" id="26"/>
            <p:cNvSpPr txBox="true"/>
            <p:nvPr/>
          </p:nvSpPr>
          <p:spPr>
            <a:xfrm>
              <a:off x="0" y="-47625"/>
              <a:ext cx="20576039" cy="2402205"/>
            </a:xfrm>
            <a:prstGeom prst="rect">
              <a:avLst/>
            </a:prstGeom>
          </p:spPr>
          <p:txBody>
            <a:bodyPr anchor="ctr" rtlCol="false" tIns="0" lIns="0" bIns="0" rIns="0"/>
            <a:lstStyle/>
            <a:p>
              <a:pPr algn="l">
                <a:lnSpc>
                  <a:spcPts val="2639"/>
                </a:lnSpc>
              </a:pPr>
              <a:r>
                <a:rPr lang="en-US" sz="2200">
                  <a:solidFill>
                    <a:srgbClr val="111111"/>
                  </a:solidFill>
                  <a:latin typeface="Calibri (MS)"/>
                  <a:ea typeface="Calibri (MS)"/>
                  <a:cs typeface="Calibri (MS)"/>
                  <a:sym typeface="Calibri (MS)"/>
                </a:rPr>
                <a:t>En el SOC moderno, el analista operativo es </a:t>
              </a:r>
              <a:r>
                <a:rPr lang="en-US" sz="2200" b="true">
                  <a:solidFill>
                    <a:srgbClr val="8A004F"/>
                  </a:solidFill>
                  <a:latin typeface="Calibri (MS) Bold"/>
                  <a:ea typeface="Calibri (MS) Bold"/>
                  <a:cs typeface="Calibri (MS) Bold"/>
                  <a:sym typeface="Calibri (MS) Bold"/>
                </a:rPr>
                <a:t>quien convierte señales técnicas en decisiones</a:t>
              </a:r>
              <a:r>
                <a:rPr lang="en-US" sz="2200">
                  <a:solidFill>
                    <a:srgbClr val="111111"/>
                  </a:solidFill>
                  <a:latin typeface="Calibri (MS)"/>
                  <a:ea typeface="Calibri (MS)"/>
                  <a:cs typeface="Calibri (MS)"/>
                  <a:sym typeface="Calibri (MS)"/>
                </a:rPr>
                <a:t>. La automatización y el SOAR ya filtran gran parte del ruido. Lo que el analista aporta es criterio: saber qué está viendo, qué significa y qué hacer con eso.</a:t>
              </a:r>
            </a:p>
          </p:txBody>
        </p:sp>
      </p:grpSp>
      <p:grpSp>
        <p:nvGrpSpPr>
          <p:cNvPr name="Group 27" id="27"/>
          <p:cNvGrpSpPr/>
          <p:nvPr/>
        </p:nvGrpSpPr>
        <p:grpSpPr>
          <a:xfrm rot="0">
            <a:off x="640080" y="3840480"/>
            <a:ext cx="17007840" cy="640080"/>
            <a:chOff x="0" y="0"/>
            <a:chExt cx="22677120" cy="853440"/>
          </a:xfrm>
        </p:grpSpPr>
        <p:sp>
          <p:nvSpPr>
            <p:cNvPr name="Freeform 28" id="28"/>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7">
                <a:alphaModFix amt="0"/>
              </a:blip>
              <a:stretch>
                <a:fillRect l="0" t="-467385" r="0" b="-467385"/>
              </a:stretch>
            </a:blipFill>
          </p:spPr>
        </p:sp>
      </p:grpSp>
      <p:grpSp>
        <p:nvGrpSpPr>
          <p:cNvPr name="Group 29" id="29"/>
          <p:cNvGrpSpPr/>
          <p:nvPr/>
        </p:nvGrpSpPr>
        <p:grpSpPr>
          <a:xfrm rot="0">
            <a:off x="640080" y="3804761"/>
            <a:ext cx="17007840" cy="675799"/>
            <a:chOff x="0" y="0"/>
            <a:chExt cx="22677120" cy="901065"/>
          </a:xfrm>
        </p:grpSpPr>
        <p:sp>
          <p:nvSpPr>
            <p:cNvPr name="Freeform 30" id="30"/>
            <p:cNvSpPr/>
            <p:nvPr/>
          </p:nvSpPr>
          <p:spPr>
            <a:xfrm flipH="false" flipV="false" rot="0">
              <a:off x="0" y="0"/>
              <a:ext cx="22677120" cy="901065"/>
            </a:xfrm>
            <a:custGeom>
              <a:avLst/>
              <a:gdLst/>
              <a:ahLst/>
              <a:cxnLst/>
              <a:rect r="r" b="b" t="t" l="l"/>
              <a:pathLst>
                <a:path h="901065" w="22677120">
                  <a:moveTo>
                    <a:pt x="0" y="0"/>
                  </a:moveTo>
                  <a:lnTo>
                    <a:pt x="22677120" y="0"/>
                  </a:lnTo>
                  <a:lnTo>
                    <a:pt x="22677120" y="901065"/>
                  </a:lnTo>
                  <a:lnTo>
                    <a:pt x="0" y="901065"/>
                  </a:lnTo>
                  <a:close/>
                </a:path>
              </a:pathLst>
            </a:custGeom>
            <a:blipFill>
              <a:blip r:embed="rId8">
                <a:alphaModFix amt="0"/>
              </a:blip>
              <a:stretch>
                <a:fillRect l="0" t="-440380" r="0" b="-440380"/>
              </a:stretch>
            </a:blipFill>
          </p:spPr>
        </p:sp>
        <p:sp>
          <p:nvSpPr>
            <p:cNvPr name="TextBox 31" id="31"/>
            <p:cNvSpPr txBox="true"/>
            <p:nvPr/>
          </p:nvSpPr>
          <p:spPr>
            <a:xfrm>
              <a:off x="0" y="-47625"/>
              <a:ext cx="22677120" cy="94869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¿Por qué el criterio importa más que el triage mecánico?</a:t>
              </a:r>
            </a:p>
          </p:txBody>
        </p:sp>
      </p:grpSp>
      <p:grpSp>
        <p:nvGrpSpPr>
          <p:cNvPr name="Group 32" id="32"/>
          <p:cNvGrpSpPr/>
          <p:nvPr/>
        </p:nvGrpSpPr>
        <p:grpSpPr>
          <a:xfrm rot="0">
            <a:off x="640080" y="4517136"/>
            <a:ext cx="17007840" cy="1005840"/>
            <a:chOff x="0" y="0"/>
            <a:chExt cx="22677120" cy="1341120"/>
          </a:xfrm>
        </p:grpSpPr>
        <p:sp>
          <p:nvSpPr>
            <p:cNvPr name="Freeform 33" id="33"/>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7">
                <a:alphaModFix amt="0"/>
              </a:blip>
              <a:stretch>
                <a:fillRect l="0" t="-279245" r="0" b="-279245"/>
              </a:stretch>
            </a:blipFill>
          </p:spPr>
        </p:sp>
      </p:grpSp>
      <p:grpSp>
        <p:nvGrpSpPr>
          <p:cNvPr name="Group 34" id="34"/>
          <p:cNvGrpSpPr/>
          <p:nvPr/>
        </p:nvGrpSpPr>
        <p:grpSpPr>
          <a:xfrm rot="0">
            <a:off x="640080" y="4481417"/>
            <a:ext cx="17007840" cy="1041559"/>
            <a:chOff x="0" y="0"/>
            <a:chExt cx="22677120" cy="1388745"/>
          </a:xfrm>
        </p:grpSpPr>
        <p:sp>
          <p:nvSpPr>
            <p:cNvPr name="Freeform 35" id="35"/>
            <p:cNvSpPr/>
            <p:nvPr/>
          </p:nvSpPr>
          <p:spPr>
            <a:xfrm flipH="false" flipV="false" rot="0">
              <a:off x="0" y="0"/>
              <a:ext cx="22677120" cy="1388745"/>
            </a:xfrm>
            <a:custGeom>
              <a:avLst/>
              <a:gdLst/>
              <a:ahLst/>
              <a:cxnLst/>
              <a:rect r="r" b="b" t="t" l="l"/>
              <a:pathLst>
                <a:path h="1388745" w="22677120">
                  <a:moveTo>
                    <a:pt x="0" y="0"/>
                  </a:moveTo>
                  <a:lnTo>
                    <a:pt x="22677120" y="0"/>
                  </a:lnTo>
                  <a:lnTo>
                    <a:pt x="22677120" y="1388745"/>
                  </a:lnTo>
                  <a:lnTo>
                    <a:pt x="0" y="1388745"/>
                  </a:lnTo>
                  <a:close/>
                </a:path>
              </a:pathLst>
            </a:custGeom>
            <a:blipFill>
              <a:blip r:embed="rId8">
                <a:alphaModFix amt="0"/>
              </a:blip>
              <a:stretch>
                <a:fillRect l="0" t="-268175" r="0" b="-268175"/>
              </a:stretch>
            </a:blipFill>
          </p:spPr>
        </p:sp>
        <p:sp>
          <p:nvSpPr>
            <p:cNvPr name="TextBox 36" id="36"/>
            <p:cNvSpPr txBox="true"/>
            <p:nvPr/>
          </p:nvSpPr>
          <p:spPr>
            <a:xfrm>
              <a:off x="0" y="-47625"/>
              <a:ext cx="2267712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Porque en el SOC moderno, las herramientas pueden detectar y enriquecer. El analista es quien valida, interpreta y decide. Una alerta no es una conclusión: es una pregunta que requiere contexto, evidencia y criterio.</a:t>
              </a:r>
            </a:p>
          </p:txBody>
        </p:sp>
      </p:grpSp>
      <p:sp>
        <p:nvSpPr>
          <p:cNvPr name="Freeform 37" id="37"/>
          <p:cNvSpPr/>
          <p:nvPr/>
        </p:nvSpPr>
        <p:spPr>
          <a:xfrm flipH="false" flipV="false" rot="0">
            <a:off x="2687987" y="5789690"/>
            <a:ext cx="3032349" cy="1140506"/>
          </a:xfrm>
          <a:custGeom>
            <a:avLst/>
            <a:gdLst/>
            <a:ahLst/>
            <a:cxnLst/>
            <a:rect r="r" b="b" t="t" l="l"/>
            <a:pathLst>
              <a:path h="1140506" w="3032349">
                <a:moveTo>
                  <a:pt x="0" y="0"/>
                </a:moveTo>
                <a:lnTo>
                  <a:pt x="3032348" y="0"/>
                </a:lnTo>
                <a:lnTo>
                  <a:pt x="3032348" y="1140507"/>
                </a:lnTo>
                <a:lnTo>
                  <a:pt x="0" y="114050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2697716" y="5799420"/>
            <a:ext cx="3012934" cy="1121092"/>
            <a:chOff x="0" y="0"/>
            <a:chExt cx="5242560" cy="1950720"/>
          </a:xfrm>
        </p:grpSpPr>
        <p:sp>
          <p:nvSpPr>
            <p:cNvPr name="Freeform 39" id="39"/>
            <p:cNvSpPr/>
            <p:nvPr/>
          </p:nvSpPr>
          <p:spPr>
            <a:xfrm flipH="false" flipV="false" rot="0">
              <a:off x="0" y="0"/>
              <a:ext cx="5242560" cy="1950720"/>
            </a:xfrm>
            <a:custGeom>
              <a:avLst/>
              <a:gdLst/>
              <a:ahLst/>
              <a:cxnLst/>
              <a:rect r="r" b="b" t="t" l="l"/>
              <a:pathLst>
                <a:path h="1950720" w="5242560">
                  <a:moveTo>
                    <a:pt x="0" y="0"/>
                  </a:moveTo>
                  <a:lnTo>
                    <a:pt x="5242560" y="0"/>
                  </a:lnTo>
                  <a:lnTo>
                    <a:pt x="5242560" y="1950720"/>
                  </a:lnTo>
                  <a:lnTo>
                    <a:pt x="0" y="1950720"/>
                  </a:lnTo>
                  <a:close/>
                </a:path>
              </a:pathLst>
            </a:custGeom>
            <a:blipFill>
              <a:blip r:embed="rId7">
                <a:alphaModFix amt="0"/>
              </a:blip>
              <a:stretch>
                <a:fillRect l="0" t="-2329" r="0" b="-2330"/>
              </a:stretch>
            </a:blipFill>
          </p:spPr>
        </p:sp>
      </p:grpSp>
      <p:grpSp>
        <p:nvGrpSpPr>
          <p:cNvPr name="Group 40" id="40"/>
          <p:cNvGrpSpPr/>
          <p:nvPr/>
        </p:nvGrpSpPr>
        <p:grpSpPr>
          <a:xfrm rot="0">
            <a:off x="2697716" y="5777523"/>
            <a:ext cx="3012934" cy="1142988"/>
            <a:chOff x="0" y="0"/>
            <a:chExt cx="5242560" cy="1988820"/>
          </a:xfrm>
        </p:grpSpPr>
        <p:sp>
          <p:nvSpPr>
            <p:cNvPr name="Freeform 41" id="41"/>
            <p:cNvSpPr/>
            <p:nvPr/>
          </p:nvSpPr>
          <p:spPr>
            <a:xfrm flipH="false" flipV="false" rot="0">
              <a:off x="0" y="0"/>
              <a:ext cx="5242560" cy="1988820"/>
            </a:xfrm>
            <a:custGeom>
              <a:avLst/>
              <a:gdLst/>
              <a:ahLst/>
              <a:cxnLst/>
              <a:rect r="r" b="b" t="t" l="l"/>
              <a:pathLst>
                <a:path h="1988820" w="5242560">
                  <a:moveTo>
                    <a:pt x="0" y="0"/>
                  </a:moveTo>
                  <a:lnTo>
                    <a:pt x="5242560" y="0"/>
                  </a:lnTo>
                  <a:lnTo>
                    <a:pt x="5242560" y="1988820"/>
                  </a:lnTo>
                  <a:lnTo>
                    <a:pt x="0" y="1988820"/>
                  </a:lnTo>
                  <a:close/>
                </a:path>
              </a:pathLst>
            </a:custGeom>
            <a:blipFill>
              <a:blip r:embed="rId8">
                <a:alphaModFix amt="0"/>
              </a:blip>
              <a:stretch>
                <a:fillRect l="0" t="-1362" r="0" b="-1362"/>
              </a:stretch>
            </a:blipFill>
          </p:spPr>
        </p:sp>
        <p:sp>
          <p:nvSpPr>
            <p:cNvPr name="TextBox 42" id="42"/>
            <p:cNvSpPr txBox="true"/>
            <p:nvPr/>
          </p:nvSpPr>
          <p:spPr>
            <a:xfrm>
              <a:off x="0" y="-38100"/>
              <a:ext cx="5242560" cy="20269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Detectás acceso</a:t>
              </a:r>
            </a:p>
            <a:p>
              <a:pPr algn="ctr">
                <a:lnSpc>
                  <a:spcPts val="2400"/>
                </a:lnSpc>
              </a:pPr>
              <a:r>
                <a:rPr lang="en-US" sz="2000" b="true">
                  <a:solidFill>
                    <a:srgbClr val="FFFFFF"/>
                  </a:solidFill>
                  <a:latin typeface="Calibri (MS) Bold"/>
                  <a:ea typeface="Calibri (MS) Bold"/>
                  <a:cs typeface="Calibri (MS) Bold"/>
                  <a:sym typeface="Calibri (MS) Bold"/>
                </a:rPr>
                <a:t>sospechoso</a:t>
              </a:r>
            </a:p>
          </p:txBody>
        </p:sp>
      </p:grpSp>
      <p:grpSp>
        <p:nvGrpSpPr>
          <p:cNvPr name="Group 43" id="43"/>
          <p:cNvGrpSpPr/>
          <p:nvPr/>
        </p:nvGrpSpPr>
        <p:grpSpPr>
          <a:xfrm rot="0">
            <a:off x="5738677" y="5799420"/>
            <a:ext cx="252246" cy="1121092"/>
            <a:chOff x="0" y="0"/>
            <a:chExt cx="438912" cy="1950720"/>
          </a:xfrm>
        </p:grpSpPr>
        <p:sp>
          <p:nvSpPr>
            <p:cNvPr name="Freeform 44" id="44"/>
            <p:cNvSpPr/>
            <p:nvPr/>
          </p:nvSpPr>
          <p:spPr>
            <a:xfrm flipH="false" flipV="false" rot="0">
              <a:off x="0" y="0"/>
              <a:ext cx="438912" cy="1950720"/>
            </a:xfrm>
            <a:custGeom>
              <a:avLst/>
              <a:gdLst/>
              <a:ahLst/>
              <a:cxnLst/>
              <a:rect r="r" b="b" t="t" l="l"/>
              <a:pathLst>
                <a:path h="1950720" w="438912">
                  <a:moveTo>
                    <a:pt x="0" y="0"/>
                  </a:moveTo>
                  <a:lnTo>
                    <a:pt x="438912" y="0"/>
                  </a:lnTo>
                  <a:lnTo>
                    <a:pt x="438912" y="1950720"/>
                  </a:lnTo>
                  <a:lnTo>
                    <a:pt x="0" y="1950720"/>
                  </a:lnTo>
                  <a:close/>
                </a:path>
              </a:pathLst>
            </a:custGeom>
            <a:blipFill>
              <a:blip r:embed="rId7">
                <a:alphaModFix amt="0"/>
              </a:blip>
              <a:stretch>
                <a:fillRect l="-520633" t="0" r="-520636" b="0"/>
              </a:stretch>
            </a:blipFill>
          </p:spPr>
        </p:sp>
      </p:grpSp>
      <p:grpSp>
        <p:nvGrpSpPr>
          <p:cNvPr name="Group 45" id="45"/>
          <p:cNvGrpSpPr/>
          <p:nvPr/>
        </p:nvGrpSpPr>
        <p:grpSpPr>
          <a:xfrm rot="0">
            <a:off x="5738677" y="5761101"/>
            <a:ext cx="252246" cy="1159410"/>
            <a:chOff x="0" y="0"/>
            <a:chExt cx="438912" cy="2017395"/>
          </a:xfrm>
        </p:grpSpPr>
        <p:sp>
          <p:nvSpPr>
            <p:cNvPr name="Freeform 46" id="46"/>
            <p:cNvSpPr/>
            <p:nvPr/>
          </p:nvSpPr>
          <p:spPr>
            <a:xfrm flipH="false" flipV="false" rot="0">
              <a:off x="0" y="0"/>
              <a:ext cx="438912" cy="2017395"/>
            </a:xfrm>
            <a:custGeom>
              <a:avLst/>
              <a:gdLst/>
              <a:ahLst/>
              <a:cxnLst/>
              <a:rect r="r" b="b" t="t" l="l"/>
              <a:pathLst>
                <a:path h="2017395" w="438912">
                  <a:moveTo>
                    <a:pt x="0" y="0"/>
                  </a:moveTo>
                  <a:lnTo>
                    <a:pt x="438912" y="0"/>
                  </a:lnTo>
                  <a:lnTo>
                    <a:pt x="438912" y="2017395"/>
                  </a:lnTo>
                  <a:lnTo>
                    <a:pt x="0" y="2017395"/>
                  </a:lnTo>
                  <a:close/>
                </a:path>
              </a:pathLst>
            </a:custGeom>
            <a:blipFill>
              <a:blip r:embed="rId8">
                <a:alphaModFix amt="0"/>
              </a:blip>
              <a:stretch>
                <a:fillRect l="-539728" t="0" r="-539728" b="0"/>
              </a:stretch>
            </a:blipFill>
          </p:spPr>
        </p:sp>
        <p:sp>
          <p:nvSpPr>
            <p:cNvPr name="TextBox 47" id="47"/>
            <p:cNvSpPr txBox="true"/>
            <p:nvPr/>
          </p:nvSpPr>
          <p:spPr>
            <a:xfrm>
              <a:off x="0" y="-66675"/>
              <a:ext cx="438912" cy="20840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8" id="48"/>
          <p:cNvSpPr/>
          <p:nvPr/>
        </p:nvSpPr>
        <p:spPr>
          <a:xfrm flipH="false" flipV="false" rot="0">
            <a:off x="5981194" y="5789690"/>
            <a:ext cx="3032349" cy="1140506"/>
          </a:xfrm>
          <a:custGeom>
            <a:avLst/>
            <a:gdLst/>
            <a:ahLst/>
            <a:cxnLst/>
            <a:rect r="r" b="b" t="t" l="l"/>
            <a:pathLst>
              <a:path h="1140506" w="3032349">
                <a:moveTo>
                  <a:pt x="0" y="0"/>
                </a:moveTo>
                <a:lnTo>
                  <a:pt x="3032348" y="0"/>
                </a:lnTo>
                <a:lnTo>
                  <a:pt x="3032348" y="1140507"/>
                </a:lnTo>
                <a:lnTo>
                  <a:pt x="0" y="114050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9" id="49"/>
          <p:cNvGrpSpPr/>
          <p:nvPr/>
        </p:nvGrpSpPr>
        <p:grpSpPr>
          <a:xfrm rot="0">
            <a:off x="5990923" y="5799420"/>
            <a:ext cx="3012934" cy="1121092"/>
            <a:chOff x="0" y="0"/>
            <a:chExt cx="5242560" cy="1950720"/>
          </a:xfrm>
        </p:grpSpPr>
        <p:sp>
          <p:nvSpPr>
            <p:cNvPr name="Freeform 50" id="50"/>
            <p:cNvSpPr/>
            <p:nvPr/>
          </p:nvSpPr>
          <p:spPr>
            <a:xfrm flipH="false" flipV="false" rot="0">
              <a:off x="0" y="0"/>
              <a:ext cx="5242560" cy="1950720"/>
            </a:xfrm>
            <a:custGeom>
              <a:avLst/>
              <a:gdLst/>
              <a:ahLst/>
              <a:cxnLst/>
              <a:rect r="r" b="b" t="t" l="l"/>
              <a:pathLst>
                <a:path h="1950720" w="5242560">
                  <a:moveTo>
                    <a:pt x="0" y="0"/>
                  </a:moveTo>
                  <a:lnTo>
                    <a:pt x="5242560" y="0"/>
                  </a:lnTo>
                  <a:lnTo>
                    <a:pt x="5242560" y="1950720"/>
                  </a:lnTo>
                  <a:lnTo>
                    <a:pt x="0" y="1950720"/>
                  </a:lnTo>
                  <a:close/>
                </a:path>
              </a:pathLst>
            </a:custGeom>
            <a:blipFill>
              <a:blip r:embed="rId7">
                <a:alphaModFix amt="0"/>
              </a:blip>
              <a:stretch>
                <a:fillRect l="0" t="-2329" r="0" b="-2330"/>
              </a:stretch>
            </a:blipFill>
          </p:spPr>
        </p:sp>
      </p:grpSp>
      <p:grpSp>
        <p:nvGrpSpPr>
          <p:cNvPr name="Group 51" id="51"/>
          <p:cNvGrpSpPr/>
          <p:nvPr/>
        </p:nvGrpSpPr>
        <p:grpSpPr>
          <a:xfrm rot="0">
            <a:off x="5990923" y="5777523"/>
            <a:ext cx="3012934" cy="1142988"/>
            <a:chOff x="0" y="0"/>
            <a:chExt cx="5242560" cy="1988820"/>
          </a:xfrm>
        </p:grpSpPr>
        <p:sp>
          <p:nvSpPr>
            <p:cNvPr name="Freeform 52" id="52"/>
            <p:cNvSpPr/>
            <p:nvPr/>
          </p:nvSpPr>
          <p:spPr>
            <a:xfrm flipH="false" flipV="false" rot="0">
              <a:off x="0" y="0"/>
              <a:ext cx="5242560" cy="1988820"/>
            </a:xfrm>
            <a:custGeom>
              <a:avLst/>
              <a:gdLst/>
              <a:ahLst/>
              <a:cxnLst/>
              <a:rect r="r" b="b" t="t" l="l"/>
              <a:pathLst>
                <a:path h="1988820" w="5242560">
                  <a:moveTo>
                    <a:pt x="0" y="0"/>
                  </a:moveTo>
                  <a:lnTo>
                    <a:pt x="5242560" y="0"/>
                  </a:lnTo>
                  <a:lnTo>
                    <a:pt x="5242560" y="1988820"/>
                  </a:lnTo>
                  <a:lnTo>
                    <a:pt x="0" y="1988820"/>
                  </a:lnTo>
                  <a:close/>
                </a:path>
              </a:pathLst>
            </a:custGeom>
            <a:blipFill>
              <a:blip r:embed="rId8">
                <a:alphaModFix amt="0"/>
              </a:blip>
              <a:stretch>
                <a:fillRect l="0" t="-1362" r="0" b="-1362"/>
              </a:stretch>
            </a:blipFill>
          </p:spPr>
        </p:sp>
        <p:sp>
          <p:nvSpPr>
            <p:cNvPr name="TextBox 53" id="53"/>
            <p:cNvSpPr txBox="true"/>
            <p:nvPr/>
          </p:nvSpPr>
          <p:spPr>
            <a:xfrm>
              <a:off x="0" y="-38100"/>
              <a:ext cx="5242560" cy="20269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Lo documentás</a:t>
              </a:r>
            </a:p>
          </p:txBody>
        </p:sp>
      </p:grpSp>
      <p:grpSp>
        <p:nvGrpSpPr>
          <p:cNvPr name="Group 54" id="54"/>
          <p:cNvGrpSpPr/>
          <p:nvPr/>
        </p:nvGrpSpPr>
        <p:grpSpPr>
          <a:xfrm rot="0">
            <a:off x="9031884" y="5799420"/>
            <a:ext cx="252246" cy="1121092"/>
            <a:chOff x="0" y="0"/>
            <a:chExt cx="438912" cy="1950720"/>
          </a:xfrm>
        </p:grpSpPr>
        <p:sp>
          <p:nvSpPr>
            <p:cNvPr name="Freeform 55" id="55"/>
            <p:cNvSpPr/>
            <p:nvPr/>
          </p:nvSpPr>
          <p:spPr>
            <a:xfrm flipH="false" flipV="false" rot="0">
              <a:off x="0" y="0"/>
              <a:ext cx="438912" cy="1950720"/>
            </a:xfrm>
            <a:custGeom>
              <a:avLst/>
              <a:gdLst/>
              <a:ahLst/>
              <a:cxnLst/>
              <a:rect r="r" b="b" t="t" l="l"/>
              <a:pathLst>
                <a:path h="1950720" w="438912">
                  <a:moveTo>
                    <a:pt x="0" y="0"/>
                  </a:moveTo>
                  <a:lnTo>
                    <a:pt x="438912" y="0"/>
                  </a:lnTo>
                  <a:lnTo>
                    <a:pt x="438912" y="1950720"/>
                  </a:lnTo>
                  <a:lnTo>
                    <a:pt x="0" y="1950720"/>
                  </a:lnTo>
                  <a:close/>
                </a:path>
              </a:pathLst>
            </a:custGeom>
            <a:blipFill>
              <a:blip r:embed="rId7">
                <a:alphaModFix amt="0"/>
              </a:blip>
              <a:stretch>
                <a:fillRect l="-520633" t="0" r="-520636" b="0"/>
              </a:stretch>
            </a:blipFill>
          </p:spPr>
        </p:sp>
      </p:grpSp>
      <p:grpSp>
        <p:nvGrpSpPr>
          <p:cNvPr name="Group 56" id="56"/>
          <p:cNvGrpSpPr/>
          <p:nvPr/>
        </p:nvGrpSpPr>
        <p:grpSpPr>
          <a:xfrm rot="0">
            <a:off x="9031884" y="5761101"/>
            <a:ext cx="252246" cy="1159410"/>
            <a:chOff x="0" y="0"/>
            <a:chExt cx="438912" cy="2017395"/>
          </a:xfrm>
        </p:grpSpPr>
        <p:sp>
          <p:nvSpPr>
            <p:cNvPr name="Freeform 57" id="57"/>
            <p:cNvSpPr/>
            <p:nvPr/>
          </p:nvSpPr>
          <p:spPr>
            <a:xfrm flipH="false" flipV="false" rot="0">
              <a:off x="0" y="0"/>
              <a:ext cx="438912" cy="2017395"/>
            </a:xfrm>
            <a:custGeom>
              <a:avLst/>
              <a:gdLst/>
              <a:ahLst/>
              <a:cxnLst/>
              <a:rect r="r" b="b" t="t" l="l"/>
              <a:pathLst>
                <a:path h="2017395" w="438912">
                  <a:moveTo>
                    <a:pt x="0" y="0"/>
                  </a:moveTo>
                  <a:lnTo>
                    <a:pt x="438912" y="0"/>
                  </a:lnTo>
                  <a:lnTo>
                    <a:pt x="438912" y="2017395"/>
                  </a:lnTo>
                  <a:lnTo>
                    <a:pt x="0" y="2017395"/>
                  </a:lnTo>
                  <a:close/>
                </a:path>
              </a:pathLst>
            </a:custGeom>
            <a:blipFill>
              <a:blip r:embed="rId8">
                <a:alphaModFix amt="0"/>
              </a:blip>
              <a:stretch>
                <a:fillRect l="-539728" t="0" r="-539728" b="0"/>
              </a:stretch>
            </a:blipFill>
          </p:spPr>
        </p:sp>
        <p:sp>
          <p:nvSpPr>
            <p:cNvPr name="TextBox 58" id="58"/>
            <p:cNvSpPr txBox="true"/>
            <p:nvPr/>
          </p:nvSpPr>
          <p:spPr>
            <a:xfrm>
              <a:off x="0" y="-66675"/>
              <a:ext cx="438912" cy="20840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59" id="59"/>
          <p:cNvSpPr/>
          <p:nvPr/>
        </p:nvSpPr>
        <p:spPr>
          <a:xfrm flipH="false" flipV="false" rot="0">
            <a:off x="9274401" y="5789690"/>
            <a:ext cx="3032349" cy="1140506"/>
          </a:xfrm>
          <a:custGeom>
            <a:avLst/>
            <a:gdLst/>
            <a:ahLst/>
            <a:cxnLst/>
            <a:rect r="r" b="b" t="t" l="l"/>
            <a:pathLst>
              <a:path h="1140506" w="3032349">
                <a:moveTo>
                  <a:pt x="0" y="0"/>
                </a:moveTo>
                <a:lnTo>
                  <a:pt x="3032348" y="0"/>
                </a:lnTo>
                <a:lnTo>
                  <a:pt x="3032348" y="1140507"/>
                </a:lnTo>
                <a:lnTo>
                  <a:pt x="0" y="114050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60" id="60"/>
          <p:cNvGrpSpPr/>
          <p:nvPr/>
        </p:nvGrpSpPr>
        <p:grpSpPr>
          <a:xfrm rot="0">
            <a:off x="9284130" y="5799420"/>
            <a:ext cx="3012934" cy="1121092"/>
            <a:chOff x="0" y="0"/>
            <a:chExt cx="5242560" cy="1950720"/>
          </a:xfrm>
        </p:grpSpPr>
        <p:sp>
          <p:nvSpPr>
            <p:cNvPr name="Freeform 61" id="61"/>
            <p:cNvSpPr/>
            <p:nvPr/>
          </p:nvSpPr>
          <p:spPr>
            <a:xfrm flipH="false" flipV="false" rot="0">
              <a:off x="0" y="0"/>
              <a:ext cx="5242560" cy="1950720"/>
            </a:xfrm>
            <a:custGeom>
              <a:avLst/>
              <a:gdLst/>
              <a:ahLst/>
              <a:cxnLst/>
              <a:rect r="r" b="b" t="t" l="l"/>
              <a:pathLst>
                <a:path h="1950720" w="5242560">
                  <a:moveTo>
                    <a:pt x="0" y="0"/>
                  </a:moveTo>
                  <a:lnTo>
                    <a:pt x="5242560" y="0"/>
                  </a:lnTo>
                  <a:lnTo>
                    <a:pt x="5242560" y="1950720"/>
                  </a:lnTo>
                  <a:lnTo>
                    <a:pt x="0" y="1950720"/>
                  </a:lnTo>
                  <a:close/>
                </a:path>
              </a:pathLst>
            </a:custGeom>
            <a:blipFill>
              <a:blip r:embed="rId7">
                <a:alphaModFix amt="0"/>
              </a:blip>
              <a:stretch>
                <a:fillRect l="0" t="-2329" r="0" b="-2330"/>
              </a:stretch>
            </a:blipFill>
          </p:spPr>
        </p:sp>
      </p:grpSp>
      <p:grpSp>
        <p:nvGrpSpPr>
          <p:cNvPr name="Group 62" id="62"/>
          <p:cNvGrpSpPr/>
          <p:nvPr/>
        </p:nvGrpSpPr>
        <p:grpSpPr>
          <a:xfrm rot="0">
            <a:off x="9284130" y="5777523"/>
            <a:ext cx="3012934" cy="1142988"/>
            <a:chOff x="0" y="0"/>
            <a:chExt cx="5242560" cy="1988820"/>
          </a:xfrm>
        </p:grpSpPr>
        <p:sp>
          <p:nvSpPr>
            <p:cNvPr name="Freeform 63" id="63"/>
            <p:cNvSpPr/>
            <p:nvPr/>
          </p:nvSpPr>
          <p:spPr>
            <a:xfrm flipH="false" flipV="false" rot="0">
              <a:off x="0" y="0"/>
              <a:ext cx="5242560" cy="1988820"/>
            </a:xfrm>
            <a:custGeom>
              <a:avLst/>
              <a:gdLst/>
              <a:ahLst/>
              <a:cxnLst/>
              <a:rect r="r" b="b" t="t" l="l"/>
              <a:pathLst>
                <a:path h="1988820" w="5242560">
                  <a:moveTo>
                    <a:pt x="0" y="0"/>
                  </a:moveTo>
                  <a:lnTo>
                    <a:pt x="5242560" y="0"/>
                  </a:lnTo>
                  <a:lnTo>
                    <a:pt x="5242560" y="1988820"/>
                  </a:lnTo>
                  <a:lnTo>
                    <a:pt x="0" y="1988820"/>
                  </a:lnTo>
                  <a:close/>
                </a:path>
              </a:pathLst>
            </a:custGeom>
            <a:blipFill>
              <a:blip r:embed="rId8">
                <a:alphaModFix amt="0"/>
              </a:blip>
              <a:stretch>
                <a:fillRect l="0" t="-1362" r="0" b="-1362"/>
              </a:stretch>
            </a:blipFill>
          </p:spPr>
        </p:sp>
        <p:sp>
          <p:nvSpPr>
            <p:cNvPr name="TextBox 64" id="64"/>
            <p:cNvSpPr txBox="true"/>
            <p:nvPr/>
          </p:nvSpPr>
          <p:spPr>
            <a:xfrm>
              <a:off x="0" y="-38100"/>
              <a:ext cx="5242560" cy="20269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Verificás si hay</a:t>
              </a:r>
            </a:p>
            <a:p>
              <a:pPr algn="ctr">
                <a:lnSpc>
                  <a:spcPts val="2400"/>
                </a:lnSpc>
              </a:pPr>
              <a:r>
                <a:rPr lang="en-US" sz="2000" b="true">
                  <a:solidFill>
                    <a:srgbClr val="FFFFFF"/>
                  </a:solidFill>
                  <a:latin typeface="Calibri (MS) Bold"/>
                  <a:ea typeface="Calibri (MS) Bold"/>
                  <a:cs typeface="Calibri (MS) Bold"/>
                  <a:sym typeface="Calibri (MS) Bold"/>
                </a:rPr>
                <a:t>precedentes</a:t>
              </a:r>
            </a:p>
          </p:txBody>
        </p:sp>
      </p:grpSp>
      <p:grpSp>
        <p:nvGrpSpPr>
          <p:cNvPr name="Group 65" id="65"/>
          <p:cNvGrpSpPr/>
          <p:nvPr/>
        </p:nvGrpSpPr>
        <p:grpSpPr>
          <a:xfrm rot="0">
            <a:off x="12325091" y="5799420"/>
            <a:ext cx="252246" cy="1121092"/>
            <a:chOff x="0" y="0"/>
            <a:chExt cx="438912" cy="1950720"/>
          </a:xfrm>
        </p:grpSpPr>
        <p:sp>
          <p:nvSpPr>
            <p:cNvPr name="Freeform 66" id="66"/>
            <p:cNvSpPr/>
            <p:nvPr/>
          </p:nvSpPr>
          <p:spPr>
            <a:xfrm flipH="false" flipV="false" rot="0">
              <a:off x="0" y="0"/>
              <a:ext cx="438912" cy="1950720"/>
            </a:xfrm>
            <a:custGeom>
              <a:avLst/>
              <a:gdLst/>
              <a:ahLst/>
              <a:cxnLst/>
              <a:rect r="r" b="b" t="t" l="l"/>
              <a:pathLst>
                <a:path h="1950720" w="438912">
                  <a:moveTo>
                    <a:pt x="0" y="0"/>
                  </a:moveTo>
                  <a:lnTo>
                    <a:pt x="438912" y="0"/>
                  </a:lnTo>
                  <a:lnTo>
                    <a:pt x="438912" y="1950720"/>
                  </a:lnTo>
                  <a:lnTo>
                    <a:pt x="0" y="1950720"/>
                  </a:lnTo>
                  <a:close/>
                </a:path>
              </a:pathLst>
            </a:custGeom>
            <a:blipFill>
              <a:blip r:embed="rId7">
                <a:alphaModFix amt="0"/>
              </a:blip>
              <a:stretch>
                <a:fillRect l="-520633" t="0" r="-520636" b="0"/>
              </a:stretch>
            </a:blipFill>
          </p:spPr>
        </p:sp>
      </p:grpSp>
      <p:grpSp>
        <p:nvGrpSpPr>
          <p:cNvPr name="Group 67" id="67"/>
          <p:cNvGrpSpPr/>
          <p:nvPr/>
        </p:nvGrpSpPr>
        <p:grpSpPr>
          <a:xfrm rot="0">
            <a:off x="12325091" y="5761101"/>
            <a:ext cx="252246" cy="1159410"/>
            <a:chOff x="0" y="0"/>
            <a:chExt cx="438912" cy="2017395"/>
          </a:xfrm>
        </p:grpSpPr>
        <p:sp>
          <p:nvSpPr>
            <p:cNvPr name="Freeform 68" id="68"/>
            <p:cNvSpPr/>
            <p:nvPr/>
          </p:nvSpPr>
          <p:spPr>
            <a:xfrm flipH="false" flipV="false" rot="0">
              <a:off x="0" y="0"/>
              <a:ext cx="438912" cy="2017395"/>
            </a:xfrm>
            <a:custGeom>
              <a:avLst/>
              <a:gdLst/>
              <a:ahLst/>
              <a:cxnLst/>
              <a:rect r="r" b="b" t="t" l="l"/>
              <a:pathLst>
                <a:path h="2017395" w="438912">
                  <a:moveTo>
                    <a:pt x="0" y="0"/>
                  </a:moveTo>
                  <a:lnTo>
                    <a:pt x="438912" y="0"/>
                  </a:lnTo>
                  <a:lnTo>
                    <a:pt x="438912" y="2017395"/>
                  </a:lnTo>
                  <a:lnTo>
                    <a:pt x="0" y="2017395"/>
                  </a:lnTo>
                  <a:close/>
                </a:path>
              </a:pathLst>
            </a:custGeom>
            <a:blipFill>
              <a:blip r:embed="rId8">
                <a:alphaModFix amt="0"/>
              </a:blip>
              <a:stretch>
                <a:fillRect l="-539728" t="0" r="-539728" b="0"/>
              </a:stretch>
            </a:blipFill>
          </p:spPr>
        </p:sp>
        <p:sp>
          <p:nvSpPr>
            <p:cNvPr name="TextBox 69" id="69"/>
            <p:cNvSpPr txBox="true"/>
            <p:nvPr/>
          </p:nvSpPr>
          <p:spPr>
            <a:xfrm>
              <a:off x="0" y="-66675"/>
              <a:ext cx="438912" cy="20840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70" id="70"/>
          <p:cNvSpPr/>
          <p:nvPr/>
        </p:nvSpPr>
        <p:spPr>
          <a:xfrm flipH="false" flipV="false" rot="0">
            <a:off x="12567608" y="5789690"/>
            <a:ext cx="3032349" cy="1140506"/>
          </a:xfrm>
          <a:custGeom>
            <a:avLst/>
            <a:gdLst/>
            <a:ahLst/>
            <a:cxnLst/>
            <a:rect r="r" b="b" t="t" l="l"/>
            <a:pathLst>
              <a:path h="1140506" w="3032349">
                <a:moveTo>
                  <a:pt x="0" y="0"/>
                </a:moveTo>
                <a:lnTo>
                  <a:pt x="3032348" y="0"/>
                </a:lnTo>
                <a:lnTo>
                  <a:pt x="3032348" y="1140507"/>
                </a:lnTo>
                <a:lnTo>
                  <a:pt x="0" y="114050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1" id="71"/>
          <p:cNvGrpSpPr/>
          <p:nvPr/>
        </p:nvGrpSpPr>
        <p:grpSpPr>
          <a:xfrm rot="0">
            <a:off x="12577337" y="5799420"/>
            <a:ext cx="3012934" cy="1121092"/>
            <a:chOff x="0" y="0"/>
            <a:chExt cx="5242560" cy="1950720"/>
          </a:xfrm>
        </p:grpSpPr>
        <p:sp>
          <p:nvSpPr>
            <p:cNvPr name="Freeform 72" id="72"/>
            <p:cNvSpPr/>
            <p:nvPr/>
          </p:nvSpPr>
          <p:spPr>
            <a:xfrm flipH="false" flipV="false" rot="0">
              <a:off x="0" y="0"/>
              <a:ext cx="5242560" cy="1950720"/>
            </a:xfrm>
            <a:custGeom>
              <a:avLst/>
              <a:gdLst/>
              <a:ahLst/>
              <a:cxnLst/>
              <a:rect r="r" b="b" t="t" l="l"/>
              <a:pathLst>
                <a:path h="1950720" w="5242560">
                  <a:moveTo>
                    <a:pt x="0" y="0"/>
                  </a:moveTo>
                  <a:lnTo>
                    <a:pt x="5242560" y="0"/>
                  </a:lnTo>
                  <a:lnTo>
                    <a:pt x="5242560" y="1950720"/>
                  </a:lnTo>
                  <a:lnTo>
                    <a:pt x="0" y="1950720"/>
                  </a:lnTo>
                  <a:close/>
                </a:path>
              </a:pathLst>
            </a:custGeom>
            <a:blipFill>
              <a:blip r:embed="rId7">
                <a:alphaModFix amt="0"/>
              </a:blip>
              <a:stretch>
                <a:fillRect l="0" t="-2329" r="0" b="-2330"/>
              </a:stretch>
            </a:blipFill>
          </p:spPr>
        </p:sp>
      </p:grpSp>
      <p:grpSp>
        <p:nvGrpSpPr>
          <p:cNvPr name="Group 73" id="73"/>
          <p:cNvGrpSpPr/>
          <p:nvPr/>
        </p:nvGrpSpPr>
        <p:grpSpPr>
          <a:xfrm rot="0">
            <a:off x="12577337" y="5777523"/>
            <a:ext cx="3012934" cy="1142988"/>
            <a:chOff x="0" y="0"/>
            <a:chExt cx="5242560" cy="1988820"/>
          </a:xfrm>
        </p:grpSpPr>
        <p:sp>
          <p:nvSpPr>
            <p:cNvPr name="Freeform 74" id="74"/>
            <p:cNvSpPr/>
            <p:nvPr/>
          </p:nvSpPr>
          <p:spPr>
            <a:xfrm flipH="false" flipV="false" rot="0">
              <a:off x="0" y="0"/>
              <a:ext cx="5242560" cy="1988820"/>
            </a:xfrm>
            <a:custGeom>
              <a:avLst/>
              <a:gdLst/>
              <a:ahLst/>
              <a:cxnLst/>
              <a:rect r="r" b="b" t="t" l="l"/>
              <a:pathLst>
                <a:path h="1988820" w="5242560">
                  <a:moveTo>
                    <a:pt x="0" y="0"/>
                  </a:moveTo>
                  <a:lnTo>
                    <a:pt x="5242560" y="0"/>
                  </a:lnTo>
                  <a:lnTo>
                    <a:pt x="5242560" y="1988820"/>
                  </a:lnTo>
                  <a:lnTo>
                    <a:pt x="0" y="1988820"/>
                  </a:lnTo>
                  <a:close/>
                </a:path>
              </a:pathLst>
            </a:custGeom>
            <a:blipFill>
              <a:blip r:embed="rId8">
                <a:alphaModFix amt="0"/>
              </a:blip>
              <a:stretch>
                <a:fillRect l="0" t="-1362" r="0" b="-1362"/>
              </a:stretch>
            </a:blipFill>
          </p:spPr>
        </p:sp>
        <p:sp>
          <p:nvSpPr>
            <p:cNvPr name="TextBox 75" id="75"/>
            <p:cNvSpPr txBox="true"/>
            <p:nvPr/>
          </p:nvSpPr>
          <p:spPr>
            <a:xfrm>
              <a:off x="0" y="-38100"/>
              <a:ext cx="5242560" cy="20269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Escalás a L2</a:t>
              </a:r>
            </a:p>
            <a:p>
              <a:pPr algn="ctr">
                <a:lnSpc>
                  <a:spcPts val="2400"/>
                </a:lnSpc>
              </a:pPr>
              <a:r>
                <a:rPr lang="en-US" sz="2000" b="true">
                  <a:solidFill>
                    <a:srgbClr val="FFFFFF"/>
                  </a:solidFill>
                  <a:latin typeface="Calibri (MS) Bold"/>
                  <a:ea typeface="Calibri (MS) Bold"/>
                  <a:cs typeface="Calibri (MS) Bold"/>
                  <a:sym typeface="Calibri (MS) Bold"/>
                </a:rPr>
                <a:t>(si el riesgo es alto)</a:t>
              </a:r>
            </a:p>
          </p:txBody>
        </p:sp>
      </p:grpSp>
      <p:sp>
        <p:nvSpPr>
          <p:cNvPr name="Freeform 76" id="76"/>
          <p:cNvSpPr/>
          <p:nvPr/>
        </p:nvSpPr>
        <p:spPr>
          <a:xfrm flipH="false" flipV="false" rot="0">
            <a:off x="725872" y="7749097"/>
            <a:ext cx="14622340" cy="1144744"/>
          </a:xfrm>
          <a:custGeom>
            <a:avLst/>
            <a:gdLst/>
            <a:ahLst/>
            <a:cxnLst/>
            <a:rect r="r" b="b" t="t" l="l"/>
            <a:pathLst>
              <a:path h="1144744" w="14622340">
                <a:moveTo>
                  <a:pt x="0" y="0"/>
                </a:moveTo>
                <a:lnTo>
                  <a:pt x="14622340" y="0"/>
                </a:lnTo>
                <a:lnTo>
                  <a:pt x="14622340" y="1144744"/>
                </a:lnTo>
                <a:lnTo>
                  <a:pt x="0" y="114474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7" id="77"/>
          <p:cNvGrpSpPr/>
          <p:nvPr/>
        </p:nvGrpSpPr>
        <p:grpSpPr>
          <a:xfrm rot="0">
            <a:off x="950976" y="7680960"/>
            <a:ext cx="16459200" cy="1316736"/>
            <a:chOff x="0" y="0"/>
            <a:chExt cx="21945600" cy="1755648"/>
          </a:xfrm>
        </p:grpSpPr>
        <p:sp>
          <p:nvSpPr>
            <p:cNvPr name="Freeform 78" id="78"/>
            <p:cNvSpPr/>
            <p:nvPr/>
          </p:nvSpPr>
          <p:spPr>
            <a:xfrm flipH="false" flipV="false" rot="0">
              <a:off x="0" y="0"/>
              <a:ext cx="21945600" cy="1755648"/>
            </a:xfrm>
            <a:custGeom>
              <a:avLst/>
              <a:gdLst/>
              <a:ahLst/>
              <a:cxnLst/>
              <a:rect r="r" b="b" t="t" l="l"/>
              <a:pathLst>
                <a:path h="1755648" w="21945600">
                  <a:moveTo>
                    <a:pt x="0" y="0"/>
                  </a:moveTo>
                  <a:lnTo>
                    <a:pt x="21945600" y="0"/>
                  </a:lnTo>
                  <a:lnTo>
                    <a:pt x="21945600" y="1755648"/>
                  </a:lnTo>
                  <a:lnTo>
                    <a:pt x="0" y="1755648"/>
                  </a:lnTo>
                  <a:close/>
                </a:path>
              </a:pathLst>
            </a:custGeom>
            <a:blipFill>
              <a:blip r:embed="rId7">
                <a:alphaModFix amt="0"/>
              </a:blip>
              <a:stretch>
                <a:fillRect l="0" t="-193393" r="0" b="-193394"/>
              </a:stretch>
            </a:blipFill>
          </p:spPr>
        </p:sp>
      </p:grpSp>
      <p:grpSp>
        <p:nvGrpSpPr>
          <p:cNvPr name="Group 79" id="79"/>
          <p:cNvGrpSpPr/>
          <p:nvPr/>
        </p:nvGrpSpPr>
        <p:grpSpPr>
          <a:xfrm rot="0">
            <a:off x="950976" y="7645241"/>
            <a:ext cx="14243883" cy="1352455"/>
            <a:chOff x="0" y="0"/>
            <a:chExt cx="18991844" cy="1803273"/>
          </a:xfrm>
        </p:grpSpPr>
        <p:sp>
          <p:nvSpPr>
            <p:cNvPr name="Freeform 80" id="80"/>
            <p:cNvSpPr/>
            <p:nvPr/>
          </p:nvSpPr>
          <p:spPr>
            <a:xfrm flipH="false" flipV="false" rot="0">
              <a:off x="0" y="0"/>
              <a:ext cx="18991844" cy="1803273"/>
            </a:xfrm>
            <a:custGeom>
              <a:avLst/>
              <a:gdLst/>
              <a:ahLst/>
              <a:cxnLst/>
              <a:rect r="r" b="b" t="t" l="l"/>
              <a:pathLst>
                <a:path h="1803273" w="18991844">
                  <a:moveTo>
                    <a:pt x="0" y="0"/>
                  </a:moveTo>
                  <a:lnTo>
                    <a:pt x="18991844" y="0"/>
                  </a:lnTo>
                  <a:lnTo>
                    <a:pt x="18991844" y="1803273"/>
                  </a:lnTo>
                  <a:lnTo>
                    <a:pt x="0" y="1803273"/>
                  </a:lnTo>
                  <a:close/>
                </a:path>
              </a:pathLst>
            </a:custGeom>
            <a:blipFill>
              <a:blip r:embed="rId8">
                <a:alphaModFix amt="0"/>
              </a:blip>
              <a:stretch>
                <a:fillRect l="0" t="-187130" r="-15552" b="-187130"/>
              </a:stretch>
            </a:blipFill>
          </p:spPr>
        </p:sp>
        <p:sp>
          <p:nvSpPr>
            <p:cNvPr name="TextBox 81" id="81"/>
            <p:cNvSpPr txBox="true"/>
            <p:nvPr/>
          </p:nvSpPr>
          <p:spPr>
            <a:xfrm>
              <a:off x="0" y="-38100"/>
              <a:ext cx="18991844" cy="1841373"/>
            </a:xfrm>
            <a:prstGeom prst="rect">
              <a:avLst/>
            </a:prstGeom>
          </p:spPr>
          <p:txBody>
            <a:bodyPr anchor="ctr" rtlCol="false" tIns="0" lIns="0" bIns="0" rIns="0"/>
            <a:lstStyle/>
            <a:p>
              <a:pPr algn="l">
                <a:lnSpc>
                  <a:spcPts val="2278"/>
                </a:lnSpc>
              </a:pPr>
              <a:r>
                <a:rPr lang="en-US" sz="1899">
                  <a:solidFill>
                    <a:srgbClr val="111111"/>
                  </a:solidFill>
                  <a:latin typeface="Calibri (MS)"/>
                  <a:ea typeface="Calibri (MS)"/>
                  <a:cs typeface="Calibri (MS)"/>
                  <a:sym typeface="Calibri (MS)"/>
                </a:rPr>
                <a:t>El analista SOC moderno trabaja en coordinación con otros equipos: IR, IT, identidad, redes y negocio. </a:t>
              </a:r>
              <a:r>
                <a:rPr lang="en-US" sz="1899" b="true">
                  <a:solidFill>
                    <a:srgbClr val="111111"/>
                  </a:solidFill>
                  <a:latin typeface="Calibri (MS) Bold"/>
                  <a:ea typeface="Calibri (MS) Bold"/>
                  <a:cs typeface="Calibri (MS) Bold"/>
                  <a:sym typeface="Calibri (MS) Bold"/>
                </a:rPr>
                <a:t>Su trabajo define la calidad de cada escalamiento y la confianza que otros equipos depositan en el SOC.</a:t>
              </a:r>
            </a:p>
          </p:txBody>
        </p:sp>
      </p:grpSp>
      <p:grpSp>
        <p:nvGrpSpPr>
          <p:cNvPr name="Group 82" id="82"/>
          <p:cNvGrpSpPr/>
          <p:nvPr/>
        </p:nvGrpSpPr>
        <p:grpSpPr>
          <a:xfrm rot="0">
            <a:off x="15983863" y="24203"/>
            <a:ext cx="1855079" cy="1855079"/>
            <a:chOff x="0" y="0"/>
            <a:chExt cx="5852160" cy="5852160"/>
          </a:xfrm>
        </p:grpSpPr>
        <p:sp>
          <p:nvSpPr>
            <p:cNvPr name="Freeform 83" id="8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p.20</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42862"/>
            <a:ext cx="16824960" cy="1688783"/>
            <a:chOff x="0" y="0"/>
            <a:chExt cx="22433280" cy="2251710"/>
          </a:xfrm>
        </p:grpSpPr>
        <p:sp>
          <p:nvSpPr>
            <p:cNvPr name="Freeform 17" id="17"/>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6">
                <a:alphaModFix amt="0"/>
              </a:blip>
              <a:stretch>
                <a:fillRect l="0" t="-144125" r="0" b="-144125"/>
              </a:stretch>
            </a:blipFill>
          </p:spPr>
        </p:sp>
        <p:sp>
          <p:nvSpPr>
            <p:cNvPr name="TextBox 18" id="18"/>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Principales responsabilidades del Analista SOC Level 1</a:t>
              </a:r>
            </a:p>
          </p:txBody>
        </p:sp>
      </p:grpSp>
      <p:grpSp>
        <p:nvGrpSpPr>
          <p:cNvPr name="Group 19" id="19"/>
          <p:cNvGrpSpPr/>
          <p:nvPr/>
        </p:nvGrpSpPr>
        <p:grpSpPr>
          <a:xfrm rot="0">
            <a:off x="731520" y="1773936"/>
            <a:ext cx="16824960" cy="822960"/>
            <a:chOff x="0" y="0"/>
            <a:chExt cx="22433280" cy="1097280"/>
          </a:xfrm>
        </p:grpSpPr>
        <p:sp>
          <p:nvSpPr>
            <p:cNvPr name="Freeform 20" id="20"/>
            <p:cNvSpPr/>
            <p:nvPr/>
          </p:nvSpPr>
          <p:spPr>
            <a:xfrm flipH="false" flipV="false" rot="0">
              <a:off x="0" y="0"/>
              <a:ext cx="22433280" cy="1097280"/>
            </a:xfrm>
            <a:custGeom>
              <a:avLst/>
              <a:gdLst/>
              <a:ahLst/>
              <a:cxnLst/>
              <a:rect r="r" b="b" t="t" l="l"/>
              <a:pathLst>
                <a:path h="1097280" w="22433280">
                  <a:moveTo>
                    <a:pt x="0" y="0"/>
                  </a:moveTo>
                  <a:lnTo>
                    <a:pt x="22433280" y="0"/>
                  </a:lnTo>
                  <a:lnTo>
                    <a:pt x="22433280" y="1097280"/>
                  </a:lnTo>
                  <a:lnTo>
                    <a:pt x="0" y="1097280"/>
                  </a:lnTo>
                  <a:close/>
                </a:path>
              </a:pathLst>
            </a:custGeom>
            <a:blipFill>
              <a:blip r:embed="rId5">
                <a:alphaModFix amt="0"/>
              </a:blip>
              <a:stretch>
                <a:fillRect l="0" t="-348083" r="0" b="-348084"/>
              </a:stretch>
            </a:blipFill>
          </p:spPr>
        </p:sp>
      </p:grpSp>
      <p:grpSp>
        <p:nvGrpSpPr>
          <p:cNvPr name="Group 21" id="21"/>
          <p:cNvGrpSpPr/>
          <p:nvPr/>
        </p:nvGrpSpPr>
        <p:grpSpPr>
          <a:xfrm rot="0">
            <a:off x="731491" y="2091350"/>
            <a:ext cx="16824960" cy="865823"/>
            <a:chOff x="0" y="0"/>
            <a:chExt cx="22433280" cy="1154430"/>
          </a:xfrm>
        </p:grpSpPr>
        <p:sp>
          <p:nvSpPr>
            <p:cNvPr name="Freeform 22" id="22"/>
            <p:cNvSpPr/>
            <p:nvPr/>
          </p:nvSpPr>
          <p:spPr>
            <a:xfrm flipH="false" flipV="false" rot="0">
              <a:off x="0" y="0"/>
              <a:ext cx="22433280" cy="1154430"/>
            </a:xfrm>
            <a:custGeom>
              <a:avLst/>
              <a:gdLst/>
              <a:ahLst/>
              <a:cxnLst/>
              <a:rect r="r" b="b" t="t" l="l"/>
              <a:pathLst>
                <a:path h="1154430" w="22433280">
                  <a:moveTo>
                    <a:pt x="0" y="0"/>
                  </a:moveTo>
                  <a:lnTo>
                    <a:pt x="22433280" y="0"/>
                  </a:lnTo>
                  <a:lnTo>
                    <a:pt x="22433280" y="1154430"/>
                  </a:lnTo>
                  <a:lnTo>
                    <a:pt x="0" y="1154430"/>
                  </a:lnTo>
                  <a:close/>
                </a:path>
              </a:pathLst>
            </a:custGeom>
            <a:blipFill>
              <a:blip r:embed="rId6">
                <a:alphaModFix amt="0"/>
              </a:blip>
              <a:stretch>
                <a:fillRect l="0" t="-328639" r="0" b="-328639"/>
              </a:stretch>
            </a:blipFill>
          </p:spPr>
        </p:sp>
        <p:sp>
          <p:nvSpPr>
            <p:cNvPr name="TextBox 23" id="23"/>
            <p:cNvSpPr txBox="true"/>
            <p:nvPr/>
          </p:nvSpPr>
          <p:spPr>
            <a:xfrm>
              <a:off x="0" y="-57150"/>
              <a:ext cx="22433280" cy="1211580"/>
            </a:xfrm>
            <a:prstGeom prst="rect">
              <a:avLst/>
            </a:prstGeom>
          </p:spPr>
          <p:txBody>
            <a:bodyPr anchor="ctr" rtlCol="false" tIns="0" lIns="0" bIns="0" rIns="0"/>
            <a:lstStyle/>
            <a:p>
              <a:pPr algn="ctr">
                <a:lnSpc>
                  <a:spcPts val="3120"/>
                </a:lnSpc>
              </a:pPr>
              <a:r>
                <a:rPr lang="en-US" sz="2600">
                  <a:solidFill>
                    <a:srgbClr val="CCCCCC"/>
                  </a:solidFill>
                  <a:latin typeface="Calibri (MS)"/>
                  <a:ea typeface="Calibri (MS)"/>
                  <a:cs typeface="Calibri (MS)"/>
                  <a:sym typeface="Calibri (MS)"/>
                </a:rPr>
                <a:t>¿Qué hace realmente un analista SOC L1 en su día a día?</a:t>
              </a:r>
            </a:p>
          </p:txBody>
        </p:sp>
      </p:grpSp>
      <p:sp>
        <p:nvSpPr>
          <p:cNvPr name="Freeform 24" id="24"/>
          <p:cNvSpPr/>
          <p:nvPr/>
        </p:nvSpPr>
        <p:spPr>
          <a:xfrm flipH="false" flipV="false" rot="0">
            <a:off x="682247" y="3673703"/>
            <a:ext cx="3170872" cy="3170872"/>
          </a:xfrm>
          <a:custGeom>
            <a:avLst/>
            <a:gdLst/>
            <a:ahLst/>
            <a:cxnLst/>
            <a:rect r="r" b="b" t="t" l="l"/>
            <a:pathLst>
              <a:path h="3170872" w="3170872">
                <a:moveTo>
                  <a:pt x="0" y="0"/>
                </a:moveTo>
                <a:lnTo>
                  <a:pt x="3170873" y="0"/>
                </a:lnTo>
                <a:lnTo>
                  <a:pt x="3170873" y="3170873"/>
                </a:lnTo>
                <a:lnTo>
                  <a:pt x="0" y="31708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694944" y="3686400"/>
            <a:ext cx="3145536" cy="3145536"/>
            <a:chOff x="0" y="0"/>
            <a:chExt cx="4194048" cy="4194048"/>
          </a:xfrm>
        </p:grpSpPr>
        <p:sp>
          <p:nvSpPr>
            <p:cNvPr name="Freeform 26" id="26"/>
            <p:cNvSpPr/>
            <p:nvPr/>
          </p:nvSpPr>
          <p:spPr>
            <a:xfrm flipH="false" flipV="false" rot="0">
              <a:off x="0" y="0"/>
              <a:ext cx="4194048" cy="4194048"/>
            </a:xfrm>
            <a:custGeom>
              <a:avLst/>
              <a:gdLst/>
              <a:ahLst/>
              <a:cxnLst/>
              <a:rect r="r" b="b" t="t" l="l"/>
              <a:pathLst>
                <a:path h="4194048" w="4194048">
                  <a:moveTo>
                    <a:pt x="0" y="0"/>
                  </a:moveTo>
                  <a:lnTo>
                    <a:pt x="4194048" y="0"/>
                  </a:lnTo>
                  <a:lnTo>
                    <a:pt x="4194048" y="4194048"/>
                  </a:lnTo>
                  <a:lnTo>
                    <a:pt x="0" y="4194048"/>
                  </a:lnTo>
                  <a:close/>
                </a:path>
              </a:pathLst>
            </a:custGeom>
            <a:blipFill>
              <a:blip r:embed="rId5">
                <a:alphaModFix amt="0"/>
              </a:blip>
              <a:stretch>
                <a:fillRect l="-78392" t="0" r="-78392" b="0"/>
              </a:stretch>
            </a:blipFill>
          </p:spPr>
        </p:sp>
      </p:grpSp>
      <p:grpSp>
        <p:nvGrpSpPr>
          <p:cNvPr name="Group 27" id="27"/>
          <p:cNvGrpSpPr/>
          <p:nvPr/>
        </p:nvGrpSpPr>
        <p:grpSpPr>
          <a:xfrm rot="0">
            <a:off x="694944" y="3650682"/>
            <a:ext cx="3145536" cy="3181255"/>
            <a:chOff x="0" y="0"/>
            <a:chExt cx="4194048" cy="4241673"/>
          </a:xfrm>
        </p:grpSpPr>
        <p:sp>
          <p:nvSpPr>
            <p:cNvPr name="Freeform 28" id="28"/>
            <p:cNvSpPr/>
            <p:nvPr/>
          </p:nvSpPr>
          <p:spPr>
            <a:xfrm flipH="false" flipV="false" rot="0">
              <a:off x="0" y="0"/>
              <a:ext cx="4194048" cy="4241673"/>
            </a:xfrm>
            <a:custGeom>
              <a:avLst/>
              <a:gdLst/>
              <a:ahLst/>
              <a:cxnLst/>
              <a:rect r="r" b="b" t="t" l="l"/>
              <a:pathLst>
                <a:path h="4241673" w="4194048">
                  <a:moveTo>
                    <a:pt x="0" y="0"/>
                  </a:moveTo>
                  <a:lnTo>
                    <a:pt x="4194048" y="0"/>
                  </a:lnTo>
                  <a:lnTo>
                    <a:pt x="4194048" y="4241673"/>
                  </a:lnTo>
                  <a:lnTo>
                    <a:pt x="0" y="4241673"/>
                  </a:lnTo>
                  <a:close/>
                </a:path>
              </a:pathLst>
            </a:custGeom>
            <a:blipFill>
              <a:blip r:embed="rId6">
                <a:alphaModFix amt="0"/>
              </a:blip>
              <a:stretch>
                <a:fillRect l="-79760" t="0" r="-79760" b="0"/>
              </a:stretch>
            </a:blipFill>
          </p:spPr>
        </p:sp>
        <p:sp>
          <p:nvSpPr>
            <p:cNvPr name="TextBox 29" id="29"/>
            <p:cNvSpPr txBox="true"/>
            <p:nvPr/>
          </p:nvSpPr>
          <p:spPr>
            <a:xfrm>
              <a:off x="0" y="-47625"/>
              <a:ext cx="4194048" cy="4289298"/>
            </a:xfrm>
            <a:prstGeom prst="rect">
              <a:avLst/>
            </a:prstGeom>
          </p:spPr>
          <p:txBody>
            <a:bodyPr anchor="ctr" rtlCol="false" tIns="0" lIns="0" bIns="0" rIns="0"/>
            <a:lstStyle/>
            <a:p>
              <a:pPr algn="ctr">
                <a:lnSpc>
                  <a:spcPts val="2520"/>
                </a:lnSpc>
              </a:pPr>
            </a:p>
            <a:p>
              <a:pPr algn="ctr">
                <a:lnSpc>
                  <a:spcPts val="2520"/>
                </a:lnSpc>
              </a:pPr>
            </a:p>
            <a:p>
              <a:pPr algn="ctr">
                <a:lnSpc>
                  <a:spcPts val="2520"/>
                </a:lnSpc>
              </a:pPr>
              <a:r>
                <a:rPr lang="en-US" sz="2100" b="true">
                  <a:solidFill>
                    <a:srgbClr val="FFFFFF"/>
                  </a:solidFill>
                  <a:latin typeface="Calibri (MS) Bold"/>
                  <a:ea typeface="Calibri (MS) Bold"/>
                  <a:cs typeface="Calibri (MS) Bold"/>
                  <a:sym typeface="Calibri (MS) Bold"/>
                </a:rPr>
                <a:t>Monitorear</a:t>
              </a:r>
            </a:p>
            <a:p>
              <a:pPr algn="ctr">
                <a:lnSpc>
                  <a:spcPts val="2520"/>
                </a:lnSpc>
              </a:pPr>
              <a:r>
                <a:rPr lang="en-US" sz="2100" b="true">
                  <a:solidFill>
                    <a:srgbClr val="FFFFFF"/>
                  </a:solidFill>
                  <a:latin typeface="Calibri (MS) Bold"/>
                  <a:ea typeface="Calibri (MS) Bold"/>
                  <a:cs typeface="Calibri (MS) Bold"/>
                  <a:sym typeface="Calibri (MS) Bold"/>
                </a:rPr>
                <a:t>eventos y alertas</a:t>
              </a:r>
            </a:p>
          </p:txBody>
        </p:sp>
      </p:grpSp>
      <p:grpSp>
        <p:nvGrpSpPr>
          <p:cNvPr name="Group 30" id="30"/>
          <p:cNvGrpSpPr/>
          <p:nvPr/>
        </p:nvGrpSpPr>
        <p:grpSpPr>
          <a:xfrm rot="0">
            <a:off x="3218688" y="3741264"/>
            <a:ext cx="548640" cy="54864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5">
                <a:alphaModFix amt="0"/>
              </a:blip>
              <a:stretch>
                <a:fillRect l="-78392" t="0" r="-78394" b="0"/>
              </a:stretch>
            </a:blipFill>
          </p:spPr>
        </p:sp>
      </p:grpSp>
      <p:grpSp>
        <p:nvGrpSpPr>
          <p:cNvPr name="Group 32" id="32"/>
          <p:cNvGrpSpPr/>
          <p:nvPr/>
        </p:nvGrpSpPr>
        <p:grpSpPr>
          <a:xfrm rot="0">
            <a:off x="3218688" y="3719833"/>
            <a:ext cx="548640" cy="570071"/>
            <a:chOff x="0" y="0"/>
            <a:chExt cx="731520" cy="760095"/>
          </a:xfrm>
        </p:grpSpPr>
        <p:sp>
          <p:nvSpPr>
            <p:cNvPr name="Freeform 33" id="33"/>
            <p:cNvSpPr/>
            <p:nvPr/>
          </p:nvSpPr>
          <p:spPr>
            <a:xfrm flipH="false" flipV="false" rot="0">
              <a:off x="0" y="0"/>
              <a:ext cx="731520" cy="760095"/>
            </a:xfrm>
            <a:custGeom>
              <a:avLst/>
              <a:gdLst/>
              <a:ahLst/>
              <a:cxnLst/>
              <a:rect r="r" b="b" t="t" l="l"/>
              <a:pathLst>
                <a:path h="760095" w="731520">
                  <a:moveTo>
                    <a:pt x="0" y="0"/>
                  </a:moveTo>
                  <a:lnTo>
                    <a:pt x="731520" y="0"/>
                  </a:lnTo>
                  <a:lnTo>
                    <a:pt x="731520" y="760095"/>
                  </a:lnTo>
                  <a:lnTo>
                    <a:pt x="0" y="760095"/>
                  </a:lnTo>
                  <a:close/>
                </a:path>
              </a:pathLst>
            </a:custGeom>
            <a:blipFill>
              <a:blip r:embed="rId6">
                <a:alphaModFix amt="0"/>
              </a:blip>
              <a:stretch>
                <a:fillRect l="-83315" t="0" r="-83315" b="0"/>
              </a:stretch>
            </a:blipFill>
          </p:spPr>
        </p:sp>
        <p:sp>
          <p:nvSpPr>
            <p:cNvPr name="TextBox 34" id="34"/>
            <p:cNvSpPr txBox="true"/>
            <p:nvPr/>
          </p:nvSpPr>
          <p:spPr>
            <a:xfrm>
              <a:off x="0" y="-28575"/>
              <a:ext cx="731520" cy="788670"/>
            </a:xfrm>
            <a:prstGeom prst="rect">
              <a:avLst/>
            </a:prstGeom>
          </p:spPr>
          <p:txBody>
            <a:bodyPr anchor="ctr" rtlCol="false" tIns="0" lIns="0" bIns="0" rIns="0"/>
            <a:lstStyle/>
            <a:p>
              <a:pPr algn="l">
                <a:lnSpc>
                  <a:spcPts val="1919"/>
                </a:lnSpc>
              </a:pPr>
              <a:r>
                <a:rPr lang="en-US" sz="1599" b="true">
                  <a:solidFill>
                    <a:srgbClr val="1A73C0"/>
                  </a:solidFill>
                  <a:latin typeface="Calibri (MS) Bold"/>
                  <a:ea typeface="Calibri (MS) Bold"/>
                  <a:cs typeface="Calibri (MS) Bold"/>
                  <a:sym typeface="Calibri (MS) Bold"/>
                </a:rPr>
                <a:t>01</a:t>
              </a:r>
            </a:p>
          </p:txBody>
        </p:sp>
      </p:grpSp>
      <p:sp>
        <p:nvSpPr>
          <p:cNvPr name="Freeform 35" id="35"/>
          <p:cNvSpPr/>
          <p:nvPr/>
        </p:nvSpPr>
        <p:spPr>
          <a:xfrm flipH="false" flipV="false" rot="0">
            <a:off x="4120391" y="3673703"/>
            <a:ext cx="3170872" cy="3170872"/>
          </a:xfrm>
          <a:custGeom>
            <a:avLst/>
            <a:gdLst/>
            <a:ahLst/>
            <a:cxnLst/>
            <a:rect r="r" b="b" t="t" l="l"/>
            <a:pathLst>
              <a:path h="3170872" w="3170872">
                <a:moveTo>
                  <a:pt x="0" y="0"/>
                </a:moveTo>
                <a:lnTo>
                  <a:pt x="3170873" y="0"/>
                </a:lnTo>
                <a:lnTo>
                  <a:pt x="3170873" y="3170873"/>
                </a:lnTo>
                <a:lnTo>
                  <a:pt x="0" y="31708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4133088" y="3686400"/>
            <a:ext cx="3145536" cy="3145536"/>
            <a:chOff x="0" y="0"/>
            <a:chExt cx="4194048" cy="4194048"/>
          </a:xfrm>
        </p:grpSpPr>
        <p:sp>
          <p:nvSpPr>
            <p:cNvPr name="Freeform 37" id="37"/>
            <p:cNvSpPr/>
            <p:nvPr/>
          </p:nvSpPr>
          <p:spPr>
            <a:xfrm flipH="false" flipV="false" rot="0">
              <a:off x="0" y="0"/>
              <a:ext cx="4194048" cy="4194048"/>
            </a:xfrm>
            <a:custGeom>
              <a:avLst/>
              <a:gdLst/>
              <a:ahLst/>
              <a:cxnLst/>
              <a:rect r="r" b="b" t="t" l="l"/>
              <a:pathLst>
                <a:path h="4194048" w="4194048">
                  <a:moveTo>
                    <a:pt x="0" y="0"/>
                  </a:moveTo>
                  <a:lnTo>
                    <a:pt x="4194048" y="0"/>
                  </a:lnTo>
                  <a:lnTo>
                    <a:pt x="4194048" y="4194048"/>
                  </a:lnTo>
                  <a:lnTo>
                    <a:pt x="0" y="4194048"/>
                  </a:lnTo>
                  <a:close/>
                </a:path>
              </a:pathLst>
            </a:custGeom>
            <a:blipFill>
              <a:blip r:embed="rId5">
                <a:alphaModFix amt="0"/>
              </a:blip>
              <a:stretch>
                <a:fillRect l="-78392" t="0" r="-78392" b="0"/>
              </a:stretch>
            </a:blipFill>
          </p:spPr>
        </p:sp>
      </p:grpSp>
      <p:grpSp>
        <p:nvGrpSpPr>
          <p:cNvPr name="Group 38" id="38"/>
          <p:cNvGrpSpPr/>
          <p:nvPr/>
        </p:nvGrpSpPr>
        <p:grpSpPr>
          <a:xfrm rot="0">
            <a:off x="4133088" y="3650682"/>
            <a:ext cx="3145536" cy="3181255"/>
            <a:chOff x="0" y="0"/>
            <a:chExt cx="4194048" cy="4241673"/>
          </a:xfrm>
        </p:grpSpPr>
        <p:sp>
          <p:nvSpPr>
            <p:cNvPr name="Freeform 39" id="39"/>
            <p:cNvSpPr/>
            <p:nvPr/>
          </p:nvSpPr>
          <p:spPr>
            <a:xfrm flipH="false" flipV="false" rot="0">
              <a:off x="0" y="0"/>
              <a:ext cx="4194048" cy="4241673"/>
            </a:xfrm>
            <a:custGeom>
              <a:avLst/>
              <a:gdLst/>
              <a:ahLst/>
              <a:cxnLst/>
              <a:rect r="r" b="b" t="t" l="l"/>
              <a:pathLst>
                <a:path h="4241673" w="4194048">
                  <a:moveTo>
                    <a:pt x="0" y="0"/>
                  </a:moveTo>
                  <a:lnTo>
                    <a:pt x="4194048" y="0"/>
                  </a:lnTo>
                  <a:lnTo>
                    <a:pt x="4194048" y="4241673"/>
                  </a:lnTo>
                  <a:lnTo>
                    <a:pt x="0" y="4241673"/>
                  </a:lnTo>
                  <a:close/>
                </a:path>
              </a:pathLst>
            </a:custGeom>
            <a:blipFill>
              <a:blip r:embed="rId6">
                <a:alphaModFix amt="0"/>
              </a:blip>
              <a:stretch>
                <a:fillRect l="-79760" t="0" r="-79760" b="0"/>
              </a:stretch>
            </a:blipFill>
          </p:spPr>
        </p:sp>
        <p:sp>
          <p:nvSpPr>
            <p:cNvPr name="TextBox 40" id="40"/>
            <p:cNvSpPr txBox="true"/>
            <p:nvPr/>
          </p:nvSpPr>
          <p:spPr>
            <a:xfrm>
              <a:off x="0" y="-47625"/>
              <a:ext cx="4194048" cy="4289298"/>
            </a:xfrm>
            <a:prstGeom prst="rect">
              <a:avLst/>
            </a:prstGeom>
          </p:spPr>
          <p:txBody>
            <a:bodyPr anchor="ctr" rtlCol="false" tIns="0" lIns="0" bIns="0" rIns="0"/>
            <a:lstStyle/>
            <a:p>
              <a:pPr algn="ctr">
                <a:lnSpc>
                  <a:spcPts val="2520"/>
                </a:lnSpc>
              </a:pPr>
            </a:p>
            <a:p>
              <a:pPr algn="ctr">
                <a:lnSpc>
                  <a:spcPts val="2520"/>
                </a:lnSpc>
              </a:pPr>
            </a:p>
            <a:p>
              <a:pPr algn="ctr">
                <a:lnSpc>
                  <a:spcPts val="2520"/>
                </a:lnSpc>
              </a:pPr>
              <a:r>
                <a:rPr lang="en-US" sz="2100" b="true">
                  <a:solidFill>
                    <a:srgbClr val="FFFFFF"/>
                  </a:solidFill>
                  <a:latin typeface="Calibri (MS) Bold"/>
                  <a:ea typeface="Calibri (MS) Bold"/>
                  <a:cs typeface="Calibri (MS) Bold"/>
                  <a:sym typeface="Calibri (MS) Bold"/>
                </a:rPr>
                <a:t>Clasificar y</a:t>
              </a:r>
            </a:p>
            <a:p>
              <a:pPr algn="ctr">
                <a:lnSpc>
                  <a:spcPts val="2520"/>
                </a:lnSpc>
              </a:pPr>
              <a:r>
                <a:rPr lang="en-US" sz="2100" b="true">
                  <a:solidFill>
                    <a:srgbClr val="FFFFFF"/>
                  </a:solidFill>
                  <a:latin typeface="Calibri (MS) Bold"/>
                  <a:ea typeface="Calibri (MS) Bold"/>
                  <a:cs typeface="Calibri (MS) Bold"/>
                  <a:sym typeface="Calibri (MS) Bold"/>
                </a:rPr>
                <a:t>priorizar incidentes</a:t>
              </a:r>
            </a:p>
          </p:txBody>
        </p:sp>
      </p:grpSp>
      <p:grpSp>
        <p:nvGrpSpPr>
          <p:cNvPr name="Group 41" id="41"/>
          <p:cNvGrpSpPr/>
          <p:nvPr/>
        </p:nvGrpSpPr>
        <p:grpSpPr>
          <a:xfrm rot="0">
            <a:off x="6656832" y="3741264"/>
            <a:ext cx="548640" cy="548640"/>
            <a:chOff x="0" y="0"/>
            <a:chExt cx="731520" cy="731520"/>
          </a:xfrm>
        </p:grpSpPr>
        <p:sp>
          <p:nvSpPr>
            <p:cNvPr name="Freeform 42" id="42"/>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5">
                <a:alphaModFix amt="0"/>
              </a:blip>
              <a:stretch>
                <a:fillRect l="-78392" t="0" r="-78394" b="0"/>
              </a:stretch>
            </a:blipFill>
          </p:spPr>
        </p:sp>
      </p:grpSp>
      <p:grpSp>
        <p:nvGrpSpPr>
          <p:cNvPr name="Group 43" id="43"/>
          <p:cNvGrpSpPr/>
          <p:nvPr/>
        </p:nvGrpSpPr>
        <p:grpSpPr>
          <a:xfrm rot="0">
            <a:off x="6656832" y="3719833"/>
            <a:ext cx="548640" cy="570071"/>
            <a:chOff x="0" y="0"/>
            <a:chExt cx="731520" cy="760095"/>
          </a:xfrm>
        </p:grpSpPr>
        <p:sp>
          <p:nvSpPr>
            <p:cNvPr name="Freeform 44" id="44"/>
            <p:cNvSpPr/>
            <p:nvPr/>
          </p:nvSpPr>
          <p:spPr>
            <a:xfrm flipH="false" flipV="false" rot="0">
              <a:off x="0" y="0"/>
              <a:ext cx="731520" cy="760095"/>
            </a:xfrm>
            <a:custGeom>
              <a:avLst/>
              <a:gdLst/>
              <a:ahLst/>
              <a:cxnLst/>
              <a:rect r="r" b="b" t="t" l="l"/>
              <a:pathLst>
                <a:path h="760095" w="731520">
                  <a:moveTo>
                    <a:pt x="0" y="0"/>
                  </a:moveTo>
                  <a:lnTo>
                    <a:pt x="731520" y="0"/>
                  </a:lnTo>
                  <a:lnTo>
                    <a:pt x="731520" y="760095"/>
                  </a:lnTo>
                  <a:lnTo>
                    <a:pt x="0" y="760095"/>
                  </a:lnTo>
                  <a:close/>
                </a:path>
              </a:pathLst>
            </a:custGeom>
            <a:blipFill>
              <a:blip r:embed="rId6">
                <a:alphaModFix amt="0"/>
              </a:blip>
              <a:stretch>
                <a:fillRect l="-83315" t="0" r="-83315" b="0"/>
              </a:stretch>
            </a:blipFill>
          </p:spPr>
        </p:sp>
        <p:sp>
          <p:nvSpPr>
            <p:cNvPr name="TextBox 45" id="45"/>
            <p:cNvSpPr txBox="true"/>
            <p:nvPr/>
          </p:nvSpPr>
          <p:spPr>
            <a:xfrm>
              <a:off x="0" y="-28575"/>
              <a:ext cx="731520" cy="788670"/>
            </a:xfrm>
            <a:prstGeom prst="rect">
              <a:avLst/>
            </a:prstGeom>
          </p:spPr>
          <p:txBody>
            <a:bodyPr anchor="ctr" rtlCol="false" tIns="0" lIns="0" bIns="0" rIns="0"/>
            <a:lstStyle/>
            <a:p>
              <a:pPr algn="l">
                <a:lnSpc>
                  <a:spcPts val="1919"/>
                </a:lnSpc>
              </a:pPr>
              <a:r>
                <a:rPr lang="en-US" sz="1599" b="true">
                  <a:solidFill>
                    <a:srgbClr val="E07B00"/>
                  </a:solidFill>
                  <a:latin typeface="Calibri (MS) Bold"/>
                  <a:ea typeface="Calibri (MS) Bold"/>
                  <a:cs typeface="Calibri (MS) Bold"/>
                  <a:sym typeface="Calibri (MS) Bold"/>
                </a:rPr>
                <a:t>02</a:t>
              </a:r>
            </a:p>
          </p:txBody>
        </p:sp>
      </p:grpSp>
      <p:sp>
        <p:nvSpPr>
          <p:cNvPr name="Freeform 46" id="46"/>
          <p:cNvSpPr/>
          <p:nvPr/>
        </p:nvSpPr>
        <p:spPr>
          <a:xfrm flipH="false" flipV="false" rot="0">
            <a:off x="7558535" y="3673703"/>
            <a:ext cx="3170872" cy="3170872"/>
          </a:xfrm>
          <a:custGeom>
            <a:avLst/>
            <a:gdLst/>
            <a:ahLst/>
            <a:cxnLst/>
            <a:rect r="r" b="b" t="t" l="l"/>
            <a:pathLst>
              <a:path h="3170872" w="3170872">
                <a:moveTo>
                  <a:pt x="0" y="0"/>
                </a:moveTo>
                <a:lnTo>
                  <a:pt x="3170873" y="0"/>
                </a:lnTo>
                <a:lnTo>
                  <a:pt x="3170873" y="3170873"/>
                </a:lnTo>
                <a:lnTo>
                  <a:pt x="0" y="31708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7" id="47"/>
          <p:cNvGrpSpPr/>
          <p:nvPr/>
        </p:nvGrpSpPr>
        <p:grpSpPr>
          <a:xfrm rot="0">
            <a:off x="7571232" y="3686400"/>
            <a:ext cx="3145536" cy="3145536"/>
            <a:chOff x="0" y="0"/>
            <a:chExt cx="4194048" cy="4194048"/>
          </a:xfrm>
        </p:grpSpPr>
        <p:sp>
          <p:nvSpPr>
            <p:cNvPr name="Freeform 48" id="48"/>
            <p:cNvSpPr/>
            <p:nvPr/>
          </p:nvSpPr>
          <p:spPr>
            <a:xfrm flipH="false" flipV="false" rot="0">
              <a:off x="0" y="0"/>
              <a:ext cx="4194048" cy="4194048"/>
            </a:xfrm>
            <a:custGeom>
              <a:avLst/>
              <a:gdLst/>
              <a:ahLst/>
              <a:cxnLst/>
              <a:rect r="r" b="b" t="t" l="l"/>
              <a:pathLst>
                <a:path h="4194048" w="4194048">
                  <a:moveTo>
                    <a:pt x="0" y="0"/>
                  </a:moveTo>
                  <a:lnTo>
                    <a:pt x="4194048" y="0"/>
                  </a:lnTo>
                  <a:lnTo>
                    <a:pt x="4194048" y="4194048"/>
                  </a:lnTo>
                  <a:lnTo>
                    <a:pt x="0" y="4194048"/>
                  </a:lnTo>
                  <a:close/>
                </a:path>
              </a:pathLst>
            </a:custGeom>
            <a:blipFill>
              <a:blip r:embed="rId5">
                <a:alphaModFix amt="0"/>
              </a:blip>
              <a:stretch>
                <a:fillRect l="-78392" t="0" r="-78392" b="0"/>
              </a:stretch>
            </a:blipFill>
          </p:spPr>
        </p:sp>
      </p:grpSp>
      <p:grpSp>
        <p:nvGrpSpPr>
          <p:cNvPr name="Group 49" id="49"/>
          <p:cNvGrpSpPr/>
          <p:nvPr/>
        </p:nvGrpSpPr>
        <p:grpSpPr>
          <a:xfrm rot="0">
            <a:off x="7571232" y="3650682"/>
            <a:ext cx="3145536" cy="3181255"/>
            <a:chOff x="0" y="0"/>
            <a:chExt cx="4194048" cy="4241673"/>
          </a:xfrm>
        </p:grpSpPr>
        <p:sp>
          <p:nvSpPr>
            <p:cNvPr name="Freeform 50" id="50"/>
            <p:cNvSpPr/>
            <p:nvPr/>
          </p:nvSpPr>
          <p:spPr>
            <a:xfrm flipH="false" flipV="false" rot="0">
              <a:off x="0" y="0"/>
              <a:ext cx="4194048" cy="4241673"/>
            </a:xfrm>
            <a:custGeom>
              <a:avLst/>
              <a:gdLst/>
              <a:ahLst/>
              <a:cxnLst/>
              <a:rect r="r" b="b" t="t" l="l"/>
              <a:pathLst>
                <a:path h="4241673" w="4194048">
                  <a:moveTo>
                    <a:pt x="0" y="0"/>
                  </a:moveTo>
                  <a:lnTo>
                    <a:pt x="4194048" y="0"/>
                  </a:lnTo>
                  <a:lnTo>
                    <a:pt x="4194048" y="4241673"/>
                  </a:lnTo>
                  <a:lnTo>
                    <a:pt x="0" y="4241673"/>
                  </a:lnTo>
                  <a:close/>
                </a:path>
              </a:pathLst>
            </a:custGeom>
            <a:blipFill>
              <a:blip r:embed="rId6">
                <a:alphaModFix amt="0"/>
              </a:blip>
              <a:stretch>
                <a:fillRect l="-79760" t="0" r="-79760" b="0"/>
              </a:stretch>
            </a:blipFill>
          </p:spPr>
        </p:sp>
        <p:sp>
          <p:nvSpPr>
            <p:cNvPr name="TextBox 51" id="51"/>
            <p:cNvSpPr txBox="true"/>
            <p:nvPr/>
          </p:nvSpPr>
          <p:spPr>
            <a:xfrm>
              <a:off x="0" y="-47625"/>
              <a:ext cx="4194048" cy="4289298"/>
            </a:xfrm>
            <a:prstGeom prst="rect">
              <a:avLst/>
            </a:prstGeom>
          </p:spPr>
          <p:txBody>
            <a:bodyPr anchor="ctr" rtlCol="false" tIns="0" lIns="0" bIns="0" rIns="0"/>
            <a:lstStyle/>
            <a:p>
              <a:pPr algn="ctr">
                <a:lnSpc>
                  <a:spcPts val="2520"/>
                </a:lnSpc>
              </a:pPr>
            </a:p>
            <a:p>
              <a:pPr algn="ctr">
                <a:lnSpc>
                  <a:spcPts val="2520"/>
                </a:lnSpc>
              </a:pPr>
            </a:p>
            <a:p>
              <a:pPr algn="ctr">
                <a:lnSpc>
                  <a:spcPts val="2520"/>
                </a:lnSpc>
              </a:pPr>
              <a:r>
                <a:rPr lang="en-US" sz="2100" b="true">
                  <a:solidFill>
                    <a:srgbClr val="FFFFFF"/>
                  </a:solidFill>
                  <a:latin typeface="Calibri (MS) Bold"/>
                  <a:ea typeface="Calibri (MS) Bold"/>
                  <a:cs typeface="Calibri (MS) Bold"/>
                  <a:sym typeface="Calibri (MS) Bold"/>
                </a:rPr>
                <a:t>Aplicar playbooks</a:t>
              </a:r>
            </a:p>
            <a:p>
              <a:pPr algn="ctr">
                <a:lnSpc>
                  <a:spcPts val="2520"/>
                </a:lnSpc>
              </a:pPr>
              <a:r>
                <a:rPr lang="en-US" sz="2100" b="true">
                  <a:solidFill>
                    <a:srgbClr val="FFFFFF"/>
                  </a:solidFill>
                  <a:latin typeface="Calibri (MS) Bold"/>
                  <a:ea typeface="Calibri (MS) Bold"/>
                  <a:cs typeface="Calibri (MS) Bold"/>
                  <a:sym typeface="Calibri (MS) Bold"/>
                </a:rPr>
                <a:t>de triage</a:t>
              </a:r>
            </a:p>
          </p:txBody>
        </p:sp>
      </p:grpSp>
      <p:grpSp>
        <p:nvGrpSpPr>
          <p:cNvPr name="Group 52" id="52"/>
          <p:cNvGrpSpPr/>
          <p:nvPr/>
        </p:nvGrpSpPr>
        <p:grpSpPr>
          <a:xfrm rot="0">
            <a:off x="10094976" y="3741264"/>
            <a:ext cx="548640" cy="548640"/>
            <a:chOff x="0" y="0"/>
            <a:chExt cx="731520" cy="731520"/>
          </a:xfrm>
        </p:grpSpPr>
        <p:sp>
          <p:nvSpPr>
            <p:cNvPr name="Freeform 53" id="5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5">
                <a:alphaModFix amt="0"/>
              </a:blip>
              <a:stretch>
                <a:fillRect l="-78392" t="0" r="-78394" b="0"/>
              </a:stretch>
            </a:blipFill>
          </p:spPr>
        </p:sp>
      </p:grpSp>
      <p:grpSp>
        <p:nvGrpSpPr>
          <p:cNvPr name="Group 54" id="54"/>
          <p:cNvGrpSpPr/>
          <p:nvPr/>
        </p:nvGrpSpPr>
        <p:grpSpPr>
          <a:xfrm rot="0">
            <a:off x="10094976" y="3719833"/>
            <a:ext cx="548640" cy="570071"/>
            <a:chOff x="0" y="0"/>
            <a:chExt cx="731520" cy="760095"/>
          </a:xfrm>
        </p:grpSpPr>
        <p:sp>
          <p:nvSpPr>
            <p:cNvPr name="Freeform 55" id="55"/>
            <p:cNvSpPr/>
            <p:nvPr/>
          </p:nvSpPr>
          <p:spPr>
            <a:xfrm flipH="false" flipV="false" rot="0">
              <a:off x="0" y="0"/>
              <a:ext cx="731520" cy="760095"/>
            </a:xfrm>
            <a:custGeom>
              <a:avLst/>
              <a:gdLst/>
              <a:ahLst/>
              <a:cxnLst/>
              <a:rect r="r" b="b" t="t" l="l"/>
              <a:pathLst>
                <a:path h="760095" w="731520">
                  <a:moveTo>
                    <a:pt x="0" y="0"/>
                  </a:moveTo>
                  <a:lnTo>
                    <a:pt x="731520" y="0"/>
                  </a:lnTo>
                  <a:lnTo>
                    <a:pt x="731520" y="760095"/>
                  </a:lnTo>
                  <a:lnTo>
                    <a:pt x="0" y="760095"/>
                  </a:lnTo>
                  <a:close/>
                </a:path>
              </a:pathLst>
            </a:custGeom>
            <a:blipFill>
              <a:blip r:embed="rId6">
                <a:alphaModFix amt="0"/>
              </a:blip>
              <a:stretch>
                <a:fillRect l="-83315" t="0" r="-83315" b="0"/>
              </a:stretch>
            </a:blipFill>
          </p:spPr>
        </p:sp>
        <p:sp>
          <p:nvSpPr>
            <p:cNvPr name="TextBox 56" id="56"/>
            <p:cNvSpPr txBox="true"/>
            <p:nvPr/>
          </p:nvSpPr>
          <p:spPr>
            <a:xfrm>
              <a:off x="0" y="-28575"/>
              <a:ext cx="731520" cy="788670"/>
            </a:xfrm>
            <a:prstGeom prst="rect">
              <a:avLst/>
            </a:prstGeom>
          </p:spPr>
          <p:txBody>
            <a:bodyPr anchor="ctr" rtlCol="false" tIns="0" lIns="0" bIns="0" rIns="0"/>
            <a:lstStyle/>
            <a:p>
              <a:pPr algn="l">
                <a:lnSpc>
                  <a:spcPts val="1919"/>
                </a:lnSpc>
              </a:pPr>
              <a:r>
                <a:rPr lang="en-US" sz="1599" b="true">
                  <a:solidFill>
                    <a:srgbClr val="0E7B8C"/>
                  </a:solidFill>
                  <a:latin typeface="Calibri (MS) Bold"/>
                  <a:ea typeface="Calibri (MS) Bold"/>
                  <a:cs typeface="Calibri (MS) Bold"/>
                  <a:sym typeface="Calibri (MS) Bold"/>
                </a:rPr>
                <a:t>03</a:t>
              </a:r>
            </a:p>
          </p:txBody>
        </p:sp>
      </p:grpSp>
      <p:sp>
        <p:nvSpPr>
          <p:cNvPr name="Freeform 57" id="57"/>
          <p:cNvSpPr/>
          <p:nvPr/>
        </p:nvSpPr>
        <p:spPr>
          <a:xfrm flipH="false" flipV="false" rot="0">
            <a:off x="10996679" y="3673703"/>
            <a:ext cx="3170872" cy="3170872"/>
          </a:xfrm>
          <a:custGeom>
            <a:avLst/>
            <a:gdLst/>
            <a:ahLst/>
            <a:cxnLst/>
            <a:rect r="r" b="b" t="t" l="l"/>
            <a:pathLst>
              <a:path h="3170872" w="3170872">
                <a:moveTo>
                  <a:pt x="0" y="0"/>
                </a:moveTo>
                <a:lnTo>
                  <a:pt x="3170873" y="0"/>
                </a:lnTo>
                <a:lnTo>
                  <a:pt x="3170873" y="3170873"/>
                </a:lnTo>
                <a:lnTo>
                  <a:pt x="0" y="31708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8" id="58"/>
          <p:cNvGrpSpPr/>
          <p:nvPr/>
        </p:nvGrpSpPr>
        <p:grpSpPr>
          <a:xfrm rot="0">
            <a:off x="11009376" y="3686400"/>
            <a:ext cx="3145536" cy="3145536"/>
            <a:chOff x="0" y="0"/>
            <a:chExt cx="4194048" cy="4194048"/>
          </a:xfrm>
        </p:grpSpPr>
        <p:sp>
          <p:nvSpPr>
            <p:cNvPr name="Freeform 59" id="59"/>
            <p:cNvSpPr/>
            <p:nvPr/>
          </p:nvSpPr>
          <p:spPr>
            <a:xfrm flipH="false" flipV="false" rot="0">
              <a:off x="0" y="0"/>
              <a:ext cx="4194048" cy="4194048"/>
            </a:xfrm>
            <a:custGeom>
              <a:avLst/>
              <a:gdLst/>
              <a:ahLst/>
              <a:cxnLst/>
              <a:rect r="r" b="b" t="t" l="l"/>
              <a:pathLst>
                <a:path h="4194048" w="4194048">
                  <a:moveTo>
                    <a:pt x="0" y="0"/>
                  </a:moveTo>
                  <a:lnTo>
                    <a:pt x="4194048" y="0"/>
                  </a:lnTo>
                  <a:lnTo>
                    <a:pt x="4194048" y="4194048"/>
                  </a:lnTo>
                  <a:lnTo>
                    <a:pt x="0" y="4194048"/>
                  </a:lnTo>
                  <a:close/>
                </a:path>
              </a:pathLst>
            </a:custGeom>
            <a:blipFill>
              <a:blip r:embed="rId5">
                <a:alphaModFix amt="0"/>
              </a:blip>
              <a:stretch>
                <a:fillRect l="-78392" t="0" r="-78392" b="0"/>
              </a:stretch>
            </a:blipFill>
          </p:spPr>
        </p:sp>
      </p:grpSp>
      <p:grpSp>
        <p:nvGrpSpPr>
          <p:cNvPr name="Group 60" id="60"/>
          <p:cNvGrpSpPr/>
          <p:nvPr/>
        </p:nvGrpSpPr>
        <p:grpSpPr>
          <a:xfrm rot="0">
            <a:off x="11009376" y="3650682"/>
            <a:ext cx="3145536" cy="3181255"/>
            <a:chOff x="0" y="0"/>
            <a:chExt cx="4194048" cy="4241673"/>
          </a:xfrm>
        </p:grpSpPr>
        <p:sp>
          <p:nvSpPr>
            <p:cNvPr name="Freeform 61" id="61"/>
            <p:cNvSpPr/>
            <p:nvPr/>
          </p:nvSpPr>
          <p:spPr>
            <a:xfrm flipH="false" flipV="false" rot="0">
              <a:off x="0" y="0"/>
              <a:ext cx="4194048" cy="4241673"/>
            </a:xfrm>
            <a:custGeom>
              <a:avLst/>
              <a:gdLst/>
              <a:ahLst/>
              <a:cxnLst/>
              <a:rect r="r" b="b" t="t" l="l"/>
              <a:pathLst>
                <a:path h="4241673" w="4194048">
                  <a:moveTo>
                    <a:pt x="0" y="0"/>
                  </a:moveTo>
                  <a:lnTo>
                    <a:pt x="4194048" y="0"/>
                  </a:lnTo>
                  <a:lnTo>
                    <a:pt x="4194048" y="4241673"/>
                  </a:lnTo>
                  <a:lnTo>
                    <a:pt x="0" y="4241673"/>
                  </a:lnTo>
                  <a:close/>
                </a:path>
              </a:pathLst>
            </a:custGeom>
            <a:blipFill>
              <a:blip r:embed="rId6">
                <a:alphaModFix amt="0"/>
              </a:blip>
              <a:stretch>
                <a:fillRect l="-79760" t="0" r="-79760" b="0"/>
              </a:stretch>
            </a:blipFill>
          </p:spPr>
        </p:sp>
        <p:sp>
          <p:nvSpPr>
            <p:cNvPr name="TextBox 62" id="62"/>
            <p:cNvSpPr txBox="true"/>
            <p:nvPr/>
          </p:nvSpPr>
          <p:spPr>
            <a:xfrm>
              <a:off x="0" y="-47625"/>
              <a:ext cx="4194048" cy="4289298"/>
            </a:xfrm>
            <a:prstGeom prst="rect">
              <a:avLst/>
            </a:prstGeom>
          </p:spPr>
          <p:txBody>
            <a:bodyPr anchor="ctr" rtlCol="false" tIns="0" lIns="0" bIns="0" rIns="0"/>
            <a:lstStyle/>
            <a:p>
              <a:pPr algn="ctr">
                <a:lnSpc>
                  <a:spcPts val="2520"/>
                </a:lnSpc>
              </a:pPr>
            </a:p>
            <a:p>
              <a:pPr algn="ctr">
                <a:lnSpc>
                  <a:spcPts val="2520"/>
                </a:lnSpc>
              </a:pPr>
            </a:p>
            <a:p>
              <a:pPr algn="ctr">
                <a:lnSpc>
                  <a:spcPts val="2520"/>
                </a:lnSpc>
              </a:pPr>
              <a:r>
                <a:rPr lang="en-US" sz="2100" b="true">
                  <a:solidFill>
                    <a:srgbClr val="FFFFFF"/>
                  </a:solidFill>
                  <a:latin typeface="Calibri (MS) Bold"/>
                  <a:ea typeface="Calibri (MS) Bold"/>
                  <a:cs typeface="Calibri (MS) Bold"/>
                  <a:sym typeface="Calibri (MS) Bold"/>
                </a:rPr>
                <a:t>Escalar según</a:t>
              </a:r>
            </a:p>
            <a:p>
              <a:pPr algn="ctr">
                <a:lnSpc>
                  <a:spcPts val="2520"/>
                </a:lnSpc>
              </a:pPr>
              <a:r>
                <a:rPr lang="en-US" sz="2100" b="true">
                  <a:solidFill>
                    <a:srgbClr val="FFFFFF"/>
                  </a:solidFill>
                  <a:latin typeface="Calibri (MS) Bold"/>
                  <a:ea typeface="Calibri (MS) Bold"/>
                  <a:cs typeface="Calibri (MS) Bold"/>
                  <a:sym typeface="Calibri (MS) Bold"/>
                </a:rPr>
                <a:t>criticidad</a:t>
              </a:r>
            </a:p>
          </p:txBody>
        </p:sp>
      </p:grpSp>
      <p:grpSp>
        <p:nvGrpSpPr>
          <p:cNvPr name="Group 63" id="63"/>
          <p:cNvGrpSpPr/>
          <p:nvPr/>
        </p:nvGrpSpPr>
        <p:grpSpPr>
          <a:xfrm rot="0">
            <a:off x="13533120" y="3741264"/>
            <a:ext cx="548640" cy="548640"/>
            <a:chOff x="0" y="0"/>
            <a:chExt cx="731520" cy="731520"/>
          </a:xfrm>
        </p:grpSpPr>
        <p:sp>
          <p:nvSpPr>
            <p:cNvPr name="Freeform 64" id="6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5">
                <a:alphaModFix amt="0"/>
              </a:blip>
              <a:stretch>
                <a:fillRect l="-78392" t="0" r="-78394" b="0"/>
              </a:stretch>
            </a:blipFill>
          </p:spPr>
        </p:sp>
      </p:grpSp>
      <p:grpSp>
        <p:nvGrpSpPr>
          <p:cNvPr name="Group 65" id="65"/>
          <p:cNvGrpSpPr/>
          <p:nvPr/>
        </p:nvGrpSpPr>
        <p:grpSpPr>
          <a:xfrm rot="0">
            <a:off x="13533120" y="3719833"/>
            <a:ext cx="548640" cy="570071"/>
            <a:chOff x="0" y="0"/>
            <a:chExt cx="731520" cy="760095"/>
          </a:xfrm>
        </p:grpSpPr>
        <p:sp>
          <p:nvSpPr>
            <p:cNvPr name="Freeform 66" id="66"/>
            <p:cNvSpPr/>
            <p:nvPr/>
          </p:nvSpPr>
          <p:spPr>
            <a:xfrm flipH="false" flipV="false" rot="0">
              <a:off x="0" y="0"/>
              <a:ext cx="731520" cy="760095"/>
            </a:xfrm>
            <a:custGeom>
              <a:avLst/>
              <a:gdLst/>
              <a:ahLst/>
              <a:cxnLst/>
              <a:rect r="r" b="b" t="t" l="l"/>
              <a:pathLst>
                <a:path h="760095" w="731520">
                  <a:moveTo>
                    <a:pt x="0" y="0"/>
                  </a:moveTo>
                  <a:lnTo>
                    <a:pt x="731520" y="0"/>
                  </a:lnTo>
                  <a:lnTo>
                    <a:pt x="731520" y="760095"/>
                  </a:lnTo>
                  <a:lnTo>
                    <a:pt x="0" y="760095"/>
                  </a:lnTo>
                  <a:close/>
                </a:path>
              </a:pathLst>
            </a:custGeom>
            <a:blipFill>
              <a:blip r:embed="rId6">
                <a:alphaModFix amt="0"/>
              </a:blip>
              <a:stretch>
                <a:fillRect l="-83315" t="0" r="-83315" b="0"/>
              </a:stretch>
            </a:blipFill>
          </p:spPr>
        </p:sp>
        <p:sp>
          <p:nvSpPr>
            <p:cNvPr name="TextBox 67" id="67"/>
            <p:cNvSpPr txBox="true"/>
            <p:nvPr/>
          </p:nvSpPr>
          <p:spPr>
            <a:xfrm>
              <a:off x="0" y="-28575"/>
              <a:ext cx="731520" cy="788670"/>
            </a:xfrm>
            <a:prstGeom prst="rect">
              <a:avLst/>
            </a:prstGeom>
          </p:spPr>
          <p:txBody>
            <a:bodyPr anchor="ctr" rtlCol="false" tIns="0" lIns="0" bIns="0" rIns="0"/>
            <a:lstStyle/>
            <a:p>
              <a:pPr algn="l">
                <a:lnSpc>
                  <a:spcPts val="1919"/>
                </a:lnSpc>
              </a:pPr>
              <a:r>
                <a:rPr lang="en-US" sz="1599" b="true">
                  <a:solidFill>
                    <a:srgbClr val="C0392B"/>
                  </a:solidFill>
                  <a:latin typeface="Calibri (MS) Bold"/>
                  <a:ea typeface="Calibri (MS) Bold"/>
                  <a:cs typeface="Calibri (MS) Bold"/>
                  <a:sym typeface="Calibri (MS) Bold"/>
                </a:rPr>
                <a:t>04</a:t>
              </a:r>
            </a:p>
          </p:txBody>
        </p:sp>
      </p:grpSp>
      <p:sp>
        <p:nvSpPr>
          <p:cNvPr name="Freeform 68" id="68"/>
          <p:cNvSpPr/>
          <p:nvPr/>
        </p:nvSpPr>
        <p:spPr>
          <a:xfrm flipH="false" flipV="false" rot="0">
            <a:off x="14434823" y="3673703"/>
            <a:ext cx="3170872" cy="3170872"/>
          </a:xfrm>
          <a:custGeom>
            <a:avLst/>
            <a:gdLst/>
            <a:ahLst/>
            <a:cxnLst/>
            <a:rect r="r" b="b" t="t" l="l"/>
            <a:pathLst>
              <a:path h="3170872" w="3170872">
                <a:moveTo>
                  <a:pt x="0" y="0"/>
                </a:moveTo>
                <a:lnTo>
                  <a:pt x="3170873" y="0"/>
                </a:lnTo>
                <a:lnTo>
                  <a:pt x="3170873" y="3170873"/>
                </a:lnTo>
                <a:lnTo>
                  <a:pt x="0" y="317087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9" id="69"/>
          <p:cNvGrpSpPr/>
          <p:nvPr/>
        </p:nvGrpSpPr>
        <p:grpSpPr>
          <a:xfrm rot="0">
            <a:off x="14447520" y="3686400"/>
            <a:ext cx="3145536" cy="3145536"/>
            <a:chOff x="0" y="0"/>
            <a:chExt cx="4194048" cy="4194048"/>
          </a:xfrm>
        </p:grpSpPr>
        <p:sp>
          <p:nvSpPr>
            <p:cNvPr name="Freeform 70" id="70"/>
            <p:cNvSpPr/>
            <p:nvPr/>
          </p:nvSpPr>
          <p:spPr>
            <a:xfrm flipH="false" flipV="false" rot="0">
              <a:off x="0" y="0"/>
              <a:ext cx="4194048" cy="4194048"/>
            </a:xfrm>
            <a:custGeom>
              <a:avLst/>
              <a:gdLst/>
              <a:ahLst/>
              <a:cxnLst/>
              <a:rect r="r" b="b" t="t" l="l"/>
              <a:pathLst>
                <a:path h="4194048" w="4194048">
                  <a:moveTo>
                    <a:pt x="0" y="0"/>
                  </a:moveTo>
                  <a:lnTo>
                    <a:pt x="4194048" y="0"/>
                  </a:lnTo>
                  <a:lnTo>
                    <a:pt x="4194048" y="4194048"/>
                  </a:lnTo>
                  <a:lnTo>
                    <a:pt x="0" y="4194048"/>
                  </a:lnTo>
                  <a:close/>
                </a:path>
              </a:pathLst>
            </a:custGeom>
            <a:blipFill>
              <a:blip r:embed="rId5">
                <a:alphaModFix amt="0"/>
              </a:blip>
              <a:stretch>
                <a:fillRect l="-78392" t="0" r="-78392" b="0"/>
              </a:stretch>
            </a:blipFill>
          </p:spPr>
        </p:sp>
      </p:grpSp>
      <p:grpSp>
        <p:nvGrpSpPr>
          <p:cNvPr name="Group 71" id="71"/>
          <p:cNvGrpSpPr/>
          <p:nvPr/>
        </p:nvGrpSpPr>
        <p:grpSpPr>
          <a:xfrm rot="0">
            <a:off x="14447520" y="3650682"/>
            <a:ext cx="3145536" cy="3181255"/>
            <a:chOff x="0" y="0"/>
            <a:chExt cx="4194048" cy="4241673"/>
          </a:xfrm>
        </p:grpSpPr>
        <p:sp>
          <p:nvSpPr>
            <p:cNvPr name="Freeform 72" id="72"/>
            <p:cNvSpPr/>
            <p:nvPr/>
          </p:nvSpPr>
          <p:spPr>
            <a:xfrm flipH="false" flipV="false" rot="0">
              <a:off x="0" y="0"/>
              <a:ext cx="4194048" cy="4241673"/>
            </a:xfrm>
            <a:custGeom>
              <a:avLst/>
              <a:gdLst/>
              <a:ahLst/>
              <a:cxnLst/>
              <a:rect r="r" b="b" t="t" l="l"/>
              <a:pathLst>
                <a:path h="4241673" w="4194048">
                  <a:moveTo>
                    <a:pt x="0" y="0"/>
                  </a:moveTo>
                  <a:lnTo>
                    <a:pt x="4194048" y="0"/>
                  </a:lnTo>
                  <a:lnTo>
                    <a:pt x="4194048" y="4241673"/>
                  </a:lnTo>
                  <a:lnTo>
                    <a:pt x="0" y="4241673"/>
                  </a:lnTo>
                  <a:close/>
                </a:path>
              </a:pathLst>
            </a:custGeom>
            <a:blipFill>
              <a:blip r:embed="rId6">
                <a:alphaModFix amt="0"/>
              </a:blip>
              <a:stretch>
                <a:fillRect l="-79760" t="0" r="-79760" b="0"/>
              </a:stretch>
            </a:blipFill>
          </p:spPr>
        </p:sp>
        <p:sp>
          <p:nvSpPr>
            <p:cNvPr name="TextBox 73" id="73"/>
            <p:cNvSpPr txBox="true"/>
            <p:nvPr/>
          </p:nvSpPr>
          <p:spPr>
            <a:xfrm>
              <a:off x="0" y="-47625"/>
              <a:ext cx="4194048" cy="4289298"/>
            </a:xfrm>
            <a:prstGeom prst="rect">
              <a:avLst/>
            </a:prstGeom>
          </p:spPr>
          <p:txBody>
            <a:bodyPr anchor="ctr" rtlCol="false" tIns="0" lIns="0" bIns="0" rIns="0"/>
            <a:lstStyle/>
            <a:p>
              <a:pPr algn="ctr">
                <a:lnSpc>
                  <a:spcPts val="2520"/>
                </a:lnSpc>
              </a:pPr>
            </a:p>
            <a:p>
              <a:pPr algn="ctr">
                <a:lnSpc>
                  <a:spcPts val="2520"/>
                </a:lnSpc>
              </a:pPr>
            </a:p>
            <a:p>
              <a:pPr algn="ctr">
                <a:lnSpc>
                  <a:spcPts val="2520"/>
                </a:lnSpc>
              </a:pPr>
              <a:r>
                <a:rPr lang="en-US" sz="2100" b="true">
                  <a:solidFill>
                    <a:srgbClr val="FFFFFF"/>
                  </a:solidFill>
                  <a:latin typeface="Calibri (MS) Bold"/>
                  <a:ea typeface="Calibri (MS) Bold"/>
                  <a:cs typeface="Calibri (MS) Bold"/>
                  <a:sym typeface="Calibri (MS) Bold"/>
                </a:rPr>
                <a:t>Documentar</a:t>
              </a:r>
            </a:p>
            <a:p>
              <a:pPr algn="ctr">
                <a:lnSpc>
                  <a:spcPts val="2520"/>
                </a:lnSpc>
              </a:pPr>
              <a:r>
                <a:rPr lang="en-US" sz="2100" b="true">
                  <a:solidFill>
                    <a:srgbClr val="FFFFFF"/>
                  </a:solidFill>
                  <a:latin typeface="Calibri (MS) Bold"/>
                  <a:ea typeface="Calibri (MS) Bold"/>
                  <a:cs typeface="Calibri (MS) Bold"/>
                  <a:sym typeface="Calibri (MS) Bold"/>
                </a:rPr>
                <a:t>acciones y hallazgos</a:t>
              </a:r>
            </a:p>
          </p:txBody>
        </p:sp>
      </p:grpSp>
      <p:grpSp>
        <p:nvGrpSpPr>
          <p:cNvPr name="Group 74" id="74"/>
          <p:cNvGrpSpPr/>
          <p:nvPr/>
        </p:nvGrpSpPr>
        <p:grpSpPr>
          <a:xfrm rot="0">
            <a:off x="16971264" y="3741264"/>
            <a:ext cx="548640" cy="548640"/>
            <a:chOff x="0" y="0"/>
            <a:chExt cx="731520" cy="731520"/>
          </a:xfrm>
        </p:grpSpPr>
        <p:sp>
          <p:nvSpPr>
            <p:cNvPr name="Freeform 75" id="7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5">
                <a:alphaModFix amt="0"/>
              </a:blip>
              <a:stretch>
                <a:fillRect l="-78392" t="0" r="-78394" b="0"/>
              </a:stretch>
            </a:blipFill>
          </p:spPr>
        </p:sp>
      </p:grpSp>
      <p:grpSp>
        <p:nvGrpSpPr>
          <p:cNvPr name="Group 76" id="76"/>
          <p:cNvGrpSpPr/>
          <p:nvPr/>
        </p:nvGrpSpPr>
        <p:grpSpPr>
          <a:xfrm rot="0">
            <a:off x="16971264" y="3719833"/>
            <a:ext cx="548640" cy="570071"/>
            <a:chOff x="0" y="0"/>
            <a:chExt cx="731520" cy="760095"/>
          </a:xfrm>
        </p:grpSpPr>
        <p:sp>
          <p:nvSpPr>
            <p:cNvPr name="Freeform 77" id="77"/>
            <p:cNvSpPr/>
            <p:nvPr/>
          </p:nvSpPr>
          <p:spPr>
            <a:xfrm flipH="false" flipV="false" rot="0">
              <a:off x="0" y="0"/>
              <a:ext cx="731520" cy="760095"/>
            </a:xfrm>
            <a:custGeom>
              <a:avLst/>
              <a:gdLst/>
              <a:ahLst/>
              <a:cxnLst/>
              <a:rect r="r" b="b" t="t" l="l"/>
              <a:pathLst>
                <a:path h="760095" w="731520">
                  <a:moveTo>
                    <a:pt x="0" y="0"/>
                  </a:moveTo>
                  <a:lnTo>
                    <a:pt x="731520" y="0"/>
                  </a:lnTo>
                  <a:lnTo>
                    <a:pt x="731520" y="760095"/>
                  </a:lnTo>
                  <a:lnTo>
                    <a:pt x="0" y="760095"/>
                  </a:lnTo>
                  <a:close/>
                </a:path>
              </a:pathLst>
            </a:custGeom>
            <a:blipFill>
              <a:blip r:embed="rId6">
                <a:alphaModFix amt="0"/>
              </a:blip>
              <a:stretch>
                <a:fillRect l="-83315" t="0" r="-83315" b="0"/>
              </a:stretch>
            </a:blipFill>
          </p:spPr>
        </p:sp>
        <p:sp>
          <p:nvSpPr>
            <p:cNvPr name="TextBox 78" id="78"/>
            <p:cNvSpPr txBox="true"/>
            <p:nvPr/>
          </p:nvSpPr>
          <p:spPr>
            <a:xfrm>
              <a:off x="0" y="-28575"/>
              <a:ext cx="731520" cy="788670"/>
            </a:xfrm>
            <a:prstGeom prst="rect">
              <a:avLst/>
            </a:prstGeom>
          </p:spPr>
          <p:txBody>
            <a:bodyPr anchor="ctr" rtlCol="false" tIns="0" lIns="0" bIns="0" rIns="0"/>
            <a:lstStyle/>
            <a:p>
              <a:pPr algn="l">
                <a:lnSpc>
                  <a:spcPts val="1919"/>
                </a:lnSpc>
              </a:pPr>
              <a:r>
                <a:rPr lang="en-US" sz="1599" b="true">
                  <a:solidFill>
                    <a:srgbClr val="22A05B"/>
                  </a:solidFill>
                  <a:latin typeface="Calibri (MS) Bold"/>
                  <a:ea typeface="Calibri (MS) Bold"/>
                  <a:cs typeface="Calibri (MS) Bold"/>
                  <a:sym typeface="Calibri (MS) Bold"/>
                </a:rPr>
                <a:t>05</a:t>
              </a:r>
            </a:p>
          </p:txBody>
        </p:sp>
      </p:grpSp>
      <p:grpSp>
        <p:nvGrpSpPr>
          <p:cNvPr name="Group 79" id="79"/>
          <p:cNvGrpSpPr/>
          <p:nvPr/>
        </p:nvGrpSpPr>
        <p:grpSpPr>
          <a:xfrm rot="0">
            <a:off x="548640" y="7538085"/>
            <a:ext cx="16824960" cy="950119"/>
            <a:chOff x="0" y="0"/>
            <a:chExt cx="22433280" cy="1266825"/>
          </a:xfrm>
        </p:grpSpPr>
        <p:sp>
          <p:nvSpPr>
            <p:cNvPr name="Freeform 80" id="80"/>
            <p:cNvSpPr/>
            <p:nvPr/>
          </p:nvSpPr>
          <p:spPr>
            <a:xfrm flipH="false" flipV="false" rot="0">
              <a:off x="0" y="0"/>
              <a:ext cx="22433280" cy="1266825"/>
            </a:xfrm>
            <a:custGeom>
              <a:avLst/>
              <a:gdLst/>
              <a:ahLst/>
              <a:cxnLst/>
              <a:rect r="r" b="b" t="t" l="l"/>
              <a:pathLst>
                <a:path h="1266825" w="22433280">
                  <a:moveTo>
                    <a:pt x="0" y="0"/>
                  </a:moveTo>
                  <a:lnTo>
                    <a:pt x="22433280" y="0"/>
                  </a:lnTo>
                  <a:lnTo>
                    <a:pt x="22433280" y="1266825"/>
                  </a:lnTo>
                  <a:lnTo>
                    <a:pt x="0" y="1266825"/>
                  </a:lnTo>
                  <a:close/>
                </a:path>
              </a:pathLst>
            </a:custGeom>
            <a:blipFill>
              <a:blip r:embed="rId6">
                <a:alphaModFix amt="0"/>
              </a:blip>
              <a:stretch>
                <a:fillRect l="0" t="-295046" r="0" b="-295046"/>
              </a:stretch>
            </a:blipFill>
          </p:spPr>
        </p:sp>
        <p:sp>
          <p:nvSpPr>
            <p:cNvPr name="TextBox 81" id="81"/>
            <p:cNvSpPr txBox="true"/>
            <p:nvPr/>
          </p:nvSpPr>
          <p:spPr>
            <a:xfrm>
              <a:off x="0" y="-47625"/>
              <a:ext cx="22433280" cy="1314450"/>
            </a:xfrm>
            <a:prstGeom prst="rect">
              <a:avLst/>
            </a:prstGeom>
          </p:spPr>
          <p:txBody>
            <a:bodyPr anchor="ctr" rtlCol="false" tIns="0" lIns="0" bIns="0" rIns="0"/>
            <a:lstStyle/>
            <a:p>
              <a:pPr algn="ctr">
                <a:lnSpc>
                  <a:spcPts val="2638"/>
                </a:lnSpc>
              </a:pPr>
              <a:r>
                <a:rPr lang="en-US" sz="2199">
                  <a:solidFill>
                    <a:srgbClr val="AAAAAA"/>
                  </a:solidFill>
                  <a:latin typeface="Calibri (MS)"/>
                  <a:ea typeface="Calibri (MS)"/>
                  <a:cs typeface="Calibri (MS)"/>
                  <a:sym typeface="Calibri (MS)"/>
                </a:rPr>
                <a:t>A continuación, vamos a ver cada una de estas responsabilidades en detalle, con ejemplos prácticos del entorno SOC real.</a:t>
              </a:r>
            </a:p>
          </p:txBody>
        </p:sp>
      </p:grpSp>
      <p:grpSp>
        <p:nvGrpSpPr>
          <p:cNvPr name="Group 82" id="82"/>
          <p:cNvGrpSpPr/>
          <p:nvPr/>
        </p:nvGrpSpPr>
        <p:grpSpPr>
          <a:xfrm rot="0">
            <a:off x="15983863" y="24203"/>
            <a:ext cx="1855079" cy="1855079"/>
            <a:chOff x="0" y="0"/>
            <a:chExt cx="5852160" cy="5852160"/>
          </a:xfrm>
        </p:grpSpPr>
        <p:sp>
          <p:nvSpPr>
            <p:cNvPr name="Freeform 83" id="8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9"/>
              <a:stretch>
                <a:fillRect l="0" t="0" r="0" b="0"/>
              </a:stretch>
            </a:blipFill>
          </p:spPr>
        </p:sp>
      </p:grpSp>
      <p:sp>
        <p:nvSpPr>
          <p:cNvPr name="Freeform 84" id="84"/>
          <p:cNvSpPr/>
          <p:nvPr/>
        </p:nvSpPr>
        <p:spPr>
          <a:xfrm flipH="false" flipV="false" rot="0">
            <a:off x="2025367" y="4588529"/>
            <a:ext cx="484632" cy="484632"/>
          </a:xfrm>
          <a:custGeom>
            <a:avLst/>
            <a:gdLst/>
            <a:ahLst/>
            <a:cxnLst/>
            <a:rect r="r" b="b" t="t" l="l"/>
            <a:pathLst>
              <a:path h="484632" w="484632">
                <a:moveTo>
                  <a:pt x="0" y="0"/>
                </a:moveTo>
                <a:lnTo>
                  <a:pt x="484632" y="0"/>
                </a:lnTo>
                <a:lnTo>
                  <a:pt x="484632" y="484632"/>
                </a:lnTo>
                <a:lnTo>
                  <a:pt x="0" y="48463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85" id="85"/>
          <p:cNvSpPr/>
          <p:nvPr/>
        </p:nvSpPr>
        <p:spPr>
          <a:xfrm flipH="false" flipV="false" rot="0">
            <a:off x="5409490" y="4588529"/>
            <a:ext cx="592732" cy="406021"/>
          </a:xfrm>
          <a:custGeom>
            <a:avLst/>
            <a:gdLst/>
            <a:ahLst/>
            <a:cxnLst/>
            <a:rect r="r" b="b" t="t" l="l"/>
            <a:pathLst>
              <a:path h="406021" w="592732">
                <a:moveTo>
                  <a:pt x="0" y="0"/>
                </a:moveTo>
                <a:lnTo>
                  <a:pt x="592732" y="0"/>
                </a:lnTo>
                <a:lnTo>
                  <a:pt x="592732" y="406022"/>
                </a:lnTo>
                <a:lnTo>
                  <a:pt x="0" y="40602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86" id="86"/>
          <p:cNvSpPr/>
          <p:nvPr/>
        </p:nvSpPr>
        <p:spPr>
          <a:xfrm flipH="false" flipV="false" rot="0">
            <a:off x="8910514" y="4603292"/>
            <a:ext cx="632092" cy="455106"/>
          </a:xfrm>
          <a:custGeom>
            <a:avLst/>
            <a:gdLst/>
            <a:ahLst/>
            <a:cxnLst/>
            <a:rect r="r" b="b" t="t" l="l"/>
            <a:pathLst>
              <a:path h="455106" w="632092">
                <a:moveTo>
                  <a:pt x="0" y="0"/>
                </a:moveTo>
                <a:lnTo>
                  <a:pt x="632092" y="0"/>
                </a:lnTo>
                <a:lnTo>
                  <a:pt x="632092" y="455106"/>
                </a:lnTo>
                <a:lnTo>
                  <a:pt x="0" y="45510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87" id="87"/>
          <p:cNvSpPr/>
          <p:nvPr/>
        </p:nvSpPr>
        <p:spPr>
          <a:xfrm flipH="false" flipV="false" rot="0">
            <a:off x="12312039" y="4603292"/>
            <a:ext cx="540210" cy="448374"/>
          </a:xfrm>
          <a:custGeom>
            <a:avLst/>
            <a:gdLst/>
            <a:ahLst/>
            <a:cxnLst/>
            <a:rect r="r" b="b" t="t" l="l"/>
            <a:pathLst>
              <a:path h="448374" w="540210">
                <a:moveTo>
                  <a:pt x="0" y="0"/>
                </a:moveTo>
                <a:lnTo>
                  <a:pt x="540210" y="0"/>
                </a:lnTo>
                <a:lnTo>
                  <a:pt x="540210" y="448374"/>
                </a:lnTo>
                <a:lnTo>
                  <a:pt x="0" y="44837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88" id="88"/>
          <p:cNvSpPr/>
          <p:nvPr/>
        </p:nvSpPr>
        <p:spPr>
          <a:xfrm flipH="false" flipV="false" rot="0">
            <a:off x="15820175" y="4505136"/>
            <a:ext cx="546530" cy="546530"/>
          </a:xfrm>
          <a:custGeom>
            <a:avLst/>
            <a:gdLst/>
            <a:ahLst/>
            <a:cxnLst/>
            <a:rect r="r" b="b" t="t" l="l"/>
            <a:pathLst>
              <a:path h="546530" w="546530">
                <a:moveTo>
                  <a:pt x="0" y="0"/>
                </a:moveTo>
                <a:lnTo>
                  <a:pt x="546530" y="0"/>
                </a:lnTo>
                <a:lnTo>
                  <a:pt x="546530" y="546530"/>
                </a:lnTo>
                <a:lnTo>
                  <a:pt x="0" y="546530"/>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p.21</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Responsabilidad 01: Monitorear eventos y alertas</a:t>
              </a:r>
            </a:p>
          </p:txBody>
        </p:sp>
      </p:grpSp>
      <p:sp>
        <p:nvSpPr>
          <p:cNvPr name="Freeform 20" id="20"/>
          <p:cNvSpPr/>
          <p:nvPr/>
        </p:nvSpPr>
        <p:spPr>
          <a:xfrm flipH="false" flipV="false" rot="0">
            <a:off x="572519" y="1816103"/>
            <a:ext cx="1031176" cy="1031176"/>
          </a:xfrm>
          <a:custGeom>
            <a:avLst/>
            <a:gdLst/>
            <a:ahLst/>
            <a:cxnLst/>
            <a:rect r="r" b="b" t="t" l="l"/>
            <a:pathLst>
              <a:path h="1031176" w="1031176">
                <a:moveTo>
                  <a:pt x="0" y="0"/>
                </a:moveTo>
                <a:lnTo>
                  <a:pt x="1031177" y="0"/>
                </a:lnTo>
                <a:lnTo>
                  <a:pt x="103117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828800"/>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7">
                <a:alphaModFix amt="0"/>
              </a:blip>
              <a:stretch>
                <a:fillRect l="-78392" t="0" r="-78392" b="0"/>
              </a:stretch>
            </a:blipFill>
          </p:spPr>
        </p:sp>
      </p:grpSp>
      <p:grpSp>
        <p:nvGrpSpPr>
          <p:cNvPr name="Group 23" id="23"/>
          <p:cNvGrpSpPr/>
          <p:nvPr/>
        </p:nvGrpSpPr>
        <p:grpSpPr>
          <a:xfrm rot="0">
            <a:off x="585216" y="1778794"/>
            <a:ext cx="1005840" cy="1263427"/>
            <a:chOff x="0" y="0"/>
            <a:chExt cx="1341120" cy="1684569"/>
          </a:xfrm>
        </p:grpSpPr>
        <p:sp>
          <p:nvSpPr>
            <p:cNvPr name="Freeform 24" id="24"/>
            <p:cNvSpPr/>
            <p:nvPr/>
          </p:nvSpPr>
          <p:spPr>
            <a:xfrm flipH="false" flipV="false" rot="0">
              <a:off x="0" y="0"/>
              <a:ext cx="1341120" cy="1684569"/>
            </a:xfrm>
            <a:custGeom>
              <a:avLst/>
              <a:gdLst/>
              <a:ahLst/>
              <a:cxnLst/>
              <a:rect r="r" b="b" t="t" l="l"/>
              <a:pathLst>
                <a:path h="1684569" w="1341120">
                  <a:moveTo>
                    <a:pt x="0" y="0"/>
                  </a:moveTo>
                  <a:lnTo>
                    <a:pt x="1341120" y="0"/>
                  </a:lnTo>
                  <a:lnTo>
                    <a:pt x="1341120" y="1684569"/>
                  </a:lnTo>
                  <a:lnTo>
                    <a:pt x="0" y="1684569"/>
                  </a:lnTo>
                  <a:close/>
                </a:path>
              </a:pathLst>
            </a:custGeom>
            <a:blipFill>
              <a:blip r:embed="rId8">
                <a:alphaModFix amt="0"/>
              </a:blip>
              <a:stretch>
                <a:fillRect l="-84682" t="0" r="-84682" b="16429"/>
              </a:stretch>
            </a:blipFill>
          </p:spPr>
        </p:sp>
        <p:sp>
          <p:nvSpPr>
            <p:cNvPr name="TextBox 25" id="25"/>
            <p:cNvSpPr txBox="true"/>
            <p:nvPr/>
          </p:nvSpPr>
          <p:spPr>
            <a:xfrm>
              <a:off x="0" y="-66675"/>
              <a:ext cx="1341120" cy="1751244"/>
            </a:xfrm>
            <a:prstGeom prst="rect">
              <a:avLst/>
            </a:prstGeom>
          </p:spPr>
          <p:txBody>
            <a:bodyPr anchor="ctr" rtlCol="false" tIns="0" lIns="0" bIns="0" rIns="0"/>
            <a:lstStyle/>
            <a:p>
              <a:pPr algn="ctr">
                <a:lnSpc>
                  <a:spcPts val="4320"/>
                </a:lnSpc>
              </a:pPr>
            </a:p>
          </p:txBody>
        </p:sp>
      </p:grpSp>
      <p:grpSp>
        <p:nvGrpSpPr>
          <p:cNvPr name="Group 26" id="26"/>
          <p:cNvGrpSpPr/>
          <p:nvPr/>
        </p:nvGrpSpPr>
        <p:grpSpPr>
          <a:xfrm rot="0">
            <a:off x="1920240" y="1828800"/>
            <a:ext cx="15727680" cy="1005840"/>
            <a:chOff x="0" y="0"/>
            <a:chExt cx="20970240" cy="1341120"/>
          </a:xfrm>
        </p:grpSpPr>
        <p:sp>
          <p:nvSpPr>
            <p:cNvPr name="Freeform 27" id="27"/>
            <p:cNvSpPr/>
            <p:nvPr/>
          </p:nvSpPr>
          <p:spPr>
            <a:xfrm flipH="false" flipV="false" rot="0">
              <a:off x="0" y="0"/>
              <a:ext cx="20970239" cy="1341120"/>
            </a:xfrm>
            <a:custGeom>
              <a:avLst/>
              <a:gdLst/>
              <a:ahLst/>
              <a:cxnLst/>
              <a:rect r="r" b="b" t="t" l="l"/>
              <a:pathLst>
                <a:path h="1341120" w="20970239">
                  <a:moveTo>
                    <a:pt x="0" y="0"/>
                  </a:moveTo>
                  <a:lnTo>
                    <a:pt x="20970239" y="0"/>
                  </a:lnTo>
                  <a:lnTo>
                    <a:pt x="20970239" y="1341120"/>
                  </a:lnTo>
                  <a:lnTo>
                    <a:pt x="0" y="1341120"/>
                  </a:lnTo>
                  <a:close/>
                </a:path>
              </a:pathLst>
            </a:custGeom>
            <a:blipFill>
              <a:blip r:embed="rId7">
                <a:alphaModFix amt="0"/>
              </a:blip>
              <a:stretch>
                <a:fillRect l="0" t="-254463" r="0" b="-254463"/>
              </a:stretch>
            </a:blipFill>
          </p:spPr>
        </p:sp>
      </p:grpSp>
      <p:grpSp>
        <p:nvGrpSpPr>
          <p:cNvPr name="Group 28" id="28"/>
          <p:cNvGrpSpPr/>
          <p:nvPr/>
        </p:nvGrpSpPr>
        <p:grpSpPr>
          <a:xfrm rot="0">
            <a:off x="1920240" y="1828800"/>
            <a:ext cx="15727680" cy="1041559"/>
            <a:chOff x="0" y="0"/>
            <a:chExt cx="20970240" cy="1388745"/>
          </a:xfrm>
        </p:grpSpPr>
        <p:sp>
          <p:nvSpPr>
            <p:cNvPr name="Freeform 29" id="29"/>
            <p:cNvSpPr/>
            <p:nvPr/>
          </p:nvSpPr>
          <p:spPr>
            <a:xfrm flipH="false" flipV="false" rot="0">
              <a:off x="0" y="0"/>
              <a:ext cx="20970239" cy="1388745"/>
            </a:xfrm>
            <a:custGeom>
              <a:avLst/>
              <a:gdLst/>
              <a:ahLst/>
              <a:cxnLst/>
              <a:rect r="r" b="b" t="t" l="l"/>
              <a:pathLst>
                <a:path h="1388745" w="20970239">
                  <a:moveTo>
                    <a:pt x="0" y="0"/>
                  </a:moveTo>
                  <a:lnTo>
                    <a:pt x="20970239" y="0"/>
                  </a:lnTo>
                  <a:lnTo>
                    <a:pt x="20970239" y="1388745"/>
                  </a:lnTo>
                  <a:lnTo>
                    <a:pt x="0" y="1388745"/>
                  </a:lnTo>
                  <a:close/>
                </a:path>
              </a:pathLst>
            </a:custGeom>
            <a:blipFill>
              <a:blip r:embed="rId8">
                <a:alphaModFix amt="0"/>
              </a:blip>
              <a:stretch>
                <a:fillRect l="0" t="-244226" r="0" b="-244226"/>
              </a:stretch>
            </a:blipFill>
          </p:spPr>
        </p:sp>
        <p:sp>
          <p:nvSpPr>
            <p:cNvPr name="TextBox 30" id="30"/>
            <p:cNvSpPr txBox="true"/>
            <p:nvPr/>
          </p:nvSpPr>
          <p:spPr>
            <a:xfrm>
              <a:off x="0" y="-47625"/>
              <a:ext cx="2097024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Esta es la tarea principal del analista L1. Observa eventos de seguridad a través del SIEM y otras plataformas, detectando posibles amenazas en tiempo real.</a:t>
              </a:r>
            </a:p>
          </p:txBody>
        </p:sp>
      </p:grpSp>
      <p:sp>
        <p:nvSpPr>
          <p:cNvPr name="Freeform 31" id="31"/>
          <p:cNvSpPr/>
          <p:nvPr/>
        </p:nvSpPr>
        <p:spPr>
          <a:xfrm flipH="false" flipV="false" rot="0">
            <a:off x="731520" y="3723867"/>
            <a:ext cx="15862898" cy="2054144"/>
          </a:xfrm>
          <a:custGeom>
            <a:avLst/>
            <a:gdLst/>
            <a:ahLst/>
            <a:cxnLst/>
            <a:rect r="r" b="b" t="t" l="l"/>
            <a:pathLst>
              <a:path h="2054144" w="15862898">
                <a:moveTo>
                  <a:pt x="0" y="0"/>
                </a:moveTo>
                <a:lnTo>
                  <a:pt x="15862898" y="0"/>
                </a:lnTo>
                <a:lnTo>
                  <a:pt x="15862898" y="2054144"/>
                </a:lnTo>
                <a:lnTo>
                  <a:pt x="0" y="205414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731520" y="3723867"/>
            <a:ext cx="141902" cy="2054144"/>
          </a:xfrm>
          <a:custGeom>
            <a:avLst/>
            <a:gdLst/>
            <a:ahLst/>
            <a:cxnLst/>
            <a:rect r="r" b="b" t="t" l="l"/>
            <a:pathLst>
              <a:path h="2054144" w="141902">
                <a:moveTo>
                  <a:pt x="0" y="0"/>
                </a:moveTo>
                <a:lnTo>
                  <a:pt x="141902" y="0"/>
                </a:lnTo>
                <a:lnTo>
                  <a:pt x="141902" y="2054144"/>
                </a:lnTo>
                <a:lnTo>
                  <a:pt x="0" y="205414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1166331" y="3887239"/>
            <a:ext cx="4907523" cy="462573"/>
          </a:xfrm>
          <a:prstGeom prst="rect">
            <a:avLst/>
          </a:prstGeom>
        </p:spPr>
        <p:txBody>
          <a:bodyPr anchor="t" rtlCol="false" tIns="0" lIns="0" bIns="0" rIns="0">
            <a:spAutoFit/>
          </a:bodyPr>
          <a:lstStyle/>
          <a:p>
            <a:pPr algn="l">
              <a:lnSpc>
                <a:spcPts val="2108"/>
              </a:lnSpc>
            </a:pPr>
            <a:r>
              <a:rPr lang="en-US" sz="1757" b="true">
                <a:solidFill>
                  <a:srgbClr val="1A73C0"/>
                </a:solidFill>
                <a:latin typeface="Calibri (MS) Bold"/>
                <a:ea typeface="Calibri (MS) Bold"/>
                <a:cs typeface="Calibri (MS) Bold"/>
                <a:sym typeface="Calibri (MS) Bold"/>
              </a:rPr>
              <a:t>💡  Ejemplo aplicado:</a:t>
            </a:r>
          </a:p>
        </p:txBody>
      </p:sp>
      <p:sp>
        <p:nvSpPr>
          <p:cNvPr name="TextBox 34" id="34"/>
          <p:cNvSpPr txBox="true"/>
          <p:nvPr/>
        </p:nvSpPr>
        <p:spPr>
          <a:xfrm rot="0">
            <a:off x="1187747" y="4392810"/>
            <a:ext cx="15061019" cy="685750"/>
          </a:xfrm>
          <a:prstGeom prst="rect">
            <a:avLst/>
          </a:prstGeom>
        </p:spPr>
        <p:txBody>
          <a:bodyPr anchor="t" rtlCol="false" tIns="0" lIns="0" bIns="0" rIns="0">
            <a:spAutoFit/>
          </a:bodyPr>
          <a:lstStyle/>
          <a:p>
            <a:pPr algn="l">
              <a:lnSpc>
                <a:spcPts val="2571"/>
              </a:lnSpc>
            </a:pPr>
            <a:r>
              <a:rPr lang="en-US" sz="2143" i="true">
                <a:solidFill>
                  <a:srgbClr val="333333"/>
                </a:solidFill>
                <a:latin typeface="Calibri (MS) Italics"/>
                <a:ea typeface="Calibri (MS) Italics"/>
                <a:cs typeface="Calibri (MS) Italics"/>
                <a:sym typeface="Calibri (MS) Italics"/>
              </a:rPr>
              <a:t>Un usuario intenta iniciar sesión varias veces desde una IP extranjera. El SIEM genera una alerta. El analista L1 la recibe en su panel y comienza el análisis.</a:t>
            </a:r>
          </a:p>
        </p:txBody>
      </p:sp>
      <p:sp>
        <p:nvSpPr>
          <p:cNvPr name="Freeform 35" id="35"/>
          <p:cNvSpPr/>
          <p:nvPr/>
        </p:nvSpPr>
        <p:spPr>
          <a:xfrm flipH="false" flipV="false" rot="0">
            <a:off x="731520" y="6353349"/>
            <a:ext cx="15862898" cy="1123407"/>
          </a:xfrm>
          <a:custGeom>
            <a:avLst/>
            <a:gdLst/>
            <a:ahLst/>
            <a:cxnLst/>
            <a:rect r="r" b="b" t="t" l="l"/>
            <a:pathLst>
              <a:path h="1123407" w="15862898">
                <a:moveTo>
                  <a:pt x="0" y="0"/>
                </a:moveTo>
                <a:lnTo>
                  <a:pt x="15862898" y="0"/>
                </a:lnTo>
                <a:lnTo>
                  <a:pt x="15862898" y="1123407"/>
                </a:lnTo>
                <a:lnTo>
                  <a:pt x="0" y="112340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731520" y="6353349"/>
            <a:ext cx="141902" cy="1123407"/>
          </a:xfrm>
          <a:custGeom>
            <a:avLst/>
            <a:gdLst/>
            <a:ahLst/>
            <a:cxnLst/>
            <a:rect r="r" b="b" t="t" l="l"/>
            <a:pathLst>
              <a:path h="1123407" w="141902">
                <a:moveTo>
                  <a:pt x="0" y="0"/>
                </a:moveTo>
                <a:lnTo>
                  <a:pt x="141902" y="0"/>
                </a:lnTo>
                <a:lnTo>
                  <a:pt x="141902" y="1123407"/>
                </a:lnTo>
                <a:lnTo>
                  <a:pt x="0" y="112340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37" id="37"/>
          <p:cNvGrpSpPr/>
          <p:nvPr/>
        </p:nvGrpSpPr>
        <p:grpSpPr>
          <a:xfrm rot="0">
            <a:off x="1081719" y="6365098"/>
            <a:ext cx="15230244" cy="1099962"/>
            <a:chOff x="0" y="0"/>
            <a:chExt cx="21945600" cy="1584960"/>
          </a:xfrm>
        </p:grpSpPr>
        <p:sp>
          <p:nvSpPr>
            <p:cNvPr name="Freeform 38" id="3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7">
                <a:alphaModFix amt="0"/>
              </a:blip>
              <a:stretch>
                <a:fillRect l="0" t="-219604" r="0" b="-219605"/>
              </a:stretch>
            </a:blipFill>
          </p:spPr>
        </p:sp>
      </p:grpSp>
      <p:grpSp>
        <p:nvGrpSpPr>
          <p:cNvPr name="Group 39" id="39"/>
          <p:cNvGrpSpPr/>
          <p:nvPr/>
        </p:nvGrpSpPr>
        <p:grpSpPr>
          <a:xfrm rot="0">
            <a:off x="1081719" y="6332046"/>
            <a:ext cx="15230244" cy="1133014"/>
            <a:chOff x="0" y="0"/>
            <a:chExt cx="21945600" cy="1632585"/>
          </a:xfrm>
        </p:grpSpPr>
        <p:sp>
          <p:nvSpPr>
            <p:cNvPr name="Freeform 40" id="40"/>
            <p:cNvSpPr/>
            <p:nvPr/>
          </p:nvSpPr>
          <p:spPr>
            <a:xfrm flipH="false" flipV="false" rot="0">
              <a:off x="0" y="0"/>
              <a:ext cx="21945600" cy="1632585"/>
            </a:xfrm>
            <a:custGeom>
              <a:avLst/>
              <a:gdLst/>
              <a:ahLst/>
              <a:cxnLst/>
              <a:rect r="r" b="b" t="t" l="l"/>
              <a:pathLst>
                <a:path h="1632585" w="21945600">
                  <a:moveTo>
                    <a:pt x="0" y="0"/>
                  </a:moveTo>
                  <a:lnTo>
                    <a:pt x="21945600" y="0"/>
                  </a:lnTo>
                  <a:lnTo>
                    <a:pt x="21945600" y="1632585"/>
                  </a:lnTo>
                  <a:lnTo>
                    <a:pt x="0" y="1632585"/>
                  </a:lnTo>
                  <a:close/>
                </a:path>
              </a:pathLst>
            </a:custGeom>
            <a:blipFill>
              <a:blip r:embed="rId8">
                <a:alphaModFix amt="0"/>
              </a:blip>
              <a:stretch>
                <a:fillRect l="0" t="-211922" r="0" b="-211922"/>
              </a:stretch>
            </a:blipFill>
          </p:spPr>
        </p:sp>
        <p:sp>
          <p:nvSpPr>
            <p:cNvPr name="TextBox 41" id="41"/>
            <p:cNvSpPr txBox="true"/>
            <p:nvPr/>
          </p:nvSpPr>
          <p:spPr>
            <a:xfrm>
              <a:off x="0" y="-47625"/>
              <a:ext cx="21945600" cy="168021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  Idea clave:  </a:t>
              </a:r>
              <a:r>
                <a:rPr lang="en-US" sz="2199">
                  <a:solidFill>
                    <a:srgbClr val="333333"/>
                  </a:solidFill>
                  <a:latin typeface="Calibri (MS)"/>
                  <a:ea typeface="Calibri (MS)"/>
                  <a:cs typeface="Calibri (MS)"/>
                  <a:sym typeface="Calibri (MS)"/>
                </a:rPr>
                <a:t>Sin monitoreo activo y continuo, las amenazas no se detectan. El analista L1 es los 'ojos' del SOC en tiempo real.</a:t>
              </a:r>
            </a:p>
          </p:txBody>
        </p:sp>
      </p:grpSp>
      <p:grpSp>
        <p:nvGrpSpPr>
          <p:cNvPr name="Group 42" id="42"/>
          <p:cNvGrpSpPr/>
          <p:nvPr/>
        </p:nvGrpSpPr>
        <p:grpSpPr>
          <a:xfrm rot="0">
            <a:off x="15983863" y="24203"/>
            <a:ext cx="1855079" cy="1855079"/>
            <a:chOff x="0" y="0"/>
            <a:chExt cx="5852160" cy="5852160"/>
          </a:xfrm>
        </p:grpSpPr>
        <p:sp>
          <p:nvSpPr>
            <p:cNvPr name="Freeform 43" id="4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
        <p:nvSpPr>
          <p:cNvPr name="Freeform 44" id="44"/>
          <p:cNvSpPr/>
          <p:nvPr/>
        </p:nvSpPr>
        <p:spPr>
          <a:xfrm flipH="false" flipV="false" rot="0">
            <a:off x="845791" y="2089404"/>
            <a:ext cx="484632" cy="484632"/>
          </a:xfrm>
          <a:custGeom>
            <a:avLst/>
            <a:gdLst/>
            <a:ahLst/>
            <a:cxnLst/>
            <a:rect r="r" b="b" t="t" l="l"/>
            <a:pathLst>
              <a:path h="484632" w="484632">
                <a:moveTo>
                  <a:pt x="0" y="0"/>
                </a:moveTo>
                <a:lnTo>
                  <a:pt x="484632" y="0"/>
                </a:lnTo>
                <a:lnTo>
                  <a:pt x="484632" y="484632"/>
                </a:lnTo>
                <a:lnTo>
                  <a:pt x="0" y="48463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Responsabilidad 02: Clasificar y priorizar incidentes</a:t>
              </a:r>
            </a:p>
          </p:txBody>
        </p:sp>
      </p:grpSp>
      <p:sp>
        <p:nvSpPr>
          <p:cNvPr name="Freeform 20" id="20"/>
          <p:cNvSpPr/>
          <p:nvPr/>
        </p:nvSpPr>
        <p:spPr>
          <a:xfrm flipH="false" flipV="false" rot="0">
            <a:off x="572519" y="1816103"/>
            <a:ext cx="1031176" cy="1031176"/>
          </a:xfrm>
          <a:custGeom>
            <a:avLst/>
            <a:gdLst/>
            <a:ahLst/>
            <a:cxnLst/>
            <a:rect r="r" b="b" t="t" l="l"/>
            <a:pathLst>
              <a:path h="1031176" w="1031176">
                <a:moveTo>
                  <a:pt x="0" y="0"/>
                </a:moveTo>
                <a:lnTo>
                  <a:pt x="1031177" y="0"/>
                </a:lnTo>
                <a:lnTo>
                  <a:pt x="103117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828800"/>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7">
                <a:alphaModFix amt="0"/>
              </a:blip>
              <a:stretch>
                <a:fillRect l="-78392" t="0" r="-78392" b="0"/>
              </a:stretch>
            </a:blipFill>
          </p:spPr>
        </p:sp>
      </p:grpSp>
      <p:grpSp>
        <p:nvGrpSpPr>
          <p:cNvPr name="Group 23" id="23"/>
          <p:cNvGrpSpPr/>
          <p:nvPr/>
        </p:nvGrpSpPr>
        <p:grpSpPr>
          <a:xfrm rot="0">
            <a:off x="585216" y="1778794"/>
            <a:ext cx="1005840" cy="1055846"/>
            <a:chOff x="0" y="0"/>
            <a:chExt cx="1341120" cy="1407795"/>
          </a:xfrm>
        </p:grpSpPr>
        <p:sp>
          <p:nvSpPr>
            <p:cNvPr name="Freeform 24" id="24"/>
            <p:cNvSpPr/>
            <p:nvPr/>
          </p:nvSpPr>
          <p:spPr>
            <a:xfrm flipH="false" flipV="false" rot="0">
              <a:off x="0" y="0"/>
              <a:ext cx="1341120" cy="1407795"/>
            </a:xfrm>
            <a:custGeom>
              <a:avLst/>
              <a:gdLst/>
              <a:ahLst/>
              <a:cxnLst/>
              <a:rect r="r" b="b" t="t" l="l"/>
              <a:pathLst>
                <a:path h="1407795" w="1341120">
                  <a:moveTo>
                    <a:pt x="0" y="0"/>
                  </a:moveTo>
                  <a:lnTo>
                    <a:pt x="1341120" y="0"/>
                  </a:lnTo>
                  <a:lnTo>
                    <a:pt x="1341120" y="1407795"/>
                  </a:lnTo>
                  <a:lnTo>
                    <a:pt x="0" y="1407795"/>
                  </a:lnTo>
                  <a:close/>
                </a:path>
              </a:pathLst>
            </a:custGeom>
            <a:blipFill>
              <a:blip r:embed="rId8">
                <a:alphaModFix amt="0"/>
              </a:blip>
              <a:stretch>
                <a:fillRect l="-84682" t="0" r="-84682" b="0"/>
              </a:stretch>
            </a:blipFill>
          </p:spPr>
        </p:sp>
        <p:sp>
          <p:nvSpPr>
            <p:cNvPr name="TextBox 25" id="25"/>
            <p:cNvSpPr txBox="true"/>
            <p:nvPr/>
          </p:nvSpPr>
          <p:spPr>
            <a:xfrm>
              <a:off x="0" y="-66675"/>
              <a:ext cx="1341120" cy="1474470"/>
            </a:xfrm>
            <a:prstGeom prst="rect">
              <a:avLst/>
            </a:prstGeom>
          </p:spPr>
          <p:txBody>
            <a:bodyPr anchor="ctr" rtlCol="false" tIns="0" lIns="0" bIns="0" rIns="0"/>
            <a:lstStyle/>
            <a:p>
              <a:pPr algn="ctr">
                <a:lnSpc>
                  <a:spcPts val="4320"/>
                </a:lnSpc>
              </a:pPr>
            </a:p>
          </p:txBody>
        </p:sp>
      </p:grpSp>
      <p:grpSp>
        <p:nvGrpSpPr>
          <p:cNvPr name="Group 26" id="26"/>
          <p:cNvGrpSpPr/>
          <p:nvPr/>
        </p:nvGrpSpPr>
        <p:grpSpPr>
          <a:xfrm rot="0">
            <a:off x="1920240" y="1828800"/>
            <a:ext cx="15727680" cy="1005840"/>
            <a:chOff x="0" y="0"/>
            <a:chExt cx="20970240" cy="1341120"/>
          </a:xfrm>
        </p:grpSpPr>
        <p:sp>
          <p:nvSpPr>
            <p:cNvPr name="Freeform 27" id="27"/>
            <p:cNvSpPr/>
            <p:nvPr/>
          </p:nvSpPr>
          <p:spPr>
            <a:xfrm flipH="false" flipV="false" rot="0">
              <a:off x="0" y="0"/>
              <a:ext cx="20970239" cy="1341120"/>
            </a:xfrm>
            <a:custGeom>
              <a:avLst/>
              <a:gdLst/>
              <a:ahLst/>
              <a:cxnLst/>
              <a:rect r="r" b="b" t="t" l="l"/>
              <a:pathLst>
                <a:path h="1341120" w="20970239">
                  <a:moveTo>
                    <a:pt x="0" y="0"/>
                  </a:moveTo>
                  <a:lnTo>
                    <a:pt x="20970239" y="0"/>
                  </a:lnTo>
                  <a:lnTo>
                    <a:pt x="20970239" y="1341120"/>
                  </a:lnTo>
                  <a:lnTo>
                    <a:pt x="0" y="1341120"/>
                  </a:lnTo>
                  <a:close/>
                </a:path>
              </a:pathLst>
            </a:custGeom>
            <a:blipFill>
              <a:blip r:embed="rId7">
                <a:alphaModFix amt="0"/>
              </a:blip>
              <a:stretch>
                <a:fillRect l="0" t="-254463" r="0" b="-254463"/>
              </a:stretch>
            </a:blipFill>
          </p:spPr>
        </p:sp>
      </p:grpSp>
      <p:grpSp>
        <p:nvGrpSpPr>
          <p:cNvPr name="Group 28" id="28"/>
          <p:cNvGrpSpPr/>
          <p:nvPr/>
        </p:nvGrpSpPr>
        <p:grpSpPr>
          <a:xfrm rot="0">
            <a:off x="1920240" y="1793081"/>
            <a:ext cx="15727680" cy="1041559"/>
            <a:chOff x="0" y="0"/>
            <a:chExt cx="20970240" cy="1388745"/>
          </a:xfrm>
        </p:grpSpPr>
        <p:sp>
          <p:nvSpPr>
            <p:cNvPr name="Freeform 29" id="29"/>
            <p:cNvSpPr/>
            <p:nvPr/>
          </p:nvSpPr>
          <p:spPr>
            <a:xfrm flipH="false" flipV="false" rot="0">
              <a:off x="0" y="0"/>
              <a:ext cx="20970239" cy="1388745"/>
            </a:xfrm>
            <a:custGeom>
              <a:avLst/>
              <a:gdLst/>
              <a:ahLst/>
              <a:cxnLst/>
              <a:rect r="r" b="b" t="t" l="l"/>
              <a:pathLst>
                <a:path h="1388745" w="20970239">
                  <a:moveTo>
                    <a:pt x="0" y="0"/>
                  </a:moveTo>
                  <a:lnTo>
                    <a:pt x="20970239" y="0"/>
                  </a:lnTo>
                  <a:lnTo>
                    <a:pt x="20970239" y="1388745"/>
                  </a:lnTo>
                  <a:lnTo>
                    <a:pt x="0" y="1388745"/>
                  </a:lnTo>
                  <a:close/>
                </a:path>
              </a:pathLst>
            </a:custGeom>
            <a:blipFill>
              <a:blip r:embed="rId8">
                <a:alphaModFix amt="0"/>
              </a:blip>
              <a:stretch>
                <a:fillRect l="0" t="-244226" r="0" b="-244226"/>
              </a:stretch>
            </a:blipFill>
          </p:spPr>
        </p:sp>
        <p:sp>
          <p:nvSpPr>
            <p:cNvPr name="TextBox 30" id="30"/>
            <p:cNvSpPr txBox="true"/>
            <p:nvPr/>
          </p:nvSpPr>
          <p:spPr>
            <a:xfrm>
              <a:off x="0" y="-47625"/>
              <a:ext cx="2097024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No todas las alertas son incidentes. El analista L1 aplica criterios de severidad, impacto y contexto para determinar si es un falso positivo, un incidente menor o debe escalar.</a:t>
              </a:r>
            </a:p>
          </p:txBody>
        </p:sp>
      </p:grpSp>
      <p:sp>
        <p:nvSpPr>
          <p:cNvPr name="Freeform 31" id="31"/>
          <p:cNvSpPr/>
          <p:nvPr/>
        </p:nvSpPr>
        <p:spPr>
          <a:xfrm flipH="false" flipV="false" rot="0">
            <a:off x="731520" y="3678838"/>
            <a:ext cx="15466852" cy="2002858"/>
          </a:xfrm>
          <a:custGeom>
            <a:avLst/>
            <a:gdLst/>
            <a:ahLst/>
            <a:cxnLst/>
            <a:rect r="r" b="b" t="t" l="l"/>
            <a:pathLst>
              <a:path h="2002858" w="15466852">
                <a:moveTo>
                  <a:pt x="0" y="0"/>
                </a:moveTo>
                <a:lnTo>
                  <a:pt x="15466852" y="0"/>
                </a:lnTo>
                <a:lnTo>
                  <a:pt x="15466852" y="2002858"/>
                </a:lnTo>
                <a:lnTo>
                  <a:pt x="0" y="200285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731520" y="3678838"/>
            <a:ext cx="138359" cy="2002858"/>
          </a:xfrm>
          <a:custGeom>
            <a:avLst/>
            <a:gdLst/>
            <a:ahLst/>
            <a:cxnLst/>
            <a:rect r="r" b="b" t="t" l="l"/>
            <a:pathLst>
              <a:path h="2002858" w="138359">
                <a:moveTo>
                  <a:pt x="0" y="0"/>
                </a:moveTo>
                <a:lnTo>
                  <a:pt x="138359" y="0"/>
                </a:lnTo>
                <a:lnTo>
                  <a:pt x="138359" y="2002858"/>
                </a:lnTo>
                <a:lnTo>
                  <a:pt x="0" y="200285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1184204" y="3876722"/>
            <a:ext cx="4784998" cy="451975"/>
          </a:xfrm>
          <a:prstGeom prst="rect">
            <a:avLst/>
          </a:prstGeom>
        </p:spPr>
        <p:txBody>
          <a:bodyPr anchor="t" rtlCol="false" tIns="0" lIns="0" bIns="0" rIns="0">
            <a:spAutoFit/>
          </a:bodyPr>
          <a:lstStyle/>
          <a:p>
            <a:pPr algn="l">
              <a:lnSpc>
                <a:spcPts val="2056"/>
              </a:lnSpc>
            </a:pPr>
            <a:r>
              <a:rPr lang="en-US" sz="1713" b="true">
                <a:solidFill>
                  <a:srgbClr val="1A73C0"/>
                </a:solidFill>
                <a:latin typeface="Calibri (MS) Bold"/>
                <a:ea typeface="Calibri (MS) Bold"/>
                <a:cs typeface="Calibri (MS) Bold"/>
                <a:sym typeface="Calibri (MS) Bold"/>
              </a:rPr>
              <a:t>💡  Ejemplo aplicado:</a:t>
            </a:r>
          </a:p>
        </p:txBody>
      </p:sp>
      <p:sp>
        <p:nvSpPr>
          <p:cNvPr name="TextBox 34" id="34"/>
          <p:cNvSpPr txBox="true"/>
          <p:nvPr/>
        </p:nvSpPr>
        <p:spPr>
          <a:xfrm rot="0">
            <a:off x="1184204" y="4320603"/>
            <a:ext cx="14684993" cy="714375"/>
          </a:xfrm>
          <a:prstGeom prst="rect">
            <a:avLst/>
          </a:prstGeom>
        </p:spPr>
        <p:txBody>
          <a:bodyPr anchor="t" rtlCol="false" tIns="0" lIns="0" bIns="0" rIns="0">
            <a:spAutoFit/>
          </a:bodyPr>
          <a:lstStyle/>
          <a:p>
            <a:pPr algn="l">
              <a:lnSpc>
                <a:spcPts val="2633"/>
              </a:lnSpc>
            </a:pPr>
            <a:r>
              <a:rPr lang="en-US" sz="2194" i="true">
                <a:solidFill>
                  <a:srgbClr val="333333"/>
                </a:solidFill>
                <a:latin typeface="Calibri (MS) Italics"/>
                <a:ea typeface="Calibri (MS) Italics"/>
                <a:cs typeface="Calibri (MS) Italics"/>
                <a:sym typeface="Calibri (MS) Italics"/>
              </a:rPr>
              <a:t>Un intento de login ocurre fuera del horario laboral, en un sistema sensible y sin autenticación multifactor. Se clasifica como alta prioridad.</a:t>
            </a:r>
          </a:p>
        </p:txBody>
      </p:sp>
      <p:sp>
        <p:nvSpPr>
          <p:cNvPr name="Freeform 35" id="35"/>
          <p:cNvSpPr/>
          <p:nvPr/>
        </p:nvSpPr>
        <p:spPr>
          <a:xfrm flipH="false" flipV="false" rot="0">
            <a:off x="731520" y="6335602"/>
            <a:ext cx="15466852" cy="1095359"/>
          </a:xfrm>
          <a:custGeom>
            <a:avLst/>
            <a:gdLst/>
            <a:ahLst/>
            <a:cxnLst/>
            <a:rect r="r" b="b" t="t" l="l"/>
            <a:pathLst>
              <a:path h="1095359" w="15466852">
                <a:moveTo>
                  <a:pt x="0" y="0"/>
                </a:moveTo>
                <a:lnTo>
                  <a:pt x="15466852" y="0"/>
                </a:lnTo>
                <a:lnTo>
                  <a:pt x="15466852" y="1095359"/>
                </a:lnTo>
                <a:lnTo>
                  <a:pt x="0" y="109535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731520" y="6335602"/>
            <a:ext cx="138359" cy="1095359"/>
          </a:xfrm>
          <a:custGeom>
            <a:avLst/>
            <a:gdLst/>
            <a:ahLst/>
            <a:cxnLst/>
            <a:rect r="r" b="b" t="t" l="l"/>
            <a:pathLst>
              <a:path h="1095359" w="138359">
                <a:moveTo>
                  <a:pt x="0" y="0"/>
                </a:moveTo>
                <a:lnTo>
                  <a:pt x="138359" y="0"/>
                </a:lnTo>
                <a:lnTo>
                  <a:pt x="138359" y="1095359"/>
                </a:lnTo>
                <a:lnTo>
                  <a:pt x="0" y="109535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37" id="37"/>
          <p:cNvGrpSpPr/>
          <p:nvPr/>
        </p:nvGrpSpPr>
        <p:grpSpPr>
          <a:xfrm rot="0">
            <a:off x="1072975" y="6347058"/>
            <a:ext cx="14849993" cy="1072499"/>
            <a:chOff x="0" y="0"/>
            <a:chExt cx="21945600" cy="1584960"/>
          </a:xfrm>
        </p:grpSpPr>
        <p:sp>
          <p:nvSpPr>
            <p:cNvPr name="Freeform 38" id="3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7">
                <a:alphaModFix amt="0"/>
              </a:blip>
              <a:stretch>
                <a:fillRect l="0" t="-219604" r="0" b="-219605"/>
              </a:stretch>
            </a:blipFill>
          </p:spPr>
        </p:sp>
      </p:grpSp>
      <p:grpSp>
        <p:nvGrpSpPr>
          <p:cNvPr name="Group 39" id="39"/>
          <p:cNvGrpSpPr/>
          <p:nvPr/>
        </p:nvGrpSpPr>
        <p:grpSpPr>
          <a:xfrm rot="0">
            <a:off x="1072975" y="6314831"/>
            <a:ext cx="14849993" cy="1104726"/>
            <a:chOff x="0" y="0"/>
            <a:chExt cx="21945600" cy="1632585"/>
          </a:xfrm>
        </p:grpSpPr>
        <p:sp>
          <p:nvSpPr>
            <p:cNvPr name="Freeform 40" id="40"/>
            <p:cNvSpPr/>
            <p:nvPr/>
          </p:nvSpPr>
          <p:spPr>
            <a:xfrm flipH="false" flipV="false" rot="0">
              <a:off x="0" y="0"/>
              <a:ext cx="21945600" cy="1632585"/>
            </a:xfrm>
            <a:custGeom>
              <a:avLst/>
              <a:gdLst/>
              <a:ahLst/>
              <a:cxnLst/>
              <a:rect r="r" b="b" t="t" l="l"/>
              <a:pathLst>
                <a:path h="1632585" w="21945600">
                  <a:moveTo>
                    <a:pt x="0" y="0"/>
                  </a:moveTo>
                  <a:lnTo>
                    <a:pt x="21945600" y="0"/>
                  </a:lnTo>
                  <a:lnTo>
                    <a:pt x="21945600" y="1632585"/>
                  </a:lnTo>
                  <a:lnTo>
                    <a:pt x="0" y="1632585"/>
                  </a:lnTo>
                  <a:close/>
                </a:path>
              </a:pathLst>
            </a:custGeom>
            <a:blipFill>
              <a:blip r:embed="rId8">
                <a:alphaModFix amt="0"/>
              </a:blip>
              <a:stretch>
                <a:fillRect l="0" t="-211922" r="0" b="-211922"/>
              </a:stretch>
            </a:blipFill>
          </p:spPr>
        </p:sp>
        <p:sp>
          <p:nvSpPr>
            <p:cNvPr name="TextBox 41" id="41"/>
            <p:cNvSpPr txBox="true"/>
            <p:nvPr/>
          </p:nvSpPr>
          <p:spPr>
            <a:xfrm>
              <a:off x="0" y="-47625"/>
              <a:ext cx="21945600" cy="168021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  Idea clave:  </a:t>
              </a:r>
              <a:r>
                <a:rPr lang="en-US" sz="2199">
                  <a:solidFill>
                    <a:srgbClr val="333333"/>
                  </a:solidFill>
                  <a:latin typeface="Calibri (MS)"/>
                  <a:ea typeface="Calibri (MS)"/>
                  <a:cs typeface="Calibri (MS)"/>
                  <a:sym typeface="Calibri (MS)"/>
                </a:rPr>
                <a:t>Una alerta no es una conclusión: es una señal que requiere validación, contexto y análisis antes de tomar una decisión.</a:t>
              </a:r>
            </a:p>
          </p:txBody>
        </p:sp>
      </p:grpSp>
      <p:sp>
        <p:nvSpPr>
          <p:cNvPr name="Freeform 42" id="42"/>
          <p:cNvSpPr/>
          <p:nvPr/>
        </p:nvSpPr>
        <p:spPr>
          <a:xfrm flipH="false" flipV="false" rot="0">
            <a:off x="791741" y="2128709"/>
            <a:ext cx="592732" cy="406021"/>
          </a:xfrm>
          <a:custGeom>
            <a:avLst/>
            <a:gdLst/>
            <a:ahLst/>
            <a:cxnLst/>
            <a:rect r="r" b="b" t="t" l="l"/>
            <a:pathLst>
              <a:path h="406021" w="592732">
                <a:moveTo>
                  <a:pt x="0" y="0"/>
                </a:moveTo>
                <a:lnTo>
                  <a:pt x="592732" y="0"/>
                </a:lnTo>
                <a:lnTo>
                  <a:pt x="592732" y="406022"/>
                </a:lnTo>
                <a:lnTo>
                  <a:pt x="0" y="40602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43" id="43"/>
          <p:cNvGrpSpPr/>
          <p:nvPr/>
        </p:nvGrpSpPr>
        <p:grpSpPr>
          <a:xfrm rot="0">
            <a:off x="15983863" y="24203"/>
            <a:ext cx="1855079" cy="1855079"/>
            <a:chOff x="0" y="0"/>
            <a:chExt cx="5852160" cy="5852160"/>
          </a:xfrm>
        </p:grpSpPr>
        <p:sp>
          <p:nvSpPr>
            <p:cNvPr name="Freeform 44" id="4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p.23</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Responsabilidad 03: Aplicar playbooks de triage</a:t>
              </a:r>
            </a:p>
          </p:txBody>
        </p:sp>
      </p:grpSp>
      <p:sp>
        <p:nvSpPr>
          <p:cNvPr name="Freeform 20" id="20"/>
          <p:cNvSpPr/>
          <p:nvPr/>
        </p:nvSpPr>
        <p:spPr>
          <a:xfrm flipH="false" flipV="false" rot="0">
            <a:off x="572519" y="1816103"/>
            <a:ext cx="1031176" cy="1031176"/>
          </a:xfrm>
          <a:custGeom>
            <a:avLst/>
            <a:gdLst/>
            <a:ahLst/>
            <a:cxnLst/>
            <a:rect r="r" b="b" t="t" l="l"/>
            <a:pathLst>
              <a:path h="1031176" w="1031176">
                <a:moveTo>
                  <a:pt x="0" y="0"/>
                </a:moveTo>
                <a:lnTo>
                  <a:pt x="1031177" y="0"/>
                </a:lnTo>
                <a:lnTo>
                  <a:pt x="103117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828800"/>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7">
                <a:alphaModFix amt="0"/>
              </a:blip>
              <a:stretch>
                <a:fillRect l="-78392" t="0" r="-78392" b="0"/>
              </a:stretch>
            </a:blipFill>
          </p:spPr>
        </p:sp>
      </p:grpSp>
      <p:grpSp>
        <p:nvGrpSpPr>
          <p:cNvPr name="Group 23" id="23"/>
          <p:cNvGrpSpPr/>
          <p:nvPr/>
        </p:nvGrpSpPr>
        <p:grpSpPr>
          <a:xfrm rot="0">
            <a:off x="585216" y="1778794"/>
            <a:ext cx="1005840" cy="1055846"/>
            <a:chOff x="0" y="0"/>
            <a:chExt cx="1341120" cy="1407795"/>
          </a:xfrm>
        </p:grpSpPr>
        <p:sp>
          <p:nvSpPr>
            <p:cNvPr name="Freeform 24" id="24"/>
            <p:cNvSpPr/>
            <p:nvPr/>
          </p:nvSpPr>
          <p:spPr>
            <a:xfrm flipH="false" flipV="false" rot="0">
              <a:off x="0" y="0"/>
              <a:ext cx="1341120" cy="1407795"/>
            </a:xfrm>
            <a:custGeom>
              <a:avLst/>
              <a:gdLst/>
              <a:ahLst/>
              <a:cxnLst/>
              <a:rect r="r" b="b" t="t" l="l"/>
              <a:pathLst>
                <a:path h="1407795" w="1341120">
                  <a:moveTo>
                    <a:pt x="0" y="0"/>
                  </a:moveTo>
                  <a:lnTo>
                    <a:pt x="1341120" y="0"/>
                  </a:lnTo>
                  <a:lnTo>
                    <a:pt x="1341120" y="1407795"/>
                  </a:lnTo>
                  <a:lnTo>
                    <a:pt x="0" y="1407795"/>
                  </a:lnTo>
                  <a:close/>
                </a:path>
              </a:pathLst>
            </a:custGeom>
            <a:blipFill>
              <a:blip r:embed="rId8">
                <a:alphaModFix amt="0"/>
              </a:blip>
              <a:stretch>
                <a:fillRect l="-84682" t="0" r="-84682" b="0"/>
              </a:stretch>
            </a:blipFill>
          </p:spPr>
        </p:sp>
        <p:sp>
          <p:nvSpPr>
            <p:cNvPr name="TextBox 25" id="25"/>
            <p:cNvSpPr txBox="true"/>
            <p:nvPr/>
          </p:nvSpPr>
          <p:spPr>
            <a:xfrm>
              <a:off x="0" y="-66675"/>
              <a:ext cx="1341120" cy="1474470"/>
            </a:xfrm>
            <a:prstGeom prst="rect">
              <a:avLst/>
            </a:prstGeom>
          </p:spPr>
          <p:txBody>
            <a:bodyPr anchor="ctr" rtlCol="false" tIns="0" lIns="0" bIns="0" rIns="0"/>
            <a:lstStyle/>
            <a:p>
              <a:pPr algn="ctr">
                <a:lnSpc>
                  <a:spcPts val="4320"/>
                </a:lnSpc>
              </a:pPr>
            </a:p>
          </p:txBody>
        </p:sp>
      </p:grpSp>
      <p:grpSp>
        <p:nvGrpSpPr>
          <p:cNvPr name="Group 26" id="26"/>
          <p:cNvGrpSpPr/>
          <p:nvPr/>
        </p:nvGrpSpPr>
        <p:grpSpPr>
          <a:xfrm rot="0">
            <a:off x="1920240" y="1828800"/>
            <a:ext cx="15727680" cy="1005840"/>
            <a:chOff x="0" y="0"/>
            <a:chExt cx="20970240" cy="1341120"/>
          </a:xfrm>
        </p:grpSpPr>
        <p:sp>
          <p:nvSpPr>
            <p:cNvPr name="Freeform 27" id="27"/>
            <p:cNvSpPr/>
            <p:nvPr/>
          </p:nvSpPr>
          <p:spPr>
            <a:xfrm flipH="false" flipV="false" rot="0">
              <a:off x="0" y="0"/>
              <a:ext cx="20970239" cy="1341120"/>
            </a:xfrm>
            <a:custGeom>
              <a:avLst/>
              <a:gdLst/>
              <a:ahLst/>
              <a:cxnLst/>
              <a:rect r="r" b="b" t="t" l="l"/>
              <a:pathLst>
                <a:path h="1341120" w="20970239">
                  <a:moveTo>
                    <a:pt x="0" y="0"/>
                  </a:moveTo>
                  <a:lnTo>
                    <a:pt x="20970239" y="0"/>
                  </a:lnTo>
                  <a:lnTo>
                    <a:pt x="20970239" y="1341120"/>
                  </a:lnTo>
                  <a:lnTo>
                    <a:pt x="0" y="1341120"/>
                  </a:lnTo>
                  <a:close/>
                </a:path>
              </a:pathLst>
            </a:custGeom>
            <a:blipFill>
              <a:blip r:embed="rId7">
                <a:alphaModFix amt="0"/>
              </a:blip>
              <a:stretch>
                <a:fillRect l="0" t="-254463" r="0" b="-254463"/>
              </a:stretch>
            </a:blipFill>
          </p:spPr>
        </p:sp>
      </p:grpSp>
      <p:grpSp>
        <p:nvGrpSpPr>
          <p:cNvPr name="Group 28" id="28"/>
          <p:cNvGrpSpPr/>
          <p:nvPr/>
        </p:nvGrpSpPr>
        <p:grpSpPr>
          <a:xfrm rot="0">
            <a:off x="1920240" y="1793081"/>
            <a:ext cx="15727680" cy="1041559"/>
            <a:chOff x="0" y="0"/>
            <a:chExt cx="20970240" cy="1388745"/>
          </a:xfrm>
        </p:grpSpPr>
        <p:sp>
          <p:nvSpPr>
            <p:cNvPr name="Freeform 29" id="29"/>
            <p:cNvSpPr/>
            <p:nvPr/>
          </p:nvSpPr>
          <p:spPr>
            <a:xfrm flipH="false" flipV="false" rot="0">
              <a:off x="0" y="0"/>
              <a:ext cx="20970239" cy="1388745"/>
            </a:xfrm>
            <a:custGeom>
              <a:avLst/>
              <a:gdLst/>
              <a:ahLst/>
              <a:cxnLst/>
              <a:rect r="r" b="b" t="t" l="l"/>
              <a:pathLst>
                <a:path h="1388745" w="20970239">
                  <a:moveTo>
                    <a:pt x="0" y="0"/>
                  </a:moveTo>
                  <a:lnTo>
                    <a:pt x="20970239" y="0"/>
                  </a:lnTo>
                  <a:lnTo>
                    <a:pt x="20970239" y="1388745"/>
                  </a:lnTo>
                  <a:lnTo>
                    <a:pt x="0" y="1388745"/>
                  </a:lnTo>
                  <a:close/>
                </a:path>
              </a:pathLst>
            </a:custGeom>
            <a:blipFill>
              <a:blip r:embed="rId8">
                <a:alphaModFix amt="0"/>
              </a:blip>
              <a:stretch>
                <a:fillRect l="0" t="-244226" r="0" b="-244226"/>
              </a:stretch>
            </a:blipFill>
          </p:spPr>
        </p:sp>
        <p:sp>
          <p:nvSpPr>
            <p:cNvPr name="TextBox 30" id="30"/>
            <p:cNvSpPr txBox="true"/>
            <p:nvPr/>
          </p:nvSpPr>
          <p:spPr>
            <a:xfrm>
              <a:off x="0" y="-47625"/>
              <a:ext cx="2097024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Los analistas no improvisan: usan playbooks o guías predefinidas que indican los pasos a seguir según el tipo de alerta, incluyendo validaciones básicas, consultas a fuentes de threat intelligence y acciones sugeridas.</a:t>
              </a:r>
            </a:p>
          </p:txBody>
        </p:sp>
      </p:grpSp>
      <p:sp>
        <p:nvSpPr>
          <p:cNvPr name="Freeform 31" id="31"/>
          <p:cNvSpPr/>
          <p:nvPr/>
        </p:nvSpPr>
        <p:spPr>
          <a:xfrm flipH="false" flipV="false" rot="0">
            <a:off x="731520" y="3694169"/>
            <a:ext cx="15912785" cy="2060604"/>
          </a:xfrm>
          <a:custGeom>
            <a:avLst/>
            <a:gdLst/>
            <a:ahLst/>
            <a:cxnLst/>
            <a:rect r="r" b="b" t="t" l="l"/>
            <a:pathLst>
              <a:path h="2060604" w="15912785">
                <a:moveTo>
                  <a:pt x="0" y="0"/>
                </a:moveTo>
                <a:lnTo>
                  <a:pt x="15912785" y="0"/>
                </a:lnTo>
                <a:lnTo>
                  <a:pt x="15912785" y="2060604"/>
                </a:lnTo>
                <a:lnTo>
                  <a:pt x="0" y="20606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731520" y="3694169"/>
            <a:ext cx="142348" cy="2060604"/>
          </a:xfrm>
          <a:custGeom>
            <a:avLst/>
            <a:gdLst/>
            <a:ahLst/>
            <a:cxnLst/>
            <a:rect r="r" b="b" t="t" l="l"/>
            <a:pathLst>
              <a:path h="2060604" w="142348">
                <a:moveTo>
                  <a:pt x="0" y="0"/>
                </a:moveTo>
                <a:lnTo>
                  <a:pt x="142348" y="0"/>
                </a:lnTo>
                <a:lnTo>
                  <a:pt x="142348" y="2060604"/>
                </a:lnTo>
                <a:lnTo>
                  <a:pt x="0" y="206060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1201417" y="3997978"/>
            <a:ext cx="5303520" cy="496824"/>
          </a:xfrm>
          <a:prstGeom prst="rect">
            <a:avLst/>
          </a:prstGeom>
        </p:spPr>
        <p:txBody>
          <a:bodyPr anchor="t" rtlCol="false" tIns="0" lIns="0" bIns="0" rIns="0">
            <a:spAutoFit/>
          </a:bodyPr>
          <a:lstStyle/>
          <a:p>
            <a:pPr algn="l">
              <a:lnSpc>
                <a:spcPts val="2279"/>
              </a:lnSpc>
            </a:pPr>
            <a:r>
              <a:rPr lang="en-US" sz="1899" b="true">
                <a:solidFill>
                  <a:srgbClr val="1A73C0"/>
                </a:solidFill>
                <a:latin typeface="Calibri (MS) Bold"/>
                <a:ea typeface="Calibri (MS) Bold"/>
                <a:cs typeface="Calibri (MS) Bold"/>
                <a:sym typeface="Calibri (MS) Bold"/>
              </a:rPr>
              <a:t>💡  Ejemplo aplicado:</a:t>
            </a:r>
          </a:p>
        </p:txBody>
      </p:sp>
      <p:sp>
        <p:nvSpPr>
          <p:cNvPr name="TextBox 34" id="34"/>
          <p:cNvSpPr txBox="true"/>
          <p:nvPr/>
        </p:nvSpPr>
        <p:spPr>
          <a:xfrm rot="0">
            <a:off x="1167699" y="4457750"/>
            <a:ext cx="15108384" cy="685750"/>
          </a:xfrm>
          <a:prstGeom prst="rect">
            <a:avLst/>
          </a:prstGeom>
        </p:spPr>
        <p:txBody>
          <a:bodyPr anchor="t" rtlCol="false" tIns="0" lIns="0" bIns="0" rIns="0">
            <a:spAutoFit/>
          </a:bodyPr>
          <a:lstStyle/>
          <a:p>
            <a:pPr algn="l">
              <a:lnSpc>
                <a:spcPts val="2579"/>
              </a:lnSpc>
            </a:pPr>
            <a:r>
              <a:rPr lang="en-US" sz="2149" i="true">
                <a:solidFill>
                  <a:srgbClr val="333333"/>
                </a:solidFill>
                <a:latin typeface="Calibri (MS) Italics"/>
                <a:ea typeface="Calibri (MS) Italics"/>
                <a:cs typeface="Calibri (MS) Italics"/>
                <a:sym typeface="Calibri (MS) Italics"/>
              </a:rPr>
              <a:t>Se detecta actividad sospechosa en un puerto comúnmente usado por malware. El playbook indica: verificar reputación de IP en VirusTotal + revisar logs del endpoint + documentar.</a:t>
            </a:r>
          </a:p>
        </p:txBody>
      </p:sp>
      <p:sp>
        <p:nvSpPr>
          <p:cNvPr name="Freeform 35" id="35"/>
          <p:cNvSpPr/>
          <p:nvPr/>
        </p:nvSpPr>
        <p:spPr>
          <a:xfrm flipH="false" flipV="false" rot="0">
            <a:off x="731520" y="6451720"/>
            <a:ext cx="15912785" cy="1126940"/>
          </a:xfrm>
          <a:custGeom>
            <a:avLst/>
            <a:gdLst/>
            <a:ahLst/>
            <a:cxnLst/>
            <a:rect r="r" b="b" t="t" l="l"/>
            <a:pathLst>
              <a:path h="1126940" w="15912785">
                <a:moveTo>
                  <a:pt x="0" y="0"/>
                </a:moveTo>
                <a:lnTo>
                  <a:pt x="15912785" y="0"/>
                </a:lnTo>
                <a:lnTo>
                  <a:pt x="15912785" y="1126940"/>
                </a:lnTo>
                <a:lnTo>
                  <a:pt x="0" y="112694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731520" y="6451720"/>
            <a:ext cx="142348" cy="1126940"/>
          </a:xfrm>
          <a:custGeom>
            <a:avLst/>
            <a:gdLst/>
            <a:ahLst/>
            <a:cxnLst/>
            <a:rect r="r" b="b" t="t" l="l"/>
            <a:pathLst>
              <a:path h="1126940" w="142348">
                <a:moveTo>
                  <a:pt x="0" y="0"/>
                </a:moveTo>
                <a:lnTo>
                  <a:pt x="142348" y="0"/>
                </a:lnTo>
                <a:lnTo>
                  <a:pt x="142348" y="1126940"/>
                </a:lnTo>
                <a:lnTo>
                  <a:pt x="0" y="112694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37" id="37"/>
          <p:cNvGrpSpPr/>
          <p:nvPr/>
        </p:nvGrpSpPr>
        <p:grpSpPr>
          <a:xfrm rot="0">
            <a:off x="1082820" y="6463506"/>
            <a:ext cx="15278141" cy="1103421"/>
            <a:chOff x="0" y="0"/>
            <a:chExt cx="21945600" cy="1584960"/>
          </a:xfrm>
        </p:grpSpPr>
        <p:sp>
          <p:nvSpPr>
            <p:cNvPr name="Freeform 38" id="3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7">
                <a:alphaModFix amt="0"/>
              </a:blip>
              <a:stretch>
                <a:fillRect l="0" t="-219604" r="0" b="-219605"/>
              </a:stretch>
            </a:blipFill>
          </p:spPr>
        </p:sp>
      </p:grpSp>
      <p:grpSp>
        <p:nvGrpSpPr>
          <p:cNvPr name="Group 39" id="39"/>
          <p:cNvGrpSpPr/>
          <p:nvPr/>
        </p:nvGrpSpPr>
        <p:grpSpPr>
          <a:xfrm rot="0">
            <a:off x="1082820" y="6430350"/>
            <a:ext cx="15278141" cy="1136577"/>
            <a:chOff x="0" y="0"/>
            <a:chExt cx="21945600" cy="1632585"/>
          </a:xfrm>
        </p:grpSpPr>
        <p:sp>
          <p:nvSpPr>
            <p:cNvPr name="Freeform 40" id="40"/>
            <p:cNvSpPr/>
            <p:nvPr/>
          </p:nvSpPr>
          <p:spPr>
            <a:xfrm flipH="false" flipV="false" rot="0">
              <a:off x="0" y="0"/>
              <a:ext cx="21945600" cy="1632585"/>
            </a:xfrm>
            <a:custGeom>
              <a:avLst/>
              <a:gdLst/>
              <a:ahLst/>
              <a:cxnLst/>
              <a:rect r="r" b="b" t="t" l="l"/>
              <a:pathLst>
                <a:path h="1632585" w="21945600">
                  <a:moveTo>
                    <a:pt x="0" y="0"/>
                  </a:moveTo>
                  <a:lnTo>
                    <a:pt x="21945600" y="0"/>
                  </a:lnTo>
                  <a:lnTo>
                    <a:pt x="21945600" y="1632585"/>
                  </a:lnTo>
                  <a:lnTo>
                    <a:pt x="0" y="1632585"/>
                  </a:lnTo>
                  <a:close/>
                </a:path>
              </a:pathLst>
            </a:custGeom>
            <a:blipFill>
              <a:blip r:embed="rId8">
                <a:alphaModFix amt="0"/>
              </a:blip>
              <a:stretch>
                <a:fillRect l="0" t="-211922" r="0" b="-211922"/>
              </a:stretch>
            </a:blipFill>
          </p:spPr>
        </p:sp>
        <p:sp>
          <p:nvSpPr>
            <p:cNvPr name="TextBox 41" id="41"/>
            <p:cNvSpPr txBox="true"/>
            <p:nvPr/>
          </p:nvSpPr>
          <p:spPr>
            <a:xfrm>
              <a:off x="0" y="-47625"/>
              <a:ext cx="21945600" cy="168021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  Idea clave:  </a:t>
              </a:r>
              <a:r>
                <a:rPr lang="en-US" sz="2199">
                  <a:solidFill>
                    <a:srgbClr val="333333"/>
                  </a:solidFill>
                  <a:latin typeface="Calibri (MS)"/>
                  <a:ea typeface="Calibri (MS)"/>
                  <a:cs typeface="Calibri (MS)"/>
                  <a:sym typeface="Calibri (MS)"/>
                </a:rPr>
                <a:t>Los playbooks son el 'manual de operaciones' del SOC. Seguirlos garantiza consistencia y evita errores bajo presión.</a:t>
              </a:r>
            </a:p>
          </p:txBody>
        </p:sp>
      </p:grpSp>
      <p:grpSp>
        <p:nvGrpSpPr>
          <p:cNvPr name="Group 42" id="42"/>
          <p:cNvGrpSpPr/>
          <p:nvPr/>
        </p:nvGrpSpPr>
        <p:grpSpPr>
          <a:xfrm rot="0">
            <a:off x="15983863" y="24203"/>
            <a:ext cx="1855079" cy="1855079"/>
            <a:chOff x="0" y="0"/>
            <a:chExt cx="5852160" cy="5852160"/>
          </a:xfrm>
        </p:grpSpPr>
        <p:sp>
          <p:nvSpPr>
            <p:cNvPr name="Freeform 43" id="4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
        <p:nvSpPr>
          <p:cNvPr name="Freeform 44" id="44"/>
          <p:cNvSpPr/>
          <p:nvPr/>
        </p:nvSpPr>
        <p:spPr>
          <a:xfrm flipH="false" flipV="false" rot="0">
            <a:off x="772090" y="2079164"/>
            <a:ext cx="632092" cy="455106"/>
          </a:xfrm>
          <a:custGeom>
            <a:avLst/>
            <a:gdLst/>
            <a:ahLst/>
            <a:cxnLst/>
            <a:rect r="r" b="b" t="t" l="l"/>
            <a:pathLst>
              <a:path h="455106" w="632092">
                <a:moveTo>
                  <a:pt x="0" y="0"/>
                </a:moveTo>
                <a:lnTo>
                  <a:pt x="632092" y="0"/>
                </a:lnTo>
                <a:lnTo>
                  <a:pt x="632092" y="455106"/>
                </a:lnTo>
                <a:lnTo>
                  <a:pt x="0" y="45510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Responsabilidad 04: Escalar incidentes según criticidad</a:t>
              </a:r>
            </a:p>
          </p:txBody>
        </p:sp>
      </p:grpSp>
      <p:sp>
        <p:nvSpPr>
          <p:cNvPr name="Freeform 20" id="20"/>
          <p:cNvSpPr/>
          <p:nvPr/>
        </p:nvSpPr>
        <p:spPr>
          <a:xfrm flipH="false" flipV="false" rot="0">
            <a:off x="572519" y="1816103"/>
            <a:ext cx="1031176" cy="1031176"/>
          </a:xfrm>
          <a:custGeom>
            <a:avLst/>
            <a:gdLst/>
            <a:ahLst/>
            <a:cxnLst/>
            <a:rect r="r" b="b" t="t" l="l"/>
            <a:pathLst>
              <a:path h="1031176" w="1031176">
                <a:moveTo>
                  <a:pt x="0" y="0"/>
                </a:moveTo>
                <a:lnTo>
                  <a:pt x="1031177" y="0"/>
                </a:lnTo>
                <a:lnTo>
                  <a:pt x="103117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828800"/>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7">
                <a:alphaModFix amt="0"/>
              </a:blip>
              <a:stretch>
                <a:fillRect l="-78392" t="0" r="-78392" b="0"/>
              </a:stretch>
            </a:blipFill>
          </p:spPr>
        </p:sp>
      </p:grpSp>
      <p:grpSp>
        <p:nvGrpSpPr>
          <p:cNvPr name="Group 23" id="23"/>
          <p:cNvGrpSpPr/>
          <p:nvPr/>
        </p:nvGrpSpPr>
        <p:grpSpPr>
          <a:xfrm rot="0">
            <a:off x="585216" y="1778794"/>
            <a:ext cx="1005840" cy="1263427"/>
            <a:chOff x="0" y="0"/>
            <a:chExt cx="1341120" cy="1684569"/>
          </a:xfrm>
        </p:grpSpPr>
        <p:sp>
          <p:nvSpPr>
            <p:cNvPr name="Freeform 24" id="24"/>
            <p:cNvSpPr/>
            <p:nvPr/>
          </p:nvSpPr>
          <p:spPr>
            <a:xfrm flipH="false" flipV="false" rot="0">
              <a:off x="0" y="0"/>
              <a:ext cx="1341120" cy="1684569"/>
            </a:xfrm>
            <a:custGeom>
              <a:avLst/>
              <a:gdLst/>
              <a:ahLst/>
              <a:cxnLst/>
              <a:rect r="r" b="b" t="t" l="l"/>
              <a:pathLst>
                <a:path h="1684569" w="1341120">
                  <a:moveTo>
                    <a:pt x="0" y="0"/>
                  </a:moveTo>
                  <a:lnTo>
                    <a:pt x="1341120" y="0"/>
                  </a:lnTo>
                  <a:lnTo>
                    <a:pt x="1341120" y="1684569"/>
                  </a:lnTo>
                  <a:lnTo>
                    <a:pt x="0" y="1684569"/>
                  </a:lnTo>
                  <a:close/>
                </a:path>
              </a:pathLst>
            </a:custGeom>
            <a:blipFill>
              <a:blip r:embed="rId8">
                <a:alphaModFix amt="0"/>
              </a:blip>
              <a:stretch>
                <a:fillRect l="-84682" t="0" r="-84682" b="16429"/>
              </a:stretch>
            </a:blipFill>
          </p:spPr>
        </p:sp>
        <p:sp>
          <p:nvSpPr>
            <p:cNvPr name="TextBox 25" id="25"/>
            <p:cNvSpPr txBox="true"/>
            <p:nvPr/>
          </p:nvSpPr>
          <p:spPr>
            <a:xfrm>
              <a:off x="0" y="-66675"/>
              <a:ext cx="1341120" cy="1751244"/>
            </a:xfrm>
            <a:prstGeom prst="rect">
              <a:avLst/>
            </a:prstGeom>
          </p:spPr>
          <p:txBody>
            <a:bodyPr anchor="ctr" rtlCol="false" tIns="0" lIns="0" bIns="0" rIns="0"/>
            <a:lstStyle/>
            <a:p>
              <a:pPr algn="ctr">
                <a:lnSpc>
                  <a:spcPts val="4320"/>
                </a:lnSpc>
              </a:pPr>
            </a:p>
          </p:txBody>
        </p:sp>
      </p:grpSp>
      <p:grpSp>
        <p:nvGrpSpPr>
          <p:cNvPr name="Group 26" id="26"/>
          <p:cNvGrpSpPr/>
          <p:nvPr/>
        </p:nvGrpSpPr>
        <p:grpSpPr>
          <a:xfrm rot="0">
            <a:off x="1920240" y="1828800"/>
            <a:ext cx="15727680" cy="1005840"/>
            <a:chOff x="0" y="0"/>
            <a:chExt cx="20970240" cy="1341120"/>
          </a:xfrm>
        </p:grpSpPr>
        <p:sp>
          <p:nvSpPr>
            <p:cNvPr name="Freeform 27" id="27"/>
            <p:cNvSpPr/>
            <p:nvPr/>
          </p:nvSpPr>
          <p:spPr>
            <a:xfrm flipH="false" flipV="false" rot="0">
              <a:off x="0" y="0"/>
              <a:ext cx="20970239" cy="1341120"/>
            </a:xfrm>
            <a:custGeom>
              <a:avLst/>
              <a:gdLst/>
              <a:ahLst/>
              <a:cxnLst/>
              <a:rect r="r" b="b" t="t" l="l"/>
              <a:pathLst>
                <a:path h="1341120" w="20970239">
                  <a:moveTo>
                    <a:pt x="0" y="0"/>
                  </a:moveTo>
                  <a:lnTo>
                    <a:pt x="20970239" y="0"/>
                  </a:lnTo>
                  <a:lnTo>
                    <a:pt x="20970239" y="1341120"/>
                  </a:lnTo>
                  <a:lnTo>
                    <a:pt x="0" y="1341120"/>
                  </a:lnTo>
                  <a:close/>
                </a:path>
              </a:pathLst>
            </a:custGeom>
            <a:blipFill>
              <a:blip r:embed="rId7">
                <a:alphaModFix amt="0"/>
              </a:blip>
              <a:stretch>
                <a:fillRect l="0" t="-254463" r="0" b="-254463"/>
              </a:stretch>
            </a:blipFill>
          </p:spPr>
        </p:sp>
      </p:grpSp>
      <p:grpSp>
        <p:nvGrpSpPr>
          <p:cNvPr name="Group 28" id="28"/>
          <p:cNvGrpSpPr/>
          <p:nvPr/>
        </p:nvGrpSpPr>
        <p:grpSpPr>
          <a:xfrm rot="0">
            <a:off x="1920240" y="1793081"/>
            <a:ext cx="15727680" cy="1041559"/>
            <a:chOff x="0" y="0"/>
            <a:chExt cx="20970240" cy="1388745"/>
          </a:xfrm>
        </p:grpSpPr>
        <p:sp>
          <p:nvSpPr>
            <p:cNvPr name="Freeform 29" id="29"/>
            <p:cNvSpPr/>
            <p:nvPr/>
          </p:nvSpPr>
          <p:spPr>
            <a:xfrm flipH="false" flipV="false" rot="0">
              <a:off x="0" y="0"/>
              <a:ext cx="20970239" cy="1388745"/>
            </a:xfrm>
            <a:custGeom>
              <a:avLst/>
              <a:gdLst/>
              <a:ahLst/>
              <a:cxnLst/>
              <a:rect r="r" b="b" t="t" l="l"/>
              <a:pathLst>
                <a:path h="1388745" w="20970239">
                  <a:moveTo>
                    <a:pt x="0" y="0"/>
                  </a:moveTo>
                  <a:lnTo>
                    <a:pt x="20970239" y="0"/>
                  </a:lnTo>
                  <a:lnTo>
                    <a:pt x="20970239" y="1388745"/>
                  </a:lnTo>
                  <a:lnTo>
                    <a:pt x="0" y="1388745"/>
                  </a:lnTo>
                  <a:close/>
                </a:path>
              </a:pathLst>
            </a:custGeom>
            <a:blipFill>
              <a:blip r:embed="rId8">
                <a:alphaModFix amt="0"/>
              </a:blip>
              <a:stretch>
                <a:fillRect l="0" t="-244226" r="0" b="-244226"/>
              </a:stretch>
            </a:blipFill>
          </p:spPr>
        </p:sp>
        <p:sp>
          <p:nvSpPr>
            <p:cNvPr name="TextBox 30" id="30"/>
            <p:cNvSpPr txBox="true"/>
            <p:nvPr/>
          </p:nvSpPr>
          <p:spPr>
            <a:xfrm>
              <a:off x="0" y="-47625"/>
              <a:ext cx="2097024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Si el incidente no puede resolverse en el nivel 1, el analista debe escalarlo al nivel 2 o 3 siguiendo el proceso establecido. Lo importante es no perder tiempo ni contexto.</a:t>
              </a:r>
            </a:p>
          </p:txBody>
        </p:sp>
      </p:grpSp>
      <p:sp>
        <p:nvSpPr>
          <p:cNvPr name="Freeform 31" id="31"/>
          <p:cNvSpPr/>
          <p:nvPr/>
        </p:nvSpPr>
        <p:spPr>
          <a:xfrm flipH="false" flipV="false" rot="0">
            <a:off x="818031" y="3655841"/>
            <a:ext cx="15826375" cy="2049414"/>
          </a:xfrm>
          <a:custGeom>
            <a:avLst/>
            <a:gdLst/>
            <a:ahLst/>
            <a:cxnLst/>
            <a:rect r="r" b="b" t="t" l="l"/>
            <a:pathLst>
              <a:path h="2049414" w="15826375">
                <a:moveTo>
                  <a:pt x="0" y="0"/>
                </a:moveTo>
                <a:lnTo>
                  <a:pt x="15826375" y="0"/>
                </a:lnTo>
                <a:lnTo>
                  <a:pt x="15826375" y="2049415"/>
                </a:lnTo>
                <a:lnTo>
                  <a:pt x="0" y="20494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818031" y="3655841"/>
            <a:ext cx="141575" cy="2049414"/>
          </a:xfrm>
          <a:custGeom>
            <a:avLst/>
            <a:gdLst/>
            <a:ahLst/>
            <a:cxnLst/>
            <a:rect r="r" b="b" t="t" l="l"/>
            <a:pathLst>
              <a:path h="2049414" w="141575">
                <a:moveTo>
                  <a:pt x="0" y="0"/>
                </a:moveTo>
                <a:lnTo>
                  <a:pt x="141576" y="0"/>
                </a:lnTo>
                <a:lnTo>
                  <a:pt x="141576" y="2049415"/>
                </a:lnTo>
                <a:lnTo>
                  <a:pt x="0" y="204941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1251841" y="3859211"/>
            <a:ext cx="4896224" cy="461595"/>
          </a:xfrm>
          <a:prstGeom prst="rect">
            <a:avLst/>
          </a:prstGeom>
        </p:spPr>
        <p:txBody>
          <a:bodyPr anchor="t" rtlCol="false" tIns="0" lIns="0" bIns="0" rIns="0">
            <a:spAutoFit/>
          </a:bodyPr>
          <a:lstStyle/>
          <a:p>
            <a:pPr algn="l">
              <a:lnSpc>
                <a:spcPts val="2103"/>
              </a:lnSpc>
            </a:pPr>
            <a:r>
              <a:rPr lang="en-US" sz="1753" b="true">
                <a:solidFill>
                  <a:srgbClr val="1A73C0"/>
                </a:solidFill>
                <a:latin typeface="Calibri (MS) Bold"/>
                <a:ea typeface="Calibri (MS) Bold"/>
                <a:cs typeface="Calibri (MS) Bold"/>
                <a:sym typeface="Calibri (MS) Bold"/>
              </a:rPr>
              <a:t>💡  Ejemplo aplicado:</a:t>
            </a:r>
          </a:p>
        </p:txBody>
      </p:sp>
      <p:sp>
        <p:nvSpPr>
          <p:cNvPr name="TextBox 34" id="34"/>
          <p:cNvSpPr txBox="true"/>
          <p:nvPr/>
        </p:nvSpPr>
        <p:spPr>
          <a:xfrm rot="0">
            <a:off x="1251841" y="4323156"/>
            <a:ext cx="15026342" cy="685750"/>
          </a:xfrm>
          <a:prstGeom prst="rect">
            <a:avLst/>
          </a:prstGeom>
        </p:spPr>
        <p:txBody>
          <a:bodyPr anchor="t" rtlCol="false" tIns="0" lIns="0" bIns="0" rIns="0">
            <a:spAutoFit/>
          </a:bodyPr>
          <a:lstStyle/>
          <a:p>
            <a:pPr algn="l">
              <a:lnSpc>
                <a:spcPts val="2566"/>
              </a:lnSpc>
            </a:pPr>
            <a:r>
              <a:rPr lang="en-US" sz="2138" i="true">
                <a:solidFill>
                  <a:srgbClr val="333333"/>
                </a:solidFill>
                <a:latin typeface="Calibri (MS) Italics"/>
                <a:ea typeface="Calibri (MS) Italics"/>
                <a:cs typeface="Calibri (MS) Italics"/>
                <a:sym typeface="Calibri (MS) Italics"/>
              </a:rPr>
              <a:t>Se detecta comportamiento anómalo persistente → se recopilan evidencias básicas → se genera ticket con toda la información → se escala a L2.</a:t>
            </a:r>
          </a:p>
        </p:txBody>
      </p:sp>
      <p:sp>
        <p:nvSpPr>
          <p:cNvPr name="Freeform 35" id="35"/>
          <p:cNvSpPr/>
          <p:nvPr/>
        </p:nvSpPr>
        <p:spPr>
          <a:xfrm flipH="false" flipV="false" rot="0">
            <a:off x="851825" y="6336110"/>
            <a:ext cx="15826375" cy="1120820"/>
          </a:xfrm>
          <a:custGeom>
            <a:avLst/>
            <a:gdLst/>
            <a:ahLst/>
            <a:cxnLst/>
            <a:rect r="r" b="b" t="t" l="l"/>
            <a:pathLst>
              <a:path h="1120820" w="15826375">
                <a:moveTo>
                  <a:pt x="0" y="0"/>
                </a:moveTo>
                <a:lnTo>
                  <a:pt x="15826375" y="0"/>
                </a:lnTo>
                <a:lnTo>
                  <a:pt x="15826375" y="1120820"/>
                </a:lnTo>
                <a:lnTo>
                  <a:pt x="0" y="112082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851825" y="6336110"/>
            <a:ext cx="141575" cy="1120820"/>
          </a:xfrm>
          <a:custGeom>
            <a:avLst/>
            <a:gdLst/>
            <a:ahLst/>
            <a:cxnLst/>
            <a:rect r="r" b="b" t="t" l="l"/>
            <a:pathLst>
              <a:path h="1120820" w="141575">
                <a:moveTo>
                  <a:pt x="0" y="0"/>
                </a:moveTo>
                <a:lnTo>
                  <a:pt x="141575" y="0"/>
                </a:lnTo>
                <a:lnTo>
                  <a:pt x="141575" y="1120820"/>
                </a:lnTo>
                <a:lnTo>
                  <a:pt x="0" y="112082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37" id="37"/>
          <p:cNvGrpSpPr/>
          <p:nvPr/>
        </p:nvGrpSpPr>
        <p:grpSpPr>
          <a:xfrm rot="0">
            <a:off x="1201217" y="6347831"/>
            <a:ext cx="15195177" cy="1097429"/>
            <a:chOff x="0" y="0"/>
            <a:chExt cx="21945600" cy="1584960"/>
          </a:xfrm>
        </p:grpSpPr>
        <p:sp>
          <p:nvSpPr>
            <p:cNvPr name="Freeform 38" id="3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7">
                <a:alphaModFix amt="0"/>
              </a:blip>
              <a:stretch>
                <a:fillRect l="0" t="-219604" r="0" b="-219605"/>
              </a:stretch>
            </a:blipFill>
          </p:spPr>
        </p:sp>
      </p:grpSp>
      <p:grpSp>
        <p:nvGrpSpPr>
          <p:cNvPr name="Group 39" id="39"/>
          <p:cNvGrpSpPr/>
          <p:nvPr/>
        </p:nvGrpSpPr>
        <p:grpSpPr>
          <a:xfrm rot="0">
            <a:off x="1201217" y="6314856"/>
            <a:ext cx="15195177" cy="1130405"/>
            <a:chOff x="0" y="0"/>
            <a:chExt cx="21945600" cy="1632585"/>
          </a:xfrm>
        </p:grpSpPr>
        <p:sp>
          <p:nvSpPr>
            <p:cNvPr name="Freeform 40" id="40"/>
            <p:cNvSpPr/>
            <p:nvPr/>
          </p:nvSpPr>
          <p:spPr>
            <a:xfrm flipH="false" flipV="false" rot="0">
              <a:off x="0" y="0"/>
              <a:ext cx="21945600" cy="1632585"/>
            </a:xfrm>
            <a:custGeom>
              <a:avLst/>
              <a:gdLst/>
              <a:ahLst/>
              <a:cxnLst/>
              <a:rect r="r" b="b" t="t" l="l"/>
              <a:pathLst>
                <a:path h="1632585" w="21945600">
                  <a:moveTo>
                    <a:pt x="0" y="0"/>
                  </a:moveTo>
                  <a:lnTo>
                    <a:pt x="21945600" y="0"/>
                  </a:lnTo>
                  <a:lnTo>
                    <a:pt x="21945600" y="1632585"/>
                  </a:lnTo>
                  <a:lnTo>
                    <a:pt x="0" y="1632585"/>
                  </a:lnTo>
                  <a:close/>
                </a:path>
              </a:pathLst>
            </a:custGeom>
            <a:blipFill>
              <a:blip r:embed="rId8">
                <a:alphaModFix amt="0"/>
              </a:blip>
              <a:stretch>
                <a:fillRect l="0" t="-211922" r="0" b="-211922"/>
              </a:stretch>
            </a:blipFill>
          </p:spPr>
        </p:sp>
        <p:sp>
          <p:nvSpPr>
            <p:cNvPr name="TextBox 41" id="41"/>
            <p:cNvSpPr txBox="true"/>
            <p:nvPr/>
          </p:nvSpPr>
          <p:spPr>
            <a:xfrm>
              <a:off x="0" y="-47625"/>
              <a:ext cx="21945600" cy="168021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  Idea clave:  </a:t>
              </a:r>
              <a:r>
                <a:rPr lang="en-US" sz="2199">
                  <a:solidFill>
                    <a:srgbClr val="333333"/>
                  </a:solidFill>
                  <a:latin typeface="Calibri (MS)"/>
                  <a:ea typeface="Calibri (MS)"/>
                  <a:cs typeface="Calibri (MS)"/>
                  <a:sym typeface="Calibri (MS)"/>
                </a:rPr>
                <a:t>Escalar bien significa dar a L2 suficiente información para actuar con rapidez. Escalar sin datos es peor que no escalar.</a:t>
              </a:r>
            </a:p>
          </p:txBody>
        </p:sp>
      </p:grpSp>
      <p:grpSp>
        <p:nvGrpSpPr>
          <p:cNvPr name="Group 42" id="42"/>
          <p:cNvGrpSpPr/>
          <p:nvPr/>
        </p:nvGrpSpPr>
        <p:grpSpPr>
          <a:xfrm rot="0">
            <a:off x="15983863" y="24203"/>
            <a:ext cx="1855079" cy="1855079"/>
            <a:chOff x="0" y="0"/>
            <a:chExt cx="5852160" cy="5852160"/>
          </a:xfrm>
        </p:grpSpPr>
        <p:sp>
          <p:nvSpPr>
            <p:cNvPr name="Freeform 43" id="4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
        <p:nvSpPr>
          <p:cNvPr name="Freeform 44" id="44"/>
          <p:cNvSpPr/>
          <p:nvPr/>
        </p:nvSpPr>
        <p:spPr>
          <a:xfrm flipH="false" flipV="false" rot="0">
            <a:off x="818031" y="2107533"/>
            <a:ext cx="540210" cy="448374"/>
          </a:xfrm>
          <a:custGeom>
            <a:avLst/>
            <a:gdLst/>
            <a:ahLst/>
            <a:cxnLst/>
            <a:rect r="r" b="b" t="t" l="l"/>
            <a:pathLst>
              <a:path h="448374" w="540210">
                <a:moveTo>
                  <a:pt x="0" y="0"/>
                </a:moveTo>
                <a:lnTo>
                  <a:pt x="540210" y="0"/>
                </a:lnTo>
                <a:lnTo>
                  <a:pt x="540210" y="448374"/>
                </a:lnTo>
                <a:lnTo>
                  <a:pt x="0" y="44837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p.25</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1.3  |  Responsabilidad 05: Documentar acciones y hallazgos</a:t>
              </a:r>
            </a:p>
          </p:txBody>
        </p:sp>
      </p:grpSp>
      <p:sp>
        <p:nvSpPr>
          <p:cNvPr name="Freeform 20" id="20"/>
          <p:cNvSpPr/>
          <p:nvPr/>
        </p:nvSpPr>
        <p:spPr>
          <a:xfrm flipH="false" flipV="false" rot="0">
            <a:off x="572519" y="1816103"/>
            <a:ext cx="1031176" cy="1031176"/>
          </a:xfrm>
          <a:custGeom>
            <a:avLst/>
            <a:gdLst/>
            <a:ahLst/>
            <a:cxnLst/>
            <a:rect r="r" b="b" t="t" l="l"/>
            <a:pathLst>
              <a:path h="1031176" w="1031176">
                <a:moveTo>
                  <a:pt x="0" y="0"/>
                </a:moveTo>
                <a:lnTo>
                  <a:pt x="1031177" y="0"/>
                </a:lnTo>
                <a:lnTo>
                  <a:pt x="1031177" y="1031177"/>
                </a:lnTo>
                <a:lnTo>
                  <a:pt x="0" y="10311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828800"/>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7">
                <a:alphaModFix amt="0"/>
              </a:blip>
              <a:stretch>
                <a:fillRect l="-78392" t="0" r="-78392" b="0"/>
              </a:stretch>
            </a:blipFill>
          </p:spPr>
        </p:sp>
      </p:grpSp>
      <p:grpSp>
        <p:nvGrpSpPr>
          <p:cNvPr name="Group 23" id="23"/>
          <p:cNvGrpSpPr/>
          <p:nvPr/>
        </p:nvGrpSpPr>
        <p:grpSpPr>
          <a:xfrm rot="0">
            <a:off x="585216" y="1778794"/>
            <a:ext cx="1005840" cy="1055846"/>
            <a:chOff x="0" y="0"/>
            <a:chExt cx="1341120" cy="1407795"/>
          </a:xfrm>
        </p:grpSpPr>
        <p:sp>
          <p:nvSpPr>
            <p:cNvPr name="Freeform 24" id="24"/>
            <p:cNvSpPr/>
            <p:nvPr/>
          </p:nvSpPr>
          <p:spPr>
            <a:xfrm flipH="false" flipV="false" rot="0">
              <a:off x="0" y="0"/>
              <a:ext cx="1341120" cy="1407795"/>
            </a:xfrm>
            <a:custGeom>
              <a:avLst/>
              <a:gdLst/>
              <a:ahLst/>
              <a:cxnLst/>
              <a:rect r="r" b="b" t="t" l="l"/>
              <a:pathLst>
                <a:path h="1407795" w="1341120">
                  <a:moveTo>
                    <a:pt x="0" y="0"/>
                  </a:moveTo>
                  <a:lnTo>
                    <a:pt x="1341120" y="0"/>
                  </a:lnTo>
                  <a:lnTo>
                    <a:pt x="1341120" y="1407795"/>
                  </a:lnTo>
                  <a:lnTo>
                    <a:pt x="0" y="1407795"/>
                  </a:lnTo>
                  <a:close/>
                </a:path>
              </a:pathLst>
            </a:custGeom>
            <a:blipFill>
              <a:blip r:embed="rId8">
                <a:alphaModFix amt="0"/>
              </a:blip>
              <a:stretch>
                <a:fillRect l="-84682" t="0" r="-84682" b="0"/>
              </a:stretch>
            </a:blipFill>
          </p:spPr>
        </p:sp>
        <p:sp>
          <p:nvSpPr>
            <p:cNvPr name="TextBox 25" id="25"/>
            <p:cNvSpPr txBox="true"/>
            <p:nvPr/>
          </p:nvSpPr>
          <p:spPr>
            <a:xfrm>
              <a:off x="0" y="-66675"/>
              <a:ext cx="1341120" cy="1474470"/>
            </a:xfrm>
            <a:prstGeom prst="rect">
              <a:avLst/>
            </a:prstGeom>
          </p:spPr>
          <p:txBody>
            <a:bodyPr anchor="ctr" rtlCol="false" tIns="0" lIns="0" bIns="0" rIns="0"/>
            <a:lstStyle/>
            <a:p>
              <a:pPr algn="ctr">
                <a:lnSpc>
                  <a:spcPts val="4320"/>
                </a:lnSpc>
              </a:pPr>
            </a:p>
          </p:txBody>
        </p:sp>
      </p:grpSp>
      <p:grpSp>
        <p:nvGrpSpPr>
          <p:cNvPr name="Group 26" id="26"/>
          <p:cNvGrpSpPr/>
          <p:nvPr/>
        </p:nvGrpSpPr>
        <p:grpSpPr>
          <a:xfrm rot="0">
            <a:off x="1920240" y="1828800"/>
            <a:ext cx="15727680" cy="1005840"/>
            <a:chOff x="0" y="0"/>
            <a:chExt cx="20970240" cy="1341120"/>
          </a:xfrm>
        </p:grpSpPr>
        <p:sp>
          <p:nvSpPr>
            <p:cNvPr name="Freeform 27" id="27"/>
            <p:cNvSpPr/>
            <p:nvPr/>
          </p:nvSpPr>
          <p:spPr>
            <a:xfrm flipH="false" flipV="false" rot="0">
              <a:off x="0" y="0"/>
              <a:ext cx="20970239" cy="1341120"/>
            </a:xfrm>
            <a:custGeom>
              <a:avLst/>
              <a:gdLst/>
              <a:ahLst/>
              <a:cxnLst/>
              <a:rect r="r" b="b" t="t" l="l"/>
              <a:pathLst>
                <a:path h="1341120" w="20970239">
                  <a:moveTo>
                    <a:pt x="0" y="0"/>
                  </a:moveTo>
                  <a:lnTo>
                    <a:pt x="20970239" y="0"/>
                  </a:lnTo>
                  <a:lnTo>
                    <a:pt x="20970239" y="1341120"/>
                  </a:lnTo>
                  <a:lnTo>
                    <a:pt x="0" y="1341120"/>
                  </a:lnTo>
                  <a:close/>
                </a:path>
              </a:pathLst>
            </a:custGeom>
            <a:blipFill>
              <a:blip r:embed="rId7">
                <a:alphaModFix amt="0"/>
              </a:blip>
              <a:stretch>
                <a:fillRect l="0" t="-254463" r="0" b="-254463"/>
              </a:stretch>
            </a:blipFill>
          </p:spPr>
        </p:sp>
      </p:grpSp>
      <p:grpSp>
        <p:nvGrpSpPr>
          <p:cNvPr name="Group 28" id="28"/>
          <p:cNvGrpSpPr/>
          <p:nvPr/>
        </p:nvGrpSpPr>
        <p:grpSpPr>
          <a:xfrm rot="0">
            <a:off x="1920240" y="1793081"/>
            <a:ext cx="15727680" cy="1041559"/>
            <a:chOff x="0" y="0"/>
            <a:chExt cx="20970240" cy="1388745"/>
          </a:xfrm>
        </p:grpSpPr>
        <p:sp>
          <p:nvSpPr>
            <p:cNvPr name="Freeform 29" id="29"/>
            <p:cNvSpPr/>
            <p:nvPr/>
          </p:nvSpPr>
          <p:spPr>
            <a:xfrm flipH="false" flipV="false" rot="0">
              <a:off x="0" y="0"/>
              <a:ext cx="20970239" cy="1388745"/>
            </a:xfrm>
            <a:custGeom>
              <a:avLst/>
              <a:gdLst/>
              <a:ahLst/>
              <a:cxnLst/>
              <a:rect r="r" b="b" t="t" l="l"/>
              <a:pathLst>
                <a:path h="1388745" w="20970239">
                  <a:moveTo>
                    <a:pt x="0" y="0"/>
                  </a:moveTo>
                  <a:lnTo>
                    <a:pt x="20970239" y="0"/>
                  </a:lnTo>
                  <a:lnTo>
                    <a:pt x="20970239" y="1388745"/>
                  </a:lnTo>
                  <a:lnTo>
                    <a:pt x="0" y="1388745"/>
                  </a:lnTo>
                  <a:close/>
                </a:path>
              </a:pathLst>
            </a:custGeom>
            <a:blipFill>
              <a:blip r:embed="rId8">
                <a:alphaModFix amt="0"/>
              </a:blip>
              <a:stretch>
                <a:fillRect l="0" t="-244226" r="0" b="-244226"/>
              </a:stretch>
            </a:blipFill>
          </p:spPr>
        </p:sp>
        <p:sp>
          <p:nvSpPr>
            <p:cNvPr name="TextBox 30" id="30"/>
            <p:cNvSpPr txBox="true"/>
            <p:nvPr/>
          </p:nvSpPr>
          <p:spPr>
            <a:xfrm>
              <a:off x="0" y="-47625"/>
              <a:ext cx="20970240" cy="1436370"/>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Todo lo que hace un analista SOC debe quedar registrado: pasos seguidos, herramientas utilizadas, hallazgos clave y decisiones tomadas. Esto permite auditar, dar continuidad al trabajo y cumplir normativas.</a:t>
              </a:r>
            </a:p>
          </p:txBody>
        </p:sp>
      </p:grpSp>
      <p:sp>
        <p:nvSpPr>
          <p:cNvPr name="Freeform 31" id="31"/>
          <p:cNvSpPr/>
          <p:nvPr/>
        </p:nvSpPr>
        <p:spPr>
          <a:xfrm flipH="false" flipV="false" rot="0">
            <a:off x="814871" y="3609849"/>
            <a:ext cx="15463312" cy="2002400"/>
          </a:xfrm>
          <a:custGeom>
            <a:avLst/>
            <a:gdLst/>
            <a:ahLst/>
            <a:cxnLst/>
            <a:rect r="r" b="b" t="t" l="l"/>
            <a:pathLst>
              <a:path h="2002400" w="15463312">
                <a:moveTo>
                  <a:pt x="0" y="0"/>
                </a:moveTo>
                <a:lnTo>
                  <a:pt x="15463311" y="0"/>
                </a:lnTo>
                <a:lnTo>
                  <a:pt x="15463311" y="2002400"/>
                </a:lnTo>
                <a:lnTo>
                  <a:pt x="0" y="20024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814871" y="3609849"/>
            <a:ext cx="138328" cy="2002400"/>
          </a:xfrm>
          <a:custGeom>
            <a:avLst/>
            <a:gdLst/>
            <a:ahLst/>
            <a:cxnLst/>
            <a:rect r="r" b="b" t="t" l="l"/>
            <a:pathLst>
              <a:path h="2002400" w="138328">
                <a:moveTo>
                  <a:pt x="0" y="0"/>
                </a:moveTo>
                <a:lnTo>
                  <a:pt x="138328" y="0"/>
                </a:lnTo>
                <a:lnTo>
                  <a:pt x="138328" y="2002400"/>
                </a:lnTo>
                <a:lnTo>
                  <a:pt x="0" y="20024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1307854" y="3832986"/>
            <a:ext cx="4783902" cy="451880"/>
          </a:xfrm>
          <a:prstGeom prst="rect">
            <a:avLst/>
          </a:prstGeom>
        </p:spPr>
        <p:txBody>
          <a:bodyPr anchor="t" rtlCol="false" tIns="0" lIns="0" bIns="0" rIns="0">
            <a:spAutoFit/>
          </a:bodyPr>
          <a:lstStyle/>
          <a:p>
            <a:pPr algn="l">
              <a:lnSpc>
                <a:spcPts val="2055"/>
              </a:lnSpc>
            </a:pPr>
            <a:r>
              <a:rPr lang="en-US" sz="1712" b="true">
                <a:solidFill>
                  <a:srgbClr val="1A73C0"/>
                </a:solidFill>
                <a:latin typeface="Calibri (MS) Bold"/>
                <a:ea typeface="Calibri (MS) Bold"/>
                <a:cs typeface="Calibri (MS) Bold"/>
                <a:sym typeface="Calibri (MS) Bold"/>
              </a:rPr>
              <a:t>💡  Ejemplo aplicado:</a:t>
            </a:r>
          </a:p>
        </p:txBody>
      </p:sp>
      <p:sp>
        <p:nvSpPr>
          <p:cNvPr name="TextBox 34" id="34"/>
          <p:cNvSpPr txBox="true"/>
          <p:nvPr/>
        </p:nvSpPr>
        <p:spPr>
          <a:xfrm rot="0">
            <a:off x="1307854" y="4376414"/>
            <a:ext cx="14681632" cy="649050"/>
          </a:xfrm>
          <a:prstGeom prst="rect">
            <a:avLst/>
          </a:prstGeom>
        </p:spPr>
        <p:txBody>
          <a:bodyPr anchor="t" rtlCol="false" tIns="0" lIns="0" bIns="0" rIns="0">
            <a:spAutoFit/>
          </a:bodyPr>
          <a:lstStyle/>
          <a:p>
            <a:pPr algn="l">
              <a:lnSpc>
                <a:spcPts val="2381"/>
              </a:lnSpc>
            </a:pPr>
            <a:r>
              <a:rPr lang="en-US" sz="1984" i="true">
                <a:solidFill>
                  <a:srgbClr val="333333"/>
                </a:solidFill>
                <a:latin typeface="Calibri (MS) Italics"/>
                <a:ea typeface="Calibri (MS) Italics"/>
                <a:cs typeface="Calibri (MS) Italics"/>
                <a:sym typeface="Calibri (MS) Italics"/>
              </a:rPr>
              <a:t>Tras analizar un falso positivo, el analista deja registrado el origen de la alerta, las IPs implicadas, el análisis realizado y la decisión final de cierre.</a:t>
            </a:r>
          </a:p>
        </p:txBody>
      </p:sp>
      <p:sp>
        <p:nvSpPr>
          <p:cNvPr name="Freeform 35" id="35"/>
          <p:cNvSpPr/>
          <p:nvPr/>
        </p:nvSpPr>
        <p:spPr>
          <a:xfrm flipH="false" flipV="false" rot="0">
            <a:off x="814871" y="6251623"/>
            <a:ext cx="15463312" cy="1095108"/>
          </a:xfrm>
          <a:custGeom>
            <a:avLst/>
            <a:gdLst/>
            <a:ahLst/>
            <a:cxnLst/>
            <a:rect r="r" b="b" t="t" l="l"/>
            <a:pathLst>
              <a:path h="1095108" w="15463312">
                <a:moveTo>
                  <a:pt x="0" y="0"/>
                </a:moveTo>
                <a:lnTo>
                  <a:pt x="15463311" y="0"/>
                </a:lnTo>
                <a:lnTo>
                  <a:pt x="15463311" y="1095108"/>
                </a:lnTo>
                <a:lnTo>
                  <a:pt x="0" y="109510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814871" y="6251623"/>
            <a:ext cx="138328" cy="1095108"/>
          </a:xfrm>
          <a:custGeom>
            <a:avLst/>
            <a:gdLst/>
            <a:ahLst/>
            <a:cxnLst/>
            <a:rect r="r" b="b" t="t" l="l"/>
            <a:pathLst>
              <a:path h="1095108" w="138328">
                <a:moveTo>
                  <a:pt x="0" y="0"/>
                </a:moveTo>
                <a:lnTo>
                  <a:pt x="138328" y="0"/>
                </a:lnTo>
                <a:lnTo>
                  <a:pt x="138328" y="1095108"/>
                </a:lnTo>
                <a:lnTo>
                  <a:pt x="0" y="109510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37" id="37"/>
          <p:cNvGrpSpPr/>
          <p:nvPr/>
        </p:nvGrpSpPr>
        <p:grpSpPr>
          <a:xfrm rot="0">
            <a:off x="1156248" y="6263076"/>
            <a:ext cx="14846594" cy="1072254"/>
            <a:chOff x="0" y="0"/>
            <a:chExt cx="21945600" cy="1584960"/>
          </a:xfrm>
        </p:grpSpPr>
        <p:sp>
          <p:nvSpPr>
            <p:cNvPr name="Freeform 38" id="3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7">
                <a:alphaModFix amt="0"/>
              </a:blip>
              <a:stretch>
                <a:fillRect l="0" t="-219604" r="0" b="-219605"/>
              </a:stretch>
            </a:blipFill>
          </p:spPr>
        </p:sp>
      </p:grpSp>
      <p:grpSp>
        <p:nvGrpSpPr>
          <p:cNvPr name="Group 39" id="39"/>
          <p:cNvGrpSpPr/>
          <p:nvPr/>
        </p:nvGrpSpPr>
        <p:grpSpPr>
          <a:xfrm rot="0">
            <a:off x="1156248" y="6230857"/>
            <a:ext cx="14846594" cy="1104473"/>
            <a:chOff x="0" y="0"/>
            <a:chExt cx="21945600" cy="1632585"/>
          </a:xfrm>
        </p:grpSpPr>
        <p:sp>
          <p:nvSpPr>
            <p:cNvPr name="Freeform 40" id="40"/>
            <p:cNvSpPr/>
            <p:nvPr/>
          </p:nvSpPr>
          <p:spPr>
            <a:xfrm flipH="false" flipV="false" rot="0">
              <a:off x="0" y="0"/>
              <a:ext cx="21945600" cy="1632585"/>
            </a:xfrm>
            <a:custGeom>
              <a:avLst/>
              <a:gdLst/>
              <a:ahLst/>
              <a:cxnLst/>
              <a:rect r="r" b="b" t="t" l="l"/>
              <a:pathLst>
                <a:path h="1632585" w="21945600">
                  <a:moveTo>
                    <a:pt x="0" y="0"/>
                  </a:moveTo>
                  <a:lnTo>
                    <a:pt x="21945600" y="0"/>
                  </a:lnTo>
                  <a:lnTo>
                    <a:pt x="21945600" y="1632585"/>
                  </a:lnTo>
                  <a:lnTo>
                    <a:pt x="0" y="1632585"/>
                  </a:lnTo>
                  <a:close/>
                </a:path>
              </a:pathLst>
            </a:custGeom>
            <a:blipFill>
              <a:blip r:embed="rId8">
                <a:alphaModFix amt="0"/>
              </a:blip>
              <a:stretch>
                <a:fillRect l="0" t="-211922" r="0" b="-211922"/>
              </a:stretch>
            </a:blipFill>
          </p:spPr>
        </p:sp>
        <p:sp>
          <p:nvSpPr>
            <p:cNvPr name="TextBox 41" id="41"/>
            <p:cNvSpPr txBox="true"/>
            <p:nvPr/>
          </p:nvSpPr>
          <p:spPr>
            <a:xfrm>
              <a:off x="0" y="-47625"/>
              <a:ext cx="21945600" cy="168021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  Idea clave:  </a:t>
              </a:r>
              <a:r>
                <a:rPr lang="en-US" sz="2199">
                  <a:solidFill>
                    <a:srgbClr val="333333"/>
                  </a:solidFill>
                  <a:latin typeface="Calibri (MS)"/>
                  <a:ea typeface="Calibri (MS)"/>
                  <a:cs typeface="Calibri (MS)"/>
                  <a:sym typeface="Calibri (MS)"/>
                </a:rPr>
                <a:t>Si no está documentado, no ocurrió. La documentación protege al analista, al equipo y a la organización.</a:t>
              </a:r>
            </a:p>
          </p:txBody>
        </p:sp>
      </p:grpSp>
      <p:grpSp>
        <p:nvGrpSpPr>
          <p:cNvPr name="Group 42" id="42"/>
          <p:cNvGrpSpPr/>
          <p:nvPr/>
        </p:nvGrpSpPr>
        <p:grpSpPr>
          <a:xfrm rot="0">
            <a:off x="15983863" y="24203"/>
            <a:ext cx="1855079" cy="1855079"/>
            <a:chOff x="0" y="0"/>
            <a:chExt cx="5852160" cy="5852160"/>
          </a:xfrm>
        </p:grpSpPr>
        <p:sp>
          <p:nvSpPr>
            <p:cNvPr name="Freeform 43" id="43"/>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1"/>
              <a:stretch>
                <a:fillRect l="0" t="0" r="0" b="0"/>
              </a:stretch>
            </a:blipFill>
          </p:spPr>
        </p:sp>
      </p:grpSp>
      <p:sp>
        <p:nvSpPr>
          <p:cNvPr name="Freeform 44" id="44"/>
          <p:cNvSpPr/>
          <p:nvPr/>
        </p:nvSpPr>
        <p:spPr>
          <a:xfrm flipH="false" flipV="false" rot="0">
            <a:off x="814871" y="2058426"/>
            <a:ext cx="546530" cy="546530"/>
          </a:xfrm>
          <a:custGeom>
            <a:avLst/>
            <a:gdLst/>
            <a:ahLst/>
            <a:cxnLst/>
            <a:rect r="r" b="b" t="t" l="l"/>
            <a:pathLst>
              <a:path h="546530" w="546530">
                <a:moveTo>
                  <a:pt x="0" y="0"/>
                </a:moveTo>
                <a:lnTo>
                  <a:pt x="546530" y="0"/>
                </a:lnTo>
                <a:lnTo>
                  <a:pt x="546530" y="546531"/>
                </a:lnTo>
                <a:lnTo>
                  <a:pt x="0" y="54653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p.26</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1.3  |  Flujo de trabajo del Analista SOC Moderno</a:t>
              </a:r>
            </a:p>
          </p:txBody>
        </p:sp>
      </p:grpSp>
      <p:sp>
        <p:nvSpPr>
          <p:cNvPr name="Freeform 19" id="19"/>
          <p:cNvSpPr/>
          <p:nvPr/>
        </p:nvSpPr>
        <p:spPr>
          <a:xfrm flipH="false" flipV="false" rot="0">
            <a:off x="2069251" y="2388454"/>
            <a:ext cx="2672239" cy="2351028"/>
          </a:xfrm>
          <a:custGeom>
            <a:avLst/>
            <a:gdLst/>
            <a:ahLst/>
            <a:cxnLst/>
            <a:rect r="r" b="b" t="t" l="l"/>
            <a:pathLst>
              <a:path h="2351028" w="2672239">
                <a:moveTo>
                  <a:pt x="0" y="0"/>
                </a:moveTo>
                <a:lnTo>
                  <a:pt x="2672239" y="0"/>
                </a:lnTo>
                <a:lnTo>
                  <a:pt x="2672239" y="2351028"/>
                </a:lnTo>
                <a:lnTo>
                  <a:pt x="0" y="23510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2080401" y="2399605"/>
            <a:ext cx="2649988" cy="2328777"/>
            <a:chOff x="0" y="0"/>
            <a:chExt cx="4023360" cy="3535680"/>
          </a:xfrm>
        </p:grpSpPr>
        <p:sp>
          <p:nvSpPr>
            <p:cNvPr name="Freeform 21" id="21"/>
            <p:cNvSpPr/>
            <p:nvPr/>
          </p:nvSpPr>
          <p:spPr>
            <a:xfrm flipH="false" flipV="false" rot="0">
              <a:off x="0" y="0"/>
              <a:ext cx="4023360" cy="3535680"/>
            </a:xfrm>
            <a:custGeom>
              <a:avLst/>
              <a:gdLst/>
              <a:ahLst/>
              <a:cxnLst/>
              <a:rect r="r" b="b" t="t" l="l"/>
              <a:pathLst>
                <a:path h="3535680" w="4023360">
                  <a:moveTo>
                    <a:pt x="0" y="0"/>
                  </a:moveTo>
                  <a:lnTo>
                    <a:pt x="4023360" y="0"/>
                  </a:lnTo>
                  <a:lnTo>
                    <a:pt x="4023360" y="3535680"/>
                  </a:lnTo>
                  <a:lnTo>
                    <a:pt x="0" y="3535680"/>
                  </a:lnTo>
                  <a:close/>
                </a:path>
              </a:pathLst>
            </a:custGeom>
            <a:blipFill>
              <a:blip r:embed="rId5">
                <a:alphaModFix amt="0"/>
              </a:blip>
              <a:stretch>
                <a:fillRect l="-62830" t="0" r="-62829" b="0"/>
              </a:stretch>
            </a:blipFill>
          </p:spPr>
        </p:sp>
      </p:grpSp>
      <p:grpSp>
        <p:nvGrpSpPr>
          <p:cNvPr name="Group 22" id="22"/>
          <p:cNvGrpSpPr/>
          <p:nvPr/>
        </p:nvGrpSpPr>
        <p:grpSpPr>
          <a:xfrm rot="0">
            <a:off x="2080401" y="2374510"/>
            <a:ext cx="2649988" cy="2353872"/>
            <a:chOff x="0" y="0"/>
            <a:chExt cx="4023360" cy="3573780"/>
          </a:xfrm>
        </p:grpSpPr>
        <p:sp>
          <p:nvSpPr>
            <p:cNvPr name="Freeform 23" id="23"/>
            <p:cNvSpPr/>
            <p:nvPr/>
          </p:nvSpPr>
          <p:spPr>
            <a:xfrm flipH="false" flipV="false" rot="0">
              <a:off x="0" y="0"/>
              <a:ext cx="4023360" cy="3573780"/>
            </a:xfrm>
            <a:custGeom>
              <a:avLst/>
              <a:gdLst/>
              <a:ahLst/>
              <a:cxnLst/>
              <a:rect r="r" b="b" t="t" l="l"/>
              <a:pathLst>
                <a:path h="3573780" w="4023360">
                  <a:moveTo>
                    <a:pt x="0" y="0"/>
                  </a:moveTo>
                  <a:lnTo>
                    <a:pt x="4023360" y="0"/>
                  </a:lnTo>
                  <a:lnTo>
                    <a:pt x="4023360" y="3573780"/>
                  </a:lnTo>
                  <a:lnTo>
                    <a:pt x="0" y="3573780"/>
                  </a:lnTo>
                  <a:close/>
                </a:path>
              </a:pathLst>
            </a:custGeom>
            <a:blipFill>
              <a:blip r:embed="rId6">
                <a:alphaModFix amt="0"/>
              </a:blip>
              <a:stretch>
                <a:fillRect l="-63966" t="0" r="-63966" b="0"/>
              </a:stretch>
            </a:blipFill>
          </p:spPr>
        </p:sp>
        <p:sp>
          <p:nvSpPr>
            <p:cNvPr name="TextBox 24" id="24"/>
            <p:cNvSpPr txBox="true"/>
            <p:nvPr/>
          </p:nvSpPr>
          <p:spPr>
            <a:xfrm>
              <a:off x="0" y="-38100"/>
              <a:ext cx="4023360" cy="36118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01</a:t>
              </a:r>
            </a:p>
            <a:p>
              <a:pPr algn="ctr">
                <a:lnSpc>
                  <a:spcPts val="2400"/>
                </a:lnSpc>
              </a:pPr>
              <a:r>
                <a:rPr lang="en-US" sz="2000" b="true">
                  <a:solidFill>
                    <a:srgbClr val="FFFFFF"/>
                  </a:solidFill>
                  <a:latin typeface="Calibri (MS) Bold"/>
                  <a:ea typeface="Calibri (MS) Bold"/>
                  <a:cs typeface="Calibri (MS) Bold"/>
                  <a:sym typeface="Calibri (MS) Bold"/>
                </a:rPr>
                <a:t>Alerta</a:t>
              </a:r>
            </a:p>
            <a:p>
              <a:pPr algn="ctr">
                <a:lnSpc>
                  <a:spcPts val="2400"/>
                </a:lnSpc>
              </a:pPr>
              <a:r>
                <a:rPr lang="en-US" sz="2000" b="true">
                  <a:solidFill>
                    <a:srgbClr val="FFFFFF"/>
                  </a:solidFill>
                  <a:latin typeface="Calibri (MS) Bold"/>
                  <a:ea typeface="Calibri (MS) Bold"/>
                  <a:cs typeface="Calibri (MS) Bold"/>
                  <a:sym typeface="Calibri (MS) Bold"/>
                </a:rPr>
                <a:t>detectada</a:t>
              </a:r>
            </a:p>
          </p:txBody>
        </p:sp>
      </p:grpSp>
      <p:grpSp>
        <p:nvGrpSpPr>
          <p:cNvPr name="Group 25" id="25"/>
          <p:cNvGrpSpPr/>
          <p:nvPr/>
        </p:nvGrpSpPr>
        <p:grpSpPr>
          <a:xfrm rot="0">
            <a:off x="4762511" y="2399605"/>
            <a:ext cx="562119" cy="2328777"/>
            <a:chOff x="0" y="0"/>
            <a:chExt cx="853440" cy="3535680"/>
          </a:xfrm>
        </p:grpSpPr>
        <p:sp>
          <p:nvSpPr>
            <p:cNvPr name="Freeform 26" id="26"/>
            <p:cNvSpPr/>
            <p:nvPr/>
          </p:nvSpPr>
          <p:spPr>
            <a:xfrm flipH="false" flipV="false" rot="0">
              <a:off x="0" y="0"/>
              <a:ext cx="853440" cy="3535680"/>
            </a:xfrm>
            <a:custGeom>
              <a:avLst/>
              <a:gdLst/>
              <a:ahLst/>
              <a:cxnLst/>
              <a:rect r="r" b="b" t="t" l="l"/>
              <a:pathLst>
                <a:path h="3535680" w="853440">
                  <a:moveTo>
                    <a:pt x="0" y="0"/>
                  </a:moveTo>
                  <a:lnTo>
                    <a:pt x="853440" y="0"/>
                  </a:lnTo>
                  <a:lnTo>
                    <a:pt x="853440" y="3535680"/>
                  </a:lnTo>
                  <a:lnTo>
                    <a:pt x="0" y="3535680"/>
                  </a:lnTo>
                  <a:close/>
                </a:path>
              </a:pathLst>
            </a:custGeom>
            <a:blipFill>
              <a:blip r:embed="rId5">
                <a:alphaModFix amt="0"/>
              </a:blip>
              <a:stretch>
                <a:fillRect l="-481913" t="0" r="-481912" b="0"/>
              </a:stretch>
            </a:blipFill>
          </p:spPr>
        </p:sp>
      </p:grpSp>
      <p:grpSp>
        <p:nvGrpSpPr>
          <p:cNvPr name="Group 27" id="27"/>
          <p:cNvGrpSpPr/>
          <p:nvPr/>
        </p:nvGrpSpPr>
        <p:grpSpPr>
          <a:xfrm rot="0">
            <a:off x="4762511" y="2361963"/>
            <a:ext cx="562119" cy="2366419"/>
            <a:chOff x="0" y="0"/>
            <a:chExt cx="853440" cy="3592830"/>
          </a:xfrm>
        </p:grpSpPr>
        <p:sp>
          <p:nvSpPr>
            <p:cNvPr name="Freeform 28" id="28"/>
            <p:cNvSpPr/>
            <p:nvPr/>
          </p:nvSpPr>
          <p:spPr>
            <a:xfrm flipH="false" flipV="false" rot="0">
              <a:off x="0" y="0"/>
              <a:ext cx="853440" cy="3592830"/>
            </a:xfrm>
            <a:custGeom>
              <a:avLst/>
              <a:gdLst/>
              <a:ahLst/>
              <a:cxnLst/>
              <a:rect r="r" b="b" t="t" l="l"/>
              <a:pathLst>
                <a:path h="3592830" w="853440">
                  <a:moveTo>
                    <a:pt x="0" y="0"/>
                  </a:moveTo>
                  <a:lnTo>
                    <a:pt x="853440" y="0"/>
                  </a:lnTo>
                  <a:lnTo>
                    <a:pt x="853440" y="3592830"/>
                  </a:lnTo>
                  <a:lnTo>
                    <a:pt x="0" y="3592830"/>
                  </a:lnTo>
                  <a:close/>
                </a:path>
              </a:pathLst>
            </a:custGeom>
            <a:blipFill>
              <a:blip r:embed="rId6">
                <a:alphaModFix amt="0"/>
              </a:blip>
              <a:stretch>
                <a:fillRect l="-490135" t="0" r="-490135" b="0"/>
              </a:stretch>
            </a:blipFill>
          </p:spPr>
        </p:sp>
        <p:sp>
          <p:nvSpPr>
            <p:cNvPr name="TextBox 29" id="29"/>
            <p:cNvSpPr txBox="true"/>
            <p:nvPr/>
          </p:nvSpPr>
          <p:spPr>
            <a:xfrm>
              <a:off x="0" y="-57150"/>
              <a:ext cx="853440" cy="3649980"/>
            </a:xfrm>
            <a:prstGeom prst="rect">
              <a:avLst/>
            </a:prstGeom>
          </p:spPr>
          <p:txBody>
            <a:bodyPr anchor="ctr" rtlCol="false" tIns="0" lIns="0" bIns="0" rIns="0"/>
            <a:lstStyle/>
            <a:p>
              <a:pPr algn="ctr">
                <a:lnSpc>
                  <a:spcPts val="3840"/>
                </a:lnSpc>
              </a:pPr>
              <a:r>
                <a:rPr lang="en-US" sz="3200">
                  <a:solidFill>
                    <a:srgbClr val="6B6B6B"/>
                  </a:solidFill>
                  <a:latin typeface="Calibri (MS)"/>
                  <a:ea typeface="Calibri (MS)"/>
                  <a:cs typeface="Calibri (MS)"/>
                  <a:sym typeface="Calibri (MS)"/>
                </a:rPr>
                <a:t>→</a:t>
              </a:r>
            </a:p>
          </p:txBody>
        </p:sp>
      </p:grpSp>
      <p:sp>
        <p:nvSpPr>
          <p:cNvPr name="Freeform 30" id="30"/>
          <p:cNvSpPr/>
          <p:nvPr/>
        </p:nvSpPr>
        <p:spPr>
          <a:xfrm flipH="false" flipV="false" rot="0">
            <a:off x="4879844" y="2388454"/>
            <a:ext cx="2672239" cy="2351028"/>
          </a:xfrm>
          <a:custGeom>
            <a:avLst/>
            <a:gdLst/>
            <a:ahLst/>
            <a:cxnLst/>
            <a:rect r="r" b="b" t="t" l="l"/>
            <a:pathLst>
              <a:path h="2351028" w="2672239">
                <a:moveTo>
                  <a:pt x="0" y="0"/>
                </a:moveTo>
                <a:lnTo>
                  <a:pt x="2672239" y="0"/>
                </a:lnTo>
                <a:lnTo>
                  <a:pt x="2672239" y="2351028"/>
                </a:lnTo>
                <a:lnTo>
                  <a:pt x="0" y="23510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1" id="31"/>
          <p:cNvGrpSpPr/>
          <p:nvPr/>
        </p:nvGrpSpPr>
        <p:grpSpPr>
          <a:xfrm rot="0">
            <a:off x="4890995" y="2399605"/>
            <a:ext cx="2649988" cy="2328777"/>
            <a:chOff x="0" y="0"/>
            <a:chExt cx="4023360" cy="3535680"/>
          </a:xfrm>
        </p:grpSpPr>
        <p:sp>
          <p:nvSpPr>
            <p:cNvPr name="Freeform 32" id="32"/>
            <p:cNvSpPr/>
            <p:nvPr/>
          </p:nvSpPr>
          <p:spPr>
            <a:xfrm flipH="false" flipV="false" rot="0">
              <a:off x="0" y="0"/>
              <a:ext cx="4023360" cy="3535680"/>
            </a:xfrm>
            <a:custGeom>
              <a:avLst/>
              <a:gdLst/>
              <a:ahLst/>
              <a:cxnLst/>
              <a:rect r="r" b="b" t="t" l="l"/>
              <a:pathLst>
                <a:path h="3535680" w="4023360">
                  <a:moveTo>
                    <a:pt x="0" y="0"/>
                  </a:moveTo>
                  <a:lnTo>
                    <a:pt x="4023360" y="0"/>
                  </a:lnTo>
                  <a:lnTo>
                    <a:pt x="4023360" y="3535680"/>
                  </a:lnTo>
                  <a:lnTo>
                    <a:pt x="0" y="3535680"/>
                  </a:lnTo>
                  <a:close/>
                </a:path>
              </a:pathLst>
            </a:custGeom>
            <a:blipFill>
              <a:blip r:embed="rId5">
                <a:alphaModFix amt="0"/>
              </a:blip>
              <a:stretch>
                <a:fillRect l="-62830" t="0" r="-62829" b="0"/>
              </a:stretch>
            </a:blipFill>
          </p:spPr>
        </p:sp>
      </p:grpSp>
      <p:grpSp>
        <p:nvGrpSpPr>
          <p:cNvPr name="Group 33" id="33"/>
          <p:cNvGrpSpPr/>
          <p:nvPr/>
        </p:nvGrpSpPr>
        <p:grpSpPr>
          <a:xfrm rot="0">
            <a:off x="4890995" y="2374510"/>
            <a:ext cx="2649988" cy="2353872"/>
            <a:chOff x="0" y="0"/>
            <a:chExt cx="4023360" cy="3573780"/>
          </a:xfrm>
        </p:grpSpPr>
        <p:sp>
          <p:nvSpPr>
            <p:cNvPr name="Freeform 34" id="34"/>
            <p:cNvSpPr/>
            <p:nvPr/>
          </p:nvSpPr>
          <p:spPr>
            <a:xfrm flipH="false" flipV="false" rot="0">
              <a:off x="0" y="0"/>
              <a:ext cx="4023360" cy="3573780"/>
            </a:xfrm>
            <a:custGeom>
              <a:avLst/>
              <a:gdLst/>
              <a:ahLst/>
              <a:cxnLst/>
              <a:rect r="r" b="b" t="t" l="l"/>
              <a:pathLst>
                <a:path h="3573780" w="4023360">
                  <a:moveTo>
                    <a:pt x="0" y="0"/>
                  </a:moveTo>
                  <a:lnTo>
                    <a:pt x="4023360" y="0"/>
                  </a:lnTo>
                  <a:lnTo>
                    <a:pt x="4023360" y="3573780"/>
                  </a:lnTo>
                  <a:lnTo>
                    <a:pt x="0" y="3573780"/>
                  </a:lnTo>
                  <a:close/>
                </a:path>
              </a:pathLst>
            </a:custGeom>
            <a:blipFill>
              <a:blip r:embed="rId6">
                <a:alphaModFix amt="0"/>
              </a:blip>
              <a:stretch>
                <a:fillRect l="-63966" t="0" r="-63966" b="0"/>
              </a:stretch>
            </a:blipFill>
          </p:spPr>
        </p:sp>
        <p:sp>
          <p:nvSpPr>
            <p:cNvPr name="TextBox 35" id="35"/>
            <p:cNvSpPr txBox="true"/>
            <p:nvPr/>
          </p:nvSpPr>
          <p:spPr>
            <a:xfrm>
              <a:off x="0" y="-38100"/>
              <a:ext cx="4023360" cy="36118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02</a:t>
              </a:r>
            </a:p>
            <a:p>
              <a:pPr algn="ctr">
                <a:lnSpc>
                  <a:spcPts val="2400"/>
                </a:lnSpc>
              </a:pPr>
              <a:r>
                <a:rPr lang="en-US" sz="2000" b="true">
                  <a:solidFill>
                    <a:srgbClr val="FFFFFF"/>
                  </a:solidFill>
                  <a:latin typeface="Calibri (MS) Bold"/>
                  <a:ea typeface="Calibri (MS) Bold"/>
                  <a:cs typeface="Calibri (MS) Bold"/>
                  <a:sym typeface="Calibri (MS) Bold"/>
                </a:rPr>
                <a:t>SOC</a:t>
              </a:r>
            </a:p>
            <a:p>
              <a:pPr algn="ctr">
                <a:lnSpc>
                  <a:spcPts val="2400"/>
                </a:lnSpc>
              </a:pPr>
              <a:r>
                <a:rPr lang="en-US" sz="2000" b="true">
                  <a:solidFill>
                    <a:srgbClr val="FFFFFF"/>
                  </a:solidFill>
                  <a:latin typeface="Calibri (MS) Bold"/>
                  <a:ea typeface="Calibri (MS) Bold"/>
                  <a:cs typeface="Calibri (MS) Bold"/>
                  <a:sym typeface="Calibri (MS) Bold"/>
                </a:rPr>
                <a:t>analiza</a:t>
              </a:r>
            </a:p>
          </p:txBody>
        </p:sp>
      </p:grpSp>
      <p:grpSp>
        <p:nvGrpSpPr>
          <p:cNvPr name="Group 36" id="36"/>
          <p:cNvGrpSpPr/>
          <p:nvPr/>
        </p:nvGrpSpPr>
        <p:grpSpPr>
          <a:xfrm rot="0">
            <a:off x="7573104" y="2399605"/>
            <a:ext cx="562119" cy="2328777"/>
            <a:chOff x="0" y="0"/>
            <a:chExt cx="853440" cy="3535680"/>
          </a:xfrm>
        </p:grpSpPr>
        <p:sp>
          <p:nvSpPr>
            <p:cNvPr name="Freeform 37" id="37"/>
            <p:cNvSpPr/>
            <p:nvPr/>
          </p:nvSpPr>
          <p:spPr>
            <a:xfrm flipH="false" flipV="false" rot="0">
              <a:off x="0" y="0"/>
              <a:ext cx="853440" cy="3535680"/>
            </a:xfrm>
            <a:custGeom>
              <a:avLst/>
              <a:gdLst/>
              <a:ahLst/>
              <a:cxnLst/>
              <a:rect r="r" b="b" t="t" l="l"/>
              <a:pathLst>
                <a:path h="3535680" w="853440">
                  <a:moveTo>
                    <a:pt x="0" y="0"/>
                  </a:moveTo>
                  <a:lnTo>
                    <a:pt x="853440" y="0"/>
                  </a:lnTo>
                  <a:lnTo>
                    <a:pt x="853440" y="3535680"/>
                  </a:lnTo>
                  <a:lnTo>
                    <a:pt x="0" y="3535680"/>
                  </a:lnTo>
                  <a:close/>
                </a:path>
              </a:pathLst>
            </a:custGeom>
            <a:blipFill>
              <a:blip r:embed="rId5">
                <a:alphaModFix amt="0"/>
              </a:blip>
              <a:stretch>
                <a:fillRect l="-481913" t="0" r="-481912" b="0"/>
              </a:stretch>
            </a:blipFill>
          </p:spPr>
        </p:sp>
      </p:grpSp>
      <p:grpSp>
        <p:nvGrpSpPr>
          <p:cNvPr name="Group 38" id="38"/>
          <p:cNvGrpSpPr/>
          <p:nvPr/>
        </p:nvGrpSpPr>
        <p:grpSpPr>
          <a:xfrm rot="0">
            <a:off x="7573104" y="2361963"/>
            <a:ext cx="562119" cy="2366419"/>
            <a:chOff x="0" y="0"/>
            <a:chExt cx="853440" cy="3592830"/>
          </a:xfrm>
        </p:grpSpPr>
        <p:sp>
          <p:nvSpPr>
            <p:cNvPr name="Freeform 39" id="39"/>
            <p:cNvSpPr/>
            <p:nvPr/>
          </p:nvSpPr>
          <p:spPr>
            <a:xfrm flipH="false" flipV="false" rot="0">
              <a:off x="0" y="0"/>
              <a:ext cx="853440" cy="3592830"/>
            </a:xfrm>
            <a:custGeom>
              <a:avLst/>
              <a:gdLst/>
              <a:ahLst/>
              <a:cxnLst/>
              <a:rect r="r" b="b" t="t" l="l"/>
              <a:pathLst>
                <a:path h="3592830" w="853440">
                  <a:moveTo>
                    <a:pt x="0" y="0"/>
                  </a:moveTo>
                  <a:lnTo>
                    <a:pt x="853440" y="0"/>
                  </a:lnTo>
                  <a:lnTo>
                    <a:pt x="853440" y="3592830"/>
                  </a:lnTo>
                  <a:lnTo>
                    <a:pt x="0" y="3592830"/>
                  </a:lnTo>
                  <a:close/>
                </a:path>
              </a:pathLst>
            </a:custGeom>
            <a:blipFill>
              <a:blip r:embed="rId6">
                <a:alphaModFix amt="0"/>
              </a:blip>
              <a:stretch>
                <a:fillRect l="-490135" t="0" r="-490135" b="0"/>
              </a:stretch>
            </a:blipFill>
          </p:spPr>
        </p:sp>
        <p:sp>
          <p:nvSpPr>
            <p:cNvPr name="TextBox 40" id="40"/>
            <p:cNvSpPr txBox="true"/>
            <p:nvPr/>
          </p:nvSpPr>
          <p:spPr>
            <a:xfrm>
              <a:off x="0" y="-57150"/>
              <a:ext cx="853440" cy="3649980"/>
            </a:xfrm>
            <a:prstGeom prst="rect">
              <a:avLst/>
            </a:prstGeom>
          </p:spPr>
          <p:txBody>
            <a:bodyPr anchor="ctr" rtlCol="false" tIns="0" lIns="0" bIns="0" rIns="0"/>
            <a:lstStyle/>
            <a:p>
              <a:pPr algn="ctr">
                <a:lnSpc>
                  <a:spcPts val="3840"/>
                </a:lnSpc>
              </a:pPr>
              <a:r>
                <a:rPr lang="en-US" sz="3200">
                  <a:solidFill>
                    <a:srgbClr val="6B6B6B"/>
                  </a:solidFill>
                  <a:latin typeface="Calibri (MS)"/>
                  <a:ea typeface="Calibri (MS)"/>
                  <a:cs typeface="Calibri (MS)"/>
                  <a:sym typeface="Calibri (MS)"/>
                </a:rPr>
                <a:t>→</a:t>
              </a:r>
            </a:p>
          </p:txBody>
        </p:sp>
      </p:grpSp>
      <p:sp>
        <p:nvSpPr>
          <p:cNvPr name="Freeform 41" id="41"/>
          <p:cNvSpPr/>
          <p:nvPr/>
        </p:nvSpPr>
        <p:spPr>
          <a:xfrm flipH="false" flipV="false" rot="0">
            <a:off x="7690438" y="2388454"/>
            <a:ext cx="2672239" cy="2351028"/>
          </a:xfrm>
          <a:custGeom>
            <a:avLst/>
            <a:gdLst/>
            <a:ahLst/>
            <a:cxnLst/>
            <a:rect r="r" b="b" t="t" l="l"/>
            <a:pathLst>
              <a:path h="2351028" w="2672239">
                <a:moveTo>
                  <a:pt x="0" y="0"/>
                </a:moveTo>
                <a:lnTo>
                  <a:pt x="2672239" y="0"/>
                </a:lnTo>
                <a:lnTo>
                  <a:pt x="2672239" y="2351028"/>
                </a:lnTo>
                <a:lnTo>
                  <a:pt x="0" y="23510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2" id="42"/>
          <p:cNvGrpSpPr/>
          <p:nvPr/>
        </p:nvGrpSpPr>
        <p:grpSpPr>
          <a:xfrm rot="0">
            <a:off x="7701588" y="2399605"/>
            <a:ext cx="2649988" cy="2328777"/>
            <a:chOff x="0" y="0"/>
            <a:chExt cx="4023360" cy="3535680"/>
          </a:xfrm>
        </p:grpSpPr>
        <p:sp>
          <p:nvSpPr>
            <p:cNvPr name="Freeform 43" id="43"/>
            <p:cNvSpPr/>
            <p:nvPr/>
          </p:nvSpPr>
          <p:spPr>
            <a:xfrm flipH="false" flipV="false" rot="0">
              <a:off x="0" y="0"/>
              <a:ext cx="4023360" cy="3535680"/>
            </a:xfrm>
            <a:custGeom>
              <a:avLst/>
              <a:gdLst/>
              <a:ahLst/>
              <a:cxnLst/>
              <a:rect r="r" b="b" t="t" l="l"/>
              <a:pathLst>
                <a:path h="3535680" w="4023360">
                  <a:moveTo>
                    <a:pt x="0" y="0"/>
                  </a:moveTo>
                  <a:lnTo>
                    <a:pt x="4023360" y="0"/>
                  </a:lnTo>
                  <a:lnTo>
                    <a:pt x="4023360" y="3535680"/>
                  </a:lnTo>
                  <a:lnTo>
                    <a:pt x="0" y="3535680"/>
                  </a:lnTo>
                  <a:close/>
                </a:path>
              </a:pathLst>
            </a:custGeom>
            <a:blipFill>
              <a:blip r:embed="rId5">
                <a:alphaModFix amt="0"/>
              </a:blip>
              <a:stretch>
                <a:fillRect l="-62830" t="0" r="-62829" b="0"/>
              </a:stretch>
            </a:blipFill>
          </p:spPr>
        </p:sp>
      </p:grpSp>
      <p:grpSp>
        <p:nvGrpSpPr>
          <p:cNvPr name="Group 44" id="44"/>
          <p:cNvGrpSpPr/>
          <p:nvPr/>
        </p:nvGrpSpPr>
        <p:grpSpPr>
          <a:xfrm rot="0">
            <a:off x="7701588" y="2374510"/>
            <a:ext cx="2649988" cy="2353872"/>
            <a:chOff x="0" y="0"/>
            <a:chExt cx="4023360" cy="3573780"/>
          </a:xfrm>
        </p:grpSpPr>
        <p:sp>
          <p:nvSpPr>
            <p:cNvPr name="Freeform 45" id="45"/>
            <p:cNvSpPr/>
            <p:nvPr/>
          </p:nvSpPr>
          <p:spPr>
            <a:xfrm flipH="false" flipV="false" rot="0">
              <a:off x="0" y="0"/>
              <a:ext cx="4023360" cy="3573780"/>
            </a:xfrm>
            <a:custGeom>
              <a:avLst/>
              <a:gdLst/>
              <a:ahLst/>
              <a:cxnLst/>
              <a:rect r="r" b="b" t="t" l="l"/>
              <a:pathLst>
                <a:path h="3573780" w="4023360">
                  <a:moveTo>
                    <a:pt x="0" y="0"/>
                  </a:moveTo>
                  <a:lnTo>
                    <a:pt x="4023360" y="0"/>
                  </a:lnTo>
                  <a:lnTo>
                    <a:pt x="4023360" y="3573780"/>
                  </a:lnTo>
                  <a:lnTo>
                    <a:pt x="0" y="3573780"/>
                  </a:lnTo>
                  <a:close/>
                </a:path>
              </a:pathLst>
            </a:custGeom>
            <a:blipFill>
              <a:blip r:embed="rId6">
                <a:alphaModFix amt="0"/>
              </a:blip>
              <a:stretch>
                <a:fillRect l="-63966" t="0" r="-63966" b="0"/>
              </a:stretch>
            </a:blipFill>
          </p:spPr>
        </p:sp>
        <p:sp>
          <p:nvSpPr>
            <p:cNvPr name="TextBox 46" id="46"/>
            <p:cNvSpPr txBox="true"/>
            <p:nvPr/>
          </p:nvSpPr>
          <p:spPr>
            <a:xfrm>
              <a:off x="0" y="-38100"/>
              <a:ext cx="4023360" cy="36118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03</a:t>
              </a:r>
            </a:p>
            <a:p>
              <a:pPr algn="ctr">
                <a:lnSpc>
                  <a:spcPts val="2400"/>
                </a:lnSpc>
              </a:pPr>
              <a:r>
                <a:rPr lang="en-US" sz="2000" b="true">
                  <a:solidFill>
                    <a:srgbClr val="FFFFFF"/>
                  </a:solidFill>
                  <a:latin typeface="Calibri (MS) Bold"/>
                  <a:ea typeface="Calibri (MS) Bold"/>
                  <a:cs typeface="Calibri (MS) Bold"/>
                  <a:sym typeface="Calibri (MS) Bold"/>
                </a:rPr>
                <a:t>Clasifica</a:t>
              </a:r>
            </a:p>
            <a:p>
              <a:pPr algn="ctr">
                <a:lnSpc>
                  <a:spcPts val="2400"/>
                </a:lnSpc>
              </a:pPr>
              <a:r>
                <a:rPr lang="en-US" sz="2000" b="true">
                  <a:solidFill>
                    <a:srgbClr val="FFFFFF"/>
                  </a:solidFill>
                  <a:latin typeface="Calibri (MS) Bold"/>
                  <a:ea typeface="Calibri (MS) Bold"/>
                  <a:cs typeface="Calibri (MS) Bold"/>
                  <a:sym typeface="Calibri (MS) Bold"/>
                </a:rPr>
                <a:t>(baja/media/crítica)</a:t>
              </a:r>
            </a:p>
          </p:txBody>
        </p:sp>
      </p:grpSp>
      <p:grpSp>
        <p:nvGrpSpPr>
          <p:cNvPr name="Group 47" id="47"/>
          <p:cNvGrpSpPr/>
          <p:nvPr/>
        </p:nvGrpSpPr>
        <p:grpSpPr>
          <a:xfrm rot="0">
            <a:off x="10383697" y="2399605"/>
            <a:ext cx="562119" cy="2328777"/>
            <a:chOff x="0" y="0"/>
            <a:chExt cx="853440" cy="3535680"/>
          </a:xfrm>
        </p:grpSpPr>
        <p:sp>
          <p:nvSpPr>
            <p:cNvPr name="Freeform 48" id="48"/>
            <p:cNvSpPr/>
            <p:nvPr/>
          </p:nvSpPr>
          <p:spPr>
            <a:xfrm flipH="false" flipV="false" rot="0">
              <a:off x="0" y="0"/>
              <a:ext cx="853440" cy="3535680"/>
            </a:xfrm>
            <a:custGeom>
              <a:avLst/>
              <a:gdLst/>
              <a:ahLst/>
              <a:cxnLst/>
              <a:rect r="r" b="b" t="t" l="l"/>
              <a:pathLst>
                <a:path h="3535680" w="853440">
                  <a:moveTo>
                    <a:pt x="0" y="0"/>
                  </a:moveTo>
                  <a:lnTo>
                    <a:pt x="853440" y="0"/>
                  </a:lnTo>
                  <a:lnTo>
                    <a:pt x="853440" y="3535680"/>
                  </a:lnTo>
                  <a:lnTo>
                    <a:pt x="0" y="3535680"/>
                  </a:lnTo>
                  <a:close/>
                </a:path>
              </a:pathLst>
            </a:custGeom>
            <a:blipFill>
              <a:blip r:embed="rId5">
                <a:alphaModFix amt="0"/>
              </a:blip>
              <a:stretch>
                <a:fillRect l="-481913" t="0" r="-481912" b="0"/>
              </a:stretch>
            </a:blipFill>
          </p:spPr>
        </p:sp>
      </p:grpSp>
      <p:grpSp>
        <p:nvGrpSpPr>
          <p:cNvPr name="Group 49" id="49"/>
          <p:cNvGrpSpPr/>
          <p:nvPr/>
        </p:nvGrpSpPr>
        <p:grpSpPr>
          <a:xfrm rot="0">
            <a:off x="10383697" y="2361963"/>
            <a:ext cx="562119" cy="2366419"/>
            <a:chOff x="0" y="0"/>
            <a:chExt cx="853440" cy="3592830"/>
          </a:xfrm>
        </p:grpSpPr>
        <p:sp>
          <p:nvSpPr>
            <p:cNvPr name="Freeform 50" id="50"/>
            <p:cNvSpPr/>
            <p:nvPr/>
          </p:nvSpPr>
          <p:spPr>
            <a:xfrm flipH="false" flipV="false" rot="0">
              <a:off x="0" y="0"/>
              <a:ext cx="853440" cy="3592830"/>
            </a:xfrm>
            <a:custGeom>
              <a:avLst/>
              <a:gdLst/>
              <a:ahLst/>
              <a:cxnLst/>
              <a:rect r="r" b="b" t="t" l="l"/>
              <a:pathLst>
                <a:path h="3592830" w="853440">
                  <a:moveTo>
                    <a:pt x="0" y="0"/>
                  </a:moveTo>
                  <a:lnTo>
                    <a:pt x="853440" y="0"/>
                  </a:lnTo>
                  <a:lnTo>
                    <a:pt x="853440" y="3592830"/>
                  </a:lnTo>
                  <a:lnTo>
                    <a:pt x="0" y="3592830"/>
                  </a:lnTo>
                  <a:close/>
                </a:path>
              </a:pathLst>
            </a:custGeom>
            <a:blipFill>
              <a:blip r:embed="rId6">
                <a:alphaModFix amt="0"/>
              </a:blip>
              <a:stretch>
                <a:fillRect l="-490135" t="0" r="-490135" b="0"/>
              </a:stretch>
            </a:blipFill>
          </p:spPr>
        </p:sp>
        <p:sp>
          <p:nvSpPr>
            <p:cNvPr name="TextBox 51" id="51"/>
            <p:cNvSpPr txBox="true"/>
            <p:nvPr/>
          </p:nvSpPr>
          <p:spPr>
            <a:xfrm>
              <a:off x="0" y="-57150"/>
              <a:ext cx="853440" cy="3649980"/>
            </a:xfrm>
            <a:prstGeom prst="rect">
              <a:avLst/>
            </a:prstGeom>
          </p:spPr>
          <p:txBody>
            <a:bodyPr anchor="ctr" rtlCol="false" tIns="0" lIns="0" bIns="0" rIns="0"/>
            <a:lstStyle/>
            <a:p>
              <a:pPr algn="ctr">
                <a:lnSpc>
                  <a:spcPts val="3840"/>
                </a:lnSpc>
              </a:pPr>
              <a:r>
                <a:rPr lang="en-US" sz="3200">
                  <a:solidFill>
                    <a:srgbClr val="6B6B6B"/>
                  </a:solidFill>
                  <a:latin typeface="Calibri (MS)"/>
                  <a:ea typeface="Calibri (MS)"/>
                  <a:cs typeface="Calibri (MS)"/>
                  <a:sym typeface="Calibri (MS)"/>
                </a:rPr>
                <a:t>→</a:t>
              </a:r>
            </a:p>
          </p:txBody>
        </p:sp>
      </p:grpSp>
      <p:sp>
        <p:nvSpPr>
          <p:cNvPr name="Freeform 52" id="52"/>
          <p:cNvSpPr/>
          <p:nvPr/>
        </p:nvSpPr>
        <p:spPr>
          <a:xfrm flipH="false" flipV="false" rot="0">
            <a:off x="10501031" y="2388454"/>
            <a:ext cx="2672239" cy="2351028"/>
          </a:xfrm>
          <a:custGeom>
            <a:avLst/>
            <a:gdLst/>
            <a:ahLst/>
            <a:cxnLst/>
            <a:rect r="r" b="b" t="t" l="l"/>
            <a:pathLst>
              <a:path h="2351028" w="2672239">
                <a:moveTo>
                  <a:pt x="0" y="0"/>
                </a:moveTo>
                <a:lnTo>
                  <a:pt x="2672239" y="0"/>
                </a:lnTo>
                <a:lnTo>
                  <a:pt x="2672239" y="2351028"/>
                </a:lnTo>
                <a:lnTo>
                  <a:pt x="0" y="23510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3" id="53"/>
          <p:cNvGrpSpPr/>
          <p:nvPr/>
        </p:nvGrpSpPr>
        <p:grpSpPr>
          <a:xfrm rot="0">
            <a:off x="10512182" y="2399605"/>
            <a:ext cx="2649988" cy="2328777"/>
            <a:chOff x="0" y="0"/>
            <a:chExt cx="4023360" cy="3535680"/>
          </a:xfrm>
        </p:grpSpPr>
        <p:sp>
          <p:nvSpPr>
            <p:cNvPr name="Freeform 54" id="54"/>
            <p:cNvSpPr/>
            <p:nvPr/>
          </p:nvSpPr>
          <p:spPr>
            <a:xfrm flipH="false" flipV="false" rot="0">
              <a:off x="0" y="0"/>
              <a:ext cx="4023360" cy="3535680"/>
            </a:xfrm>
            <a:custGeom>
              <a:avLst/>
              <a:gdLst/>
              <a:ahLst/>
              <a:cxnLst/>
              <a:rect r="r" b="b" t="t" l="l"/>
              <a:pathLst>
                <a:path h="3535680" w="4023360">
                  <a:moveTo>
                    <a:pt x="0" y="0"/>
                  </a:moveTo>
                  <a:lnTo>
                    <a:pt x="4023360" y="0"/>
                  </a:lnTo>
                  <a:lnTo>
                    <a:pt x="4023360" y="3535680"/>
                  </a:lnTo>
                  <a:lnTo>
                    <a:pt x="0" y="3535680"/>
                  </a:lnTo>
                  <a:close/>
                </a:path>
              </a:pathLst>
            </a:custGeom>
            <a:blipFill>
              <a:blip r:embed="rId5">
                <a:alphaModFix amt="0"/>
              </a:blip>
              <a:stretch>
                <a:fillRect l="-62830" t="0" r="-62829" b="0"/>
              </a:stretch>
            </a:blipFill>
          </p:spPr>
        </p:sp>
      </p:grpSp>
      <p:grpSp>
        <p:nvGrpSpPr>
          <p:cNvPr name="Group 55" id="55"/>
          <p:cNvGrpSpPr/>
          <p:nvPr/>
        </p:nvGrpSpPr>
        <p:grpSpPr>
          <a:xfrm rot="0">
            <a:off x="10512182" y="2374510"/>
            <a:ext cx="2649988" cy="2353872"/>
            <a:chOff x="0" y="0"/>
            <a:chExt cx="4023360" cy="3573780"/>
          </a:xfrm>
        </p:grpSpPr>
        <p:sp>
          <p:nvSpPr>
            <p:cNvPr name="Freeform 56" id="56"/>
            <p:cNvSpPr/>
            <p:nvPr/>
          </p:nvSpPr>
          <p:spPr>
            <a:xfrm flipH="false" flipV="false" rot="0">
              <a:off x="0" y="0"/>
              <a:ext cx="4023360" cy="3573780"/>
            </a:xfrm>
            <a:custGeom>
              <a:avLst/>
              <a:gdLst/>
              <a:ahLst/>
              <a:cxnLst/>
              <a:rect r="r" b="b" t="t" l="l"/>
              <a:pathLst>
                <a:path h="3573780" w="4023360">
                  <a:moveTo>
                    <a:pt x="0" y="0"/>
                  </a:moveTo>
                  <a:lnTo>
                    <a:pt x="4023360" y="0"/>
                  </a:lnTo>
                  <a:lnTo>
                    <a:pt x="4023360" y="3573780"/>
                  </a:lnTo>
                  <a:lnTo>
                    <a:pt x="0" y="3573780"/>
                  </a:lnTo>
                  <a:close/>
                </a:path>
              </a:pathLst>
            </a:custGeom>
            <a:blipFill>
              <a:blip r:embed="rId6">
                <a:alphaModFix amt="0"/>
              </a:blip>
              <a:stretch>
                <a:fillRect l="-63966" t="0" r="-63966" b="0"/>
              </a:stretch>
            </a:blipFill>
          </p:spPr>
        </p:sp>
        <p:sp>
          <p:nvSpPr>
            <p:cNvPr name="TextBox 57" id="57"/>
            <p:cNvSpPr txBox="true"/>
            <p:nvPr/>
          </p:nvSpPr>
          <p:spPr>
            <a:xfrm>
              <a:off x="0" y="-38100"/>
              <a:ext cx="4023360" cy="36118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04</a:t>
              </a:r>
            </a:p>
            <a:p>
              <a:pPr algn="ctr">
                <a:lnSpc>
                  <a:spcPts val="2400"/>
                </a:lnSpc>
              </a:pPr>
              <a:r>
                <a:rPr lang="en-US" sz="2000" b="true">
                  <a:solidFill>
                    <a:srgbClr val="FFFFFF"/>
                  </a:solidFill>
                  <a:latin typeface="Calibri (MS) Bold"/>
                  <a:ea typeface="Calibri (MS) Bold"/>
                  <a:cs typeface="Calibri (MS) Bold"/>
                  <a:sym typeface="Calibri (MS) Bold"/>
                </a:rPr>
                <a:t>Sigue</a:t>
              </a:r>
            </a:p>
            <a:p>
              <a:pPr algn="ctr">
                <a:lnSpc>
                  <a:spcPts val="2400"/>
                </a:lnSpc>
              </a:pPr>
              <a:r>
                <a:rPr lang="en-US" sz="2000" b="true">
                  <a:solidFill>
                    <a:srgbClr val="FFFFFF"/>
                  </a:solidFill>
                  <a:latin typeface="Calibri (MS) Bold"/>
                  <a:ea typeface="Calibri (MS) Bold"/>
                  <a:cs typeface="Calibri (MS) Bold"/>
                  <a:sym typeface="Calibri (MS) Bold"/>
                </a:rPr>
                <a:t>Playbook</a:t>
              </a:r>
            </a:p>
          </p:txBody>
        </p:sp>
      </p:grpSp>
      <p:grpSp>
        <p:nvGrpSpPr>
          <p:cNvPr name="Group 58" id="58"/>
          <p:cNvGrpSpPr/>
          <p:nvPr/>
        </p:nvGrpSpPr>
        <p:grpSpPr>
          <a:xfrm rot="0">
            <a:off x="13194291" y="2399605"/>
            <a:ext cx="562119" cy="2328777"/>
            <a:chOff x="0" y="0"/>
            <a:chExt cx="853440" cy="3535680"/>
          </a:xfrm>
        </p:grpSpPr>
        <p:sp>
          <p:nvSpPr>
            <p:cNvPr name="Freeform 59" id="59"/>
            <p:cNvSpPr/>
            <p:nvPr/>
          </p:nvSpPr>
          <p:spPr>
            <a:xfrm flipH="false" flipV="false" rot="0">
              <a:off x="0" y="0"/>
              <a:ext cx="853440" cy="3535680"/>
            </a:xfrm>
            <a:custGeom>
              <a:avLst/>
              <a:gdLst/>
              <a:ahLst/>
              <a:cxnLst/>
              <a:rect r="r" b="b" t="t" l="l"/>
              <a:pathLst>
                <a:path h="3535680" w="853440">
                  <a:moveTo>
                    <a:pt x="0" y="0"/>
                  </a:moveTo>
                  <a:lnTo>
                    <a:pt x="853440" y="0"/>
                  </a:lnTo>
                  <a:lnTo>
                    <a:pt x="853440" y="3535680"/>
                  </a:lnTo>
                  <a:lnTo>
                    <a:pt x="0" y="3535680"/>
                  </a:lnTo>
                  <a:close/>
                </a:path>
              </a:pathLst>
            </a:custGeom>
            <a:blipFill>
              <a:blip r:embed="rId5">
                <a:alphaModFix amt="0"/>
              </a:blip>
              <a:stretch>
                <a:fillRect l="-481913" t="0" r="-481912" b="0"/>
              </a:stretch>
            </a:blipFill>
          </p:spPr>
        </p:sp>
      </p:grpSp>
      <p:grpSp>
        <p:nvGrpSpPr>
          <p:cNvPr name="Group 60" id="60"/>
          <p:cNvGrpSpPr/>
          <p:nvPr/>
        </p:nvGrpSpPr>
        <p:grpSpPr>
          <a:xfrm rot="0">
            <a:off x="13194291" y="2361963"/>
            <a:ext cx="562119" cy="2366419"/>
            <a:chOff x="0" y="0"/>
            <a:chExt cx="853440" cy="3592830"/>
          </a:xfrm>
        </p:grpSpPr>
        <p:sp>
          <p:nvSpPr>
            <p:cNvPr name="Freeform 61" id="61"/>
            <p:cNvSpPr/>
            <p:nvPr/>
          </p:nvSpPr>
          <p:spPr>
            <a:xfrm flipH="false" flipV="false" rot="0">
              <a:off x="0" y="0"/>
              <a:ext cx="853440" cy="3592830"/>
            </a:xfrm>
            <a:custGeom>
              <a:avLst/>
              <a:gdLst/>
              <a:ahLst/>
              <a:cxnLst/>
              <a:rect r="r" b="b" t="t" l="l"/>
              <a:pathLst>
                <a:path h="3592830" w="853440">
                  <a:moveTo>
                    <a:pt x="0" y="0"/>
                  </a:moveTo>
                  <a:lnTo>
                    <a:pt x="853440" y="0"/>
                  </a:lnTo>
                  <a:lnTo>
                    <a:pt x="853440" y="3592830"/>
                  </a:lnTo>
                  <a:lnTo>
                    <a:pt x="0" y="3592830"/>
                  </a:lnTo>
                  <a:close/>
                </a:path>
              </a:pathLst>
            </a:custGeom>
            <a:blipFill>
              <a:blip r:embed="rId6">
                <a:alphaModFix amt="0"/>
              </a:blip>
              <a:stretch>
                <a:fillRect l="-490135" t="0" r="-490135" b="0"/>
              </a:stretch>
            </a:blipFill>
          </p:spPr>
        </p:sp>
        <p:sp>
          <p:nvSpPr>
            <p:cNvPr name="TextBox 62" id="62"/>
            <p:cNvSpPr txBox="true"/>
            <p:nvPr/>
          </p:nvSpPr>
          <p:spPr>
            <a:xfrm>
              <a:off x="0" y="-57150"/>
              <a:ext cx="853440" cy="3649980"/>
            </a:xfrm>
            <a:prstGeom prst="rect">
              <a:avLst/>
            </a:prstGeom>
          </p:spPr>
          <p:txBody>
            <a:bodyPr anchor="ctr" rtlCol="false" tIns="0" lIns="0" bIns="0" rIns="0"/>
            <a:lstStyle/>
            <a:p>
              <a:pPr algn="ctr">
                <a:lnSpc>
                  <a:spcPts val="3840"/>
                </a:lnSpc>
              </a:pPr>
              <a:r>
                <a:rPr lang="en-US" sz="3200">
                  <a:solidFill>
                    <a:srgbClr val="6B6B6B"/>
                  </a:solidFill>
                  <a:latin typeface="Calibri (MS)"/>
                  <a:ea typeface="Calibri (MS)"/>
                  <a:cs typeface="Calibri (MS)"/>
                  <a:sym typeface="Calibri (MS)"/>
                </a:rPr>
                <a:t>→</a:t>
              </a:r>
            </a:p>
          </p:txBody>
        </p:sp>
      </p:grpSp>
      <p:sp>
        <p:nvSpPr>
          <p:cNvPr name="Freeform 63" id="63"/>
          <p:cNvSpPr/>
          <p:nvPr/>
        </p:nvSpPr>
        <p:spPr>
          <a:xfrm flipH="false" flipV="false" rot="0">
            <a:off x="13311625" y="2388454"/>
            <a:ext cx="2672239" cy="2351028"/>
          </a:xfrm>
          <a:custGeom>
            <a:avLst/>
            <a:gdLst/>
            <a:ahLst/>
            <a:cxnLst/>
            <a:rect r="r" b="b" t="t" l="l"/>
            <a:pathLst>
              <a:path h="2351028" w="2672239">
                <a:moveTo>
                  <a:pt x="0" y="0"/>
                </a:moveTo>
                <a:lnTo>
                  <a:pt x="2672238" y="0"/>
                </a:lnTo>
                <a:lnTo>
                  <a:pt x="2672238" y="2351028"/>
                </a:lnTo>
                <a:lnTo>
                  <a:pt x="0" y="23510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4" id="64"/>
          <p:cNvGrpSpPr/>
          <p:nvPr/>
        </p:nvGrpSpPr>
        <p:grpSpPr>
          <a:xfrm rot="0">
            <a:off x="13322775" y="2399605"/>
            <a:ext cx="2649988" cy="2328777"/>
            <a:chOff x="0" y="0"/>
            <a:chExt cx="4023360" cy="3535680"/>
          </a:xfrm>
        </p:grpSpPr>
        <p:sp>
          <p:nvSpPr>
            <p:cNvPr name="Freeform 65" id="65"/>
            <p:cNvSpPr/>
            <p:nvPr/>
          </p:nvSpPr>
          <p:spPr>
            <a:xfrm flipH="false" flipV="false" rot="0">
              <a:off x="0" y="0"/>
              <a:ext cx="4023360" cy="3535680"/>
            </a:xfrm>
            <a:custGeom>
              <a:avLst/>
              <a:gdLst/>
              <a:ahLst/>
              <a:cxnLst/>
              <a:rect r="r" b="b" t="t" l="l"/>
              <a:pathLst>
                <a:path h="3535680" w="4023360">
                  <a:moveTo>
                    <a:pt x="0" y="0"/>
                  </a:moveTo>
                  <a:lnTo>
                    <a:pt x="4023360" y="0"/>
                  </a:lnTo>
                  <a:lnTo>
                    <a:pt x="4023360" y="3535680"/>
                  </a:lnTo>
                  <a:lnTo>
                    <a:pt x="0" y="3535680"/>
                  </a:lnTo>
                  <a:close/>
                </a:path>
              </a:pathLst>
            </a:custGeom>
            <a:blipFill>
              <a:blip r:embed="rId5">
                <a:alphaModFix amt="0"/>
              </a:blip>
              <a:stretch>
                <a:fillRect l="-62830" t="0" r="-62829" b="0"/>
              </a:stretch>
            </a:blipFill>
          </p:spPr>
        </p:sp>
      </p:grpSp>
      <p:grpSp>
        <p:nvGrpSpPr>
          <p:cNvPr name="Group 66" id="66"/>
          <p:cNvGrpSpPr/>
          <p:nvPr/>
        </p:nvGrpSpPr>
        <p:grpSpPr>
          <a:xfrm rot="0">
            <a:off x="13322775" y="2374510"/>
            <a:ext cx="2649988" cy="2353872"/>
            <a:chOff x="0" y="0"/>
            <a:chExt cx="4023360" cy="3573780"/>
          </a:xfrm>
        </p:grpSpPr>
        <p:sp>
          <p:nvSpPr>
            <p:cNvPr name="Freeform 67" id="67"/>
            <p:cNvSpPr/>
            <p:nvPr/>
          </p:nvSpPr>
          <p:spPr>
            <a:xfrm flipH="false" flipV="false" rot="0">
              <a:off x="0" y="0"/>
              <a:ext cx="4023360" cy="3573780"/>
            </a:xfrm>
            <a:custGeom>
              <a:avLst/>
              <a:gdLst/>
              <a:ahLst/>
              <a:cxnLst/>
              <a:rect r="r" b="b" t="t" l="l"/>
              <a:pathLst>
                <a:path h="3573780" w="4023360">
                  <a:moveTo>
                    <a:pt x="0" y="0"/>
                  </a:moveTo>
                  <a:lnTo>
                    <a:pt x="4023360" y="0"/>
                  </a:lnTo>
                  <a:lnTo>
                    <a:pt x="4023360" y="3573780"/>
                  </a:lnTo>
                  <a:lnTo>
                    <a:pt x="0" y="3573780"/>
                  </a:lnTo>
                  <a:close/>
                </a:path>
              </a:pathLst>
            </a:custGeom>
            <a:blipFill>
              <a:blip r:embed="rId6">
                <a:alphaModFix amt="0"/>
              </a:blip>
              <a:stretch>
                <a:fillRect l="-63966" t="0" r="-63966" b="0"/>
              </a:stretch>
            </a:blipFill>
          </p:spPr>
        </p:sp>
        <p:sp>
          <p:nvSpPr>
            <p:cNvPr name="TextBox 68" id="68"/>
            <p:cNvSpPr txBox="true"/>
            <p:nvPr/>
          </p:nvSpPr>
          <p:spPr>
            <a:xfrm>
              <a:off x="0" y="-38100"/>
              <a:ext cx="4023360" cy="36118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05</a:t>
              </a:r>
            </a:p>
            <a:p>
              <a:pPr algn="ctr">
                <a:lnSpc>
                  <a:spcPts val="2400"/>
                </a:lnSpc>
              </a:pPr>
              <a:r>
                <a:rPr lang="en-US" sz="2000" b="true">
                  <a:solidFill>
                    <a:srgbClr val="FFFFFF"/>
                  </a:solidFill>
                  <a:latin typeface="Calibri (MS) Bold"/>
                  <a:ea typeface="Calibri (MS) Bold"/>
                  <a:cs typeface="Calibri (MS) Bold"/>
                  <a:sym typeface="Calibri (MS) Bold"/>
                </a:rPr>
                <a:t>Documenta</a:t>
              </a:r>
            </a:p>
          </p:txBody>
        </p:sp>
      </p:grpSp>
      <p:sp>
        <p:nvSpPr>
          <p:cNvPr name="Freeform 69" id="69"/>
          <p:cNvSpPr/>
          <p:nvPr/>
        </p:nvSpPr>
        <p:spPr>
          <a:xfrm flipH="false" flipV="false" rot="0">
            <a:off x="13311625" y="5038443"/>
            <a:ext cx="2672239" cy="696793"/>
          </a:xfrm>
          <a:custGeom>
            <a:avLst/>
            <a:gdLst/>
            <a:ahLst/>
            <a:cxnLst/>
            <a:rect r="r" b="b" t="t" l="l"/>
            <a:pathLst>
              <a:path h="696793" w="2672239">
                <a:moveTo>
                  <a:pt x="0" y="0"/>
                </a:moveTo>
                <a:lnTo>
                  <a:pt x="2672238" y="0"/>
                </a:lnTo>
                <a:lnTo>
                  <a:pt x="2672238" y="696793"/>
                </a:lnTo>
                <a:lnTo>
                  <a:pt x="0" y="69679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0" id="70"/>
          <p:cNvGrpSpPr/>
          <p:nvPr/>
        </p:nvGrpSpPr>
        <p:grpSpPr>
          <a:xfrm rot="0">
            <a:off x="13322775" y="4937169"/>
            <a:ext cx="2649988" cy="481816"/>
            <a:chOff x="0" y="0"/>
            <a:chExt cx="4023360" cy="731520"/>
          </a:xfrm>
        </p:grpSpPr>
        <p:sp>
          <p:nvSpPr>
            <p:cNvPr name="Freeform 71" id="71"/>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5">
                <a:alphaModFix amt="0"/>
              </a:blip>
              <a:stretch>
                <a:fillRect l="0" t="-57093" r="0" b="-57092"/>
              </a:stretch>
            </a:blipFill>
          </p:spPr>
        </p:sp>
      </p:grpSp>
      <p:grpSp>
        <p:nvGrpSpPr>
          <p:cNvPr name="Group 72" id="72"/>
          <p:cNvGrpSpPr/>
          <p:nvPr/>
        </p:nvGrpSpPr>
        <p:grpSpPr>
          <a:xfrm rot="0">
            <a:off x="13311625" y="5048982"/>
            <a:ext cx="2649988" cy="506911"/>
            <a:chOff x="0" y="0"/>
            <a:chExt cx="4023360" cy="769620"/>
          </a:xfrm>
        </p:grpSpPr>
        <p:sp>
          <p:nvSpPr>
            <p:cNvPr name="Freeform 73" id="73"/>
            <p:cNvSpPr/>
            <p:nvPr/>
          </p:nvSpPr>
          <p:spPr>
            <a:xfrm flipH="false" flipV="false" rot="0">
              <a:off x="0" y="0"/>
              <a:ext cx="4023360" cy="769620"/>
            </a:xfrm>
            <a:custGeom>
              <a:avLst/>
              <a:gdLst/>
              <a:ahLst/>
              <a:cxnLst/>
              <a:rect r="r" b="b" t="t" l="l"/>
              <a:pathLst>
                <a:path h="769620" w="4023360">
                  <a:moveTo>
                    <a:pt x="0" y="0"/>
                  </a:moveTo>
                  <a:lnTo>
                    <a:pt x="4023360" y="0"/>
                  </a:lnTo>
                  <a:lnTo>
                    <a:pt x="4023360" y="769620"/>
                  </a:lnTo>
                  <a:lnTo>
                    <a:pt x="0" y="769620"/>
                  </a:lnTo>
                  <a:close/>
                </a:path>
              </a:pathLst>
            </a:custGeom>
            <a:blipFill>
              <a:blip r:embed="rId6">
                <a:alphaModFix amt="0"/>
              </a:blip>
              <a:stretch>
                <a:fillRect l="0" t="-51862" r="0" b="-51862"/>
              </a:stretch>
            </a:blipFill>
          </p:spPr>
        </p:sp>
        <p:sp>
          <p:nvSpPr>
            <p:cNvPr name="TextBox 74" id="74"/>
            <p:cNvSpPr txBox="true"/>
            <p:nvPr/>
          </p:nvSpPr>
          <p:spPr>
            <a:xfrm>
              <a:off x="0" y="-38100"/>
              <a:ext cx="4023360" cy="807720"/>
            </a:xfrm>
            <a:prstGeom prst="rect">
              <a:avLst/>
            </a:prstGeom>
          </p:spPr>
          <p:txBody>
            <a:bodyPr anchor="ctr" rtlCol="false" tIns="0" lIns="0" bIns="0" rIns="0"/>
            <a:lstStyle/>
            <a:p>
              <a:pPr algn="ctr">
                <a:lnSpc>
                  <a:spcPts val="2040"/>
                </a:lnSpc>
              </a:pPr>
              <a:r>
                <a:rPr lang="en-US" sz="1700">
                  <a:solidFill>
                    <a:srgbClr val="E07B00"/>
                  </a:solidFill>
                  <a:latin typeface="Calibri (MS)"/>
                  <a:ea typeface="Calibri (MS)"/>
                  <a:cs typeface="Calibri (MS)"/>
                  <a:sym typeface="Calibri (MS)"/>
                </a:rPr>
                <a:t>↓ si riesgo alto</a:t>
              </a:r>
            </a:p>
          </p:txBody>
        </p:sp>
      </p:grpSp>
      <p:sp>
        <p:nvSpPr>
          <p:cNvPr name="Freeform 75" id="75"/>
          <p:cNvSpPr/>
          <p:nvPr/>
        </p:nvSpPr>
        <p:spPr>
          <a:xfrm flipH="false" flipV="false" rot="0">
            <a:off x="13311625" y="5600561"/>
            <a:ext cx="2672239" cy="1949515"/>
          </a:xfrm>
          <a:custGeom>
            <a:avLst/>
            <a:gdLst/>
            <a:ahLst/>
            <a:cxnLst/>
            <a:rect r="r" b="b" t="t" l="l"/>
            <a:pathLst>
              <a:path h="1949515" w="2672239">
                <a:moveTo>
                  <a:pt x="0" y="0"/>
                </a:moveTo>
                <a:lnTo>
                  <a:pt x="2672238" y="0"/>
                </a:lnTo>
                <a:lnTo>
                  <a:pt x="2672238" y="1949515"/>
                </a:lnTo>
                <a:lnTo>
                  <a:pt x="0" y="194951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6" id="76"/>
          <p:cNvGrpSpPr/>
          <p:nvPr/>
        </p:nvGrpSpPr>
        <p:grpSpPr>
          <a:xfrm rot="0">
            <a:off x="13322775" y="5611712"/>
            <a:ext cx="2649988" cy="1927264"/>
            <a:chOff x="0" y="0"/>
            <a:chExt cx="4023360" cy="2926080"/>
          </a:xfrm>
        </p:grpSpPr>
        <p:sp>
          <p:nvSpPr>
            <p:cNvPr name="Freeform 77" id="77"/>
            <p:cNvSpPr/>
            <p:nvPr/>
          </p:nvSpPr>
          <p:spPr>
            <a:xfrm flipH="false" flipV="false" rot="0">
              <a:off x="0" y="0"/>
              <a:ext cx="4023360" cy="2926080"/>
            </a:xfrm>
            <a:custGeom>
              <a:avLst/>
              <a:gdLst/>
              <a:ahLst/>
              <a:cxnLst/>
              <a:rect r="r" b="b" t="t" l="l"/>
              <a:pathLst>
                <a:path h="2926080" w="4023360">
                  <a:moveTo>
                    <a:pt x="0" y="0"/>
                  </a:moveTo>
                  <a:lnTo>
                    <a:pt x="4023360" y="0"/>
                  </a:lnTo>
                  <a:lnTo>
                    <a:pt x="4023360" y="2926080"/>
                  </a:lnTo>
                  <a:lnTo>
                    <a:pt x="0" y="2926080"/>
                  </a:lnTo>
                  <a:close/>
                </a:path>
              </a:pathLst>
            </a:custGeom>
            <a:blipFill>
              <a:blip r:embed="rId5">
                <a:alphaModFix amt="0"/>
              </a:blip>
              <a:stretch>
                <a:fillRect l="-43376" t="0" r="-43376" b="0"/>
              </a:stretch>
            </a:blipFill>
          </p:spPr>
        </p:sp>
      </p:grpSp>
      <p:grpSp>
        <p:nvGrpSpPr>
          <p:cNvPr name="Group 78" id="78"/>
          <p:cNvGrpSpPr/>
          <p:nvPr/>
        </p:nvGrpSpPr>
        <p:grpSpPr>
          <a:xfrm rot="0">
            <a:off x="13322775" y="5586617"/>
            <a:ext cx="2649988" cy="1952359"/>
            <a:chOff x="0" y="0"/>
            <a:chExt cx="4023360" cy="2964180"/>
          </a:xfrm>
        </p:grpSpPr>
        <p:sp>
          <p:nvSpPr>
            <p:cNvPr name="Freeform 79" id="79"/>
            <p:cNvSpPr/>
            <p:nvPr/>
          </p:nvSpPr>
          <p:spPr>
            <a:xfrm flipH="false" flipV="false" rot="0">
              <a:off x="0" y="0"/>
              <a:ext cx="4023360" cy="2964180"/>
            </a:xfrm>
            <a:custGeom>
              <a:avLst/>
              <a:gdLst/>
              <a:ahLst/>
              <a:cxnLst/>
              <a:rect r="r" b="b" t="t" l="l"/>
              <a:pathLst>
                <a:path h="2964180" w="4023360">
                  <a:moveTo>
                    <a:pt x="0" y="0"/>
                  </a:moveTo>
                  <a:lnTo>
                    <a:pt x="4023360" y="0"/>
                  </a:lnTo>
                  <a:lnTo>
                    <a:pt x="4023360" y="2964180"/>
                  </a:lnTo>
                  <a:lnTo>
                    <a:pt x="0" y="2964180"/>
                  </a:lnTo>
                  <a:close/>
                </a:path>
              </a:pathLst>
            </a:custGeom>
            <a:blipFill>
              <a:blip r:embed="rId6">
                <a:alphaModFix amt="0"/>
              </a:blip>
              <a:stretch>
                <a:fillRect l="-44526" t="0" r="-44526" b="0"/>
              </a:stretch>
            </a:blipFill>
          </p:spPr>
        </p:sp>
        <p:sp>
          <p:nvSpPr>
            <p:cNvPr name="TextBox 80" id="80"/>
            <p:cNvSpPr txBox="true"/>
            <p:nvPr/>
          </p:nvSpPr>
          <p:spPr>
            <a:xfrm>
              <a:off x="0" y="-38100"/>
              <a:ext cx="4023360" cy="300228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06</a:t>
              </a:r>
            </a:p>
            <a:p>
              <a:pPr algn="ctr">
                <a:lnSpc>
                  <a:spcPts val="2400"/>
                </a:lnSpc>
              </a:pPr>
              <a:r>
                <a:rPr lang="en-US" sz="2000" b="true">
                  <a:solidFill>
                    <a:srgbClr val="FFFFFF"/>
                  </a:solidFill>
                  <a:latin typeface="Calibri (MS) Bold"/>
                  <a:ea typeface="Calibri (MS) Bold"/>
                  <a:cs typeface="Calibri (MS) Bold"/>
                  <a:sym typeface="Calibri (MS) Bold"/>
                </a:rPr>
                <a:t>Escala si</a:t>
              </a:r>
            </a:p>
            <a:p>
              <a:pPr algn="ctr">
                <a:lnSpc>
                  <a:spcPts val="2400"/>
                </a:lnSpc>
              </a:pPr>
              <a:r>
                <a:rPr lang="en-US" sz="2000" b="true">
                  <a:solidFill>
                    <a:srgbClr val="FFFFFF"/>
                  </a:solidFill>
                  <a:latin typeface="Calibri (MS) Bold"/>
                  <a:ea typeface="Calibri (MS) Bold"/>
                  <a:cs typeface="Calibri (MS) Bold"/>
                  <a:sym typeface="Calibri (MS) Bold"/>
                </a:rPr>
                <a:t>es necesario</a:t>
              </a:r>
            </a:p>
          </p:txBody>
        </p:sp>
      </p:grpSp>
      <p:sp>
        <p:nvSpPr>
          <p:cNvPr name="Freeform 81" id="81"/>
          <p:cNvSpPr/>
          <p:nvPr/>
        </p:nvSpPr>
        <p:spPr>
          <a:xfrm flipH="false" flipV="false" rot="0">
            <a:off x="2191790" y="8375832"/>
            <a:ext cx="13669534" cy="822247"/>
          </a:xfrm>
          <a:custGeom>
            <a:avLst/>
            <a:gdLst/>
            <a:ahLst/>
            <a:cxnLst/>
            <a:rect r="r" b="b" t="t" l="l"/>
            <a:pathLst>
              <a:path h="822247" w="13669534">
                <a:moveTo>
                  <a:pt x="0" y="0"/>
                </a:moveTo>
                <a:lnTo>
                  <a:pt x="13669534" y="0"/>
                </a:lnTo>
                <a:lnTo>
                  <a:pt x="13669534" y="822247"/>
                </a:lnTo>
                <a:lnTo>
                  <a:pt x="0" y="82224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82" id="82"/>
          <p:cNvGrpSpPr/>
          <p:nvPr/>
        </p:nvGrpSpPr>
        <p:grpSpPr>
          <a:xfrm rot="0">
            <a:off x="914400" y="8266176"/>
            <a:ext cx="16459200" cy="1005840"/>
            <a:chOff x="0" y="0"/>
            <a:chExt cx="21945600" cy="1341120"/>
          </a:xfrm>
        </p:grpSpPr>
        <p:sp>
          <p:nvSpPr>
            <p:cNvPr name="Freeform 83" id="8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5">
                <a:alphaModFix amt="0"/>
              </a:blip>
              <a:stretch>
                <a:fillRect l="0" t="-268624" r="0" b="-268625"/>
              </a:stretch>
            </a:blipFill>
          </p:spPr>
        </p:sp>
      </p:grpSp>
      <p:grpSp>
        <p:nvGrpSpPr>
          <p:cNvPr name="Group 84" id="84"/>
          <p:cNvGrpSpPr/>
          <p:nvPr/>
        </p:nvGrpSpPr>
        <p:grpSpPr>
          <a:xfrm rot="0">
            <a:off x="2495344" y="8266176"/>
            <a:ext cx="11813934" cy="1041559"/>
            <a:chOff x="0" y="0"/>
            <a:chExt cx="15751912" cy="1388745"/>
          </a:xfrm>
        </p:grpSpPr>
        <p:sp>
          <p:nvSpPr>
            <p:cNvPr name="Freeform 85" id="85"/>
            <p:cNvSpPr/>
            <p:nvPr/>
          </p:nvSpPr>
          <p:spPr>
            <a:xfrm flipH="false" flipV="false" rot="0">
              <a:off x="0" y="0"/>
              <a:ext cx="15751911" cy="1388745"/>
            </a:xfrm>
            <a:custGeom>
              <a:avLst/>
              <a:gdLst/>
              <a:ahLst/>
              <a:cxnLst/>
              <a:rect r="r" b="b" t="t" l="l"/>
              <a:pathLst>
                <a:path h="1388745" w="15751911">
                  <a:moveTo>
                    <a:pt x="0" y="0"/>
                  </a:moveTo>
                  <a:lnTo>
                    <a:pt x="15751911" y="0"/>
                  </a:lnTo>
                  <a:lnTo>
                    <a:pt x="15751911" y="1388745"/>
                  </a:lnTo>
                  <a:lnTo>
                    <a:pt x="0" y="1388745"/>
                  </a:lnTo>
                  <a:close/>
                </a:path>
              </a:pathLst>
            </a:custGeom>
            <a:blipFill>
              <a:blip r:embed="rId6">
                <a:alphaModFix amt="0"/>
              </a:blip>
              <a:stretch>
                <a:fillRect l="0" t="-257911" r="-39320" b="-257911"/>
              </a:stretch>
            </a:blipFill>
          </p:spPr>
        </p:sp>
        <p:sp>
          <p:nvSpPr>
            <p:cNvPr name="TextBox 86" id="86"/>
            <p:cNvSpPr txBox="true"/>
            <p:nvPr/>
          </p:nvSpPr>
          <p:spPr>
            <a:xfrm>
              <a:off x="0" y="-38100"/>
              <a:ext cx="15751912" cy="1426845"/>
            </a:xfrm>
            <a:prstGeom prst="rect">
              <a:avLst/>
            </a:prstGeom>
          </p:spPr>
          <p:txBody>
            <a:bodyPr anchor="ctr" rtlCol="false" tIns="0" lIns="0" bIns="0" rIns="0"/>
            <a:lstStyle/>
            <a:p>
              <a:pPr algn="l">
                <a:lnSpc>
                  <a:spcPts val="2160"/>
                </a:lnSpc>
              </a:pPr>
              <a:r>
                <a:rPr lang="en-US" sz="1800" b="true">
                  <a:solidFill>
                    <a:srgbClr val="F5C518"/>
                  </a:solidFill>
                  <a:latin typeface="Calibri (MS) Bold"/>
                  <a:ea typeface="Calibri (MS) Bold"/>
                  <a:cs typeface="Calibri (MS) Bold"/>
                  <a:sym typeface="Calibri (MS) Bold"/>
                </a:rPr>
                <a:t>En el SOC moderno, parte de este flujo está automatizado. </a:t>
              </a:r>
              <a:r>
                <a:rPr lang="en-US" sz="1800">
                  <a:solidFill>
                    <a:srgbClr val="CCCCCC"/>
                  </a:solidFill>
                  <a:latin typeface="Calibri (MS)"/>
                  <a:ea typeface="Calibri (MS)"/>
                  <a:cs typeface="Calibri (MS)"/>
                  <a:sym typeface="Calibri (MS)"/>
                </a:rPr>
                <a:t>Lo que el analista aporta es criterio en la validación, precisión en la documentación y claridad en el escalamiento.</a:t>
              </a:r>
            </a:p>
          </p:txBody>
        </p:sp>
      </p:grpSp>
      <p:grpSp>
        <p:nvGrpSpPr>
          <p:cNvPr name="Group 87" id="87"/>
          <p:cNvGrpSpPr/>
          <p:nvPr/>
        </p:nvGrpSpPr>
        <p:grpSpPr>
          <a:xfrm rot="0">
            <a:off x="15983863" y="24203"/>
            <a:ext cx="1855079" cy="1855079"/>
            <a:chOff x="0" y="0"/>
            <a:chExt cx="5852160" cy="5852160"/>
          </a:xfrm>
        </p:grpSpPr>
        <p:sp>
          <p:nvSpPr>
            <p:cNvPr name="Freeform 88" id="8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p.27</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1.3  |  Habilidades técnicas del Analista SOC Moderno</a:t>
              </a:r>
            </a:p>
          </p:txBody>
        </p:sp>
      </p:grpSp>
      <p:grpSp>
        <p:nvGrpSpPr>
          <p:cNvPr name="Group 20" id="20"/>
          <p:cNvGrpSpPr/>
          <p:nvPr/>
        </p:nvGrpSpPr>
        <p:grpSpPr>
          <a:xfrm rot="0">
            <a:off x="640080" y="1773936"/>
            <a:ext cx="17007840" cy="731520"/>
            <a:chOff x="0" y="0"/>
            <a:chExt cx="22677120" cy="975360"/>
          </a:xfrm>
        </p:grpSpPr>
        <p:sp>
          <p:nvSpPr>
            <p:cNvPr name="Freeform 21" id="21"/>
            <p:cNvSpPr/>
            <p:nvPr/>
          </p:nvSpPr>
          <p:spPr>
            <a:xfrm flipH="false" flipV="false" rot="0">
              <a:off x="0" y="0"/>
              <a:ext cx="22677120" cy="975360"/>
            </a:xfrm>
            <a:custGeom>
              <a:avLst/>
              <a:gdLst/>
              <a:ahLst/>
              <a:cxnLst/>
              <a:rect r="r" b="b" t="t" l="l"/>
              <a:pathLst>
                <a:path h="975360" w="22677120">
                  <a:moveTo>
                    <a:pt x="0" y="0"/>
                  </a:moveTo>
                  <a:lnTo>
                    <a:pt x="22677120" y="0"/>
                  </a:lnTo>
                  <a:lnTo>
                    <a:pt x="22677120" y="975360"/>
                  </a:lnTo>
                  <a:lnTo>
                    <a:pt x="0" y="975360"/>
                  </a:lnTo>
                  <a:close/>
                </a:path>
              </a:pathLst>
            </a:custGeom>
            <a:blipFill>
              <a:blip r:embed="rId7">
                <a:alphaModFix amt="0"/>
              </a:blip>
              <a:stretch>
                <a:fillRect l="0" t="-402712" r="0" b="-402712"/>
              </a:stretch>
            </a:blipFill>
          </p:spPr>
        </p:sp>
      </p:grpSp>
      <p:grpSp>
        <p:nvGrpSpPr>
          <p:cNvPr name="Group 22" id="22"/>
          <p:cNvGrpSpPr/>
          <p:nvPr/>
        </p:nvGrpSpPr>
        <p:grpSpPr>
          <a:xfrm rot="0">
            <a:off x="731520" y="2184153"/>
            <a:ext cx="17007840" cy="767239"/>
            <a:chOff x="0" y="0"/>
            <a:chExt cx="22677120" cy="1022985"/>
          </a:xfrm>
        </p:grpSpPr>
        <p:sp>
          <p:nvSpPr>
            <p:cNvPr name="Freeform 23" id="23"/>
            <p:cNvSpPr/>
            <p:nvPr/>
          </p:nvSpPr>
          <p:spPr>
            <a:xfrm flipH="false" flipV="false" rot="0">
              <a:off x="0" y="0"/>
              <a:ext cx="22677120" cy="1022985"/>
            </a:xfrm>
            <a:custGeom>
              <a:avLst/>
              <a:gdLst/>
              <a:ahLst/>
              <a:cxnLst/>
              <a:rect r="r" b="b" t="t" l="l"/>
              <a:pathLst>
                <a:path h="1022985" w="22677120">
                  <a:moveTo>
                    <a:pt x="0" y="0"/>
                  </a:moveTo>
                  <a:lnTo>
                    <a:pt x="22677120" y="0"/>
                  </a:lnTo>
                  <a:lnTo>
                    <a:pt x="22677120" y="1022985"/>
                  </a:lnTo>
                  <a:lnTo>
                    <a:pt x="0" y="1022985"/>
                  </a:lnTo>
                  <a:close/>
                </a:path>
              </a:pathLst>
            </a:custGeom>
            <a:blipFill>
              <a:blip r:embed="rId8">
                <a:alphaModFix amt="0"/>
              </a:blip>
              <a:stretch>
                <a:fillRect l="0" t="-381936" r="0" b="-381936"/>
              </a:stretch>
            </a:blipFill>
          </p:spPr>
        </p:sp>
        <p:sp>
          <p:nvSpPr>
            <p:cNvPr name="TextBox 24" id="24"/>
            <p:cNvSpPr txBox="true"/>
            <p:nvPr/>
          </p:nvSpPr>
          <p:spPr>
            <a:xfrm>
              <a:off x="0" y="-47625"/>
              <a:ext cx="22677120" cy="107061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Son las herramientas y conocimientos prácticos que el analista necesita manejar en su día a día:</a:t>
              </a:r>
            </a:p>
          </p:txBody>
        </p:sp>
      </p:grpSp>
      <p:sp>
        <p:nvSpPr>
          <p:cNvPr name="Freeform 25" id="25"/>
          <p:cNvSpPr/>
          <p:nvPr/>
        </p:nvSpPr>
        <p:spPr>
          <a:xfrm flipH="false" flipV="false" rot="0">
            <a:off x="1959967" y="3327049"/>
            <a:ext cx="4837061" cy="684947"/>
          </a:xfrm>
          <a:custGeom>
            <a:avLst/>
            <a:gdLst/>
            <a:ahLst/>
            <a:cxnLst/>
            <a:rect r="r" b="b" t="t" l="l"/>
            <a:pathLst>
              <a:path h="684947" w="4837061">
                <a:moveTo>
                  <a:pt x="0" y="0"/>
                </a:moveTo>
                <a:lnTo>
                  <a:pt x="4837060" y="0"/>
                </a:lnTo>
                <a:lnTo>
                  <a:pt x="4837060" y="684947"/>
                </a:lnTo>
                <a:lnTo>
                  <a:pt x="0" y="6849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970928" y="3338010"/>
            <a:ext cx="4815188" cy="663075"/>
            <a:chOff x="0" y="0"/>
            <a:chExt cx="7437120" cy="1024128"/>
          </a:xfrm>
        </p:grpSpPr>
        <p:sp>
          <p:nvSpPr>
            <p:cNvPr name="Freeform 27" id="27"/>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28" id="28"/>
          <p:cNvGrpSpPr/>
          <p:nvPr/>
        </p:nvGrpSpPr>
        <p:grpSpPr>
          <a:xfrm rot="0">
            <a:off x="1970928" y="3313342"/>
            <a:ext cx="4815188" cy="687743"/>
            <a:chOff x="0" y="0"/>
            <a:chExt cx="7437120" cy="1062228"/>
          </a:xfrm>
        </p:grpSpPr>
        <p:sp>
          <p:nvSpPr>
            <p:cNvPr name="Freeform 29" id="29"/>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30" id="30"/>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Uso de plataformas SIEM</a:t>
              </a:r>
            </a:p>
          </p:txBody>
        </p:sp>
      </p:grpSp>
      <p:sp>
        <p:nvSpPr>
          <p:cNvPr name="Freeform 31" id="31"/>
          <p:cNvSpPr/>
          <p:nvPr/>
        </p:nvSpPr>
        <p:spPr>
          <a:xfrm flipH="false" flipV="false" rot="0">
            <a:off x="1959967" y="4021699"/>
            <a:ext cx="4837061" cy="1884798"/>
          </a:xfrm>
          <a:custGeom>
            <a:avLst/>
            <a:gdLst/>
            <a:ahLst/>
            <a:cxnLst/>
            <a:rect r="r" b="b" t="t" l="l"/>
            <a:pathLst>
              <a:path h="1884798" w="4837061">
                <a:moveTo>
                  <a:pt x="0" y="0"/>
                </a:moveTo>
                <a:lnTo>
                  <a:pt x="4837060" y="0"/>
                </a:lnTo>
                <a:lnTo>
                  <a:pt x="4837060" y="1884797"/>
                </a:lnTo>
                <a:lnTo>
                  <a:pt x="0" y="18847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2184059" y="4268676"/>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Splunk, QRadar, Microsoft Sentinel: para visualizar, filtrar y correlacionar eventos de seguridad. Es la herramienta central del analista L1.</a:t>
            </a:r>
          </a:p>
        </p:txBody>
      </p:sp>
      <p:sp>
        <p:nvSpPr>
          <p:cNvPr name="Freeform 33" id="33"/>
          <p:cNvSpPr/>
          <p:nvPr/>
        </p:nvSpPr>
        <p:spPr>
          <a:xfrm flipH="false" flipV="false" rot="0">
            <a:off x="7043543" y="3327049"/>
            <a:ext cx="4837061" cy="684947"/>
          </a:xfrm>
          <a:custGeom>
            <a:avLst/>
            <a:gdLst/>
            <a:ahLst/>
            <a:cxnLst/>
            <a:rect r="r" b="b" t="t" l="l"/>
            <a:pathLst>
              <a:path h="684947" w="4837061">
                <a:moveTo>
                  <a:pt x="0" y="0"/>
                </a:moveTo>
                <a:lnTo>
                  <a:pt x="4837060" y="0"/>
                </a:lnTo>
                <a:lnTo>
                  <a:pt x="4837060" y="684947"/>
                </a:lnTo>
                <a:lnTo>
                  <a:pt x="0" y="68494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7054503" y="3338010"/>
            <a:ext cx="4815188" cy="663075"/>
            <a:chOff x="0" y="0"/>
            <a:chExt cx="7437120" cy="1024128"/>
          </a:xfrm>
        </p:grpSpPr>
        <p:sp>
          <p:nvSpPr>
            <p:cNvPr name="Freeform 35" id="35"/>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36" id="36"/>
          <p:cNvGrpSpPr/>
          <p:nvPr/>
        </p:nvGrpSpPr>
        <p:grpSpPr>
          <a:xfrm rot="0">
            <a:off x="7054503" y="3313342"/>
            <a:ext cx="4815188" cy="687743"/>
            <a:chOff x="0" y="0"/>
            <a:chExt cx="7437120" cy="1062228"/>
          </a:xfrm>
        </p:grpSpPr>
        <p:sp>
          <p:nvSpPr>
            <p:cNvPr name="Freeform 37" id="37"/>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38" id="38"/>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Análisis de logs</a:t>
              </a:r>
            </a:p>
          </p:txBody>
        </p:sp>
      </p:grpSp>
      <p:sp>
        <p:nvSpPr>
          <p:cNvPr name="Freeform 39" id="39"/>
          <p:cNvSpPr/>
          <p:nvPr/>
        </p:nvSpPr>
        <p:spPr>
          <a:xfrm flipH="false" flipV="false" rot="0">
            <a:off x="7043543" y="4021699"/>
            <a:ext cx="4837061" cy="1884798"/>
          </a:xfrm>
          <a:custGeom>
            <a:avLst/>
            <a:gdLst/>
            <a:ahLst/>
            <a:cxnLst/>
            <a:rect r="r" b="b" t="t" l="l"/>
            <a:pathLst>
              <a:path h="1884798" w="4837061">
                <a:moveTo>
                  <a:pt x="0" y="0"/>
                </a:moveTo>
                <a:lnTo>
                  <a:pt x="4837060" y="0"/>
                </a:lnTo>
                <a:lnTo>
                  <a:pt x="4837060" y="1884797"/>
                </a:lnTo>
                <a:lnTo>
                  <a:pt x="0" y="18847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7267635" y="4268676"/>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Saber leer eventos en Windows Event Logs, syslog de Linux, registros de firewall y EDR para identificar comportamientos anómalos.</a:t>
            </a:r>
          </a:p>
        </p:txBody>
      </p:sp>
      <p:sp>
        <p:nvSpPr>
          <p:cNvPr name="Freeform 41" id="41"/>
          <p:cNvSpPr/>
          <p:nvPr/>
        </p:nvSpPr>
        <p:spPr>
          <a:xfrm flipH="false" flipV="false" rot="0">
            <a:off x="12127119" y="3327049"/>
            <a:ext cx="4837061" cy="684947"/>
          </a:xfrm>
          <a:custGeom>
            <a:avLst/>
            <a:gdLst/>
            <a:ahLst/>
            <a:cxnLst/>
            <a:rect r="r" b="b" t="t" l="l"/>
            <a:pathLst>
              <a:path h="684947" w="4837061">
                <a:moveTo>
                  <a:pt x="0" y="0"/>
                </a:moveTo>
                <a:lnTo>
                  <a:pt x="4837060" y="0"/>
                </a:lnTo>
                <a:lnTo>
                  <a:pt x="4837060" y="684947"/>
                </a:lnTo>
                <a:lnTo>
                  <a:pt x="0" y="68494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2138079" y="3338010"/>
            <a:ext cx="4815188" cy="663075"/>
            <a:chOff x="0" y="0"/>
            <a:chExt cx="7437120" cy="1024128"/>
          </a:xfrm>
        </p:grpSpPr>
        <p:sp>
          <p:nvSpPr>
            <p:cNvPr name="Freeform 43" id="43"/>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44" id="44"/>
          <p:cNvGrpSpPr/>
          <p:nvPr/>
        </p:nvGrpSpPr>
        <p:grpSpPr>
          <a:xfrm rot="0">
            <a:off x="12138079" y="3313342"/>
            <a:ext cx="4815188" cy="687743"/>
            <a:chOff x="0" y="0"/>
            <a:chExt cx="7437120" cy="1062228"/>
          </a:xfrm>
        </p:grpSpPr>
        <p:sp>
          <p:nvSpPr>
            <p:cNvPr name="Freeform 45" id="45"/>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46" id="46"/>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Redes y protocolos</a:t>
              </a:r>
            </a:p>
          </p:txBody>
        </p:sp>
      </p:grpSp>
      <p:sp>
        <p:nvSpPr>
          <p:cNvPr name="Freeform 47" id="47"/>
          <p:cNvSpPr/>
          <p:nvPr/>
        </p:nvSpPr>
        <p:spPr>
          <a:xfrm flipH="false" flipV="false" rot="0">
            <a:off x="12127119" y="4021699"/>
            <a:ext cx="4837061" cy="1884798"/>
          </a:xfrm>
          <a:custGeom>
            <a:avLst/>
            <a:gdLst/>
            <a:ahLst/>
            <a:cxnLst/>
            <a:rect r="r" b="b" t="t" l="l"/>
            <a:pathLst>
              <a:path h="1884798" w="4837061">
                <a:moveTo>
                  <a:pt x="0" y="0"/>
                </a:moveTo>
                <a:lnTo>
                  <a:pt x="4837060" y="0"/>
                </a:lnTo>
                <a:lnTo>
                  <a:pt x="4837060" y="1884797"/>
                </a:lnTo>
                <a:lnTo>
                  <a:pt x="0" y="18847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351211" y="4268676"/>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Conceptos básicos de TCP/IP, DNS, HTTP, puertos y servicios. Muchas alertas están relacionadas con comportamiento en red.</a:t>
            </a:r>
          </a:p>
        </p:txBody>
      </p:sp>
      <p:sp>
        <p:nvSpPr>
          <p:cNvPr name="Freeform 49" id="49"/>
          <p:cNvSpPr/>
          <p:nvPr/>
        </p:nvSpPr>
        <p:spPr>
          <a:xfrm flipH="false" flipV="false" rot="0">
            <a:off x="1959967" y="6010924"/>
            <a:ext cx="4837061" cy="684947"/>
          </a:xfrm>
          <a:custGeom>
            <a:avLst/>
            <a:gdLst/>
            <a:ahLst/>
            <a:cxnLst/>
            <a:rect r="r" b="b" t="t" l="l"/>
            <a:pathLst>
              <a:path h="684947" w="4837061">
                <a:moveTo>
                  <a:pt x="0" y="0"/>
                </a:moveTo>
                <a:lnTo>
                  <a:pt x="4837060" y="0"/>
                </a:lnTo>
                <a:lnTo>
                  <a:pt x="4837060" y="684948"/>
                </a:lnTo>
                <a:lnTo>
                  <a:pt x="0" y="68494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970928" y="6021885"/>
            <a:ext cx="4815188" cy="663075"/>
            <a:chOff x="0" y="0"/>
            <a:chExt cx="7437120" cy="1024128"/>
          </a:xfrm>
        </p:grpSpPr>
        <p:sp>
          <p:nvSpPr>
            <p:cNvPr name="Freeform 51" id="51"/>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52" id="52"/>
          <p:cNvGrpSpPr/>
          <p:nvPr/>
        </p:nvGrpSpPr>
        <p:grpSpPr>
          <a:xfrm rot="0">
            <a:off x="1970928" y="5997217"/>
            <a:ext cx="4815188" cy="687743"/>
            <a:chOff x="0" y="0"/>
            <a:chExt cx="7437120" cy="1062228"/>
          </a:xfrm>
        </p:grpSpPr>
        <p:sp>
          <p:nvSpPr>
            <p:cNvPr name="Freeform 53" id="53"/>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54" id="54"/>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Amenazas comunes</a:t>
              </a:r>
            </a:p>
          </p:txBody>
        </p:sp>
      </p:grpSp>
      <p:sp>
        <p:nvSpPr>
          <p:cNvPr name="Freeform 55" id="55"/>
          <p:cNvSpPr/>
          <p:nvPr/>
        </p:nvSpPr>
        <p:spPr>
          <a:xfrm flipH="false" flipV="false" rot="0">
            <a:off x="1959967" y="6705574"/>
            <a:ext cx="4837061" cy="1884798"/>
          </a:xfrm>
          <a:custGeom>
            <a:avLst/>
            <a:gdLst/>
            <a:ahLst/>
            <a:cxnLst/>
            <a:rect r="r" b="b" t="t" l="l"/>
            <a:pathLst>
              <a:path h="1884798" w="4837061">
                <a:moveTo>
                  <a:pt x="0" y="0"/>
                </a:moveTo>
                <a:lnTo>
                  <a:pt x="4837060" y="0"/>
                </a:lnTo>
                <a:lnTo>
                  <a:pt x="4837060" y="1884798"/>
                </a:lnTo>
                <a:lnTo>
                  <a:pt x="0" y="18847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2184059" y="6952552"/>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Reconocer malware, phishing, escaneo de puertos y uso de credenciales comprometidas para contextualizar cada alerta.</a:t>
            </a:r>
          </a:p>
        </p:txBody>
      </p:sp>
      <p:sp>
        <p:nvSpPr>
          <p:cNvPr name="Freeform 57" id="57"/>
          <p:cNvSpPr/>
          <p:nvPr/>
        </p:nvSpPr>
        <p:spPr>
          <a:xfrm flipH="false" flipV="false" rot="0">
            <a:off x="7043543" y="6010924"/>
            <a:ext cx="4837061" cy="684947"/>
          </a:xfrm>
          <a:custGeom>
            <a:avLst/>
            <a:gdLst/>
            <a:ahLst/>
            <a:cxnLst/>
            <a:rect r="r" b="b" t="t" l="l"/>
            <a:pathLst>
              <a:path h="684947" w="4837061">
                <a:moveTo>
                  <a:pt x="0" y="0"/>
                </a:moveTo>
                <a:lnTo>
                  <a:pt x="4837060" y="0"/>
                </a:lnTo>
                <a:lnTo>
                  <a:pt x="4837060" y="684948"/>
                </a:lnTo>
                <a:lnTo>
                  <a:pt x="0" y="68494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7054503" y="6021885"/>
            <a:ext cx="4815188" cy="663075"/>
            <a:chOff x="0" y="0"/>
            <a:chExt cx="7437120" cy="1024128"/>
          </a:xfrm>
        </p:grpSpPr>
        <p:sp>
          <p:nvSpPr>
            <p:cNvPr name="Freeform 59" id="59"/>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60" id="60"/>
          <p:cNvGrpSpPr/>
          <p:nvPr/>
        </p:nvGrpSpPr>
        <p:grpSpPr>
          <a:xfrm rot="0">
            <a:off x="7054503" y="5997217"/>
            <a:ext cx="4815188" cy="687743"/>
            <a:chOff x="0" y="0"/>
            <a:chExt cx="7437120" cy="1062228"/>
          </a:xfrm>
        </p:grpSpPr>
        <p:sp>
          <p:nvSpPr>
            <p:cNvPr name="Freeform 61" id="61"/>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62" id="62"/>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Threat Intelligence</a:t>
              </a:r>
            </a:p>
          </p:txBody>
        </p:sp>
      </p:grpSp>
      <p:sp>
        <p:nvSpPr>
          <p:cNvPr name="Freeform 63" id="63"/>
          <p:cNvSpPr/>
          <p:nvPr/>
        </p:nvSpPr>
        <p:spPr>
          <a:xfrm flipH="false" flipV="false" rot="0">
            <a:off x="7043543" y="6705574"/>
            <a:ext cx="4837061" cy="1884798"/>
          </a:xfrm>
          <a:custGeom>
            <a:avLst/>
            <a:gdLst/>
            <a:ahLst/>
            <a:cxnLst/>
            <a:rect r="r" b="b" t="t" l="l"/>
            <a:pathLst>
              <a:path h="1884798" w="4837061">
                <a:moveTo>
                  <a:pt x="0" y="0"/>
                </a:moveTo>
                <a:lnTo>
                  <a:pt x="4837060" y="0"/>
                </a:lnTo>
                <a:lnTo>
                  <a:pt x="4837060" y="1884798"/>
                </a:lnTo>
                <a:lnTo>
                  <a:pt x="0" y="18847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7267635" y="6952552"/>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Consulta de fuentes como VirusTotal, AbuseIPDB, AlienVault OTX para verificar IPs, hashes o dominios sospechosos.</a:t>
            </a:r>
          </a:p>
        </p:txBody>
      </p:sp>
      <p:sp>
        <p:nvSpPr>
          <p:cNvPr name="Freeform 65" id="65"/>
          <p:cNvSpPr/>
          <p:nvPr/>
        </p:nvSpPr>
        <p:spPr>
          <a:xfrm flipH="false" flipV="false" rot="0">
            <a:off x="12127119" y="6010924"/>
            <a:ext cx="4837061" cy="684947"/>
          </a:xfrm>
          <a:custGeom>
            <a:avLst/>
            <a:gdLst/>
            <a:ahLst/>
            <a:cxnLst/>
            <a:rect r="r" b="b" t="t" l="l"/>
            <a:pathLst>
              <a:path h="684947" w="4837061">
                <a:moveTo>
                  <a:pt x="0" y="0"/>
                </a:moveTo>
                <a:lnTo>
                  <a:pt x="4837060" y="0"/>
                </a:lnTo>
                <a:lnTo>
                  <a:pt x="4837060" y="684948"/>
                </a:lnTo>
                <a:lnTo>
                  <a:pt x="0" y="68494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6" id="66"/>
          <p:cNvGrpSpPr/>
          <p:nvPr/>
        </p:nvGrpSpPr>
        <p:grpSpPr>
          <a:xfrm rot="0">
            <a:off x="12138079" y="6021885"/>
            <a:ext cx="4815188" cy="663075"/>
            <a:chOff x="0" y="0"/>
            <a:chExt cx="7437120" cy="1024128"/>
          </a:xfrm>
        </p:grpSpPr>
        <p:sp>
          <p:nvSpPr>
            <p:cNvPr name="Freeform 67" id="67"/>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68" id="68"/>
          <p:cNvGrpSpPr/>
          <p:nvPr/>
        </p:nvGrpSpPr>
        <p:grpSpPr>
          <a:xfrm rot="0">
            <a:off x="12138079" y="5997217"/>
            <a:ext cx="4815188" cy="687743"/>
            <a:chOff x="0" y="0"/>
            <a:chExt cx="7437120" cy="1062228"/>
          </a:xfrm>
        </p:grpSpPr>
        <p:sp>
          <p:nvSpPr>
            <p:cNvPr name="Freeform 69" id="69"/>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70" id="70"/>
            <p:cNvSpPr txBox="true"/>
            <p:nvPr/>
          </p:nvSpPr>
          <p:spPr>
            <a:xfrm>
              <a:off x="0" y="-38100"/>
              <a:ext cx="7437120" cy="110032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  Gestión de tickets</a:t>
              </a:r>
            </a:p>
          </p:txBody>
        </p:sp>
      </p:grpSp>
      <p:sp>
        <p:nvSpPr>
          <p:cNvPr name="Freeform 71" id="71"/>
          <p:cNvSpPr/>
          <p:nvPr/>
        </p:nvSpPr>
        <p:spPr>
          <a:xfrm flipH="false" flipV="false" rot="0">
            <a:off x="12127119" y="6705574"/>
            <a:ext cx="4837061" cy="1884798"/>
          </a:xfrm>
          <a:custGeom>
            <a:avLst/>
            <a:gdLst/>
            <a:ahLst/>
            <a:cxnLst/>
            <a:rect r="r" b="b" t="t" l="l"/>
            <a:pathLst>
              <a:path h="1884798" w="4837061">
                <a:moveTo>
                  <a:pt x="0" y="0"/>
                </a:moveTo>
                <a:lnTo>
                  <a:pt x="4837060" y="0"/>
                </a:lnTo>
                <a:lnTo>
                  <a:pt x="4837060" y="1884798"/>
                </a:lnTo>
                <a:lnTo>
                  <a:pt x="0" y="18847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2" id="72"/>
          <p:cNvSpPr txBox="true"/>
          <p:nvPr/>
        </p:nvSpPr>
        <p:spPr>
          <a:xfrm rot="0">
            <a:off x="12351211" y="6952552"/>
            <a:ext cx="4388926" cy="1003768"/>
          </a:xfrm>
          <a:prstGeom prst="rect">
            <a:avLst/>
          </a:prstGeom>
        </p:spPr>
        <p:txBody>
          <a:bodyPr anchor="t" rtlCol="false" tIns="0" lIns="0" bIns="0" rIns="0">
            <a:spAutoFit/>
          </a:bodyPr>
          <a:lstStyle/>
          <a:p>
            <a:pPr algn="l">
              <a:lnSpc>
                <a:spcPts val="2688"/>
              </a:lnSpc>
            </a:pPr>
            <a:r>
              <a:rPr lang="en-US" sz="1639">
                <a:solidFill>
                  <a:srgbClr val="333333"/>
                </a:solidFill>
                <a:latin typeface="Calibri (MS)"/>
                <a:ea typeface="Calibri (MS)"/>
                <a:cs typeface="Calibri (MS)"/>
                <a:sym typeface="Calibri (MS)"/>
              </a:rPr>
              <a:t>Documentar correctamente en herramientas como ServiceNow, TheHive o Jira: claridad, orden y trazabilidad son críticos.</a:t>
            </a:r>
          </a:p>
        </p:txBody>
      </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p.28</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1.3  |  Habilidades no técnicas del Analista SOC Moderno</a:t>
              </a:r>
            </a:p>
          </p:txBody>
        </p:sp>
      </p:grpSp>
      <p:grpSp>
        <p:nvGrpSpPr>
          <p:cNvPr name="Group 20" id="20"/>
          <p:cNvGrpSpPr/>
          <p:nvPr/>
        </p:nvGrpSpPr>
        <p:grpSpPr>
          <a:xfrm rot="0">
            <a:off x="640080" y="1773936"/>
            <a:ext cx="17007840" cy="731520"/>
            <a:chOff x="0" y="0"/>
            <a:chExt cx="22677120" cy="975360"/>
          </a:xfrm>
        </p:grpSpPr>
        <p:sp>
          <p:nvSpPr>
            <p:cNvPr name="Freeform 21" id="21"/>
            <p:cNvSpPr/>
            <p:nvPr/>
          </p:nvSpPr>
          <p:spPr>
            <a:xfrm flipH="false" flipV="false" rot="0">
              <a:off x="0" y="0"/>
              <a:ext cx="22677120" cy="975360"/>
            </a:xfrm>
            <a:custGeom>
              <a:avLst/>
              <a:gdLst/>
              <a:ahLst/>
              <a:cxnLst/>
              <a:rect r="r" b="b" t="t" l="l"/>
              <a:pathLst>
                <a:path h="975360" w="22677120">
                  <a:moveTo>
                    <a:pt x="0" y="0"/>
                  </a:moveTo>
                  <a:lnTo>
                    <a:pt x="22677120" y="0"/>
                  </a:lnTo>
                  <a:lnTo>
                    <a:pt x="22677120" y="975360"/>
                  </a:lnTo>
                  <a:lnTo>
                    <a:pt x="0" y="975360"/>
                  </a:lnTo>
                  <a:close/>
                </a:path>
              </a:pathLst>
            </a:custGeom>
            <a:blipFill>
              <a:blip r:embed="rId7">
                <a:alphaModFix amt="0"/>
              </a:blip>
              <a:stretch>
                <a:fillRect l="0" t="-402712" r="0" b="-402712"/>
              </a:stretch>
            </a:blipFill>
          </p:spPr>
        </p:sp>
      </p:grpSp>
      <p:grpSp>
        <p:nvGrpSpPr>
          <p:cNvPr name="Group 22" id="22"/>
          <p:cNvGrpSpPr/>
          <p:nvPr/>
        </p:nvGrpSpPr>
        <p:grpSpPr>
          <a:xfrm rot="0">
            <a:off x="831103" y="2121837"/>
            <a:ext cx="17007840" cy="767239"/>
            <a:chOff x="0" y="0"/>
            <a:chExt cx="22677120" cy="1022985"/>
          </a:xfrm>
        </p:grpSpPr>
        <p:sp>
          <p:nvSpPr>
            <p:cNvPr name="Freeform 23" id="23"/>
            <p:cNvSpPr/>
            <p:nvPr/>
          </p:nvSpPr>
          <p:spPr>
            <a:xfrm flipH="false" flipV="false" rot="0">
              <a:off x="0" y="0"/>
              <a:ext cx="22677120" cy="1022985"/>
            </a:xfrm>
            <a:custGeom>
              <a:avLst/>
              <a:gdLst/>
              <a:ahLst/>
              <a:cxnLst/>
              <a:rect r="r" b="b" t="t" l="l"/>
              <a:pathLst>
                <a:path h="1022985" w="22677120">
                  <a:moveTo>
                    <a:pt x="0" y="0"/>
                  </a:moveTo>
                  <a:lnTo>
                    <a:pt x="22677120" y="0"/>
                  </a:lnTo>
                  <a:lnTo>
                    <a:pt x="22677120" y="1022985"/>
                  </a:lnTo>
                  <a:lnTo>
                    <a:pt x="0" y="1022985"/>
                  </a:lnTo>
                  <a:close/>
                </a:path>
              </a:pathLst>
            </a:custGeom>
            <a:blipFill>
              <a:blip r:embed="rId8">
                <a:alphaModFix amt="0"/>
              </a:blip>
              <a:stretch>
                <a:fillRect l="0" t="-381936" r="0" b="-381936"/>
              </a:stretch>
            </a:blipFill>
          </p:spPr>
        </p:sp>
        <p:sp>
          <p:nvSpPr>
            <p:cNvPr name="TextBox 24" id="24"/>
            <p:cNvSpPr txBox="true"/>
            <p:nvPr/>
          </p:nvSpPr>
          <p:spPr>
            <a:xfrm>
              <a:off x="0" y="-47625"/>
              <a:ext cx="22677120" cy="107061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Son las habilidades que permiten trabajar bien bajo presión, colaborar en equipo y mantener la calidad operativa:</a:t>
              </a:r>
            </a:p>
          </p:txBody>
        </p:sp>
      </p:grpSp>
      <p:sp>
        <p:nvSpPr>
          <p:cNvPr name="Freeform 25" id="25"/>
          <p:cNvSpPr/>
          <p:nvPr/>
        </p:nvSpPr>
        <p:spPr>
          <a:xfrm flipH="false" flipV="false" rot="0">
            <a:off x="1498693" y="3369769"/>
            <a:ext cx="4929372" cy="698019"/>
          </a:xfrm>
          <a:custGeom>
            <a:avLst/>
            <a:gdLst/>
            <a:ahLst/>
            <a:cxnLst/>
            <a:rect r="r" b="b" t="t" l="l"/>
            <a:pathLst>
              <a:path h="698019" w="4929372">
                <a:moveTo>
                  <a:pt x="0" y="0"/>
                </a:moveTo>
                <a:lnTo>
                  <a:pt x="4929372" y="0"/>
                </a:lnTo>
                <a:lnTo>
                  <a:pt x="4929372" y="698019"/>
                </a:lnTo>
                <a:lnTo>
                  <a:pt x="0" y="6980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509863" y="3380939"/>
            <a:ext cx="4907083" cy="675729"/>
            <a:chOff x="0" y="0"/>
            <a:chExt cx="7437120" cy="1024128"/>
          </a:xfrm>
        </p:grpSpPr>
        <p:sp>
          <p:nvSpPr>
            <p:cNvPr name="Freeform 27" id="27"/>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28" id="28"/>
          <p:cNvGrpSpPr/>
          <p:nvPr/>
        </p:nvGrpSpPr>
        <p:grpSpPr>
          <a:xfrm rot="0">
            <a:off x="1509863" y="3355800"/>
            <a:ext cx="4907083" cy="700868"/>
            <a:chOff x="0" y="0"/>
            <a:chExt cx="7437120" cy="1062228"/>
          </a:xfrm>
        </p:grpSpPr>
        <p:sp>
          <p:nvSpPr>
            <p:cNvPr name="Freeform 29" id="29"/>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30" id="30"/>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Pensamiento analítico y lógico</a:t>
              </a:r>
            </a:p>
          </p:txBody>
        </p:sp>
      </p:grpSp>
      <p:sp>
        <p:nvSpPr>
          <p:cNvPr name="Freeform 31" id="31"/>
          <p:cNvSpPr/>
          <p:nvPr/>
        </p:nvSpPr>
        <p:spPr>
          <a:xfrm flipH="false" flipV="false" rot="0">
            <a:off x="1498693" y="4077676"/>
            <a:ext cx="4929372" cy="1920768"/>
          </a:xfrm>
          <a:custGeom>
            <a:avLst/>
            <a:gdLst/>
            <a:ahLst/>
            <a:cxnLst/>
            <a:rect r="r" b="b" t="t" l="l"/>
            <a:pathLst>
              <a:path h="1920768" w="4929372">
                <a:moveTo>
                  <a:pt x="0" y="0"/>
                </a:moveTo>
                <a:lnTo>
                  <a:pt x="4929372" y="0"/>
                </a:lnTo>
                <a:lnTo>
                  <a:pt x="4929372"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727066" y="4263757"/>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Identificar patrones, detectar falsos positivos y entender el contexto de una alerta. Sin esto, se pierde tiempo en ruido operativo.</a:t>
            </a:r>
          </a:p>
        </p:txBody>
      </p:sp>
      <p:sp>
        <p:nvSpPr>
          <p:cNvPr name="Freeform 33" id="33"/>
          <p:cNvSpPr/>
          <p:nvPr/>
        </p:nvSpPr>
        <p:spPr>
          <a:xfrm flipH="false" flipV="false" rot="0">
            <a:off x="6679285" y="3369769"/>
            <a:ext cx="4929372" cy="698019"/>
          </a:xfrm>
          <a:custGeom>
            <a:avLst/>
            <a:gdLst/>
            <a:ahLst/>
            <a:cxnLst/>
            <a:rect r="r" b="b" t="t" l="l"/>
            <a:pathLst>
              <a:path h="698019" w="4929372">
                <a:moveTo>
                  <a:pt x="0" y="0"/>
                </a:moveTo>
                <a:lnTo>
                  <a:pt x="4929373" y="0"/>
                </a:lnTo>
                <a:lnTo>
                  <a:pt x="4929373" y="698019"/>
                </a:lnTo>
                <a:lnTo>
                  <a:pt x="0" y="6980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690455" y="3380939"/>
            <a:ext cx="4907083" cy="675729"/>
            <a:chOff x="0" y="0"/>
            <a:chExt cx="7437120" cy="1024128"/>
          </a:xfrm>
        </p:grpSpPr>
        <p:sp>
          <p:nvSpPr>
            <p:cNvPr name="Freeform 35" id="35"/>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36" id="36"/>
          <p:cNvGrpSpPr/>
          <p:nvPr/>
        </p:nvGrpSpPr>
        <p:grpSpPr>
          <a:xfrm rot="0">
            <a:off x="6690455" y="3355800"/>
            <a:ext cx="4907083" cy="700868"/>
            <a:chOff x="0" y="0"/>
            <a:chExt cx="7437120" cy="1062228"/>
          </a:xfrm>
        </p:grpSpPr>
        <p:sp>
          <p:nvSpPr>
            <p:cNvPr name="Freeform 37" id="37"/>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38" id="38"/>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Comunicación clara y profesional</a:t>
              </a:r>
            </a:p>
          </p:txBody>
        </p:sp>
      </p:grpSp>
      <p:sp>
        <p:nvSpPr>
          <p:cNvPr name="Freeform 39" id="39"/>
          <p:cNvSpPr/>
          <p:nvPr/>
        </p:nvSpPr>
        <p:spPr>
          <a:xfrm flipH="false" flipV="false" rot="0">
            <a:off x="6679285" y="4077676"/>
            <a:ext cx="4929372" cy="1920768"/>
          </a:xfrm>
          <a:custGeom>
            <a:avLst/>
            <a:gdLst/>
            <a:ahLst/>
            <a:cxnLst/>
            <a:rect r="r" b="b" t="t" l="l"/>
            <a:pathLst>
              <a:path h="1920768" w="4929372">
                <a:moveTo>
                  <a:pt x="0" y="0"/>
                </a:moveTo>
                <a:lnTo>
                  <a:pt x="4929373" y="0"/>
                </a:lnTo>
                <a:lnTo>
                  <a:pt x="4929373"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907658" y="4263757"/>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Tanto escrita (reportes y tickets) como verbal (traspasos de turno y reuniones). Un análisis brillante pierde valor si no se comunica bien.</a:t>
            </a:r>
          </a:p>
        </p:txBody>
      </p:sp>
      <p:sp>
        <p:nvSpPr>
          <p:cNvPr name="Freeform 41" id="41"/>
          <p:cNvSpPr/>
          <p:nvPr/>
        </p:nvSpPr>
        <p:spPr>
          <a:xfrm flipH="false" flipV="false" rot="0">
            <a:off x="11859877" y="3369769"/>
            <a:ext cx="4929372" cy="698019"/>
          </a:xfrm>
          <a:custGeom>
            <a:avLst/>
            <a:gdLst/>
            <a:ahLst/>
            <a:cxnLst/>
            <a:rect r="r" b="b" t="t" l="l"/>
            <a:pathLst>
              <a:path h="698019" w="4929372">
                <a:moveTo>
                  <a:pt x="0" y="0"/>
                </a:moveTo>
                <a:lnTo>
                  <a:pt x="4929373" y="0"/>
                </a:lnTo>
                <a:lnTo>
                  <a:pt x="4929373" y="698019"/>
                </a:lnTo>
                <a:lnTo>
                  <a:pt x="0" y="69801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1871047" y="3380939"/>
            <a:ext cx="4907083" cy="675729"/>
            <a:chOff x="0" y="0"/>
            <a:chExt cx="7437120" cy="1024128"/>
          </a:xfrm>
        </p:grpSpPr>
        <p:sp>
          <p:nvSpPr>
            <p:cNvPr name="Freeform 43" id="43"/>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44" id="44"/>
          <p:cNvGrpSpPr/>
          <p:nvPr/>
        </p:nvGrpSpPr>
        <p:grpSpPr>
          <a:xfrm rot="0">
            <a:off x="11871047" y="3355800"/>
            <a:ext cx="4907083" cy="700868"/>
            <a:chOff x="0" y="0"/>
            <a:chExt cx="7437120" cy="1062228"/>
          </a:xfrm>
        </p:grpSpPr>
        <p:sp>
          <p:nvSpPr>
            <p:cNvPr name="Freeform 45" id="45"/>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46" id="46"/>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Capacidad de priorizar</a:t>
              </a:r>
            </a:p>
          </p:txBody>
        </p:sp>
      </p:grpSp>
      <p:sp>
        <p:nvSpPr>
          <p:cNvPr name="Freeform 47" id="47"/>
          <p:cNvSpPr/>
          <p:nvPr/>
        </p:nvSpPr>
        <p:spPr>
          <a:xfrm flipH="false" flipV="false" rot="0">
            <a:off x="11859877" y="4077676"/>
            <a:ext cx="4929372" cy="1920768"/>
          </a:xfrm>
          <a:custGeom>
            <a:avLst/>
            <a:gdLst/>
            <a:ahLst/>
            <a:cxnLst/>
            <a:rect r="r" b="b" t="t" l="l"/>
            <a:pathLst>
              <a:path h="1920768" w="4929372">
                <a:moveTo>
                  <a:pt x="0" y="0"/>
                </a:moveTo>
                <a:lnTo>
                  <a:pt x="4929373" y="0"/>
                </a:lnTo>
                <a:lnTo>
                  <a:pt x="4929373"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088250" y="4263757"/>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Enfocarse en lo importante cuando hay múltiples alertas simultáneas. Saber qué revisar primero puede hacer la diferencia ante un incidente real.</a:t>
            </a:r>
          </a:p>
        </p:txBody>
      </p:sp>
      <p:sp>
        <p:nvSpPr>
          <p:cNvPr name="Freeform 49" id="49"/>
          <p:cNvSpPr/>
          <p:nvPr/>
        </p:nvSpPr>
        <p:spPr>
          <a:xfrm flipH="false" flipV="false" rot="0">
            <a:off x="1498693" y="6104864"/>
            <a:ext cx="4929372" cy="698019"/>
          </a:xfrm>
          <a:custGeom>
            <a:avLst/>
            <a:gdLst/>
            <a:ahLst/>
            <a:cxnLst/>
            <a:rect r="r" b="b" t="t" l="l"/>
            <a:pathLst>
              <a:path h="698019" w="4929372">
                <a:moveTo>
                  <a:pt x="0" y="0"/>
                </a:moveTo>
                <a:lnTo>
                  <a:pt x="4929372" y="0"/>
                </a:lnTo>
                <a:lnTo>
                  <a:pt x="4929372" y="698019"/>
                </a:lnTo>
                <a:lnTo>
                  <a:pt x="0" y="69801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509863" y="6116034"/>
            <a:ext cx="4907083" cy="675729"/>
            <a:chOff x="0" y="0"/>
            <a:chExt cx="7437120" cy="1024128"/>
          </a:xfrm>
        </p:grpSpPr>
        <p:sp>
          <p:nvSpPr>
            <p:cNvPr name="Freeform 51" id="51"/>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52" id="52"/>
          <p:cNvGrpSpPr/>
          <p:nvPr/>
        </p:nvGrpSpPr>
        <p:grpSpPr>
          <a:xfrm rot="0">
            <a:off x="1509863" y="6090896"/>
            <a:ext cx="4907083" cy="700868"/>
            <a:chOff x="0" y="0"/>
            <a:chExt cx="7437120" cy="1062228"/>
          </a:xfrm>
        </p:grpSpPr>
        <p:sp>
          <p:nvSpPr>
            <p:cNvPr name="Freeform 53" id="53"/>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54" id="54"/>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Atención al detalle</a:t>
              </a:r>
            </a:p>
          </p:txBody>
        </p:sp>
      </p:grpSp>
      <p:sp>
        <p:nvSpPr>
          <p:cNvPr name="Freeform 55" id="55"/>
          <p:cNvSpPr/>
          <p:nvPr/>
        </p:nvSpPr>
        <p:spPr>
          <a:xfrm flipH="false" flipV="false" rot="0">
            <a:off x="1498693" y="6812771"/>
            <a:ext cx="4929372" cy="1920768"/>
          </a:xfrm>
          <a:custGeom>
            <a:avLst/>
            <a:gdLst/>
            <a:ahLst/>
            <a:cxnLst/>
            <a:rect r="r" b="b" t="t" l="l"/>
            <a:pathLst>
              <a:path h="1920768" w="4929372">
                <a:moveTo>
                  <a:pt x="0" y="0"/>
                </a:moveTo>
                <a:lnTo>
                  <a:pt x="4929372" y="0"/>
                </a:lnTo>
                <a:lnTo>
                  <a:pt x="4929372"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727066" y="6998852"/>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Una pequeña omisión puede cambiar completamente el análisis de un incidente. Los detalles importan siempre.</a:t>
            </a:r>
          </a:p>
        </p:txBody>
      </p:sp>
      <p:sp>
        <p:nvSpPr>
          <p:cNvPr name="Freeform 57" id="57"/>
          <p:cNvSpPr/>
          <p:nvPr/>
        </p:nvSpPr>
        <p:spPr>
          <a:xfrm flipH="false" flipV="false" rot="0">
            <a:off x="6679285" y="6104864"/>
            <a:ext cx="4929372" cy="698019"/>
          </a:xfrm>
          <a:custGeom>
            <a:avLst/>
            <a:gdLst/>
            <a:ahLst/>
            <a:cxnLst/>
            <a:rect r="r" b="b" t="t" l="l"/>
            <a:pathLst>
              <a:path h="698019" w="4929372">
                <a:moveTo>
                  <a:pt x="0" y="0"/>
                </a:moveTo>
                <a:lnTo>
                  <a:pt x="4929373" y="0"/>
                </a:lnTo>
                <a:lnTo>
                  <a:pt x="4929373" y="698019"/>
                </a:lnTo>
                <a:lnTo>
                  <a:pt x="0" y="69801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6690455" y="6116034"/>
            <a:ext cx="4907083" cy="675729"/>
            <a:chOff x="0" y="0"/>
            <a:chExt cx="7437120" cy="1024128"/>
          </a:xfrm>
        </p:grpSpPr>
        <p:sp>
          <p:nvSpPr>
            <p:cNvPr name="Freeform 59" id="59"/>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60" id="60"/>
          <p:cNvGrpSpPr/>
          <p:nvPr/>
        </p:nvGrpSpPr>
        <p:grpSpPr>
          <a:xfrm rot="0">
            <a:off x="6690455" y="6090896"/>
            <a:ext cx="4907083" cy="700868"/>
            <a:chOff x="0" y="0"/>
            <a:chExt cx="7437120" cy="1062228"/>
          </a:xfrm>
        </p:grpSpPr>
        <p:sp>
          <p:nvSpPr>
            <p:cNvPr name="Freeform 61" id="61"/>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62" id="62"/>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Gestión del tiempo y autocontrol</a:t>
              </a:r>
            </a:p>
          </p:txBody>
        </p:sp>
      </p:grpSp>
      <p:sp>
        <p:nvSpPr>
          <p:cNvPr name="Freeform 63" id="63"/>
          <p:cNvSpPr/>
          <p:nvPr/>
        </p:nvSpPr>
        <p:spPr>
          <a:xfrm flipH="false" flipV="false" rot="0">
            <a:off x="6679285" y="6812771"/>
            <a:ext cx="4929372" cy="1920768"/>
          </a:xfrm>
          <a:custGeom>
            <a:avLst/>
            <a:gdLst/>
            <a:ahLst/>
            <a:cxnLst/>
            <a:rect r="r" b="b" t="t" l="l"/>
            <a:pathLst>
              <a:path h="1920768" w="4929372">
                <a:moveTo>
                  <a:pt x="0" y="0"/>
                </a:moveTo>
                <a:lnTo>
                  <a:pt x="4929373" y="0"/>
                </a:lnTo>
                <a:lnTo>
                  <a:pt x="4929373"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907658" y="6998852"/>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Trabajar en turnos, bajo presión y sin perder la concentración. La fatiga operativa es real y hay que gestionarla conscientemente.</a:t>
            </a:r>
          </a:p>
        </p:txBody>
      </p:sp>
      <p:sp>
        <p:nvSpPr>
          <p:cNvPr name="Freeform 65" id="65"/>
          <p:cNvSpPr/>
          <p:nvPr/>
        </p:nvSpPr>
        <p:spPr>
          <a:xfrm flipH="false" flipV="false" rot="0">
            <a:off x="11859877" y="6104864"/>
            <a:ext cx="4929372" cy="698019"/>
          </a:xfrm>
          <a:custGeom>
            <a:avLst/>
            <a:gdLst/>
            <a:ahLst/>
            <a:cxnLst/>
            <a:rect r="r" b="b" t="t" l="l"/>
            <a:pathLst>
              <a:path h="698019" w="4929372">
                <a:moveTo>
                  <a:pt x="0" y="0"/>
                </a:moveTo>
                <a:lnTo>
                  <a:pt x="4929373" y="0"/>
                </a:lnTo>
                <a:lnTo>
                  <a:pt x="4929373" y="698019"/>
                </a:lnTo>
                <a:lnTo>
                  <a:pt x="0" y="69801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6" id="66"/>
          <p:cNvGrpSpPr/>
          <p:nvPr/>
        </p:nvGrpSpPr>
        <p:grpSpPr>
          <a:xfrm rot="0">
            <a:off x="11871047" y="6116034"/>
            <a:ext cx="4907083" cy="675729"/>
            <a:chOff x="0" y="0"/>
            <a:chExt cx="7437120" cy="1024128"/>
          </a:xfrm>
        </p:grpSpPr>
        <p:sp>
          <p:nvSpPr>
            <p:cNvPr name="Freeform 67" id="67"/>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7">
                <a:alphaModFix amt="0"/>
              </a:blip>
              <a:stretch>
                <a:fillRect l="0" t="-91400" r="0" b="-91400"/>
              </a:stretch>
            </a:blipFill>
          </p:spPr>
        </p:sp>
      </p:grpSp>
      <p:grpSp>
        <p:nvGrpSpPr>
          <p:cNvPr name="Group 68" id="68"/>
          <p:cNvGrpSpPr/>
          <p:nvPr/>
        </p:nvGrpSpPr>
        <p:grpSpPr>
          <a:xfrm rot="0">
            <a:off x="11871047" y="6090896"/>
            <a:ext cx="4907083" cy="700868"/>
            <a:chOff x="0" y="0"/>
            <a:chExt cx="7437120" cy="1062228"/>
          </a:xfrm>
        </p:grpSpPr>
        <p:sp>
          <p:nvSpPr>
            <p:cNvPr name="Freeform 69" id="69"/>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8">
                <a:alphaModFix amt="0"/>
              </a:blip>
              <a:stretch>
                <a:fillRect l="0" t="-86423" r="0" b="-86423"/>
              </a:stretch>
            </a:blipFill>
          </p:spPr>
        </p:sp>
        <p:sp>
          <p:nvSpPr>
            <p:cNvPr name="TextBox 70" id="70"/>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  Ética y responsabilidad profesional</a:t>
              </a:r>
            </a:p>
          </p:txBody>
        </p:sp>
      </p:grpSp>
      <p:sp>
        <p:nvSpPr>
          <p:cNvPr name="Freeform 71" id="71"/>
          <p:cNvSpPr/>
          <p:nvPr/>
        </p:nvSpPr>
        <p:spPr>
          <a:xfrm flipH="false" flipV="false" rot="0">
            <a:off x="11859877" y="6812771"/>
            <a:ext cx="4929372" cy="1920768"/>
          </a:xfrm>
          <a:custGeom>
            <a:avLst/>
            <a:gdLst/>
            <a:ahLst/>
            <a:cxnLst/>
            <a:rect r="r" b="b" t="t" l="l"/>
            <a:pathLst>
              <a:path h="1920768" w="4929372">
                <a:moveTo>
                  <a:pt x="0" y="0"/>
                </a:moveTo>
                <a:lnTo>
                  <a:pt x="4929373" y="0"/>
                </a:lnTo>
                <a:lnTo>
                  <a:pt x="4929373" y="1920768"/>
                </a:lnTo>
                <a:lnTo>
                  <a:pt x="0" y="1920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2" id="72"/>
          <p:cNvSpPr txBox="true"/>
          <p:nvPr/>
        </p:nvSpPr>
        <p:spPr>
          <a:xfrm rot="0">
            <a:off x="12088250" y="6998852"/>
            <a:ext cx="4472685" cy="923441"/>
          </a:xfrm>
          <a:prstGeom prst="rect">
            <a:avLst/>
          </a:prstGeom>
        </p:spPr>
        <p:txBody>
          <a:bodyPr anchor="t" rtlCol="false" tIns="0" lIns="0" bIns="0" rIns="0">
            <a:spAutoFit/>
          </a:bodyPr>
          <a:lstStyle/>
          <a:p>
            <a:pPr algn="l">
              <a:lnSpc>
                <a:spcPts val="2422"/>
              </a:lnSpc>
            </a:pPr>
            <a:r>
              <a:rPr lang="en-US" sz="1670">
                <a:solidFill>
                  <a:srgbClr val="333333"/>
                </a:solidFill>
                <a:latin typeface="Calibri (MS)"/>
                <a:ea typeface="Calibri (MS)"/>
                <a:cs typeface="Calibri (MS)"/>
                <a:sym typeface="Calibri (MS)"/>
              </a:rPr>
              <a:t>Por el acceso a información crítica y la necesidad de mantener confidencialidad. Este punto se desarrolla en profundidad en la Sección 1.5.</a:t>
            </a:r>
          </a:p>
        </p:txBody>
      </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p.29</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1.3  |  Herramientas del SOC Moderno: qué hacen y cuándo usarlas</a:t>
              </a:r>
            </a:p>
          </p:txBody>
        </p:sp>
      </p:grpSp>
      <p:grpSp>
        <p:nvGrpSpPr>
          <p:cNvPr name="Group 20" id="20"/>
          <p:cNvGrpSpPr/>
          <p:nvPr/>
        </p:nvGrpSpPr>
        <p:grpSpPr>
          <a:xfrm rot="0">
            <a:off x="640080" y="1773936"/>
            <a:ext cx="17007840" cy="877824"/>
            <a:chOff x="0" y="0"/>
            <a:chExt cx="22677120" cy="1170432"/>
          </a:xfrm>
        </p:grpSpPr>
        <p:sp>
          <p:nvSpPr>
            <p:cNvPr name="Freeform 21" id="21"/>
            <p:cNvSpPr/>
            <p:nvPr/>
          </p:nvSpPr>
          <p:spPr>
            <a:xfrm flipH="false" flipV="false" rot="0">
              <a:off x="0" y="0"/>
              <a:ext cx="22677120" cy="1170432"/>
            </a:xfrm>
            <a:custGeom>
              <a:avLst/>
              <a:gdLst/>
              <a:ahLst/>
              <a:cxnLst/>
              <a:rect r="r" b="b" t="t" l="l"/>
              <a:pathLst>
                <a:path h="1170432" w="22677120">
                  <a:moveTo>
                    <a:pt x="0" y="0"/>
                  </a:moveTo>
                  <a:lnTo>
                    <a:pt x="22677120" y="0"/>
                  </a:lnTo>
                  <a:lnTo>
                    <a:pt x="22677120" y="1170432"/>
                  </a:lnTo>
                  <a:lnTo>
                    <a:pt x="0" y="1170432"/>
                  </a:lnTo>
                  <a:close/>
                </a:path>
              </a:pathLst>
            </a:custGeom>
            <a:blipFill>
              <a:blip r:embed="rId7">
                <a:alphaModFix amt="0"/>
              </a:blip>
              <a:stretch>
                <a:fillRect l="0" t="-327260" r="0" b="-327260"/>
              </a:stretch>
            </a:blipFill>
          </p:spPr>
        </p:sp>
      </p:grpSp>
      <p:grpSp>
        <p:nvGrpSpPr>
          <p:cNvPr name="Group 22" id="22"/>
          <p:cNvGrpSpPr/>
          <p:nvPr/>
        </p:nvGrpSpPr>
        <p:grpSpPr>
          <a:xfrm rot="0">
            <a:off x="664912" y="1988612"/>
            <a:ext cx="17007840" cy="913543"/>
            <a:chOff x="0" y="0"/>
            <a:chExt cx="22677120" cy="1218057"/>
          </a:xfrm>
        </p:grpSpPr>
        <p:sp>
          <p:nvSpPr>
            <p:cNvPr name="Freeform 23" id="23"/>
            <p:cNvSpPr/>
            <p:nvPr/>
          </p:nvSpPr>
          <p:spPr>
            <a:xfrm flipH="false" flipV="false" rot="0">
              <a:off x="0" y="0"/>
              <a:ext cx="22677120" cy="1218057"/>
            </a:xfrm>
            <a:custGeom>
              <a:avLst/>
              <a:gdLst/>
              <a:ahLst/>
              <a:cxnLst/>
              <a:rect r="r" b="b" t="t" l="l"/>
              <a:pathLst>
                <a:path h="1218057" w="22677120">
                  <a:moveTo>
                    <a:pt x="0" y="0"/>
                  </a:moveTo>
                  <a:lnTo>
                    <a:pt x="22677120" y="0"/>
                  </a:lnTo>
                  <a:lnTo>
                    <a:pt x="22677120" y="1218057"/>
                  </a:lnTo>
                  <a:lnTo>
                    <a:pt x="0" y="1218057"/>
                  </a:lnTo>
                  <a:close/>
                </a:path>
              </a:pathLst>
            </a:custGeom>
            <a:blipFill>
              <a:blip r:embed="rId8">
                <a:alphaModFix amt="0"/>
              </a:blip>
              <a:stretch>
                <a:fillRect l="0" t="-312761" r="0" b="-312761"/>
              </a:stretch>
            </a:blipFill>
          </p:spPr>
        </p:sp>
        <p:sp>
          <p:nvSpPr>
            <p:cNvPr name="TextBox 24" id="24"/>
            <p:cNvSpPr txBox="true"/>
            <p:nvPr/>
          </p:nvSpPr>
          <p:spPr>
            <a:xfrm>
              <a:off x="0" y="-47625"/>
              <a:ext cx="22677120" cy="1265682"/>
            </a:xfrm>
            <a:prstGeom prst="rect">
              <a:avLst/>
            </a:prstGeom>
          </p:spPr>
          <p:txBody>
            <a:bodyPr anchor="ctr" rtlCol="false" tIns="0" lIns="0" bIns="0" rIns="0"/>
            <a:lstStyle/>
            <a:p>
              <a:pPr algn="l">
                <a:lnSpc>
                  <a:spcPts val="2520"/>
                </a:lnSpc>
              </a:pPr>
              <a:r>
                <a:rPr lang="en-US" sz="2100">
                  <a:solidFill>
                    <a:srgbClr val="111111"/>
                  </a:solidFill>
                  <a:latin typeface="Calibri (MS)"/>
                  <a:ea typeface="Calibri (MS)"/>
                  <a:cs typeface="Calibri (MS)"/>
                  <a:sym typeface="Calibri (MS)"/>
                </a:rPr>
                <a:t>No se trata de saber configurarlas todas, sino de entender </a:t>
              </a:r>
              <a:r>
                <a:rPr lang="en-US" sz="2100" b="true">
                  <a:solidFill>
                    <a:srgbClr val="111111"/>
                  </a:solidFill>
                  <a:latin typeface="Calibri (MS) Bold"/>
                  <a:ea typeface="Calibri (MS) Bold"/>
                  <a:cs typeface="Calibri (MS) Bold"/>
                  <a:sym typeface="Calibri (MS) Bold"/>
                </a:rPr>
                <a:t>qué aporta cada una, cuándo acudir a ella y qué no puede decirte por sí sola</a:t>
              </a:r>
              <a:r>
                <a:rPr lang="en-US" sz="2100">
                  <a:solidFill>
                    <a:srgbClr val="111111"/>
                  </a:solidFill>
                  <a:latin typeface="Calibri (MS)"/>
                  <a:ea typeface="Calibri (MS)"/>
                  <a:cs typeface="Calibri (MS)"/>
                  <a:sym typeface="Calibri (MS)"/>
                </a:rPr>
                <a:t>. A lo largo del curso se profundizará en cada una.</a:t>
              </a:r>
            </a:p>
          </p:txBody>
        </p:sp>
      </p:grpSp>
      <p:sp>
        <p:nvSpPr>
          <p:cNvPr name="Freeform 25" id="25"/>
          <p:cNvSpPr/>
          <p:nvPr/>
        </p:nvSpPr>
        <p:spPr>
          <a:xfrm flipH="false" flipV="false" rot="0">
            <a:off x="1285418" y="3164163"/>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296900" y="3175645"/>
            <a:ext cx="5043990" cy="826884"/>
            <a:chOff x="0" y="0"/>
            <a:chExt cx="7437120" cy="1219200"/>
          </a:xfrm>
        </p:grpSpPr>
        <p:sp>
          <p:nvSpPr>
            <p:cNvPr name="Freeform 27" id="27"/>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28" id="28"/>
          <p:cNvGrpSpPr/>
          <p:nvPr/>
        </p:nvGrpSpPr>
        <p:grpSpPr>
          <a:xfrm rot="0">
            <a:off x="1296900" y="3149805"/>
            <a:ext cx="5043990" cy="852724"/>
            <a:chOff x="0" y="0"/>
            <a:chExt cx="7437120" cy="1257300"/>
          </a:xfrm>
        </p:grpSpPr>
        <p:sp>
          <p:nvSpPr>
            <p:cNvPr name="Freeform 29" id="29"/>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30" id="30"/>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SIEM  ·  Security Information</a:t>
              </a:r>
            </a:p>
            <a:p>
              <a:pPr algn="ctr">
                <a:lnSpc>
                  <a:spcPts val="2279"/>
                </a:lnSpc>
              </a:pPr>
              <a:r>
                <a:rPr lang="en-US" sz="1899" b="true">
                  <a:solidFill>
                    <a:srgbClr val="FFFFFF"/>
                  </a:solidFill>
                  <a:latin typeface="Calibri (MS) Bold"/>
                  <a:ea typeface="Calibri (MS) Bold"/>
                  <a:cs typeface="Calibri (MS) Bold"/>
                  <a:sym typeface="Calibri (MS) Bold"/>
                </a:rPr>
                <a:t>and Event Management</a:t>
              </a:r>
            </a:p>
          </p:txBody>
        </p:sp>
      </p:grpSp>
      <p:sp>
        <p:nvSpPr>
          <p:cNvPr name="Freeform 31" id="31"/>
          <p:cNvSpPr/>
          <p:nvPr/>
        </p:nvSpPr>
        <p:spPr>
          <a:xfrm flipH="false" flipV="false" rot="0">
            <a:off x="1285418" y="4024122"/>
            <a:ext cx="5066902" cy="1891669"/>
          </a:xfrm>
          <a:custGeom>
            <a:avLst/>
            <a:gdLst/>
            <a:ahLst/>
            <a:cxnLst/>
            <a:rect r="r" b="b" t="t" l="l"/>
            <a:pathLst>
              <a:path h="1891669" w="5066902">
                <a:moveTo>
                  <a:pt x="0" y="0"/>
                </a:moveTo>
                <a:lnTo>
                  <a:pt x="5066902" y="0"/>
                </a:lnTo>
                <a:lnTo>
                  <a:pt x="5066902" y="1891669"/>
                </a:lnTo>
                <a:lnTo>
                  <a:pt x="0" y="18916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544965" y="4113146"/>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Corazón visual y analítico del SOC. Recibe, almacena, correlaciona y visualiza logs de múltiples fuentes. El analista L1 monitorea alertas, analiza eventos y filtra falsos positivos desde el SIEM.</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Splunk, QRadar, Microsoft Sentinel</a:t>
            </a:r>
          </a:p>
        </p:txBody>
      </p:sp>
      <p:sp>
        <p:nvSpPr>
          <p:cNvPr name="Freeform 33" id="33"/>
          <p:cNvSpPr/>
          <p:nvPr/>
        </p:nvSpPr>
        <p:spPr>
          <a:xfrm flipH="false" flipV="false" rot="0">
            <a:off x="6610549" y="3164163"/>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622031" y="3175645"/>
            <a:ext cx="5043990" cy="826884"/>
            <a:chOff x="0" y="0"/>
            <a:chExt cx="7437120" cy="1219200"/>
          </a:xfrm>
        </p:grpSpPr>
        <p:sp>
          <p:nvSpPr>
            <p:cNvPr name="Freeform 35" id="35"/>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36" id="36"/>
          <p:cNvGrpSpPr/>
          <p:nvPr/>
        </p:nvGrpSpPr>
        <p:grpSpPr>
          <a:xfrm rot="0">
            <a:off x="6622031" y="3149805"/>
            <a:ext cx="5043990" cy="852724"/>
            <a:chOff x="0" y="0"/>
            <a:chExt cx="7437120" cy="1257300"/>
          </a:xfrm>
        </p:grpSpPr>
        <p:sp>
          <p:nvSpPr>
            <p:cNvPr name="Freeform 37" id="37"/>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38" id="38"/>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SOAR  ·  Security Orchestration</a:t>
              </a:r>
            </a:p>
            <a:p>
              <a:pPr algn="ctr">
                <a:lnSpc>
                  <a:spcPts val="2279"/>
                </a:lnSpc>
              </a:pPr>
              <a:r>
                <a:rPr lang="en-US" sz="1899" b="true">
                  <a:solidFill>
                    <a:srgbClr val="FFFFFF"/>
                  </a:solidFill>
                  <a:latin typeface="Calibri (MS) Bold"/>
                  <a:ea typeface="Calibri (MS) Bold"/>
                  <a:cs typeface="Calibri (MS) Bold"/>
                  <a:sym typeface="Calibri (MS) Bold"/>
                </a:rPr>
                <a:t>Automation &amp; Response</a:t>
              </a:r>
            </a:p>
          </p:txBody>
        </p:sp>
      </p:grpSp>
      <p:sp>
        <p:nvSpPr>
          <p:cNvPr name="Freeform 39" id="39"/>
          <p:cNvSpPr/>
          <p:nvPr/>
        </p:nvSpPr>
        <p:spPr>
          <a:xfrm flipH="false" flipV="false" rot="0">
            <a:off x="6610549" y="4024122"/>
            <a:ext cx="5066902" cy="1891669"/>
          </a:xfrm>
          <a:custGeom>
            <a:avLst/>
            <a:gdLst/>
            <a:ahLst/>
            <a:cxnLst/>
            <a:rect r="r" b="b" t="t" l="l"/>
            <a:pathLst>
              <a:path h="1891669" w="5066902">
                <a:moveTo>
                  <a:pt x="0" y="0"/>
                </a:moveTo>
                <a:lnTo>
                  <a:pt x="5066902" y="0"/>
                </a:lnTo>
                <a:lnTo>
                  <a:pt x="5066902" y="1891669"/>
                </a:lnTo>
                <a:lnTo>
                  <a:pt x="0" y="18916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870096" y="4113146"/>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Coordina, automatiza y centraliza la respuesta a incidentes. Permite ejecutar playbooks automáticos e integrar múltiples herramientas desde una misma plataforma.</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Splunk SOAR, Palo Alto XSOAR</a:t>
            </a:r>
          </a:p>
        </p:txBody>
      </p:sp>
      <p:sp>
        <p:nvSpPr>
          <p:cNvPr name="Freeform 41" id="41"/>
          <p:cNvSpPr/>
          <p:nvPr/>
        </p:nvSpPr>
        <p:spPr>
          <a:xfrm flipH="false" flipV="false" rot="0">
            <a:off x="11935680" y="3164163"/>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1947161" y="3175645"/>
            <a:ext cx="5043990" cy="826884"/>
            <a:chOff x="0" y="0"/>
            <a:chExt cx="7437120" cy="1219200"/>
          </a:xfrm>
        </p:grpSpPr>
        <p:sp>
          <p:nvSpPr>
            <p:cNvPr name="Freeform 43" id="43"/>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44" id="44"/>
          <p:cNvGrpSpPr/>
          <p:nvPr/>
        </p:nvGrpSpPr>
        <p:grpSpPr>
          <a:xfrm rot="0">
            <a:off x="11947161" y="3149805"/>
            <a:ext cx="5043990" cy="852724"/>
            <a:chOff x="0" y="0"/>
            <a:chExt cx="7437120" cy="1257300"/>
          </a:xfrm>
        </p:grpSpPr>
        <p:sp>
          <p:nvSpPr>
            <p:cNvPr name="Freeform 45" id="45"/>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46" id="46"/>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EDR  ·  Endpoint Detection</a:t>
              </a:r>
            </a:p>
            <a:p>
              <a:pPr algn="ctr">
                <a:lnSpc>
                  <a:spcPts val="2279"/>
                </a:lnSpc>
              </a:pPr>
              <a:r>
                <a:rPr lang="en-US" sz="1899" b="true">
                  <a:solidFill>
                    <a:srgbClr val="FFFFFF"/>
                  </a:solidFill>
                  <a:latin typeface="Calibri (MS) Bold"/>
                  <a:ea typeface="Calibri (MS) Bold"/>
                  <a:cs typeface="Calibri (MS) Bold"/>
                  <a:sym typeface="Calibri (MS) Bold"/>
                </a:rPr>
                <a:t>&amp; Response</a:t>
              </a:r>
            </a:p>
          </p:txBody>
        </p:sp>
      </p:grpSp>
      <p:sp>
        <p:nvSpPr>
          <p:cNvPr name="Freeform 47" id="47"/>
          <p:cNvSpPr/>
          <p:nvPr/>
        </p:nvSpPr>
        <p:spPr>
          <a:xfrm flipH="false" flipV="false" rot="0">
            <a:off x="11935680" y="4024122"/>
            <a:ext cx="5066902" cy="1891669"/>
          </a:xfrm>
          <a:custGeom>
            <a:avLst/>
            <a:gdLst/>
            <a:ahLst/>
            <a:cxnLst/>
            <a:rect r="r" b="b" t="t" l="l"/>
            <a:pathLst>
              <a:path h="1891669" w="5066902">
                <a:moveTo>
                  <a:pt x="0" y="0"/>
                </a:moveTo>
                <a:lnTo>
                  <a:pt x="5066902" y="0"/>
                </a:lnTo>
                <a:lnTo>
                  <a:pt x="5066902" y="1891669"/>
                </a:lnTo>
                <a:lnTo>
                  <a:pt x="0" y="18916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195227" y="4113146"/>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Monitorea endpoints (computadoras, laptops, servidores). Agrega análisis de comportamiento, respuesta automática y visibilidad profunda sobre procesos, archivos y conexiones.</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CrowdStrike, SentinelOne, Defender</a:t>
            </a:r>
          </a:p>
        </p:txBody>
      </p:sp>
      <p:sp>
        <p:nvSpPr>
          <p:cNvPr name="Freeform 49" id="49"/>
          <p:cNvSpPr/>
          <p:nvPr/>
        </p:nvSpPr>
        <p:spPr>
          <a:xfrm flipH="false" flipV="false" rot="0">
            <a:off x="1285418" y="6025181"/>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296900" y="6036662"/>
            <a:ext cx="5043990" cy="826884"/>
            <a:chOff x="0" y="0"/>
            <a:chExt cx="7437120" cy="1219200"/>
          </a:xfrm>
        </p:grpSpPr>
        <p:sp>
          <p:nvSpPr>
            <p:cNvPr name="Freeform 51" id="51"/>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52" id="52"/>
          <p:cNvGrpSpPr/>
          <p:nvPr/>
        </p:nvGrpSpPr>
        <p:grpSpPr>
          <a:xfrm rot="0">
            <a:off x="1296900" y="6010822"/>
            <a:ext cx="5043990" cy="852724"/>
            <a:chOff x="0" y="0"/>
            <a:chExt cx="7437120" cy="1257300"/>
          </a:xfrm>
        </p:grpSpPr>
        <p:sp>
          <p:nvSpPr>
            <p:cNvPr name="Freeform 53" id="53"/>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54" id="54"/>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IDS/IPS  ·  Intrusion Detection</a:t>
              </a:r>
            </a:p>
            <a:p>
              <a:pPr algn="ctr">
                <a:lnSpc>
                  <a:spcPts val="2279"/>
                </a:lnSpc>
              </a:pPr>
              <a:r>
                <a:rPr lang="en-US" sz="1899" b="true">
                  <a:solidFill>
                    <a:srgbClr val="FFFFFF"/>
                  </a:solidFill>
                  <a:latin typeface="Calibri (MS) Bold"/>
                  <a:ea typeface="Calibri (MS) Bold"/>
                  <a:cs typeface="Calibri (MS) Bold"/>
                  <a:sym typeface="Calibri (MS) Bold"/>
                </a:rPr>
                <a:t>/ Prevention System</a:t>
              </a:r>
            </a:p>
          </p:txBody>
        </p:sp>
      </p:grpSp>
      <p:sp>
        <p:nvSpPr>
          <p:cNvPr name="Freeform 55" id="55"/>
          <p:cNvSpPr/>
          <p:nvPr/>
        </p:nvSpPr>
        <p:spPr>
          <a:xfrm flipH="false" flipV="false" rot="0">
            <a:off x="1285418" y="6885140"/>
            <a:ext cx="5066902" cy="1891669"/>
          </a:xfrm>
          <a:custGeom>
            <a:avLst/>
            <a:gdLst/>
            <a:ahLst/>
            <a:cxnLst/>
            <a:rect r="r" b="b" t="t" l="l"/>
            <a:pathLst>
              <a:path h="1891669" w="5066902">
                <a:moveTo>
                  <a:pt x="0" y="0"/>
                </a:moveTo>
                <a:lnTo>
                  <a:pt x="5066902" y="0"/>
                </a:lnTo>
                <a:lnTo>
                  <a:pt x="5066902" y="1891668"/>
                </a:lnTo>
                <a:lnTo>
                  <a:pt x="0" y="18916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544965" y="6974163"/>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Analiza el tráfico de red en tiempo real. El IDS detecta comportamientos maliciosos (escaneos, exploits); el IPS los bloquea. Sus logs se envían al SIEM.</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Suricata, Snort, Zeek</a:t>
            </a:r>
          </a:p>
        </p:txBody>
      </p:sp>
      <p:sp>
        <p:nvSpPr>
          <p:cNvPr name="Freeform 57" id="57"/>
          <p:cNvSpPr/>
          <p:nvPr/>
        </p:nvSpPr>
        <p:spPr>
          <a:xfrm flipH="false" flipV="false" rot="0">
            <a:off x="6610549" y="6025181"/>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6622031" y="6036662"/>
            <a:ext cx="5043990" cy="826884"/>
            <a:chOff x="0" y="0"/>
            <a:chExt cx="7437120" cy="1219200"/>
          </a:xfrm>
        </p:grpSpPr>
        <p:sp>
          <p:nvSpPr>
            <p:cNvPr name="Freeform 59" id="59"/>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60" id="60"/>
          <p:cNvGrpSpPr/>
          <p:nvPr/>
        </p:nvGrpSpPr>
        <p:grpSpPr>
          <a:xfrm rot="0">
            <a:off x="6622031" y="6010822"/>
            <a:ext cx="5043990" cy="852724"/>
            <a:chOff x="0" y="0"/>
            <a:chExt cx="7437120" cy="1257300"/>
          </a:xfrm>
        </p:grpSpPr>
        <p:sp>
          <p:nvSpPr>
            <p:cNvPr name="Freeform 61" id="61"/>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62" id="62"/>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Firewall  ·  Control de tráfico</a:t>
              </a:r>
            </a:p>
            <a:p>
              <a:pPr algn="ctr">
                <a:lnSpc>
                  <a:spcPts val="2279"/>
                </a:lnSpc>
              </a:pPr>
              <a:r>
                <a:rPr lang="en-US" sz="1899" b="true">
                  <a:solidFill>
                    <a:srgbClr val="FFFFFF"/>
                  </a:solidFill>
                  <a:latin typeface="Calibri (MS) Bold"/>
                  <a:ea typeface="Calibri (MS) Bold"/>
                  <a:cs typeface="Calibri (MS) Bold"/>
                  <a:sym typeface="Calibri (MS) Bold"/>
                </a:rPr>
                <a:t>de red</a:t>
              </a:r>
            </a:p>
          </p:txBody>
        </p:sp>
      </p:grpSp>
      <p:sp>
        <p:nvSpPr>
          <p:cNvPr name="Freeform 63" id="63"/>
          <p:cNvSpPr/>
          <p:nvPr/>
        </p:nvSpPr>
        <p:spPr>
          <a:xfrm flipH="false" flipV="false" rot="0">
            <a:off x="6610549" y="6885140"/>
            <a:ext cx="5066902" cy="1891669"/>
          </a:xfrm>
          <a:custGeom>
            <a:avLst/>
            <a:gdLst/>
            <a:ahLst/>
            <a:cxnLst/>
            <a:rect r="r" b="b" t="t" l="l"/>
            <a:pathLst>
              <a:path h="1891669" w="5066902">
                <a:moveTo>
                  <a:pt x="0" y="0"/>
                </a:moveTo>
                <a:lnTo>
                  <a:pt x="5066902" y="0"/>
                </a:lnTo>
                <a:lnTo>
                  <a:pt x="5066902" y="1891668"/>
                </a:lnTo>
                <a:lnTo>
                  <a:pt x="0" y="18916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870096" y="6974163"/>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Barrera de control entre la red interna y el exterior. Permite o bloquea tráfico según reglas. Genera logs útiles para análisis en el SOC.</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Palo Alto, Fortinet, pfSense</a:t>
            </a:r>
          </a:p>
        </p:txBody>
      </p:sp>
      <p:sp>
        <p:nvSpPr>
          <p:cNvPr name="Freeform 65" id="65"/>
          <p:cNvSpPr/>
          <p:nvPr/>
        </p:nvSpPr>
        <p:spPr>
          <a:xfrm flipH="false" flipV="false" rot="0">
            <a:off x="11935680" y="6025181"/>
            <a:ext cx="5066902" cy="849795"/>
          </a:xfrm>
          <a:custGeom>
            <a:avLst/>
            <a:gdLst/>
            <a:ahLst/>
            <a:cxnLst/>
            <a:rect r="r" b="b" t="t" l="l"/>
            <a:pathLst>
              <a:path h="849795" w="5066902">
                <a:moveTo>
                  <a:pt x="0" y="0"/>
                </a:moveTo>
                <a:lnTo>
                  <a:pt x="5066902" y="0"/>
                </a:lnTo>
                <a:lnTo>
                  <a:pt x="5066902" y="849795"/>
                </a:lnTo>
                <a:lnTo>
                  <a:pt x="0" y="84979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6" id="66"/>
          <p:cNvGrpSpPr/>
          <p:nvPr/>
        </p:nvGrpSpPr>
        <p:grpSpPr>
          <a:xfrm rot="0">
            <a:off x="11947161" y="6036662"/>
            <a:ext cx="5043990" cy="826884"/>
            <a:chOff x="0" y="0"/>
            <a:chExt cx="7437120" cy="1219200"/>
          </a:xfrm>
        </p:grpSpPr>
        <p:sp>
          <p:nvSpPr>
            <p:cNvPr name="Freeform 67" id="67"/>
            <p:cNvSpPr/>
            <p:nvPr/>
          </p:nvSpPr>
          <p:spPr>
            <a:xfrm flipH="false" flipV="false" rot="0">
              <a:off x="0" y="0"/>
              <a:ext cx="7437120" cy="1219200"/>
            </a:xfrm>
            <a:custGeom>
              <a:avLst/>
              <a:gdLst/>
              <a:ahLst/>
              <a:cxnLst/>
              <a:rect r="r" b="b" t="t" l="l"/>
              <a:pathLst>
                <a:path h="1219200" w="7437120">
                  <a:moveTo>
                    <a:pt x="0" y="0"/>
                  </a:moveTo>
                  <a:lnTo>
                    <a:pt x="7437120" y="0"/>
                  </a:lnTo>
                  <a:lnTo>
                    <a:pt x="7437120" y="1219200"/>
                  </a:lnTo>
                  <a:lnTo>
                    <a:pt x="0" y="1219200"/>
                  </a:lnTo>
                  <a:close/>
                </a:path>
              </a:pathLst>
            </a:custGeom>
            <a:blipFill>
              <a:blip r:embed="rId7">
                <a:alphaModFix amt="0"/>
              </a:blip>
              <a:stretch>
                <a:fillRect l="0" t="-68776" r="0" b="-68776"/>
              </a:stretch>
            </a:blipFill>
          </p:spPr>
        </p:sp>
      </p:grpSp>
      <p:grpSp>
        <p:nvGrpSpPr>
          <p:cNvPr name="Group 68" id="68"/>
          <p:cNvGrpSpPr/>
          <p:nvPr/>
        </p:nvGrpSpPr>
        <p:grpSpPr>
          <a:xfrm rot="0">
            <a:off x="11947161" y="6010822"/>
            <a:ext cx="5043990" cy="852724"/>
            <a:chOff x="0" y="0"/>
            <a:chExt cx="7437120" cy="1257300"/>
          </a:xfrm>
        </p:grpSpPr>
        <p:sp>
          <p:nvSpPr>
            <p:cNvPr name="Freeform 69" id="69"/>
            <p:cNvSpPr/>
            <p:nvPr/>
          </p:nvSpPr>
          <p:spPr>
            <a:xfrm flipH="false" flipV="false" rot="0">
              <a:off x="0" y="0"/>
              <a:ext cx="7437120" cy="1257300"/>
            </a:xfrm>
            <a:custGeom>
              <a:avLst/>
              <a:gdLst/>
              <a:ahLst/>
              <a:cxnLst/>
              <a:rect r="r" b="b" t="t" l="l"/>
              <a:pathLst>
                <a:path h="1257300" w="7437120">
                  <a:moveTo>
                    <a:pt x="0" y="0"/>
                  </a:moveTo>
                  <a:lnTo>
                    <a:pt x="7437120" y="0"/>
                  </a:lnTo>
                  <a:lnTo>
                    <a:pt x="7437120" y="1257300"/>
                  </a:lnTo>
                  <a:lnTo>
                    <a:pt x="0" y="1257300"/>
                  </a:lnTo>
                  <a:close/>
                </a:path>
              </a:pathLst>
            </a:custGeom>
            <a:blipFill>
              <a:blip r:embed="rId8">
                <a:alphaModFix amt="0"/>
              </a:blip>
              <a:stretch>
                <a:fillRect l="0" t="-65256" r="0" b="-65256"/>
              </a:stretch>
            </a:blipFill>
          </p:spPr>
        </p:sp>
        <p:sp>
          <p:nvSpPr>
            <p:cNvPr name="TextBox 70" id="70"/>
            <p:cNvSpPr txBox="true"/>
            <p:nvPr/>
          </p:nvSpPr>
          <p:spPr>
            <a:xfrm>
              <a:off x="0" y="-38100"/>
              <a:ext cx="7437120" cy="1295400"/>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WAF  ·  Web Application</a:t>
              </a:r>
            </a:p>
            <a:p>
              <a:pPr algn="ctr">
                <a:lnSpc>
                  <a:spcPts val="2279"/>
                </a:lnSpc>
              </a:pPr>
              <a:r>
                <a:rPr lang="en-US" sz="1899" b="true">
                  <a:solidFill>
                    <a:srgbClr val="FFFFFF"/>
                  </a:solidFill>
                  <a:latin typeface="Calibri (MS) Bold"/>
                  <a:ea typeface="Calibri (MS) Bold"/>
                  <a:cs typeface="Calibri (MS) Bold"/>
                  <a:sym typeface="Calibri (MS) Bold"/>
                </a:rPr>
                <a:t>Firewall</a:t>
              </a:r>
            </a:p>
          </p:txBody>
        </p:sp>
      </p:grpSp>
      <p:sp>
        <p:nvSpPr>
          <p:cNvPr name="Freeform 71" id="71"/>
          <p:cNvSpPr/>
          <p:nvPr/>
        </p:nvSpPr>
        <p:spPr>
          <a:xfrm flipH="false" flipV="false" rot="0">
            <a:off x="11935680" y="6885140"/>
            <a:ext cx="5066902" cy="1891669"/>
          </a:xfrm>
          <a:custGeom>
            <a:avLst/>
            <a:gdLst/>
            <a:ahLst/>
            <a:cxnLst/>
            <a:rect r="r" b="b" t="t" l="l"/>
            <a:pathLst>
              <a:path h="1891669" w="5066902">
                <a:moveTo>
                  <a:pt x="0" y="0"/>
                </a:moveTo>
                <a:lnTo>
                  <a:pt x="5066902" y="0"/>
                </a:lnTo>
                <a:lnTo>
                  <a:pt x="5066902" y="1891668"/>
                </a:lnTo>
                <a:lnTo>
                  <a:pt x="0" y="18916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2" id="72"/>
          <p:cNvSpPr txBox="true"/>
          <p:nvPr/>
        </p:nvSpPr>
        <p:spPr>
          <a:xfrm rot="0">
            <a:off x="12195227" y="6974163"/>
            <a:ext cx="4597473" cy="1667183"/>
          </a:xfrm>
          <a:prstGeom prst="rect">
            <a:avLst/>
          </a:prstGeom>
        </p:spPr>
        <p:txBody>
          <a:bodyPr anchor="t" rtlCol="false" tIns="0" lIns="0" bIns="0" rIns="0">
            <a:spAutoFit/>
          </a:bodyPr>
          <a:lstStyle/>
          <a:p>
            <a:pPr algn="l">
              <a:lnSpc>
                <a:spcPts val="1953"/>
              </a:lnSpc>
            </a:pPr>
            <a:r>
              <a:rPr lang="en-US" sz="1627">
                <a:solidFill>
                  <a:srgbClr val="333333"/>
                </a:solidFill>
                <a:latin typeface="Calibri (MS)"/>
                <a:ea typeface="Calibri (MS)"/>
                <a:cs typeface="Calibri (MS)"/>
                <a:sym typeface="Calibri (MS)"/>
              </a:rPr>
              <a:t>Protege aplicaciones web contra ataques como SQL Injection o XSS. Analiza tráfico HTTP/HTTPS. Sus alertas pueden integrarse al SIEM.</a:t>
            </a:r>
          </a:p>
          <a:p>
            <a:pPr algn="l">
              <a:lnSpc>
                <a:spcPts val="1953"/>
              </a:lnSpc>
            </a:pPr>
          </a:p>
          <a:p>
            <a:pPr algn="l">
              <a:lnSpc>
                <a:spcPts val="1953"/>
              </a:lnSpc>
            </a:pPr>
            <a:r>
              <a:rPr lang="en-US" sz="1627">
                <a:solidFill>
                  <a:srgbClr val="333333"/>
                </a:solidFill>
                <a:latin typeface="Calibri (MS)"/>
                <a:ea typeface="Calibri (MS)"/>
                <a:cs typeface="Calibri (MS)"/>
                <a:sym typeface="Calibri (MS)"/>
              </a:rPr>
              <a:t>📌 Ej: AWS WAF, Cloudflare WAF, ModSecurity</a:t>
            </a:r>
          </a:p>
        </p:txBody>
      </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1.4</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36044"/>
            <a:ext cx="15544800" cy="2667476"/>
            <a:chOff x="0" y="0"/>
            <a:chExt cx="20726400" cy="3556635"/>
          </a:xfrm>
        </p:grpSpPr>
        <p:sp>
          <p:nvSpPr>
            <p:cNvPr name="Freeform 12" id="12"/>
            <p:cNvSpPr/>
            <p:nvPr/>
          </p:nvSpPr>
          <p:spPr>
            <a:xfrm flipH="false" flipV="false" rot="0">
              <a:off x="0" y="0"/>
              <a:ext cx="20726400" cy="3556635"/>
            </a:xfrm>
            <a:custGeom>
              <a:avLst/>
              <a:gdLst/>
              <a:ahLst/>
              <a:cxnLst/>
              <a:rect r="r" b="b" t="t" l="l"/>
              <a:pathLst>
                <a:path h="3556635" w="20726400">
                  <a:moveTo>
                    <a:pt x="0" y="0"/>
                  </a:moveTo>
                  <a:lnTo>
                    <a:pt x="20726400" y="0"/>
                  </a:lnTo>
                  <a:lnTo>
                    <a:pt x="20726400" y="3556635"/>
                  </a:lnTo>
                  <a:lnTo>
                    <a:pt x="0" y="3556635"/>
                  </a:lnTo>
                  <a:close/>
                </a:path>
              </a:pathLst>
            </a:custGeom>
            <a:blipFill>
              <a:blip r:embed="rId8">
                <a:alphaModFix amt="0"/>
              </a:blip>
              <a:stretch>
                <a:fillRect l="0" t="-63549" r="0" b="-63549"/>
              </a:stretch>
            </a:blipFill>
          </p:spPr>
        </p:sp>
        <p:sp>
          <p:nvSpPr>
            <p:cNvPr name="TextBox 13" id="13"/>
            <p:cNvSpPr txBox="true"/>
            <p:nvPr/>
          </p:nvSpPr>
          <p:spPr>
            <a:xfrm>
              <a:off x="0" y="-142875"/>
              <a:ext cx="20726400" cy="3699510"/>
            </a:xfrm>
            <a:prstGeom prst="rect">
              <a:avLst/>
            </a:prstGeom>
          </p:spPr>
          <p:txBody>
            <a:bodyPr anchor="ctr" rtlCol="false" tIns="0" lIns="0" bIns="0" rIns="0"/>
            <a:lstStyle/>
            <a:p>
              <a:pPr algn="l">
                <a:lnSpc>
                  <a:spcPts val="7678"/>
                </a:lnSpc>
              </a:pPr>
              <a:r>
                <a:rPr lang="en-US" sz="6398" b="true">
                  <a:solidFill>
                    <a:srgbClr val="FFFFFF"/>
                  </a:solidFill>
                  <a:latin typeface="Calibri (MS) Bold"/>
                  <a:ea typeface="Calibri (MS) Bold"/>
                  <a:cs typeface="Calibri (MS) Bold"/>
                  <a:sym typeface="Calibri (MS) Bold"/>
                </a:rPr>
                <a:t>Flujo de trabajo</a:t>
              </a:r>
            </a:p>
            <a:p>
              <a:pPr algn="l">
                <a:lnSpc>
                  <a:spcPts val="7678"/>
                </a:lnSpc>
              </a:pPr>
              <a:r>
                <a:rPr lang="en-US" sz="6398" b="true">
                  <a:solidFill>
                    <a:srgbClr val="FFFFFF"/>
                  </a:solidFill>
                  <a:latin typeface="Calibri (MS) Bold"/>
                  <a:ea typeface="Calibri (MS) Bold"/>
                  <a:cs typeface="Calibri (MS) Bold"/>
                  <a:sym typeface="Calibri (MS) Bold"/>
                </a:rPr>
                <a:t>dentro de un SOC</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Desde el evento al incidente: cómo fluye la información</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Diferencia entre log, evento, alerta e incidente</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Uso de herramientas habituales en un incidente (WAF → SIEM → SOAR)</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Coordinación entre niveles y con otras áreas de la organización</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p.30</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p.31</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1.4  |  Desde el evento al incidente: cómo fluye la información</a:t>
              </a:r>
            </a:p>
          </p:txBody>
        </p:sp>
      </p:grpSp>
      <p:grpSp>
        <p:nvGrpSpPr>
          <p:cNvPr name="Group 20" id="20"/>
          <p:cNvGrpSpPr/>
          <p:nvPr/>
        </p:nvGrpSpPr>
        <p:grpSpPr>
          <a:xfrm rot="0">
            <a:off x="640080" y="1773936"/>
            <a:ext cx="17007840" cy="768096"/>
            <a:chOff x="0" y="0"/>
            <a:chExt cx="22677120" cy="1024128"/>
          </a:xfrm>
        </p:grpSpPr>
        <p:sp>
          <p:nvSpPr>
            <p:cNvPr name="Freeform 21" id="21"/>
            <p:cNvSpPr/>
            <p:nvPr/>
          </p:nvSpPr>
          <p:spPr>
            <a:xfrm flipH="false" flipV="false" rot="0">
              <a:off x="0" y="0"/>
              <a:ext cx="22677120" cy="1024128"/>
            </a:xfrm>
            <a:custGeom>
              <a:avLst/>
              <a:gdLst/>
              <a:ahLst/>
              <a:cxnLst/>
              <a:rect r="r" b="b" t="t" l="l"/>
              <a:pathLst>
                <a:path h="1024128" w="22677120">
                  <a:moveTo>
                    <a:pt x="0" y="0"/>
                  </a:moveTo>
                  <a:lnTo>
                    <a:pt x="22677120" y="0"/>
                  </a:lnTo>
                  <a:lnTo>
                    <a:pt x="22677120" y="1024128"/>
                  </a:lnTo>
                  <a:lnTo>
                    <a:pt x="0" y="1024128"/>
                  </a:lnTo>
                  <a:close/>
                </a:path>
              </a:pathLst>
            </a:custGeom>
            <a:blipFill>
              <a:blip r:embed="rId7">
                <a:alphaModFix amt="0"/>
              </a:blip>
              <a:stretch>
                <a:fillRect l="0" t="-381154" r="0" b="-381154"/>
              </a:stretch>
            </a:blipFill>
          </p:spPr>
        </p:sp>
      </p:grpSp>
      <p:grpSp>
        <p:nvGrpSpPr>
          <p:cNvPr name="Group 22" id="22"/>
          <p:cNvGrpSpPr/>
          <p:nvPr/>
        </p:nvGrpSpPr>
        <p:grpSpPr>
          <a:xfrm rot="0">
            <a:off x="707584" y="2037170"/>
            <a:ext cx="17007840" cy="803815"/>
            <a:chOff x="0" y="0"/>
            <a:chExt cx="22677120" cy="1071753"/>
          </a:xfrm>
        </p:grpSpPr>
        <p:sp>
          <p:nvSpPr>
            <p:cNvPr name="Freeform 23" id="23"/>
            <p:cNvSpPr/>
            <p:nvPr/>
          </p:nvSpPr>
          <p:spPr>
            <a:xfrm flipH="false" flipV="false" rot="0">
              <a:off x="0" y="0"/>
              <a:ext cx="22677120" cy="1071753"/>
            </a:xfrm>
            <a:custGeom>
              <a:avLst/>
              <a:gdLst/>
              <a:ahLst/>
              <a:cxnLst/>
              <a:rect r="r" b="b" t="t" l="l"/>
              <a:pathLst>
                <a:path h="1071753" w="22677120">
                  <a:moveTo>
                    <a:pt x="0" y="0"/>
                  </a:moveTo>
                  <a:lnTo>
                    <a:pt x="22677120" y="0"/>
                  </a:lnTo>
                  <a:lnTo>
                    <a:pt x="22677120" y="1071753"/>
                  </a:lnTo>
                  <a:lnTo>
                    <a:pt x="0" y="1071753"/>
                  </a:lnTo>
                  <a:close/>
                </a:path>
              </a:pathLst>
            </a:custGeom>
            <a:blipFill>
              <a:blip r:embed="rId8">
                <a:alphaModFix amt="0"/>
              </a:blip>
              <a:stretch>
                <a:fillRect l="0" t="-362282" r="0" b="-362282"/>
              </a:stretch>
            </a:blipFill>
          </p:spPr>
        </p:sp>
        <p:sp>
          <p:nvSpPr>
            <p:cNvPr name="TextBox 24" id="24"/>
            <p:cNvSpPr txBox="true"/>
            <p:nvPr/>
          </p:nvSpPr>
          <p:spPr>
            <a:xfrm>
              <a:off x="0" y="-47625"/>
              <a:ext cx="22677120" cy="1119378"/>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¿Cómo se transforma un simple evento en un incidente de seguridad? Este proceso tiene varias etapas clave:</a:t>
              </a:r>
            </a:p>
          </p:txBody>
        </p:sp>
      </p:grpSp>
      <p:sp>
        <p:nvSpPr>
          <p:cNvPr name="Freeform 25" id="25"/>
          <p:cNvSpPr/>
          <p:nvPr/>
        </p:nvSpPr>
        <p:spPr>
          <a:xfrm flipH="false" flipV="false" rot="0">
            <a:off x="1208216"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220124" y="3565251"/>
            <a:ext cx="548840" cy="994772"/>
            <a:chOff x="0" y="0"/>
            <a:chExt cx="780288" cy="1414272"/>
          </a:xfrm>
        </p:grpSpPr>
        <p:sp>
          <p:nvSpPr>
            <p:cNvPr name="Freeform 27" id="27"/>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28" id="28"/>
          <p:cNvGrpSpPr/>
          <p:nvPr/>
        </p:nvGrpSpPr>
        <p:grpSpPr>
          <a:xfrm rot="0">
            <a:off x="1220124" y="3525053"/>
            <a:ext cx="548840" cy="1034970"/>
            <a:chOff x="0" y="0"/>
            <a:chExt cx="780288" cy="1471422"/>
          </a:xfrm>
        </p:grpSpPr>
        <p:sp>
          <p:nvSpPr>
            <p:cNvPr name="Freeform 29" id="29"/>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30" id="30"/>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1</a:t>
              </a:r>
            </a:p>
          </p:txBody>
        </p:sp>
      </p:grpSp>
      <p:grpSp>
        <p:nvGrpSpPr>
          <p:cNvPr name="Group 31" id="31"/>
          <p:cNvGrpSpPr/>
          <p:nvPr/>
        </p:nvGrpSpPr>
        <p:grpSpPr>
          <a:xfrm rot="0">
            <a:off x="1768963" y="3565251"/>
            <a:ext cx="2401174" cy="994772"/>
            <a:chOff x="0" y="0"/>
            <a:chExt cx="3413760" cy="1414272"/>
          </a:xfrm>
        </p:grpSpPr>
        <p:sp>
          <p:nvSpPr>
            <p:cNvPr name="Freeform 32" id="32"/>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33" id="33"/>
          <p:cNvGrpSpPr/>
          <p:nvPr/>
        </p:nvGrpSpPr>
        <p:grpSpPr>
          <a:xfrm rot="0">
            <a:off x="1580300" y="3565251"/>
            <a:ext cx="2401174" cy="1021571"/>
            <a:chOff x="0" y="0"/>
            <a:chExt cx="3413760" cy="1452372"/>
          </a:xfrm>
        </p:grpSpPr>
        <p:sp>
          <p:nvSpPr>
            <p:cNvPr name="Freeform 34" id="34"/>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35" id="35"/>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Evento</a:t>
              </a:r>
            </a:p>
            <a:p>
              <a:pPr algn="ctr">
                <a:lnSpc>
                  <a:spcPts val="2279"/>
                </a:lnSpc>
              </a:pPr>
              <a:r>
                <a:rPr lang="en-US" sz="1899" b="true">
                  <a:solidFill>
                    <a:srgbClr val="FFFFFF"/>
                  </a:solidFill>
                  <a:latin typeface="Calibri (MS) Bold"/>
                  <a:ea typeface="Calibri (MS) Bold"/>
                  <a:cs typeface="Calibri (MS) Bold"/>
                  <a:sym typeface="Calibri (MS) Bold"/>
                </a:rPr>
                <a:t>ocurre</a:t>
              </a:r>
            </a:p>
          </p:txBody>
        </p:sp>
      </p:grpSp>
      <p:sp>
        <p:nvSpPr>
          <p:cNvPr name="Freeform 36" id="36"/>
          <p:cNvSpPr/>
          <p:nvPr/>
        </p:nvSpPr>
        <p:spPr>
          <a:xfrm flipH="false" flipV="false" rot="0">
            <a:off x="1208216"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1443090"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Un intento de acceso, ejecución sospechosa, cambio en política de red, etc.</a:t>
            </a:r>
          </a:p>
        </p:txBody>
      </p:sp>
      <p:grpSp>
        <p:nvGrpSpPr>
          <p:cNvPr name="Group 38" id="38"/>
          <p:cNvGrpSpPr/>
          <p:nvPr/>
        </p:nvGrpSpPr>
        <p:grpSpPr>
          <a:xfrm rot="0">
            <a:off x="4204440" y="3565251"/>
            <a:ext cx="240117" cy="994772"/>
            <a:chOff x="0" y="0"/>
            <a:chExt cx="341376" cy="1414272"/>
          </a:xfrm>
        </p:grpSpPr>
        <p:sp>
          <p:nvSpPr>
            <p:cNvPr name="Freeform 39" id="39"/>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40" id="40"/>
          <p:cNvGrpSpPr/>
          <p:nvPr/>
        </p:nvGrpSpPr>
        <p:grpSpPr>
          <a:xfrm rot="0">
            <a:off x="4204440" y="3538452"/>
            <a:ext cx="240117" cy="1021571"/>
            <a:chOff x="0" y="0"/>
            <a:chExt cx="341376" cy="1452372"/>
          </a:xfrm>
        </p:grpSpPr>
        <p:sp>
          <p:nvSpPr>
            <p:cNvPr name="Freeform 41" id="41"/>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42" id="42"/>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43" id="43"/>
          <p:cNvSpPr/>
          <p:nvPr/>
        </p:nvSpPr>
        <p:spPr>
          <a:xfrm flipH="false" flipV="false" rot="0">
            <a:off x="4432650"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4" id="44"/>
          <p:cNvGrpSpPr/>
          <p:nvPr/>
        </p:nvGrpSpPr>
        <p:grpSpPr>
          <a:xfrm rot="0">
            <a:off x="4444557" y="3565251"/>
            <a:ext cx="548840" cy="994772"/>
            <a:chOff x="0" y="0"/>
            <a:chExt cx="780288" cy="1414272"/>
          </a:xfrm>
        </p:grpSpPr>
        <p:sp>
          <p:nvSpPr>
            <p:cNvPr name="Freeform 45" id="45"/>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46" id="46"/>
          <p:cNvGrpSpPr/>
          <p:nvPr/>
        </p:nvGrpSpPr>
        <p:grpSpPr>
          <a:xfrm rot="0">
            <a:off x="4444557" y="3525053"/>
            <a:ext cx="548840" cy="1034970"/>
            <a:chOff x="0" y="0"/>
            <a:chExt cx="780288" cy="1471422"/>
          </a:xfrm>
        </p:grpSpPr>
        <p:sp>
          <p:nvSpPr>
            <p:cNvPr name="Freeform 47" id="47"/>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48" id="48"/>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2</a:t>
              </a:r>
            </a:p>
          </p:txBody>
        </p:sp>
      </p:grpSp>
      <p:grpSp>
        <p:nvGrpSpPr>
          <p:cNvPr name="Group 49" id="49"/>
          <p:cNvGrpSpPr/>
          <p:nvPr/>
        </p:nvGrpSpPr>
        <p:grpSpPr>
          <a:xfrm rot="0">
            <a:off x="4993397" y="3565251"/>
            <a:ext cx="2401174" cy="994772"/>
            <a:chOff x="0" y="0"/>
            <a:chExt cx="3413760" cy="1414272"/>
          </a:xfrm>
        </p:grpSpPr>
        <p:sp>
          <p:nvSpPr>
            <p:cNvPr name="Freeform 50" id="50"/>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51" id="51"/>
          <p:cNvGrpSpPr/>
          <p:nvPr/>
        </p:nvGrpSpPr>
        <p:grpSpPr>
          <a:xfrm rot="0">
            <a:off x="4804734" y="3565251"/>
            <a:ext cx="2401174" cy="1021571"/>
            <a:chOff x="0" y="0"/>
            <a:chExt cx="3413760" cy="1452372"/>
          </a:xfrm>
        </p:grpSpPr>
        <p:sp>
          <p:nvSpPr>
            <p:cNvPr name="Freeform 52" id="52"/>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53" id="53"/>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Herramienta</a:t>
              </a:r>
            </a:p>
            <a:p>
              <a:pPr algn="ctr">
                <a:lnSpc>
                  <a:spcPts val="2279"/>
                </a:lnSpc>
              </a:pPr>
              <a:r>
                <a:rPr lang="en-US" sz="1899" b="true">
                  <a:solidFill>
                    <a:srgbClr val="FFFFFF"/>
                  </a:solidFill>
                  <a:latin typeface="Calibri (MS) Bold"/>
                  <a:ea typeface="Calibri (MS) Bold"/>
                  <a:cs typeface="Calibri (MS) Bold"/>
                  <a:sym typeface="Calibri (MS) Bold"/>
                </a:rPr>
                <a:t>registra</a:t>
              </a:r>
            </a:p>
          </p:txBody>
        </p:sp>
      </p:grpSp>
      <p:sp>
        <p:nvSpPr>
          <p:cNvPr name="Freeform 54" id="54"/>
          <p:cNvSpPr/>
          <p:nvPr/>
        </p:nvSpPr>
        <p:spPr>
          <a:xfrm flipH="false" flipV="false" rot="0">
            <a:off x="4432650"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5" id="55"/>
          <p:cNvSpPr txBox="true"/>
          <p:nvPr/>
        </p:nvSpPr>
        <p:spPr>
          <a:xfrm rot="0">
            <a:off x="4667524"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WAF detecta SQL injection. EDR registra script no autorizado. Firewall bloquea IP maliciosa.</a:t>
            </a:r>
          </a:p>
        </p:txBody>
      </p:sp>
      <p:grpSp>
        <p:nvGrpSpPr>
          <p:cNvPr name="Group 56" id="56"/>
          <p:cNvGrpSpPr/>
          <p:nvPr/>
        </p:nvGrpSpPr>
        <p:grpSpPr>
          <a:xfrm rot="0">
            <a:off x="7428874" y="3565251"/>
            <a:ext cx="240117" cy="994772"/>
            <a:chOff x="0" y="0"/>
            <a:chExt cx="341376" cy="1414272"/>
          </a:xfrm>
        </p:grpSpPr>
        <p:sp>
          <p:nvSpPr>
            <p:cNvPr name="Freeform 57" id="57"/>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58" id="58"/>
          <p:cNvGrpSpPr/>
          <p:nvPr/>
        </p:nvGrpSpPr>
        <p:grpSpPr>
          <a:xfrm rot="0">
            <a:off x="7428874" y="3538452"/>
            <a:ext cx="240117" cy="1021571"/>
            <a:chOff x="0" y="0"/>
            <a:chExt cx="341376" cy="1452372"/>
          </a:xfrm>
        </p:grpSpPr>
        <p:sp>
          <p:nvSpPr>
            <p:cNvPr name="Freeform 59" id="59"/>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60" id="60"/>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61" id="61"/>
          <p:cNvSpPr/>
          <p:nvPr/>
        </p:nvSpPr>
        <p:spPr>
          <a:xfrm flipH="false" flipV="false" rot="0">
            <a:off x="7657084"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2" id="62"/>
          <p:cNvGrpSpPr/>
          <p:nvPr/>
        </p:nvGrpSpPr>
        <p:grpSpPr>
          <a:xfrm rot="0">
            <a:off x="7668991" y="3565251"/>
            <a:ext cx="548840" cy="994772"/>
            <a:chOff x="0" y="0"/>
            <a:chExt cx="780288" cy="1414272"/>
          </a:xfrm>
        </p:grpSpPr>
        <p:sp>
          <p:nvSpPr>
            <p:cNvPr name="Freeform 63" id="63"/>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64" id="64"/>
          <p:cNvGrpSpPr/>
          <p:nvPr/>
        </p:nvGrpSpPr>
        <p:grpSpPr>
          <a:xfrm rot="0">
            <a:off x="7668991" y="3525053"/>
            <a:ext cx="548840" cy="1034970"/>
            <a:chOff x="0" y="0"/>
            <a:chExt cx="780288" cy="1471422"/>
          </a:xfrm>
        </p:grpSpPr>
        <p:sp>
          <p:nvSpPr>
            <p:cNvPr name="Freeform 65" id="65"/>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66" id="66"/>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3</a:t>
              </a:r>
            </a:p>
          </p:txBody>
        </p:sp>
      </p:grpSp>
      <p:grpSp>
        <p:nvGrpSpPr>
          <p:cNvPr name="Group 67" id="67"/>
          <p:cNvGrpSpPr/>
          <p:nvPr/>
        </p:nvGrpSpPr>
        <p:grpSpPr>
          <a:xfrm rot="0">
            <a:off x="8217831" y="3565251"/>
            <a:ext cx="2401174" cy="994772"/>
            <a:chOff x="0" y="0"/>
            <a:chExt cx="3413760" cy="1414272"/>
          </a:xfrm>
        </p:grpSpPr>
        <p:sp>
          <p:nvSpPr>
            <p:cNvPr name="Freeform 68" id="68"/>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69" id="69"/>
          <p:cNvGrpSpPr/>
          <p:nvPr/>
        </p:nvGrpSpPr>
        <p:grpSpPr>
          <a:xfrm rot="0">
            <a:off x="8029167" y="3565251"/>
            <a:ext cx="2401174" cy="1021571"/>
            <a:chOff x="0" y="0"/>
            <a:chExt cx="3413760" cy="1452372"/>
          </a:xfrm>
        </p:grpSpPr>
        <p:sp>
          <p:nvSpPr>
            <p:cNvPr name="Freeform 70" id="70"/>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71" id="71"/>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Log llega</a:t>
              </a:r>
            </a:p>
            <a:p>
              <a:pPr algn="ctr">
                <a:lnSpc>
                  <a:spcPts val="2279"/>
                </a:lnSpc>
              </a:pPr>
              <a:r>
                <a:rPr lang="en-US" sz="1899" b="true">
                  <a:solidFill>
                    <a:srgbClr val="FFFFFF"/>
                  </a:solidFill>
                  <a:latin typeface="Calibri (MS) Bold"/>
                  <a:ea typeface="Calibri (MS) Bold"/>
                  <a:cs typeface="Calibri (MS) Bold"/>
                  <a:sym typeface="Calibri (MS) Bold"/>
                </a:rPr>
                <a:t>al SIEM</a:t>
              </a:r>
            </a:p>
          </p:txBody>
        </p:sp>
      </p:grpSp>
      <p:sp>
        <p:nvSpPr>
          <p:cNvPr name="Freeform 72" id="72"/>
          <p:cNvSpPr/>
          <p:nvPr/>
        </p:nvSpPr>
        <p:spPr>
          <a:xfrm flipH="false" flipV="false" rot="0">
            <a:off x="7657084"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3" id="73"/>
          <p:cNvSpPr txBox="true"/>
          <p:nvPr/>
        </p:nvSpPr>
        <p:spPr>
          <a:xfrm rot="0">
            <a:off x="7891957"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El SIEM recibe, normaliza y correlaciona los datos. Si detecta patrón peligroso, genera una alerta.</a:t>
            </a:r>
          </a:p>
        </p:txBody>
      </p:sp>
      <p:grpSp>
        <p:nvGrpSpPr>
          <p:cNvPr name="Group 74" id="74"/>
          <p:cNvGrpSpPr/>
          <p:nvPr/>
        </p:nvGrpSpPr>
        <p:grpSpPr>
          <a:xfrm rot="0">
            <a:off x="10653308" y="3565251"/>
            <a:ext cx="240117" cy="994772"/>
            <a:chOff x="0" y="0"/>
            <a:chExt cx="341376" cy="1414272"/>
          </a:xfrm>
        </p:grpSpPr>
        <p:sp>
          <p:nvSpPr>
            <p:cNvPr name="Freeform 75" id="75"/>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76" id="76"/>
          <p:cNvGrpSpPr/>
          <p:nvPr/>
        </p:nvGrpSpPr>
        <p:grpSpPr>
          <a:xfrm rot="0">
            <a:off x="10653308" y="3538452"/>
            <a:ext cx="240117" cy="1021571"/>
            <a:chOff x="0" y="0"/>
            <a:chExt cx="341376" cy="1452372"/>
          </a:xfrm>
        </p:grpSpPr>
        <p:sp>
          <p:nvSpPr>
            <p:cNvPr name="Freeform 77" id="77"/>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78" id="78"/>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79" id="79"/>
          <p:cNvSpPr/>
          <p:nvPr/>
        </p:nvSpPr>
        <p:spPr>
          <a:xfrm flipH="false" flipV="false" rot="0">
            <a:off x="10881517" y="3553343"/>
            <a:ext cx="2973776" cy="1018534"/>
          </a:xfrm>
          <a:custGeom>
            <a:avLst/>
            <a:gdLst/>
            <a:ahLst/>
            <a:cxnLst/>
            <a:rect r="r" b="b" t="t" l="l"/>
            <a:pathLst>
              <a:path h="1018534" w="2973776">
                <a:moveTo>
                  <a:pt x="0" y="0"/>
                </a:moveTo>
                <a:lnTo>
                  <a:pt x="2973776" y="0"/>
                </a:lnTo>
                <a:lnTo>
                  <a:pt x="2973776" y="1018534"/>
                </a:lnTo>
                <a:lnTo>
                  <a:pt x="0" y="101853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80" id="80"/>
          <p:cNvGrpSpPr/>
          <p:nvPr/>
        </p:nvGrpSpPr>
        <p:grpSpPr>
          <a:xfrm rot="0">
            <a:off x="10893425" y="3565251"/>
            <a:ext cx="548840" cy="994772"/>
            <a:chOff x="0" y="0"/>
            <a:chExt cx="780288" cy="1414272"/>
          </a:xfrm>
        </p:grpSpPr>
        <p:sp>
          <p:nvSpPr>
            <p:cNvPr name="Freeform 81" id="81"/>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82" id="82"/>
          <p:cNvGrpSpPr/>
          <p:nvPr/>
        </p:nvGrpSpPr>
        <p:grpSpPr>
          <a:xfrm rot="0">
            <a:off x="10893425" y="3525053"/>
            <a:ext cx="548840" cy="1034970"/>
            <a:chOff x="0" y="0"/>
            <a:chExt cx="780288" cy="1471422"/>
          </a:xfrm>
        </p:grpSpPr>
        <p:sp>
          <p:nvSpPr>
            <p:cNvPr name="Freeform 83" id="83"/>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84" id="84"/>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4</a:t>
              </a:r>
            </a:p>
          </p:txBody>
        </p:sp>
      </p:grpSp>
      <p:grpSp>
        <p:nvGrpSpPr>
          <p:cNvPr name="Group 85" id="85"/>
          <p:cNvGrpSpPr/>
          <p:nvPr/>
        </p:nvGrpSpPr>
        <p:grpSpPr>
          <a:xfrm rot="0">
            <a:off x="11442265" y="3565251"/>
            <a:ext cx="2401174" cy="994772"/>
            <a:chOff x="0" y="0"/>
            <a:chExt cx="3413760" cy="1414272"/>
          </a:xfrm>
        </p:grpSpPr>
        <p:sp>
          <p:nvSpPr>
            <p:cNvPr name="Freeform 86" id="86"/>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87" id="87"/>
          <p:cNvGrpSpPr/>
          <p:nvPr/>
        </p:nvGrpSpPr>
        <p:grpSpPr>
          <a:xfrm rot="0">
            <a:off x="11253601" y="3565251"/>
            <a:ext cx="2401174" cy="1021571"/>
            <a:chOff x="0" y="0"/>
            <a:chExt cx="3413760" cy="1452372"/>
          </a:xfrm>
        </p:grpSpPr>
        <p:sp>
          <p:nvSpPr>
            <p:cNvPr name="Freeform 88" id="88"/>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89" id="89"/>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L1 recibe</a:t>
              </a:r>
            </a:p>
            <a:p>
              <a:pPr algn="ctr">
                <a:lnSpc>
                  <a:spcPts val="2279"/>
                </a:lnSpc>
              </a:pPr>
              <a:r>
                <a:rPr lang="en-US" sz="1899" b="true">
                  <a:solidFill>
                    <a:srgbClr val="FFFFFF"/>
                  </a:solidFill>
                  <a:latin typeface="Calibri (MS) Bold"/>
                  <a:ea typeface="Calibri (MS) Bold"/>
                  <a:cs typeface="Calibri (MS) Bold"/>
                  <a:sym typeface="Calibri (MS) Bold"/>
                </a:rPr>
                <a:t>la alerta</a:t>
              </a:r>
            </a:p>
          </p:txBody>
        </p:sp>
      </p:grpSp>
      <p:sp>
        <p:nvSpPr>
          <p:cNvPr name="Freeform 90" id="90"/>
          <p:cNvSpPr/>
          <p:nvPr/>
        </p:nvSpPr>
        <p:spPr>
          <a:xfrm flipH="false" flipV="false" rot="0">
            <a:off x="10881517" y="4582418"/>
            <a:ext cx="2973776" cy="2682204"/>
          </a:xfrm>
          <a:custGeom>
            <a:avLst/>
            <a:gdLst/>
            <a:ahLst/>
            <a:cxnLst/>
            <a:rect r="r" b="b" t="t" l="l"/>
            <a:pathLst>
              <a:path h="2682204" w="2973776">
                <a:moveTo>
                  <a:pt x="0" y="0"/>
                </a:moveTo>
                <a:lnTo>
                  <a:pt x="2973776" y="0"/>
                </a:lnTo>
                <a:lnTo>
                  <a:pt x="2973776"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91" id="91"/>
          <p:cNvSpPr txBox="true"/>
          <p:nvPr/>
        </p:nvSpPr>
        <p:spPr>
          <a:xfrm rot="0">
            <a:off x="11116391"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El analista L1 ve la alerta en su panel y comienza análisis siguiendo el playbook de triage.</a:t>
            </a:r>
          </a:p>
        </p:txBody>
      </p:sp>
      <p:grpSp>
        <p:nvGrpSpPr>
          <p:cNvPr name="Group 92" id="92"/>
          <p:cNvGrpSpPr/>
          <p:nvPr/>
        </p:nvGrpSpPr>
        <p:grpSpPr>
          <a:xfrm rot="0">
            <a:off x="13877742" y="3565251"/>
            <a:ext cx="240117" cy="994772"/>
            <a:chOff x="0" y="0"/>
            <a:chExt cx="341376" cy="1414272"/>
          </a:xfrm>
        </p:grpSpPr>
        <p:sp>
          <p:nvSpPr>
            <p:cNvPr name="Freeform 93" id="93"/>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94" id="94"/>
          <p:cNvGrpSpPr/>
          <p:nvPr/>
        </p:nvGrpSpPr>
        <p:grpSpPr>
          <a:xfrm rot="0">
            <a:off x="13877742" y="3538452"/>
            <a:ext cx="240117" cy="1021571"/>
            <a:chOff x="0" y="0"/>
            <a:chExt cx="341376" cy="1452372"/>
          </a:xfrm>
        </p:grpSpPr>
        <p:sp>
          <p:nvSpPr>
            <p:cNvPr name="Freeform 95" id="95"/>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96" id="96"/>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97" id="97"/>
          <p:cNvSpPr/>
          <p:nvPr/>
        </p:nvSpPr>
        <p:spPr>
          <a:xfrm flipH="false" flipV="false" rot="0">
            <a:off x="14105951" y="3553343"/>
            <a:ext cx="2973776" cy="1018534"/>
          </a:xfrm>
          <a:custGeom>
            <a:avLst/>
            <a:gdLst/>
            <a:ahLst/>
            <a:cxnLst/>
            <a:rect r="r" b="b" t="t" l="l"/>
            <a:pathLst>
              <a:path h="1018534" w="2973776">
                <a:moveTo>
                  <a:pt x="0" y="0"/>
                </a:moveTo>
                <a:lnTo>
                  <a:pt x="2973776" y="0"/>
                </a:lnTo>
                <a:lnTo>
                  <a:pt x="2973776" y="1018534"/>
                </a:lnTo>
                <a:lnTo>
                  <a:pt x="0" y="101853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98" id="98"/>
          <p:cNvGrpSpPr/>
          <p:nvPr/>
        </p:nvGrpSpPr>
        <p:grpSpPr>
          <a:xfrm rot="0">
            <a:off x="14117859" y="3565251"/>
            <a:ext cx="548840" cy="994772"/>
            <a:chOff x="0" y="0"/>
            <a:chExt cx="780288" cy="1414272"/>
          </a:xfrm>
        </p:grpSpPr>
        <p:sp>
          <p:nvSpPr>
            <p:cNvPr name="Freeform 99" id="99"/>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100" id="100"/>
          <p:cNvGrpSpPr/>
          <p:nvPr/>
        </p:nvGrpSpPr>
        <p:grpSpPr>
          <a:xfrm rot="0">
            <a:off x="14117859" y="3525053"/>
            <a:ext cx="548840" cy="1034970"/>
            <a:chOff x="0" y="0"/>
            <a:chExt cx="780288" cy="1471422"/>
          </a:xfrm>
        </p:grpSpPr>
        <p:sp>
          <p:nvSpPr>
            <p:cNvPr name="Freeform 101" id="101"/>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102" id="102"/>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5</a:t>
              </a:r>
            </a:p>
          </p:txBody>
        </p:sp>
      </p:grpSp>
      <p:grpSp>
        <p:nvGrpSpPr>
          <p:cNvPr name="Group 103" id="103"/>
          <p:cNvGrpSpPr/>
          <p:nvPr/>
        </p:nvGrpSpPr>
        <p:grpSpPr>
          <a:xfrm rot="0">
            <a:off x="14666699" y="3565251"/>
            <a:ext cx="2401174" cy="994772"/>
            <a:chOff x="0" y="0"/>
            <a:chExt cx="3413760" cy="1414272"/>
          </a:xfrm>
        </p:grpSpPr>
        <p:sp>
          <p:nvSpPr>
            <p:cNvPr name="Freeform 104" id="104"/>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105" id="105"/>
          <p:cNvGrpSpPr/>
          <p:nvPr/>
        </p:nvGrpSpPr>
        <p:grpSpPr>
          <a:xfrm rot="0">
            <a:off x="14478035" y="3565251"/>
            <a:ext cx="2401174" cy="1021571"/>
            <a:chOff x="0" y="0"/>
            <a:chExt cx="3413760" cy="1452372"/>
          </a:xfrm>
        </p:grpSpPr>
        <p:sp>
          <p:nvSpPr>
            <p:cNvPr name="Freeform 106" id="106"/>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107" id="107"/>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Se convierte</a:t>
              </a:r>
            </a:p>
            <a:p>
              <a:pPr algn="ctr">
                <a:lnSpc>
                  <a:spcPts val="2279"/>
                </a:lnSpc>
              </a:pPr>
              <a:r>
                <a:rPr lang="en-US" sz="1899" b="true">
                  <a:solidFill>
                    <a:srgbClr val="FFFFFF"/>
                  </a:solidFill>
                  <a:latin typeface="Calibri (MS) Bold"/>
                  <a:ea typeface="Calibri (MS) Bold"/>
                  <a:cs typeface="Calibri (MS) Bold"/>
                  <a:sym typeface="Calibri (MS) Bold"/>
                </a:rPr>
                <a:t>en incidente</a:t>
              </a:r>
            </a:p>
          </p:txBody>
        </p:sp>
      </p:grpSp>
      <p:sp>
        <p:nvSpPr>
          <p:cNvPr name="Freeform 108" id="108"/>
          <p:cNvSpPr/>
          <p:nvPr/>
        </p:nvSpPr>
        <p:spPr>
          <a:xfrm flipH="false" flipV="false" rot="0">
            <a:off x="14105951" y="4582418"/>
            <a:ext cx="2973776" cy="2682204"/>
          </a:xfrm>
          <a:custGeom>
            <a:avLst/>
            <a:gdLst/>
            <a:ahLst/>
            <a:cxnLst/>
            <a:rect r="r" b="b" t="t" l="l"/>
            <a:pathLst>
              <a:path h="2682204" w="2973776">
                <a:moveTo>
                  <a:pt x="0" y="0"/>
                </a:moveTo>
                <a:lnTo>
                  <a:pt x="2973776" y="0"/>
                </a:lnTo>
                <a:lnTo>
                  <a:pt x="2973776"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9" id="109"/>
          <p:cNvSpPr txBox="true"/>
          <p:nvPr/>
        </p:nvSpPr>
        <p:spPr>
          <a:xfrm rot="0">
            <a:off x="14340825"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Si la alerta es válida y crítica, se documenta, escala y activa el flujo en el SOAR.</a:t>
            </a:r>
          </a:p>
        </p:txBody>
      </p:sp>
      <p:sp>
        <p:nvSpPr>
          <p:cNvPr name="Freeform 110" id="110"/>
          <p:cNvSpPr/>
          <p:nvPr/>
        </p:nvSpPr>
        <p:spPr>
          <a:xfrm flipH="false" flipV="false" rot="0">
            <a:off x="2498513" y="8046483"/>
            <a:ext cx="13839868" cy="1024429"/>
          </a:xfrm>
          <a:custGeom>
            <a:avLst/>
            <a:gdLst/>
            <a:ahLst/>
            <a:cxnLst/>
            <a:rect r="r" b="b" t="t" l="l"/>
            <a:pathLst>
              <a:path h="1024429" w="13839868">
                <a:moveTo>
                  <a:pt x="0" y="0"/>
                </a:moveTo>
                <a:lnTo>
                  <a:pt x="13839868" y="0"/>
                </a:lnTo>
                <a:lnTo>
                  <a:pt x="13839868" y="1024429"/>
                </a:lnTo>
                <a:lnTo>
                  <a:pt x="0" y="102442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11" id="111"/>
          <p:cNvGrpSpPr/>
          <p:nvPr/>
        </p:nvGrpSpPr>
        <p:grpSpPr>
          <a:xfrm rot="0">
            <a:off x="914400" y="6986016"/>
            <a:ext cx="16459200" cy="1243584"/>
            <a:chOff x="0" y="0"/>
            <a:chExt cx="21945600" cy="1658112"/>
          </a:xfrm>
        </p:grpSpPr>
        <p:sp>
          <p:nvSpPr>
            <p:cNvPr name="Freeform 112" id="112"/>
            <p:cNvSpPr/>
            <p:nvPr/>
          </p:nvSpPr>
          <p:spPr>
            <a:xfrm flipH="false" flipV="false" rot="0">
              <a:off x="0" y="0"/>
              <a:ext cx="21945600" cy="1658112"/>
            </a:xfrm>
            <a:custGeom>
              <a:avLst/>
              <a:gdLst/>
              <a:ahLst/>
              <a:cxnLst/>
              <a:rect r="r" b="b" t="t" l="l"/>
              <a:pathLst>
                <a:path h="1658112" w="21945600">
                  <a:moveTo>
                    <a:pt x="0" y="0"/>
                  </a:moveTo>
                  <a:lnTo>
                    <a:pt x="21945600" y="0"/>
                  </a:lnTo>
                  <a:lnTo>
                    <a:pt x="21945600" y="1658112"/>
                  </a:lnTo>
                  <a:lnTo>
                    <a:pt x="0" y="1658112"/>
                  </a:lnTo>
                  <a:close/>
                </a:path>
              </a:pathLst>
            </a:custGeom>
            <a:blipFill>
              <a:blip r:embed="rId7">
                <a:alphaModFix amt="0"/>
              </a:blip>
              <a:stretch>
                <a:fillRect l="0" t="-207710" r="0" b="-207711"/>
              </a:stretch>
            </a:blipFill>
          </p:spPr>
        </p:sp>
      </p:grpSp>
      <p:grpSp>
        <p:nvGrpSpPr>
          <p:cNvPr name="Group 113" id="113"/>
          <p:cNvGrpSpPr/>
          <p:nvPr/>
        </p:nvGrpSpPr>
        <p:grpSpPr>
          <a:xfrm rot="0">
            <a:off x="2969579" y="7978997"/>
            <a:ext cx="12887098" cy="1279303"/>
            <a:chOff x="0" y="0"/>
            <a:chExt cx="17182797" cy="1705737"/>
          </a:xfrm>
        </p:grpSpPr>
        <p:sp>
          <p:nvSpPr>
            <p:cNvPr name="Freeform 114" id="114"/>
            <p:cNvSpPr/>
            <p:nvPr/>
          </p:nvSpPr>
          <p:spPr>
            <a:xfrm flipH="false" flipV="false" rot="0">
              <a:off x="0" y="0"/>
              <a:ext cx="17182796" cy="1705737"/>
            </a:xfrm>
            <a:custGeom>
              <a:avLst/>
              <a:gdLst/>
              <a:ahLst/>
              <a:cxnLst/>
              <a:rect r="r" b="b" t="t" l="l"/>
              <a:pathLst>
                <a:path h="1705737" w="17182796">
                  <a:moveTo>
                    <a:pt x="0" y="0"/>
                  </a:moveTo>
                  <a:lnTo>
                    <a:pt x="17182796" y="0"/>
                  </a:lnTo>
                  <a:lnTo>
                    <a:pt x="17182796" y="1705737"/>
                  </a:lnTo>
                  <a:lnTo>
                    <a:pt x="0" y="1705737"/>
                  </a:lnTo>
                  <a:close/>
                </a:path>
              </a:pathLst>
            </a:custGeom>
            <a:blipFill>
              <a:blip r:embed="rId8">
                <a:alphaModFix amt="0"/>
              </a:blip>
              <a:stretch>
                <a:fillRect l="0" t="-200689" r="-27718" b="-200689"/>
              </a:stretch>
            </a:blipFill>
          </p:spPr>
        </p:sp>
        <p:sp>
          <p:nvSpPr>
            <p:cNvPr name="TextBox 115" id="115"/>
            <p:cNvSpPr txBox="true"/>
            <p:nvPr/>
          </p:nvSpPr>
          <p:spPr>
            <a:xfrm>
              <a:off x="0" y="-38100"/>
              <a:ext cx="17182797" cy="1743837"/>
            </a:xfrm>
            <a:prstGeom prst="rect">
              <a:avLst/>
            </a:prstGeom>
          </p:spPr>
          <p:txBody>
            <a:bodyPr anchor="ctr" rtlCol="false" tIns="0" lIns="0" bIns="0" rIns="0"/>
            <a:lstStyle/>
            <a:p>
              <a:pPr algn="l">
                <a:lnSpc>
                  <a:spcPts val="2278"/>
                </a:lnSpc>
              </a:pPr>
              <a:r>
                <a:rPr lang="en-US" sz="1899" b="true">
                  <a:solidFill>
                    <a:srgbClr val="8A004F"/>
                  </a:solidFill>
                  <a:latin typeface="Calibri (MS) Bold"/>
                  <a:ea typeface="Calibri (MS) Bold"/>
                  <a:cs typeface="Calibri (MS) Bold"/>
                  <a:sym typeface="Calibri (MS) Bold"/>
                </a:rPr>
                <a:t>⚠️  Importante: </a:t>
              </a:r>
              <a:r>
                <a:rPr lang="en-US" sz="1899">
                  <a:solidFill>
                    <a:srgbClr val="333333"/>
                  </a:solidFill>
                  <a:latin typeface="Calibri (MS)"/>
                  <a:ea typeface="Calibri (MS)"/>
                  <a:cs typeface="Calibri (MS)"/>
                  <a:sym typeface="Calibri (MS)"/>
                </a:rPr>
                <a:t>no todo evento se convierte en alerta, y no toda alerta se convierte en incidente. El analista L1 es el filtro clave en esta cadena.</a:t>
              </a:r>
            </a:p>
          </p:txBody>
        </p:sp>
      </p:grpSp>
      <p:grpSp>
        <p:nvGrpSpPr>
          <p:cNvPr name="Group 116" id="116"/>
          <p:cNvGrpSpPr/>
          <p:nvPr/>
        </p:nvGrpSpPr>
        <p:grpSpPr>
          <a:xfrm rot="0">
            <a:off x="15983863" y="24203"/>
            <a:ext cx="1855079" cy="1855079"/>
            <a:chOff x="0" y="0"/>
            <a:chExt cx="5852160" cy="5852160"/>
          </a:xfrm>
        </p:grpSpPr>
        <p:sp>
          <p:nvSpPr>
            <p:cNvPr name="Freeform 117" id="11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1.4  |  ¿Cuál es la diferencia entre log, evento, alerta e incidente?</a:t>
              </a:r>
            </a:p>
          </p:txBody>
        </p:sp>
      </p:grpSp>
      <p:grpSp>
        <p:nvGrpSpPr>
          <p:cNvPr name="Group 20" id="20"/>
          <p:cNvGrpSpPr/>
          <p:nvPr/>
        </p:nvGrpSpPr>
        <p:grpSpPr>
          <a:xfrm rot="0">
            <a:off x="640080" y="1773936"/>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40080" y="2111586"/>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Si no sabés distinguir qué estás viendo, corrés el riesgo de pasar por alto una amenaza real o de escalar innecesariamente algo que no representa un riesgo.</a:t>
              </a:r>
            </a:p>
          </p:txBody>
        </p:sp>
      </p:grpSp>
      <p:sp>
        <p:nvSpPr>
          <p:cNvPr name="Freeform 25" id="25"/>
          <p:cNvSpPr/>
          <p:nvPr/>
        </p:nvSpPr>
        <p:spPr>
          <a:xfrm flipH="false" flipV="false" rot="0">
            <a:off x="1714672" y="3219447"/>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726023" y="3230798"/>
            <a:ext cx="2288954" cy="1307974"/>
            <a:chOff x="0" y="0"/>
            <a:chExt cx="3413760" cy="1950720"/>
          </a:xfrm>
        </p:grpSpPr>
        <p:sp>
          <p:nvSpPr>
            <p:cNvPr name="Freeform 27" id="27"/>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28" id="28"/>
          <p:cNvGrpSpPr/>
          <p:nvPr/>
        </p:nvGrpSpPr>
        <p:grpSpPr>
          <a:xfrm rot="0">
            <a:off x="1726023" y="3198865"/>
            <a:ext cx="2288954" cy="1339907"/>
            <a:chOff x="0" y="0"/>
            <a:chExt cx="3413760" cy="1998345"/>
          </a:xfrm>
        </p:grpSpPr>
        <p:sp>
          <p:nvSpPr>
            <p:cNvPr name="Freeform 29" id="29"/>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30" id="30"/>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LOG</a:t>
              </a:r>
            </a:p>
          </p:txBody>
        </p:sp>
      </p:grpSp>
      <p:sp>
        <p:nvSpPr>
          <p:cNvPr name="Freeform 31" id="31"/>
          <p:cNvSpPr/>
          <p:nvPr/>
        </p:nvSpPr>
        <p:spPr>
          <a:xfrm flipH="false" flipV="false" rot="0">
            <a:off x="4036326" y="3219447"/>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4276572" y="3230798"/>
            <a:ext cx="7553550" cy="1307974"/>
            <a:chOff x="0" y="0"/>
            <a:chExt cx="11265408" cy="1950720"/>
          </a:xfrm>
        </p:grpSpPr>
        <p:sp>
          <p:nvSpPr>
            <p:cNvPr name="Freeform 33" id="33"/>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34" id="34"/>
          <p:cNvGrpSpPr/>
          <p:nvPr/>
        </p:nvGrpSpPr>
        <p:grpSpPr>
          <a:xfrm rot="0">
            <a:off x="4276572" y="3205251"/>
            <a:ext cx="7553550" cy="1333520"/>
            <a:chOff x="0" y="0"/>
            <a:chExt cx="11265408" cy="1988820"/>
          </a:xfrm>
        </p:grpSpPr>
        <p:sp>
          <p:nvSpPr>
            <p:cNvPr name="Freeform 35" id="35"/>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36" id="36"/>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El dato crudo. Registro generado automáticamente por sistemas, aplicaciones o dispositivos sobre lo que ocurre.</a:t>
              </a:r>
            </a:p>
          </p:txBody>
        </p:sp>
      </p:grpSp>
      <p:sp>
        <p:nvSpPr>
          <p:cNvPr name="Freeform 37" id="37"/>
          <p:cNvSpPr/>
          <p:nvPr/>
        </p:nvSpPr>
        <p:spPr>
          <a:xfrm flipH="false" flipV="false" rot="0">
            <a:off x="11949568" y="3219447"/>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12157116" y="3230798"/>
            <a:ext cx="4741406" cy="1307974"/>
            <a:chOff x="0" y="0"/>
            <a:chExt cx="7071360" cy="1950720"/>
          </a:xfrm>
        </p:grpSpPr>
        <p:sp>
          <p:nvSpPr>
            <p:cNvPr name="Freeform 39" id="39"/>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40" id="40"/>
          <p:cNvGrpSpPr/>
          <p:nvPr/>
        </p:nvGrpSpPr>
        <p:grpSpPr>
          <a:xfrm rot="0">
            <a:off x="12157116" y="3205251"/>
            <a:ext cx="4741406" cy="1333520"/>
            <a:chOff x="0" y="0"/>
            <a:chExt cx="7071360" cy="1988820"/>
          </a:xfrm>
        </p:grpSpPr>
        <p:sp>
          <p:nvSpPr>
            <p:cNvPr name="Freeform 41" id="41"/>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42" id="42"/>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"Usuario j.doe falló 5 veces el login en 2 minutos"</a:t>
              </a:r>
            </a:p>
          </p:txBody>
        </p:sp>
      </p:grpSp>
      <p:sp>
        <p:nvSpPr>
          <p:cNvPr name="Freeform 43" id="43"/>
          <p:cNvSpPr/>
          <p:nvPr/>
        </p:nvSpPr>
        <p:spPr>
          <a:xfrm flipH="false" flipV="false" rot="0">
            <a:off x="1714672" y="4756316"/>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4" id="44"/>
          <p:cNvGrpSpPr/>
          <p:nvPr/>
        </p:nvGrpSpPr>
        <p:grpSpPr>
          <a:xfrm rot="0">
            <a:off x="1726023" y="4767667"/>
            <a:ext cx="2288954" cy="1307974"/>
            <a:chOff x="0" y="0"/>
            <a:chExt cx="3413760" cy="1950720"/>
          </a:xfrm>
        </p:grpSpPr>
        <p:sp>
          <p:nvSpPr>
            <p:cNvPr name="Freeform 45" id="45"/>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46" id="46"/>
          <p:cNvGrpSpPr/>
          <p:nvPr/>
        </p:nvGrpSpPr>
        <p:grpSpPr>
          <a:xfrm rot="0">
            <a:off x="1726023" y="4735734"/>
            <a:ext cx="2288954" cy="1339907"/>
            <a:chOff x="0" y="0"/>
            <a:chExt cx="3413760" cy="1998345"/>
          </a:xfrm>
        </p:grpSpPr>
        <p:sp>
          <p:nvSpPr>
            <p:cNvPr name="Freeform 47" id="47"/>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48" id="48"/>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EVENTO</a:t>
              </a:r>
            </a:p>
          </p:txBody>
        </p:sp>
      </p:grpSp>
      <p:sp>
        <p:nvSpPr>
          <p:cNvPr name="Freeform 49" id="49"/>
          <p:cNvSpPr/>
          <p:nvPr/>
        </p:nvSpPr>
        <p:spPr>
          <a:xfrm flipH="false" flipV="false" rot="0">
            <a:off x="4036326" y="4756316"/>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0" id="50"/>
          <p:cNvGrpSpPr/>
          <p:nvPr/>
        </p:nvGrpSpPr>
        <p:grpSpPr>
          <a:xfrm rot="0">
            <a:off x="4276572" y="4767667"/>
            <a:ext cx="7553550" cy="1307974"/>
            <a:chOff x="0" y="0"/>
            <a:chExt cx="11265408" cy="1950720"/>
          </a:xfrm>
        </p:grpSpPr>
        <p:sp>
          <p:nvSpPr>
            <p:cNvPr name="Freeform 51" id="51"/>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52" id="52"/>
          <p:cNvGrpSpPr/>
          <p:nvPr/>
        </p:nvGrpSpPr>
        <p:grpSpPr>
          <a:xfrm rot="0">
            <a:off x="4276572" y="4742121"/>
            <a:ext cx="7553550" cy="1333520"/>
            <a:chOff x="0" y="0"/>
            <a:chExt cx="11265408" cy="1988820"/>
          </a:xfrm>
        </p:grpSpPr>
        <p:sp>
          <p:nvSpPr>
            <p:cNvPr name="Freeform 53" id="53"/>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54" id="54"/>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El log procesado con contexto. Una actividad observable que puede o no ser relevante para la seguridad.</a:t>
              </a:r>
            </a:p>
          </p:txBody>
        </p:sp>
      </p:grpSp>
      <p:sp>
        <p:nvSpPr>
          <p:cNvPr name="Freeform 55" id="55"/>
          <p:cNvSpPr/>
          <p:nvPr/>
        </p:nvSpPr>
        <p:spPr>
          <a:xfrm flipH="false" flipV="false" rot="0">
            <a:off x="11949568" y="4756316"/>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6" id="56"/>
          <p:cNvGrpSpPr/>
          <p:nvPr/>
        </p:nvGrpSpPr>
        <p:grpSpPr>
          <a:xfrm rot="0">
            <a:off x="12157116" y="4767667"/>
            <a:ext cx="4741406" cy="1307974"/>
            <a:chOff x="0" y="0"/>
            <a:chExt cx="7071360" cy="1950720"/>
          </a:xfrm>
        </p:grpSpPr>
        <p:sp>
          <p:nvSpPr>
            <p:cNvPr name="Freeform 57" id="57"/>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58" id="58"/>
          <p:cNvGrpSpPr/>
          <p:nvPr/>
        </p:nvGrpSpPr>
        <p:grpSpPr>
          <a:xfrm rot="0">
            <a:off x="12157116" y="4742121"/>
            <a:ext cx="4741406" cy="1333520"/>
            <a:chOff x="0" y="0"/>
            <a:chExt cx="7071360" cy="1988820"/>
          </a:xfrm>
        </p:grpSpPr>
        <p:sp>
          <p:nvSpPr>
            <p:cNvPr name="Freeform 59" id="59"/>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60" id="60"/>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"Intentos fallidos de autenticación detectados en host X"</a:t>
              </a:r>
            </a:p>
          </p:txBody>
        </p:sp>
      </p:grpSp>
      <p:sp>
        <p:nvSpPr>
          <p:cNvPr name="Freeform 61" id="61"/>
          <p:cNvSpPr/>
          <p:nvPr/>
        </p:nvSpPr>
        <p:spPr>
          <a:xfrm flipH="false" flipV="false" rot="0">
            <a:off x="1714672" y="6293185"/>
            <a:ext cx="2311606" cy="1330625"/>
          </a:xfrm>
          <a:custGeom>
            <a:avLst/>
            <a:gdLst/>
            <a:ahLst/>
            <a:cxnLst/>
            <a:rect r="r" b="b" t="t" l="l"/>
            <a:pathLst>
              <a:path h="1330625" w="2311606">
                <a:moveTo>
                  <a:pt x="0" y="0"/>
                </a:moveTo>
                <a:lnTo>
                  <a:pt x="2311606" y="0"/>
                </a:lnTo>
                <a:lnTo>
                  <a:pt x="2311606" y="1330626"/>
                </a:lnTo>
                <a:lnTo>
                  <a:pt x="0" y="133062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62" id="62"/>
          <p:cNvGrpSpPr/>
          <p:nvPr/>
        </p:nvGrpSpPr>
        <p:grpSpPr>
          <a:xfrm rot="0">
            <a:off x="1726023" y="6304537"/>
            <a:ext cx="2288954" cy="1307974"/>
            <a:chOff x="0" y="0"/>
            <a:chExt cx="3413760" cy="1950720"/>
          </a:xfrm>
        </p:grpSpPr>
        <p:sp>
          <p:nvSpPr>
            <p:cNvPr name="Freeform 63" id="63"/>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64" id="64"/>
          <p:cNvGrpSpPr/>
          <p:nvPr/>
        </p:nvGrpSpPr>
        <p:grpSpPr>
          <a:xfrm rot="0">
            <a:off x="1726023" y="6272604"/>
            <a:ext cx="2288954" cy="1339907"/>
            <a:chOff x="0" y="0"/>
            <a:chExt cx="3413760" cy="1998345"/>
          </a:xfrm>
        </p:grpSpPr>
        <p:sp>
          <p:nvSpPr>
            <p:cNvPr name="Freeform 65" id="65"/>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66" id="66"/>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ALERTA</a:t>
              </a:r>
            </a:p>
          </p:txBody>
        </p:sp>
      </p:grpSp>
      <p:sp>
        <p:nvSpPr>
          <p:cNvPr name="Freeform 67" id="67"/>
          <p:cNvSpPr/>
          <p:nvPr/>
        </p:nvSpPr>
        <p:spPr>
          <a:xfrm flipH="false" flipV="false" rot="0">
            <a:off x="4036326" y="6293185"/>
            <a:ext cx="7903194" cy="1330625"/>
          </a:xfrm>
          <a:custGeom>
            <a:avLst/>
            <a:gdLst/>
            <a:ahLst/>
            <a:cxnLst/>
            <a:rect r="r" b="b" t="t" l="l"/>
            <a:pathLst>
              <a:path h="1330625" w="7903194">
                <a:moveTo>
                  <a:pt x="0" y="0"/>
                </a:moveTo>
                <a:lnTo>
                  <a:pt x="7903194" y="0"/>
                </a:lnTo>
                <a:lnTo>
                  <a:pt x="7903194" y="1330626"/>
                </a:lnTo>
                <a:lnTo>
                  <a:pt x="0" y="133062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8" id="68"/>
          <p:cNvGrpSpPr/>
          <p:nvPr/>
        </p:nvGrpSpPr>
        <p:grpSpPr>
          <a:xfrm rot="0">
            <a:off x="4276572" y="6304537"/>
            <a:ext cx="7553550" cy="1307974"/>
            <a:chOff x="0" y="0"/>
            <a:chExt cx="11265408" cy="1950720"/>
          </a:xfrm>
        </p:grpSpPr>
        <p:sp>
          <p:nvSpPr>
            <p:cNvPr name="Freeform 69" id="69"/>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70" id="70"/>
          <p:cNvGrpSpPr/>
          <p:nvPr/>
        </p:nvGrpSpPr>
        <p:grpSpPr>
          <a:xfrm rot="0">
            <a:off x="4276572" y="6278990"/>
            <a:ext cx="7553550" cy="1333520"/>
            <a:chOff x="0" y="0"/>
            <a:chExt cx="11265408" cy="1988820"/>
          </a:xfrm>
        </p:grpSpPr>
        <p:sp>
          <p:nvSpPr>
            <p:cNvPr name="Freeform 71" id="71"/>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72" id="72"/>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Notificación generada por el SIEM u otras herramientas cuando se detecta un patrón que coincide con una regla de detección.</a:t>
              </a:r>
            </a:p>
          </p:txBody>
        </p:sp>
      </p:grpSp>
      <p:sp>
        <p:nvSpPr>
          <p:cNvPr name="Freeform 73" id="73"/>
          <p:cNvSpPr/>
          <p:nvPr/>
        </p:nvSpPr>
        <p:spPr>
          <a:xfrm flipH="false" flipV="false" rot="0">
            <a:off x="11949568" y="6293185"/>
            <a:ext cx="5091050" cy="1330625"/>
          </a:xfrm>
          <a:custGeom>
            <a:avLst/>
            <a:gdLst/>
            <a:ahLst/>
            <a:cxnLst/>
            <a:rect r="r" b="b" t="t" l="l"/>
            <a:pathLst>
              <a:path h="1330625" w="5091050">
                <a:moveTo>
                  <a:pt x="0" y="0"/>
                </a:moveTo>
                <a:lnTo>
                  <a:pt x="5091051" y="0"/>
                </a:lnTo>
                <a:lnTo>
                  <a:pt x="5091051" y="1330626"/>
                </a:lnTo>
                <a:lnTo>
                  <a:pt x="0" y="13306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74" id="74"/>
          <p:cNvGrpSpPr/>
          <p:nvPr/>
        </p:nvGrpSpPr>
        <p:grpSpPr>
          <a:xfrm rot="0">
            <a:off x="12157116" y="6304537"/>
            <a:ext cx="4741406" cy="1307974"/>
            <a:chOff x="0" y="0"/>
            <a:chExt cx="7071360" cy="1950720"/>
          </a:xfrm>
        </p:grpSpPr>
        <p:sp>
          <p:nvSpPr>
            <p:cNvPr name="Freeform 75" id="75"/>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76" id="76"/>
          <p:cNvGrpSpPr/>
          <p:nvPr/>
        </p:nvGrpSpPr>
        <p:grpSpPr>
          <a:xfrm rot="0">
            <a:off x="12157116" y="6278990"/>
            <a:ext cx="4741406" cy="1333520"/>
            <a:chOff x="0" y="0"/>
            <a:chExt cx="7071360" cy="1988820"/>
          </a:xfrm>
        </p:grpSpPr>
        <p:sp>
          <p:nvSpPr>
            <p:cNvPr name="Freeform 77" id="77"/>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78" id="78"/>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"Posible fuerza bruta desde IP 188.67.23.10 – severidad media"</a:t>
              </a:r>
            </a:p>
          </p:txBody>
        </p:sp>
      </p:grpSp>
      <p:sp>
        <p:nvSpPr>
          <p:cNvPr name="Freeform 79" id="79"/>
          <p:cNvSpPr/>
          <p:nvPr/>
        </p:nvSpPr>
        <p:spPr>
          <a:xfrm flipH="false" flipV="false" rot="0">
            <a:off x="1714672" y="7830055"/>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80" id="80"/>
          <p:cNvGrpSpPr/>
          <p:nvPr/>
        </p:nvGrpSpPr>
        <p:grpSpPr>
          <a:xfrm rot="0">
            <a:off x="1726023" y="7841406"/>
            <a:ext cx="2288954" cy="1307974"/>
            <a:chOff x="0" y="0"/>
            <a:chExt cx="3413760" cy="1950720"/>
          </a:xfrm>
        </p:grpSpPr>
        <p:sp>
          <p:nvSpPr>
            <p:cNvPr name="Freeform 81" id="81"/>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82" id="82"/>
          <p:cNvGrpSpPr/>
          <p:nvPr/>
        </p:nvGrpSpPr>
        <p:grpSpPr>
          <a:xfrm rot="0">
            <a:off x="1726023" y="7809473"/>
            <a:ext cx="2288954" cy="1339907"/>
            <a:chOff x="0" y="0"/>
            <a:chExt cx="3413760" cy="1998345"/>
          </a:xfrm>
        </p:grpSpPr>
        <p:sp>
          <p:nvSpPr>
            <p:cNvPr name="Freeform 83" id="83"/>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84" id="84"/>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INCIDENTE</a:t>
              </a:r>
            </a:p>
          </p:txBody>
        </p:sp>
      </p:grpSp>
      <p:sp>
        <p:nvSpPr>
          <p:cNvPr name="Freeform 85" id="85"/>
          <p:cNvSpPr/>
          <p:nvPr/>
        </p:nvSpPr>
        <p:spPr>
          <a:xfrm flipH="false" flipV="false" rot="0">
            <a:off x="4036326" y="7830055"/>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6" id="86"/>
          <p:cNvGrpSpPr/>
          <p:nvPr/>
        </p:nvGrpSpPr>
        <p:grpSpPr>
          <a:xfrm rot="0">
            <a:off x="4276572" y="7841406"/>
            <a:ext cx="7553550" cy="1307974"/>
            <a:chOff x="0" y="0"/>
            <a:chExt cx="11265408" cy="1950720"/>
          </a:xfrm>
        </p:grpSpPr>
        <p:sp>
          <p:nvSpPr>
            <p:cNvPr name="Freeform 87" id="87"/>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88" id="88"/>
          <p:cNvGrpSpPr/>
          <p:nvPr/>
        </p:nvGrpSpPr>
        <p:grpSpPr>
          <a:xfrm rot="0">
            <a:off x="4276572" y="7815860"/>
            <a:ext cx="7553550" cy="1333520"/>
            <a:chOff x="0" y="0"/>
            <a:chExt cx="11265408" cy="1988820"/>
          </a:xfrm>
        </p:grpSpPr>
        <p:sp>
          <p:nvSpPr>
            <p:cNvPr name="Freeform 89" id="89"/>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90" id="90"/>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Alerta confirmada como real que requiere investigación, documentación, contención o escalamiento según su severidad.</a:t>
              </a:r>
            </a:p>
          </p:txBody>
        </p:sp>
      </p:grpSp>
      <p:sp>
        <p:nvSpPr>
          <p:cNvPr name="Freeform 91" id="91"/>
          <p:cNvSpPr/>
          <p:nvPr/>
        </p:nvSpPr>
        <p:spPr>
          <a:xfrm flipH="false" flipV="false" rot="0">
            <a:off x="11949568" y="7830055"/>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92" id="92"/>
          <p:cNvGrpSpPr/>
          <p:nvPr/>
        </p:nvGrpSpPr>
        <p:grpSpPr>
          <a:xfrm rot="0">
            <a:off x="12157116" y="7841406"/>
            <a:ext cx="4741406" cy="1307974"/>
            <a:chOff x="0" y="0"/>
            <a:chExt cx="7071360" cy="1950720"/>
          </a:xfrm>
        </p:grpSpPr>
        <p:sp>
          <p:nvSpPr>
            <p:cNvPr name="Freeform 93" id="93"/>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94" id="94"/>
          <p:cNvGrpSpPr/>
          <p:nvPr/>
        </p:nvGrpSpPr>
        <p:grpSpPr>
          <a:xfrm rot="0">
            <a:off x="12157116" y="7815860"/>
            <a:ext cx="4741406" cy="1333520"/>
            <a:chOff x="0" y="0"/>
            <a:chExt cx="7071360" cy="1988820"/>
          </a:xfrm>
        </p:grpSpPr>
        <p:sp>
          <p:nvSpPr>
            <p:cNvPr name="Freeform 95" id="95"/>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96" id="96"/>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Confirmado: el usuario fue comprometido y accedieron a datos sensibles</a:t>
              </a:r>
            </a:p>
          </p:txBody>
        </p:sp>
      </p:grpSp>
      <p:grpSp>
        <p:nvGrpSpPr>
          <p:cNvPr name="Group 97" id="97"/>
          <p:cNvGrpSpPr/>
          <p:nvPr/>
        </p:nvGrpSpPr>
        <p:grpSpPr>
          <a:xfrm rot="0">
            <a:off x="15983863" y="24203"/>
            <a:ext cx="1855079" cy="1855079"/>
            <a:chOff x="0" y="0"/>
            <a:chExt cx="5852160" cy="5852160"/>
          </a:xfrm>
        </p:grpSpPr>
        <p:sp>
          <p:nvSpPr>
            <p:cNvPr name="Freeform 98" id="9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p.33</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1.4  |  Flujo típico de herramientas en un incidente real</a:t>
              </a:r>
            </a:p>
          </p:txBody>
        </p:sp>
      </p:grpSp>
      <p:sp>
        <p:nvSpPr>
          <p:cNvPr name="Freeform 19" id="19"/>
          <p:cNvSpPr/>
          <p:nvPr/>
        </p:nvSpPr>
        <p:spPr>
          <a:xfrm flipH="false" flipV="false" rot="0">
            <a:off x="1216434" y="2432572"/>
            <a:ext cx="4856560" cy="941327"/>
          </a:xfrm>
          <a:custGeom>
            <a:avLst/>
            <a:gdLst/>
            <a:ahLst/>
            <a:cxnLst/>
            <a:rect r="r" b="b" t="t" l="l"/>
            <a:pathLst>
              <a:path h="941327" w="4856560">
                <a:moveTo>
                  <a:pt x="0" y="0"/>
                </a:moveTo>
                <a:lnTo>
                  <a:pt x="4856560" y="0"/>
                </a:lnTo>
                <a:lnTo>
                  <a:pt x="4856560" y="941327"/>
                </a:lnTo>
                <a:lnTo>
                  <a:pt x="0" y="9413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1227439" y="2443577"/>
            <a:ext cx="4834600" cy="919367"/>
            <a:chOff x="0" y="0"/>
            <a:chExt cx="7437120" cy="1414272"/>
          </a:xfrm>
        </p:grpSpPr>
        <p:sp>
          <p:nvSpPr>
            <p:cNvPr name="Freeform 21" id="21"/>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22" id="22"/>
          <p:cNvGrpSpPr/>
          <p:nvPr/>
        </p:nvGrpSpPr>
        <p:grpSpPr>
          <a:xfrm rot="0">
            <a:off x="1227439" y="2400234"/>
            <a:ext cx="4834600" cy="962710"/>
            <a:chOff x="0" y="0"/>
            <a:chExt cx="7437120" cy="1480947"/>
          </a:xfrm>
        </p:grpSpPr>
        <p:sp>
          <p:nvSpPr>
            <p:cNvPr name="Freeform 23" id="23"/>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24" id="24"/>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WAF</a:t>
              </a:r>
            </a:p>
          </p:txBody>
        </p:sp>
      </p:grpSp>
      <p:sp>
        <p:nvSpPr>
          <p:cNvPr name="Freeform 25" id="25"/>
          <p:cNvSpPr/>
          <p:nvPr/>
        </p:nvSpPr>
        <p:spPr>
          <a:xfrm flipH="false" flipV="false" rot="0">
            <a:off x="1216434" y="3383641"/>
            <a:ext cx="4856560" cy="5252839"/>
          </a:xfrm>
          <a:custGeom>
            <a:avLst/>
            <a:gdLst/>
            <a:ahLst/>
            <a:cxnLst/>
            <a:rect r="r" b="b" t="t" l="l"/>
            <a:pathLst>
              <a:path h="5252839" w="4856560">
                <a:moveTo>
                  <a:pt x="0" y="0"/>
                </a:moveTo>
                <a:lnTo>
                  <a:pt x="4856560" y="0"/>
                </a:lnTo>
                <a:lnTo>
                  <a:pt x="4856560"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1473132" y="3592193"/>
            <a:ext cx="4343214" cy="223804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Detecta actividad sospechosa en una aplicación web. Por ejemplo, un intento de SQL injection o múltiples peticiones anómalas a un formulario de login.</a:t>
            </a:r>
          </a:p>
          <a:p>
            <a:pPr algn="l">
              <a:lnSpc>
                <a:spcPts val="2981"/>
              </a:lnSpc>
            </a:pPr>
          </a:p>
          <a:p>
            <a:pPr algn="l">
              <a:lnSpc>
                <a:spcPts val="2981"/>
              </a:lnSpc>
            </a:pPr>
            <a:r>
              <a:rPr lang="en-US" sz="1733">
                <a:solidFill>
                  <a:srgbClr val="DDDDDD"/>
                </a:solidFill>
                <a:latin typeface="Calibri (MS)"/>
                <a:ea typeface="Calibri (MS)"/>
                <a:cs typeface="Calibri (MS)"/>
                <a:sym typeface="Calibri (MS)"/>
              </a:rPr>
              <a:t>El WAF registra el evento y genera un log.</a:t>
            </a:r>
          </a:p>
        </p:txBody>
      </p:sp>
      <p:grpSp>
        <p:nvGrpSpPr>
          <p:cNvPr name="Group 27" id="27"/>
          <p:cNvGrpSpPr/>
          <p:nvPr/>
        </p:nvGrpSpPr>
        <p:grpSpPr>
          <a:xfrm rot="0">
            <a:off x="6520669" y="2443577"/>
            <a:ext cx="206065" cy="919367"/>
            <a:chOff x="0" y="0"/>
            <a:chExt cx="316992" cy="1414272"/>
          </a:xfrm>
        </p:grpSpPr>
        <p:sp>
          <p:nvSpPr>
            <p:cNvPr name="Freeform 28" id="28"/>
            <p:cNvSpPr/>
            <p:nvPr/>
          </p:nvSpPr>
          <p:spPr>
            <a:xfrm flipH="false" flipV="false" rot="0">
              <a:off x="0" y="0"/>
              <a:ext cx="316992" cy="1414272"/>
            </a:xfrm>
            <a:custGeom>
              <a:avLst/>
              <a:gdLst/>
              <a:ahLst/>
              <a:cxnLst/>
              <a:rect r="r" b="b" t="t" l="l"/>
              <a:pathLst>
                <a:path h="1414272" w="316992">
                  <a:moveTo>
                    <a:pt x="0" y="0"/>
                  </a:moveTo>
                  <a:lnTo>
                    <a:pt x="316992" y="0"/>
                  </a:lnTo>
                  <a:lnTo>
                    <a:pt x="316992" y="1414272"/>
                  </a:lnTo>
                  <a:lnTo>
                    <a:pt x="0" y="1414272"/>
                  </a:lnTo>
                  <a:close/>
                </a:path>
              </a:pathLst>
            </a:custGeom>
            <a:blipFill>
              <a:blip r:embed="rId5">
                <a:alphaModFix amt="0"/>
              </a:blip>
              <a:stretch>
                <a:fillRect l="-522828" t="0" r="-522832" b="0"/>
              </a:stretch>
            </a:blipFill>
          </p:spPr>
        </p:sp>
      </p:grpSp>
      <p:grpSp>
        <p:nvGrpSpPr>
          <p:cNvPr name="Group 29" id="29"/>
          <p:cNvGrpSpPr/>
          <p:nvPr/>
        </p:nvGrpSpPr>
        <p:grpSpPr>
          <a:xfrm rot="0">
            <a:off x="6168043" y="2464910"/>
            <a:ext cx="441683" cy="962710"/>
            <a:chOff x="0" y="0"/>
            <a:chExt cx="679445" cy="1480947"/>
          </a:xfrm>
        </p:grpSpPr>
        <p:sp>
          <p:nvSpPr>
            <p:cNvPr name="Freeform 30" id="30"/>
            <p:cNvSpPr/>
            <p:nvPr/>
          </p:nvSpPr>
          <p:spPr>
            <a:xfrm flipH="false" flipV="false" rot="0">
              <a:off x="0" y="0"/>
              <a:ext cx="679445" cy="1480947"/>
            </a:xfrm>
            <a:custGeom>
              <a:avLst/>
              <a:gdLst/>
              <a:ahLst/>
              <a:cxnLst/>
              <a:rect r="r" b="b" t="t" l="l"/>
              <a:pathLst>
                <a:path h="1480947" w="679445">
                  <a:moveTo>
                    <a:pt x="0" y="0"/>
                  </a:moveTo>
                  <a:lnTo>
                    <a:pt x="679445" y="0"/>
                  </a:lnTo>
                  <a:lnTo>
                    <a:pt x="679445" y="1480947"/>
                  </a:lnTo>
                  <a:lnTo>
                    <a:pt x="0" y="1480947"/>
                  </a:lnTo>
                  <a:close/>
                </a:path>
              </a:pathLst>
            </a:custGeom>
            <a:blipFill>
              <a:blip r:embed="rId6">
                <a:alphaModFix amt="0"/>
              </a:blip>
              <a:stretch>
                <a:fillRect l="-256328" t="0" r="-202982" b="0"/>
              </a:stretch>
            </a:blipFill>
          </p:spPr>
        </p:sp>
        <p:sp>
          <p:nvSpPr>
            <p:cNvPr name="TextBox 31" id="31"/>
            <p:cNvSpPr txBox="true"/>
            <p:nvPr/>
          </p:nvSpPr>
          <p:spPr>
            <a:xfrm>
              <a:off x="0" y="-66675"/>
              <a:ext cx="679445" cy="1547622"/>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32" id="32"/>
          <p:cNvSpPr/>
          <p:nvPr/>
        </p:nvSpPr>
        <p:spPr>
          <a:xfrm flipH="false" flipV="false" rot="0">
            <a:off x="6715729" y="2432572"/>
            <a:ext cx="4856560" cy="941327"/>
          </a:xfrm>
          <a:custGeom>
            <a:avLst/>
            <a:gdLst/>
            <a:ahLst/>
            <a:cxnLst/>
            <a:rect r="r" b="b" t="t" l="l"/>
            <a:pathLst>
              <a:path h="941327" w="4856560">
                <a:moveTo>
                  <a:pt x="0" y="0"/>
                </a:moveTo>
                <a:lnTo>
                  <a:pt x="4856561" y="0"/>
                </a:lnTo>
                <a:lnTo>
                  <a:pt x="4856561" y="941327"/>
                </a:lnTo>
                <a:lnTo>
                  <a:pt x="0" y="9413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3" id="33"/>
          <p:cNvGrpSpPr/>
          <p:nvPr/>
        </p:nvGrpSpPr>
        <p:grpSpPr>
          <a:xfrm rot="0">
            <a:off x="6726734" y="2443577"/>
            <a:ext cx="4834600" cy="919367"/>
            <a:chOff x="0" y="0"/>
            <a:chExt cx="7437120" cy="1414272"/>
          </a:xfrm>
        </p:grpSpPr>
        <p:sp>
          <p:nvSpPr>
            <p:cNvPr name="Freeform 34" id="34"/>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35" id="35"/>
          <p:cNvGrpSpPr/>
          <p:nvPr/>
        </p:nvGrpSpPr>
        <p:grpSpPr>
          <a:xfrm rot="0">
            <a:off x="6726734" y="2400234"/>
            <a:ext cx="4834600" cy="962710"/>
            <a:chOff x="0" y="0"/>
            <a:chExt cx="7437120" cy="1480947"/>
          </a:xfrm>
        </p:grpSpPr>
        <p:sp>
          <p:nvSpPr>
            <p:cNvPr name="Freeform 36" id="36"/>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37" id="37"/>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SIEM</a:t>
              </a:r>
            </a:p>
          </p:txBody>
        </p:sp>
      </p:grpSp>
      <p:sp>
        <p:nvSpPr>
          <p:cNvPr name="Freeform 38" id="38"/>
          <p:cNvSpPr/>
          <p:nvPr/>
        </p:nvSpPr>
        <p:spPr>
          <a:xfrm flipH="false" flipV="false" rot="0">
            <a:off x="6715729" y="3383641"/>
            <a:ext cx="4856560" cy="5252839"/>
          </a:xfrm>
          <a:custGeom>
            <a:avLst/>
            <a:gdLst/>
            <a:ahLst/>
            <a:cxnLst/>
            <a:rect r="r" b="b" t="t" l="l"/>
            <a:pathLst>
              <a:path h="5252839" w="4856560">
                <a:moveTo>
                  <a:pt x="0" y="0"/>
                </a:moveTo>
                <a:lnTo>
                  <a:pt x="4856561" y="0"/>
                </a:lnTo>
                <a:lnTo>
                  <a:pt x="4856561"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6972364" y="3577906"/>
            <a:ext cx="4343214" cy="223804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Ese log es enviado al SIEM, que lo correlaciona con otros eventos: múltiples intentos desde la misma IP en distintos sistemas.</a:t>
            </a:r>
          </a:p>
          <a:p>
            <a:pPr algn="l">
              <a:lnSpc>
                <a:spcPts val="2981"/>
              </a:lnSpc>
            </a:pPr>
          </a:p>
          <a:p>
            <a:pPr algn="l">
              <a:lnSpc>
                <a:spcPts val="2981"/>
              </a:lnSpc>
            </a:pPr>
            <a:r>
              <a:rPr lang="en-US" sz="1733">
                <a:solidFill>
                  <a:srgbClr val="DDDDDD"/>
                </a:solidFill>
                <a:latin typeface="Calibri (MS)"/>
                <a:ea typeface="Calibri (MS)"/>
                <a:cs typeface="Calibri (MS)"/>
                <a:sym typeface="Calibri (MS)"/>
              </a:rPr>
              <a:t>Al detectar ese patrón, genera una alerta en el panel del analista L1.</a:t>
            </a:r>
          </a:p>
        </p:txBody>
      </p:sp>
      <p:grpSp>
        <p:nvGrpSpPr>
          <p:cNvPr name="Group 40" id="40"/>
          <p:cNvGrpSpPr/>
          <p:nvPr/>
        </p:nvGrpSpPr>
        <p:grpSpPr>
          <a:xfrm rot="0">
            <a:off x="11593037" y="2443577"/>
            <a:ext cx="206065" cy="919367"/>
            <a:chOff x="0" y="0"/>
            <a:chExt cx="316992" cy="1414272"/>
          </a:xfrm>
        </p:grpSpPr>
        <p:sp>
          <p:nvSpPr>
            <p:cNvPr name="Freeform 41" id="41"/>
            <p:cNvSpPr/>
            <p:nvPr/>
          </p:nvSpPr>
          <p:spPr>
            <a:xfrm flipH="false" flipV="false" rot="0">
              <a:off x="0" y="0"/>
              <a:ext cx="316992" cy="1414272"/>
            </a:xfrm>
            <a:custGeom>
              <a:avLst/>
              <a:gdLst/>
              <a:ahLst/>
              <a:cxnLst/>
              <a:rect r="r" b="b" t="t" l="l"/>
              <a:pathLst>
                <a:path h="1414272" w="316992">
                  <a:moveTo>
                    <a:pt x="0" y="0"/>
                  </a:moveTo>
                  <a:lnTo>
                    <a:pt x="316992" y="0"/>
                  </a:lnTo>
                  <a:lnTo>
                    <a:pt x="316992" y="1414272"/>
                  </a:lnTo>
                  <a:lnTo>
                    <a:pt x="0" y="1414272"/>
                  </a:lnTo>
                  <a:close/>
                </a:path>
              </a:pathLst>
            </a:custGeom>
            <a:blipFill>
              <a:blip r:embed="rId5">
                <a:alphaModFix amt="0"/>
              </a:blip>
              <a:stretch>
                <a:fillRect l="-522828" t="0" r="-522832" b="0"/>
              </a:stretch>
            </a:blipFill>
          </p:spPr>
        </p:sp>
      </p:grpSp>
      <p:grpSp>
        <p:nvGrpSpPr>
          <p:cNvPr name="Group 42" id="42"/>
          <p:cNvGrpSpPr/>
          <p:nvPr/>
        </p:nvGrpSpPr>
        <p:grpSpPr>
          <a:xfrm rot="0">
            <a:off x="11660857" y="2454219"/>
            <a:ext cx="497352" cy="962710"/>
            <a:chOff x="0" y="0"/>
            <a:chExt cx="765083" cy="1480947"/>
          </a:xfrm>
        </p:grpSpPr>
        <p:sp>
          <p:nvSpPr>
            <p:cNvPr name="Freeform 43" id="43"/>
            <p:cNvSpPr/>
            <p:nvPr/>
          </p:nvSpPr>
          <p:spPr>
            <a:xfrm flipH="false" flipV="false" rot="0">
              <a:off x="0" y="0"/>
              <a:ext cx="765083" cy="1480947"/>
            </a:xfrm>
            <a:custGeom>
              <a:avLst/>
              <a:gdLst/>
              <a:ahLst/>
              <a:cxnLst/>
              <a:rect r="r" b="b" t="t" l="l"/>
              <a:pathLst>
                <a:path h="1480947" w="765083">
                  <a:moveTo>
                    <a:pt x="0" y="0"/>
                  </a:moveTo>
                  <a:lnTo>
                    <a:pt x="765083" y="0"/>
                  </a:lnTo>
                  <a:lnTo>
                    <a:pt x="765083" y="1480947"/>
                  </a:lnTo>
                  <a:lnTo>
                    <a:pt x="0" y="1480947"/>
                  </a:lnTo>
                  <a:close/>
                </a:path>
              </a:pathLst>
            </a:custGeom>
            <a:blipFill>
              <a:blip r:embed="rId6">
                <a:alphaModFix amt="0"/>
              </a:blip>
              <a:stretch>
                <a:fillRect l="-227637" t="0" r="-169069" b="0"/>
              </a:stretch>
            </a:blipFill>
          </p:spPr>
        </p:sp>
        <p:sp>
          <p:nvSpPr>
            <p:cNvPr name="TextBox 44" id="44"/>
            <p:cNvSpPr txBox="true"/>
            <p:nvPr/>
          </p:nvSpPr>
          <p:spPr>
            <a:xfrm>
              <a:off x="0" y="-66675"/>
              <a:ext cx="765083" cy="1547622"/>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5" id="45"/>
          <p:cNvSpPr/>
          <p:nvPr/>
        </p:nvSpPr>
        <p:spPr>
          <a:xfrm flipH="false" flipV="false" rot="0">
            <a:off x="12246776" y="2464910"/>
            <a:ext cx="4856560" cy="941327"/>
          </a:xfrm>
          <a:custGeom>
            <a:avLst/>
            <a:gdLst/>
            <a:ahLst/>
            <a:cxnLst/>
            <a:rect r="r" b="b" t="t" l="l"/>
            <a:pathLst>
              <a:path h="941327" w="4856560">
                <a:moveTo>
                  <a:pt x="0" y="0"/>
                </a:moveTo>
                <a:lnTo>
                  <a:pt x="4856561" y="0"/>
                </a:lnTo>
                <a:lnTo>
                  <a:pt x="4856561" y="941327"/>
                </a:lnTo>
                <a:lnTo>
                  <a:pt x="0" y="94132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6" id="46"/>
          <p:cNvGrpSpPr/>
          <p:nvPr/>
        </p:nvGrpSpPr>
        <p:grpSpPr>
          <a:xfrm rot="0">
            <a:off x="12257781" y="2475915"/>
            <a:ext cx="4834600" cy="919367"/>
            <a:chOff x="0" y="0"/>
            <a:chExt cx="7437120" cy="1414272"/>
          </a:xfrm>
        </p:grpSpPr>
        <p:sp>
          <p:nvSpPr>
            <p:cNvPr name="Freeform 47" id="47"/>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48" id="48"/>
          <p:cNvGrpSpPr/>
          <p:nvPr/>
        </p:nvGrpSpPr>
        <p:grpSpPr>
          <a:xfrm rot="0">
            <a:off x="12257781" y="2432572"/>
            <a:ext cx="4834600" cy="962710"/>
            <a:chOff x="0" y="0"/>
            <a:chExt cx="7437120" cy="1480947"/>
          </a:xfrm>
        </p:grpSpPr>
        <p:sp>
          <p:nvSpPr>
            <p:cNvPr name="Freeform 49" id="49"/>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50" id="50"/>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SOAR</a:t>
              </a:r>
            </a:p>
          </p:txBody>
        </p:sp>
      </p:grpSp>
      <p:sp>
        <p:nvSpPr>
          <p:cNvPr name="Freeform 51" id="51"/>
          <p:cNvSpPr/>
          <p:nvPr/>
        </p:nvSpPr>
        <p:spPr>
          <a:xfrm flipH="false" flipV="false" rot="0">
            <a:off x="12246776" y="3415979"/>
            <a:ext cx="4856560" cy="5252839"/>
          </a:xfrm>
          <a:custGeom>
            <a:avLst/>
            <a:gdLst/>
            <a:ahLst/>
            <a:cxnLst/>
            <a:rect r="r" b="b" t="t" l="l"/>
            <a:pathLst>
              <a:path h="5252839" w="4856560">
                <a:moveTo>
                  <a:pt x="0" y="0"/>
                </a:moveTo>
                <a:lnTo>
                  <a:pt x="4856561" y="0"/>
                </a:lnTo>
                <a:lnTo>
                  <a:pt x="4856561"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52" id="52"/>
          <p:cNvSpPr txBox="true"/>
          <p:nvPr/>
        </p:nvSpPr>
        <p:spPr>
          <a:xfrm rot="0">
            <a:off x="12568189" y="3577906"/>
            <a:ext cx="4343214" cy="260949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Cuando el analista confirma el incidente, puede activar un playbook en el SOAR que:</a:t>
            </a:r>
          </a:p>
          <a:p>
            <a:pPr algn="l">
              <a:lnSpc>
                <a:spcPts val="2981"/>
              </a:lnSpc>
            </a:pPr>
            <a:r>
              <a:rPr lang="en-US" sz="1733">
                <a:solidFill>
                  <a:srgbClr val="DDDDDD"/>
                </a:solidFill>
                <a:latin typeface="Calibri (MS)"/>
                <a:ea typeface="Calibri (MS)"/>
                <a:cs typeface="Calibri (MS)"/>
                <a:sym typeface="Calibri (MS)"/>
              </a:rPr>
              <a:t>• Bloquea la IP desde el firewall automáticamente</a:t>
            </a:r>
          </a:p>
          <a:p>
            <a:pPr algn="l">
              <a:lnSpc>
                <a:spcPts val="2981"/>
              </a:lnSpc>
            </a:pPr>
            <a:r>
              <a:rPr lang="en-US" sz="1733">
                <a:solidFill>
                  <a:srgbClr val="DDDDDD"/>
                </a:solidFill>
                <a:latin typeface="Calibri (MS)"/>
                <a:ea typeface="Calibri (MS)"/>
                <a:cs typeface="Calibri (MS)"/>
                <a:sym typeface="Calibri (MS)"/>
              </a:rPr>
              <a:t>• Notifica al equipo de infraestructura</a:t>
            </a:r>
          </a:p>
          <a:p>
            <a:pPr algn="l">
              <a:lnSpc>
                <a:spcPts val="2981"/>
              </a:lnSpc>
            </a:pPr>
            <a:r>
              <a:rPr lang="en-US" sz="1733">
                <a:solidFill>
                  <a:srgbClr val="DDDDDD"/>
                </a:solidFill>
                <a:latin typeface="Calibri (MS)"/>
                <a:ea typeface="Calibri (MS)"/>
                <a:cs typeface="Calibri (MS)"/>
                <a:sym typeface="Calibri (MS)"/>
              </a:rPr>
              <a:t>• Crea un ticket de seguimiento</a:t>
            </a:r>
          </a:p>
          <a:p>
            <a:pPr algn="l">
              <a:lnSpc>
                <a:spcPts val="2981"/>
              </a:lnSpc>
            </a:pPr>
            <a:r>
              <a:rPr lang="en-US" sz="1733">
                <a:solidFill>
                  <a:srgbClr val="DDDDDD"/>
                </a:solidFill>
                <a:latin typeface="Calibri (MS)"/>
                <a:ea typeface="Calibri (MS)"/>
                <a:cs typeface="Calibri (MS)"/>
                <a:sym typeface="Calibri (MS)"/>
              </a:rPr>
              <a:t>• Guarda evidencia para análisis forense</a:t>
            </a:r>
          </a:p>
        </p:txBody>
      </p:sp>
      <p:grpSp>
        <p:nvGrpSpPr>
          <p:cNvPr name="Group 53" id="53"/>
          <p:cNvGrpSpPr/>
          <p:nvPr/>
        </p:nvGrpSpPr>
        <p:grpSpPr>
          <a:xfrm rot="0">
            <a:off x="640090" y="9052570"/>
            <a:ext cx="17007840" cy="640080"/>
            <a:chOff x="0" y="0"/>
            <a:chExt cx="22677120" cy="853440"/>
          </a:xfrm>
        </p:grpSpPr>
        <p:sp>
          <p:nvSpPr>
            <p:cNvPr name="Freeform 54" id="54"/>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55" id="55"/>
          <p:cNvGrpSpPr/>
          <p:nvPr/>
        </p:nvGrpSpPr>
        <p:grpSpPr>
          <a:xfrm rot="0">
            <a:off x="640114" y="8881406"/>
            <a:ext cx="17007840" cy="668655"/>
            <a:chOff x="0" y="0"/>
            <a:chExt cx="22677120" cy="891540"/>
          </a:xfrm>
        </p:grpSpPr>
        <p:sp>
          <p:nvSpPr>
            <p:cNvPr name="Freeform 56" id="56"/>
            <p:cNvSpPr/>
            <p:nvPr/>
          </p:nvSpPr>
          <p:spPr>
            <a:xfrm flipH="false" flipV="false" rot="0">
              <a:off x="0" y="0"/>
              <a:ext cx="22677120" cy="891540"/>
            </a:xfrm>
            <a:custGeom>
              <a:avLst/>
              <a:gdLst/>
              <a:ahLst/>
              <a:cxnLst/>
              <a:rect r="r" b="b" t="t" l="l"/>
              <a:pathLst>
                <a:path h="891540" w="22677120">
                  <a:moveTo>
                    <a:pt x="0" y="0"/>
                  </a:moveTo>
                  <a:lnTo>
                    <a:pt x="22677120" y="0"/>
                  </a:lnTo>
                  <a:lnTo>
                    <a:pt x="22677120" y="891540"/>
                  </a:lnTo>
                  <a:lnTo>
                    <a:pt x="0" y="891540"/>
                  </a:lnTo>
                  <a:close/>
                </a:path>
              </a:pathLst>
            </a:custGeom>
            <a:blipFill>
              <a:blip r:embed="rId6">
                <a:alphaModFix amt="0"/>
              </a:blip>
              <a:stretch>
                <a:fillRect l="0" t="-445619" r="0" b="-445619"/>
              </a:stretch>
            </a:blipFill>
          </p:spPr>
        </p:sp>
        <p:sp>
          <p:nvSpPr>
            <p:cNvPr name="TextBox 57" id="57"/>
            <p:cNvSpPr txBox="true"/>
            <p:nvPr/>
          </p:nvSpPr>
          <p:spPr>
            <a:xfrm>
              <a:off x="0" y="-38100"/>
              <a:ext cx="22677120" cy="929640"/>
            </a:xfrm>
            <a:prstGeom prst="rect">
              <a:avLst/>
            </a:prstGeom>
          </p:spPr>
          <p:txBody>
            <a:bodyPr anchor="ctr" rtlCol="false" tIns="0" lIns="0" bIns="0" rIns="0"/>
            <a:lstStyle/>
            <a:p>
              <a:pPr algn="ctr">
                <a:lnSpc>
                  <a:spcPts val="2400"/>
                </a:lnSpc>
              </a:pPr>
              <a:r>
                <a:rPr lang="en-US" sz="2000" i="true">
                  <a:solidFill>
                    <a:srgbClr val="888888"/>
                  </a:solidFill>
                  <a:latin typeface="Calibri (MS) Italics"/>
                  <a:ea typeface="Calibri (MS) Italics"/>
                  <a:cs typeface="Calibri (MS) Italics"/>
                  <a:sym typeface="Calibri (MS) Italics"/>
                </a:rPr>
                <a:t>Lógica constante: Detección → Correlación → Análisis → Respuesta coordinada</a:t>
              </a:r>
            </a:p>
          </p:txBody>
        </p:sp>
      </p:grpSp>
      <p:grpSp>
        <p:nvGrpSpPr>
          <p:cNvPr name="Group 58" id="58"/>
          <p:cNvGrpSpPr/>
          <p:nvPr/>
        </p:nvGrpSpPr>
        <p:grpSpPr>
          <a:xfrm rot="0">
            <a:off x="15983863" y="24203"/>
            <a:ext cx="1855079" cy="1855079"/>
            <a:chOff x="0" y="0"/>
            <a:chExt cx="5852160" cy="5852160"/>
          </a:xfrm>
        </p:grpSpPr>
        <p:sp>
          <p:nvSpPr>
            <p:cNvPr name="Freeform 59" id="5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7"/>
              <a:stretch>
                <a:fillRect l="0" t="0" r="0" b="0"/>
              </a:stretch>
            </a:blipFill>
          </p:spPr>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1.4  |  Coordinación entre niveles y con otras áreas de la organización</a:t>
              </a:r>
            </a:p>
          </p:txBody>
        </p:sp>
      </p:grpSp>
      <p:grpSp>
        <p:nvGrpSpPr>
          <p:cNvPr name="Group 20" id="20"/>
          <p:cNvGrpSpPr/>
          <p:nvPr/>
        </p:nvGrpSpPr>
        <p:grpSpPr>
          <a:xfrm rot="0">
            <a:off x="640080" y="1773936"/>
            <a:ext cx="17007840" cy="585216"/>
            <a:chOff x="0" y="0"/>
            <a:chExt cx="22677120" cy="780288"/>
          </a:xfrm>
        </p:grpSpPr>
        <p:sp>
          <p:nvSpPr>
            <p:cNvPr name="Freeform 21" id="21"/>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22" id="22"/>
          <p:cNvGrpSpPr/>
          <p:nvPr/>
        </p:nvGrpSpPr>
        <p:grpSpPr>
          <a:xfrm rot="0">
            <a:off x="640080" y="1943961"/>
            <a:ext cx="17007840" cy="620935"/>
            <a:chOff x="0" y="0"/>
            <a:chExt cx="22677120" cy="827913"/>
          </a:xfrm>
        </p:grpSpPr>
        <p:sp>
          <p:nvSpPr>
            <p:cNvPr name="Freeform 23" id="23"/>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24" id="24"/>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Escalamiento interno dentro del SOC:</a:t>
              </a:r>
            </a:p>
          </p:txBody>
        </p:sp>
      </p:grpSp>
      <p:sp>
        <p:nvSpPr>
          <p:cNvPr name="Freeform 25" id="25"/>
          <p:cNvSpPr/>
          <p:nvPr/>
        </p:nvSpPr>
        <p:spPr>
          <a:xfrm flipH="false" flipV="false" rot="0">
            <a:off x="1117978" y="2815333"/>
            <a:ext cx="4692609" cy="1629403"/>
          </a:xfrm>
          <a:custGeom>
            <a:avLst/>
            <a:gdLst/>
            <a:ahLst/>
            <a:cxnLst/>
            <a:rect r="r" b="b" t="t" l="l"/>
            <a:pathLst>
              <a:path h="1629403" w="4692609">
                <a:moveTo>
                  <a:pt x="0" y="0"/>
                </a:moveTo>
                <a:lnTo>
                  <a:pt x="4692609" y="0"/>
                </a:lnTo>
                <a:lnTo>
                  <a:pt x="4692609" y="1629402"/>
                </a:lnTo>
                <a:lnTo>
                  <a:pt x="0" y="16294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128611" y="2825966"/>
            <a:ext cx="4671390" cy="1608184"/>
            <a:chOff x="0" y="0"/>
            <a:chExt cx="7437120" cy="2560320"/>
          </a:xfrm>
        </p:grpSpPr>
        <p:sp>
          <p:nvSpPr>
            <p:cNvPr name="Freeform 27" id="27"/>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28" id="28"/>
          <p:cNvGrpSpPr/>
          <p:nvPr/>
        </p:nvGrpSpPr>
        <p:grpSpPr>
          <a:xfrm rot="0">
            <a:off x="1128611" y="2796052"/>
            <a:ext cx="4671390" cy="1638098"/>
            <a:chOff x="0" y="0"/>
            <a:chExt cx="7437120" cy="2607945"/>
          </a:xfrm>
        </p:grpSpPr>
        <p:sp>
          <p:nvSpPr>
            <p:cNvPr name="Freeform 29" id="29"/>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30" id="30"/>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L1</a:t>
              </a:r>
            </a:p>
            <a:p>
              <a:pPr algn="ctr">
                <a:lnSpc>
                  <a:spcPts val="2520"/>
                </a:lnSpc>
              </a:pPr>
              <a:r>
                <a:rPr lang="en-US" sz="2100" b="true">
                  <a:solidFill>
                    <a:srgbClr val="FFFFFF"/>
                  </a:solidFill>
                  <a:latin typeface="Calibri (MS) Bold"/>
                  <a:ea typeface="Calibri (MS) Bold"/>
                  <a:cs typeface="Calibri (MS) Bold"/>
                  <a:sym typeface="Calibri (MS) Bold"/>
                </a:rPr>
                <a:t>Identifica amenaza</a:t>
              </a:r>
            </a:p>
            <a:p>
              <a:pPr algn="ctr">
                <a:lnSpc>
                  <a:spcPts val="2520"/>
                </a:lnSpc>
              </a:pPr>
              <a:r>
                <a:rPr lang="en-US" sz="2100" b="true">
                  <a:solidFill>
                    <a:srgbClr val="FFFFFF"/>
                  </a:solidFill>
                  <a:latin typeface="Calibri (MS) Bold"/>
                  <a:ea typeface="Calibri (MS) Bold"/>
                  <a:cs typeface="Calibri (MS) Bold"/>
                  <a:sym typeface="Calibri (MS) Bold"/>
                </a:rPr>
                <a:t>escala si es necesario</a:t>
              </a:r>
            </a:p>
          </p:txBody>
        </p:sp>
      </p:grpSp>
      <p:grpSp>
        <p:nvGrpSpPr>
          <p:cNvPr name="Group 31" id="31"/>
          <p:cNvGrpSpPr/>
          <p:nvPr/>
        </p:nvGrpSpPr>
        <p:grpSpPr>
          <a:xfrm rot="0">
            <a:off x="6538299" y="2816326"/>
            <a:ext cx="199108" cy="1608184"/>
            <a:chOff x="0" y="0"/>
            <a:chExt cx="316992" cy="2560320"/>
          </a:xfrm>
        </p:grpSpPr>
        <p:sp>
          <p:nvSpPr>
            <p:cNvPr name="Freeform 32" id="32"/>
            <p:cNvSpPr/>
            <p:nvPr/>
          </p:nvSpPr>
          <p:spPr>
            <a:xfrm flipH="false" flipV="false" rot="0">
              <a:off x="0" y="0"/>
              <a:ext cx="316992" cy="2560320"/>
            </a:xfrm>
            <a:custGeom>
              <a:avLst/>
              <a:gdLst/>
              <a:ahLst/>
              <a:cxnLst/>
              <a:rect r="r" b="b" t="t" l="l"/>
              <a:pathLst>
                <a:path h="2560320" w="316992">
                  <a:moveTo>
                    <a:pt x="0" y="0"/>
                  </a:moveTo>
                  <a:lnTo>
                    <a:pt x="316992" y="0"/>
                  </a:lnTo>
                  <a:lnTo>
                    <a:pt x="316992" y="2560320"/>
                  </a:lnTo>
                  <a:lnTo>
                    <a:pt x="0" y="2560320"/>
                  </a:lnTo>
                  <a:close/>
                </a:path>
              </a:pathLst>
            </a:custGeom>
            <a:blipFill>
              <a:blip r:embed="rId7">
                <a:alphaModFix amt="0"/>
              </a:blip>
              <a:stretch>
                <a:fillRect l="-987019" t="0" r="-987019" b="0"/>
              </a:stretch>
            </a:blipFill>
          </p:spPr>
        </p:sp>
      </p:grpSp>
      <p:grpSp>
        <p:nvGrpSpPr>
          <p:cNvPr name="Group 33" id="33"/>
          <p:cNvGrpSpPr/>
          <p:nvPr/>
        </p:nvGrpSpPr>
        <p:grpSpPr>
          <a:xfrm rot="0">
            <a:off x="6090944" y="2774446"/>
            <a:ext cx="355473" cy="1650063"/>
            <a:chOff x="0" y="0"/>
            <a:chExt cx="565933" cy="2626995"/>
          </a:xfrm>
        </p:grpSpPr>
        <p:sp>
          <p:nvSpPr>
            <p:cNvPr name="Freeform 34" id="34"/>
            <p:cNvSpPr/>
            <p:nvPr/>
          </p:nvSpPr>
          <p:spPr>
            <a:xfrm flipH="false" flipV="false" rot="0">
              <a:off x="0" y="0"/>
              <a:ext cx="565933" cy="2626995"/>
            </a:xfrm>
            <a:custGeom>
              <a:avLst/>
              <a:gdLst/>
              <a:ahLst/>
              <a:cxnLst/>
              <a:rect r="r" b="b" t="t" l="l"/>
              <a:pathLst>
                <a:path h="2626995" w="565933">
                  <a:moveTo>
                    <a:pt x="0" y="0"/>
                  </a:moveTo>
                  <a:lnTo>
                    <a:pt x="565933" y="0"/>
                  </a:lnTo>
                  <a:lnTo>
                    <a:pt x="565933" y="2626995"/>
                  </a:lnTo>
                  <a:lnTo>
                    <a:pt x="0" y="2626995"/>
                  </a:lnTo>
                  <a:close/>
                </a:path>
              </a:pathLst>
            </a:custGeom>
            <a:blipFill>
              <a:blip r:embed="rId8">
                <a:alphaModFix amt="0"/>
              </a:blip>
              <a:stretch>
                <a:fillRect l="-567563" t="0" r="-523576" b="0"/>
              </a:stretch>
            </a:blipFill>
          </p:spPr>
        </p:sp>
        <p:sp>
          <p:nvSpPr>
            <p:cNvPr name="TextBox 35" id="35"/>
            <p:cNvSpPr txBox="true"/>
            <p:nvPr/>
          </p:nvSpPr>
          <p:spPr>
            <a:xfrm>
              <a:off x="0" y="-66675"/>
              <a:ext cx="565933" cy="26936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36" id="36"/>
          <p:cNvSpPr/>
          <p:nvPr/>
        </p:nvSpPr>
        <p:spPr>
          <a:xfrm flipH="false" flipV="false" rot="0">
            <a:off x="6726774" y="2805692"/>
            <a:ext cx="4692609" cy="1629403"/>
          </a:xfrm>
          <a:custGeom>
            <a:avLst/>
            <a:gdLst/>
            <a:ahLst/>
            <a:cxnLst/>
            <a:rect r="r" b="b" t="t" l="l"/>
            <a:pathLst>
              <a:path h="1629403" w="4692609">
                <a:moveTo>
                  <a:pt x="0" y="0"/>
                </a:moveTo>
                <a:lnTo>
                  <a:pt x="4692609" y="0"/>
                </a:lnTo>
                <a:lnTo>
                  <a:pt x="4692609" y="1629403"/>
                </a:lnTo>
                <a:lnTo>
                  <a:pt x="0" y="162940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7" id="37"/>
          <p:cNvGrpSpPr/>
          <p:nvPr/>
        </p:nvGrpSpPr>
        <p:grpSpPr>
          <a:xfrm rot="0">
            <a:off x="6737408" y="2816326"/>
            <a:ext cx="4671390" cy="1608184"/>
            <a:chOff x="0" y="0"/>
            <a:chExt cx="7437120" cy="2560320"/>
          </a:xfrm>
        </p:grpSpPr>
        <p:sp>
          <p:nvSpPr>
            <p:cNvPr name="Freeform 38" id="38"/>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39" id="39"/>
          <p:cNvGrpSpPr/>
          <p:nvPr/>
        </p:nvGrpSpPr>
        <p:grpSpPr>
          <a:xfrm rot="0">
            <a:off x="6737408" y="2786412"/>
            <a:ext cx="4671390" cy="1638098"/>
            <a:chOff x="0" y="0"/>
            <a:chExt cx="7437120" cy="2607945"/>
          </a:xfrm>
        </p:grpSpPr>
        <p:sp>
          <p:nvSpPr>
            <p:cNvPr name="Freeform 40" id="40"/>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41" id="41"/>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L2</a:t>
              </a:r>
            </a:p>
            <a:p>
              <a:pPr algn="ctr">
                <a:lnSpc>
                  <a:spcPts val="2520"/>
                </a:lnSpc>
              </a:pPr>
              <a:r>
                <a:rPr lang="en-US" sz="2100" b="true">
                  <a:solidFill>
                    <a:srgbClr val="FFFFFF"/>
                  </a:solidFill>
                  <a:latin typeface="Calibri (MS) Bold"/>
                  <a:ea typeface="Calibri (MS) Bold"/>
                  <a:cs typeface="Calibri (MS) Bold"/>
                  <a:sym typeface="Calibri (MS) Bold"/>
                </a:rPr>
                <a:t>Investiga y responde</a:t>
              </a:r>
            </a:p>
            <a:p>
              <a:pPr algn="ctr">
                <a:lnSpc>
                  <a:spcPts val="2520"/>
                </a:lnSpc>
              </a:pPr>
              <a:r>
                <a:rPr lang="en-US" sz="2100" b="true">
                  <a:solidFill>
                    <a:srgbClr val="FFFFFF"/>
                  </a:solidFill>
                  <a:latin typeface="Calibri (MS) Bold"/>
                  <a:ea typeface="Calibri (MS) Bold"/>
                  <a:cs typeface="Calibri (MS) Bold"/>
                  <a:sym typeface="Calibri (MS) Bold"/>
                </a:rPr>
                <a:t>escala si es avanzada</a:t>
              </a:r>
            </a:p>
          </p:txBody>
        </p:sp>
      </p:grpSp>
      <p:grpSp>
        <p:nvGrpSpPr>
          <p:cNvPr name="Group 42" id="42"/>
          <p:cNvGrpSpPr/>
          <p:nvPr/>
        </p:nvGrpSpPr>
        <p:grpSpPr>
          <a:xfrm rot="0">
            <a:off x="11439430" y="2816326"/>
            <a:ext cx="199108" cy="1608184"/>
            <a:chOff x="0" y="0"/>
            <a:chExt cx="316992" cy="2560320"/>
          </a:xfrm>
        </p:grpSpPr>
        <p:sp>
          <p:nvSpPr>
            <p:cNvPr name="Freeform 43" id="43"/>
            <p:cNvSpPr/>
            <p:nvPr/>
          </p:nvSpPr>
          <p:spPr>
            <a:xfrm flipH="false" flipV="false" rot="0">
              <a:off x="0" y="0"/>
              <a:ext cx="316992" cy="2560320"/>
            </a:xfrm>
            <a:custGeom>
              <a:avLst/>
              <a:gdLst/>
              <a:ahLst/>
              <a:cxnLst/>
              <a:rect r="r" b="b" t="t" l="l"/>
              <a:pathLst>
                <a:path h="2560320" w="316992">
                  <a:moveTo>
                    <a:pt x="0" y="0"/>
                  </a:moveTo>
                  <a:lnTo>
                    <a:pt x="316992" y="0"/>
                  </a:lnTo>
                  <a:lnTo>
                    <a:pt x="316992" y="2560320"/>
                  </a:lnTo>
                  <a:lnTo>
                    <a:pt x="0" y="2560320"/>
                  </a:lnTo>
                  <a:close/>
                </a:path>
              </a:pathLst>
            </a:custGeom>
            <a:blipFill>
              <a:blip r:embed="rId7">
                <a:alphaModFix amt="0"/>
              </a:blip>
              <a:stretch>
                <a:fillRect l="-987019" t="0" r="-987019" b="0"/>
              </a:stretch>
            </a:blipFill>
          </p:spPr>
        </p:sp>
      </p:grpSp>
      <p:grpSp>
        <p:nvGrpSpPr>
          <p:cNvPr name="Group 44" id="44"/>
          <p:cNvGrpSpPr/>
          <p:nvPr/>
        </p:nvGrpSpPr>
        <p:grpSpPr>
          <a:xfrm rot="0">
            <a:off x="11733788" y="2796052"/>
            <a:ext cx="467399" cy="1650063"/>
            <a:chOff x="0" y="0"/>
            <a:chExt cx="744127" cy="2626995"/>
          </a:xfrm>
        </p:grpSpPr>
        <p:sp>
          <p:nvSpPr>
            <p:cNvPr name="Freeform 45" id="45"/>
            <p:cNvSpPr/>
            <p:nvPr/>
          </p:nvSpPr>
          <p:spPr>
            <a:xfrm flipH="false" flipV="false" rot="0">
              <a:off x="0" y="0"/>
              <a:ext cx="744126" cy="2626995"/>
            </a:xfrm>
            <a:custGeom>
              <a:avLst/>
              <a:gdLst/>
              <a:ahLst/>
              <a:cxnLst/>
              <a:rect r="r" b="b" t="t" l="l"/>
              <a:pathLst>
                <a:path h="2626995" w="744126">
                  <a:moveTo>
                    <a:pt x="0" y="0"/>
                  </a:moveTo>
                  <a:lnTo>
                    <a:pt x="744126" y="0"/>
                  </a:lnTo>
                  <a:lnTo>
                    <a:pt x="744126" y="2626995"/>
                  </a:lnTo>
                  <a:lnTo>
                    <a:pt x="0" y="2626995"/>
                  </a:lnTo>
                  <a:close/>
                </a:path>
              </a:pathLst>
            </a:custGeom>
            <a:blipFill>
              <a:blip r:embed="rId8">
                <a:alphaModFix amt="0"/>
              </a:blip>
              <a:stretch>
                <a:fillRect l="-431651" t="0" r="-374250" b="0"/>
              </a:stretch>
            </a:blipFill>
          </p:spPr>
        </p:sp>
        <p:sp>
          <p:nvSpPr>
            <p:cNvPr name="TextBox 46" id="46"/>
            <p:cNvSpPr txBox="true"/>
            <p:nvPr/>
          </p:nvSpPr>
          <p:spPr>
            <a:xfrm>
              <a:off x="0" y="-66675"/>
              <a:ext cx="744127" cy="26936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7" id="47"/>
          <p:cNvSpPr/>
          <p:nvPr/>
        </p:nvSpPr>
        <p:spPr>
          <a:xfrm flipH="false" flipV="false" rot="0">
            <a:off x="12477413" y="2784202"/>
            <a:ext cx="4692609" cy="1629403"/>
          </a:xfrm>
          <a:custGeom>
            <a:avLst/>
            <a:gdLst/>
            <a:ahLst/>
            <a:cxnLst/>
            <a:rect r="r" b="b" t="t" l="l"/>
            <a:pathLst>
              <a:path h="1629403" w="4692609">
                <a:moveTo>
                  <a:pt x="0" y="0"/>
                </a:moveTo>
                <a:lnTo>
                  <a:pt x="4692609" y="0"/>
                </a:lnTo>
                <a:lnTo>
                  <a:pt x="4692609" y="1629402"/>
                </a:lnTo>
                <a:lnTo>
                  <a:pt x="0" y="16294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8" id="48"/>
          <p:cNvGrpSpPr/>
          <p:nvPr/>
        </p:nvGrpSpPr>
        <p:grpSpPr>
          <a:xfrm rot="0">
            <a:off x="12488046" y="2794835"/>
            <a:ext cx="4671390" cy="1608184"/>
            <a:chOff x="0" y="0"/>
            <a:chExt cx="7437120" cy="2560320"/>
          </a:xfrm>
        </p:grpSpPr>
        <p:sp>
          <p:nvSpPr>
            <p:cNvPr name="Freeform 49" id="49"/>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50" id="50"/>
          <p:cNvGrpSpPr/>
          <p:nvPr/>
        </p:nvGrpSpPr>
        <p:grpSpPr>
          <a:xfrm rot="0">
            <a:off x="12488046" y="2764921"/>
            <a:ext cx="4671390" cy="1638098"/>
            <a:chOff x="0" y="0"/>
            <a:chExt cx="7437120" cy="2607945"/>
          </a:xfrm>
        </p:grpSpPr>
        <p:sp>
          <p:nvSpPr>
            <p:cNvPr name="Freeform 51" id="51"/>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52" id="52"/>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L3</a:t>
              </a:r>
            </a:p>
            <a:p>
              <a:pPr algn="ctr">
                <a:lnSpc>
                  <a:spcPts val="2520"/>
                </a:lnSpc>
              </a:pPr>
              <a:r>
                <a:rPr lang="en-US" sz="2100" b="true">
                  <a:solidFill>
                    <a:srgbClr val="FFFFFF"/>
                  </a:solidFill>
                  <a:latin typeface="Calibri (MS) Bold"/>
                  <a:ea typeface="Calibri (MS) Bold"/>
                  <a:cs typeface="Calibri (MS) Bold"/>
                  <a:sym typeface="Calibri (MS) Bold"/>
                </a:rPr>
                <a:t>Hunting avanzado</a:t>
              </a:r>
            </a:p>
            <a:p>
              <a:pPr algn="ctr">
                <a:lnSpc>
                  <a:spcPts val="2520"/>
                </a:lnSpc>
              </a:pPr>
              <a:r>
                <a:rPr lang="en-US" sz="2100" b="true">
                  <a:solidFill>
                    <a:srgbClr val="FFFFFF"/>
                  </a:solidFill>
                  <a:latin typeface="Calibri (MS) Bold"/>
                  <a:ea typeface="Calibri (MS) Bold"/>
                  <a:cs typeface="Calibri (MS) Bold"/>
                  <a:sym typeface="Calibri (MS) Bold"/>
                </a:rPr>
                <a:t>activa playbooks y SOAR</a:t>
              </a:r>
            </a:p>
          </p:txBody>
        </p:sp>
      </p:grpSp>
      <p:grpSp>
        <p:nvGrpSpPr>
          <p:cNvPr name="Group 53" id="53"/>
          <p:cNvGrpSpPr/>
          <p:nvPr/>
        </p:nvGrpSpPr>
        <p:grpSpPr>
          <a:xfrm rot="0">
            <a:off x="640080" y="4718304"/>
            <a:ext cx="17007840" cy="585216"/>
            <a:chOff x="0" y="0"/>
            <a:chExt cx="22677120" cy="780288"/>
          </a:xfrm>
        </p:grpSpPr>
        <p:sp>
          <p:nvSpPr>
            <p:cNvPr name="Freeform 54" id="54"/>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55" id="55"/>
          <p:cNvGrpSpPr/>
          <p:nvPr/>
        </p:nvGrpSpPr>
        <p:grpSpPr>
          <a:xfrm rot="0">
            <a:off x="640080" y="4792821"/>
            <a:ext cx="17007840" cy="620935"/>
            <a:chOff x="0" y="0"/>
            <a:chExt cx="22677120" cy="827913"/>
          </a:xfrm>
        </p:grpSpPr>
        <p:sp>
          <p:nvSpPr>
            <p:cNvPr name="Freeform 56" id="56"/>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57" id="57"/>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Coordinación con otras áreas cuando el incidente supera lo técnico:</a:t>
              </a:r>
            </a:p>
          </p:txBody>
        </p:sp>
      </p:grpSp>
      <p:sp>
        <p:nvSpPr>
          <p:cNvPr name="Freeform 58" id="58"/>
          <p:cNvSpPr/>
          <p:nvPr/>
        </p:nvSpPr>
        <p:spPr>
          <a:xfrm flipH="false" flipV="false" rot="0">
            <a:off x="1245510" y="5625845"/>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9" id="59"/>
          <p:cNvGrpSpPr/>
          <p:nvPr/>
        </p:nvGrpSpPr>
        <p:grpSpPr>
          <a:xfrm rot="0">
            <a:off x="1257298" y="5637633"/>
            <a:ext cx="2716634" cy="1528107"/>
            <a:chOff x="0" y="0"/>
            <a:chExt cx="3901440" cy="2194560"/>
          </a:xfrm>
        </p:grpSpPr>
        <p:sp>
          <p:nvSpPr>
            <p:cNvPr name="Freeform 60" id="60"/>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61" id="61"/>
          <p:cNvGrpSpPr/>
          <p:nvPr/>
        </p:nvGrpSpPr>
        <p:grpSpPr>
          <a:xfrm rot="0">
            <a:off x="1257298" y="5611103"/>
            <a:ext cx="2716634" cy="1554636"/>
            <a:chOff x="0" y="0"/>
            <a:chExt cx="3901440" cy="2232660"/>
          </a:xfrm>
        </p:grpSpPr>
        <p:sp>
          <p:nvSpPr>
            <p:cNvPr name="Freeform 62" id="62"/>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63" id="63"/>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Infraestructura / IT</a:t>
              </a:r>
            </a:p>
          </p:txBody>
        </p:sp>
      </p:grpSp>
      <p:sp>
        <p:nvSpPr>
          <p:cNvPr name="Freeform 64" id="64"/>
          <p:cNvSpPr/>
          <p:nvPr/>
        </p:nvSpPr>
        <p:spPr>
          <a:xfrm flipH="false" flipV="false" rot="0">
            <a:off x="3996102" y="5625845"/>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65" id="65"/>
          <p:cNvGrpSpPr/>
          <p:nvPr/>
        </p:nvGrpSpPr>
        <p:grpSpPr>
          <a:xfrm rot="0">
            <a:off x="4177680" y="5637633"/>
            <a:ext cx="4754110" cy="1528107"/>
            <a:chOff x="0" y="0"/>
            <a:chExt cx="6827520" cy="2194560"/>
          </a:xfrm>
        </p:grpSpPr>
        <p:sp>
          <p:nvSpPr>
            <p:cNvPr name="Freeform 66" id="66"/>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67" id="67"/>
          <p:cNvGrpSpPr/>
          <p:nvPr/>
        </p:nvGrpSpPr>
        <p:grpSpPr>
          <a:xfrm rot="0">
            <a:off x="4177680" y="5611103"/>
            <a:ext cx="4754110" cy="1554636"/>
            <a:chOff x="0" y="0"/>
            <a:chExt cx="6827520" cy="2232660"/>
          </a:xfrm>
        </p:grpSpPr>
        <p:sp>
          <p:nvSpPr>
            <p:cNvPr name="Freeform 68" id="68"/>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69" id="69"/>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Aplica parches, reconfigura redes, revoca accesos, recupera servicios. Colabora en contención y recuperación técnica.</a:t>
              </a:r>
            </a:p>
          </p:txBody>
        </p:sp>
      </p:grpSp>
      <p:sp>
        <p:nvSpPr>
          <p:cNvPr name="Freeform 70" id="70"/>
          <p:cNvSpPr/>
          <p:nvPr/>
        </p:nvSpPr>
        <p:spPr>
          <a:xfrm flipH="false" flipV="false" rot="0">
            <a:off x="9259581" y="5625845"/>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1" id="71"/>
          <p:cNvGrpSpPr/>
          <p:nvPr/>
        </p:nvGrpSpPr>
        <p:grpSpPr>
          <a:xfrm rot="0">
            <a:off x="9271369" y="5637633"/>
            <a:ext cx="2716634" cy="1528107"/>
            <a:chOff x="0" y="0"/>
            <a:chExt cx="3901440" cy="2194560"/>
          </a:xfrm>
        </p:grpSpPr>
        <p:sp>
          <p:nvSpPr>
            <p:cNvPr name="Freeform 72" id="72"/>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73" id="73"/>
          <p:cNvGrpSpPr/>
          <p:nvPr/>
        </p:nvGrpSpPr>
        <p:grpSpPr>
          <a:xfrm rot="0">
            <a:off x="9271369" y="5611103"/>
            <a:ext cx="2716634" cy="1554636"/>
            <a:chOff x="0" y="0"/>
            <a:chExt cx="3901440" cy="2232660"/>
          </a:xfrm>
        </p:grpSpPr>
        <p:sp>
          <p:nvSpPr>
            <p:cNvPr name="Freeform 74" id="74"/>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75" id="75"/>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Legal / Compliance</a:t>
              </a:r>
            </a:p>
          </p:txBody>
        </p:sp>
      </p:grpSp>
      <p:sp>
        <p:nvSpPr>
          <p:cNvPr name="Freeform 76" id="76"/>
          <p:cNvSpPr/>
          <p:nvPr/>
        </p:nvSpPr>
        <p:spPr>
          <a:xfrm flipH="false" flipV="false" rot="0">
            <a:off x="12010173" y="5625845"/>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7" id="77"/>
          <p:cNvGrpSpPr/>
          <p:nvPr/>
        </p:nvGrpSpPr>
        <p:grpSpPr>
          <a:xfrm rot="0">
            <a:off x="12191750" y="5637633"/>
            <a:ext cx="4754110" cy="1528107"/>
            <a:chOff x="0" y="0"/>
            <a:chExt cx="6827520" cy="2194560"/>
          </a:xfrm>
        </p:grpSpPr>
        <p:sp>
          <p:nvSpPr>
            <p:cNvPr name="Freeform 78" id="78"/>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79" id="79"/>
          <p:cNvGrpSpPr/>
          <p:nvPr/>
        </p:nvGrpSpPr>
        <p:grpSpPr>
          <a:xfrm rot="0">
            <a:off x="12191750" y="5611103"/>
            <a:ext cx="4754110" cy="1554636"/>
            <a:chOff x="0" y="0"/>
            <a:chExt cx="6827520" cy="2232660"/>
          </a:xfrm>
        </p:grpSpPr>
        <p:sp>
          <p:nvSpPr>
            <p:cNvPr name="Freeform 80" id="80"/>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81" id="81"/>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Evalúa impacto normativo. Define si se deben notificar reguladores o clientes. Actúa ante fugas de datos personales.</a:t>
              </a:r>
            </a:p>
          </p:txBody>
        </p:sp>
      </p:grpSp>
      <p:sp>
        <p:nvSpPr>
          <p:cNvPr name="Freeform 82" id="82"/>
          <p:cNvSpPr/>
          <p:nvPr/>
        </p:nvSpPr>
        <p:spPr>
          <a:xfrm flipH="false" flipV="false" rot="0">
            <a:off x="1245510" y="7493531"/>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83" id="83"/>
          <p:cNvGrpSpPr/>
          <p:nvPr/>
        </p:nvGrpSpPr>
        <p:grpSpPr>
          <a:xfrm rot="0">
            <a:off x="1257298" y="7505319"/>
            <a:ext cx="2716634" cy="1528107"/>
            <a:chOff x="0" y="0"/>
            <a:chExt cx="3901440" cy="2194560"/>
          </a:xfrm>
        </p:grpSpPr>
        <p:sp>
          <p:nvSpPr>
            <p:cNvPr name="Freeform 84" id="84"/>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85" id="85"/>
          <p:cNvGrpSpPr/>
          <p:nvPr/>
        </p:nvGrpSpPr>
        <p:grpSpPr>
          <a:xfrm rot="0">
            <a:off x="1257298" y="7478789"/>
            <a:ext cx="2716634" cy="1554636"/>
            <a:chOff x="0" y="0"/>
            <a:chExt cx="3901440" cy="2232660"/>
          </a:xfrm>
        </p:grpSpPr>
        <p:sp>
          <p:nvSpPr>
            <p:cNvPr name="Freeform 86" id="86"/>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87" id="87"/>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Comunicación / Gestión</a:t>
              </a:r>
            </a:p>
          </p:txBody>
        </p:sp>
      </p:grpSp>
      <p:sp>
        <p:nvSpPr>
          <p:cNvPr name="Freeform 88" id="88"/>
          <p:cNvSpPr/>
          <p:nvPr/>
        </p:nvSpPr>
        <p:spPr>
          <a:xfrm flipH="false" flipV="false" rot="0">
            <a:off x="3996102" y="7493531"/>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89" id="89"/>
          <p:cNvGrpSpPr/>
          <p:nvPr/>
        </p:nvGrpSpPr>
        <p:grpSpPr>
          <a:xfrm rot="0">
            <a:off x="4177680" y="7505319"/>
            <a:ext cx="4754110" cy="1528107"/>
            <a:chOff x="0" y="0"/>
            <a:chExt cx="6827520" cy="2194560"/>
          </a:xfrm>
        </p:grpSpPr>
        <p:sp>
          <p:nvSpPr>
            <p:cNvPr name="Freeform 90" id="90"/>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91" id="91"/>
          <p:cNvGrpSpPr/>
          <p:nvPr/>
        </p:nvGrpSpPr>
        <p:grpSpPr>
          <a:xfrm rot="0">
            <a:off x="4177680" y="7478789"/>
            <a:ext cx="4754110" cy="1554636"/>
            <a:chOff x="0" y="0"/>
            <a:chExt cx="6827520" cy="2232660"/>
          </a:xfrm>
        </p:grpSpPr>
        <p:sp>
          <p:nvSpPr>
            <p:cNvPr name="Freeform 92" id="92"/>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93" id="93"/>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Informa a líderes del negocio. Evalúa impacto reputacional. Prepara mensajes públicos si es necesario.</a:t>
              </a:r>
            </a:p>
          </p:txBody>
        </p:sp>
      </p:grpSp>
      <p:sp>
        <p:nvSpPr>
          <p:cNvPr name="Freeform 94" id="94"/>
          <p:cNvSpPr/>
          <p:nvPr/>
        </p:nvSpPr>
        <p:spPr>
          <a:xfrm flipH="false" flipV="false" rot="0">
            <a:off x="9259581" y="7493531"/>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5" id="95"/>
          <p:cNvGrpSpPr/>
          <p:nvPr/>
        </p:nvGrpSpPr>
        <p:grpSpPr>
          <a:xfrm rot="0">
            <a:off x="9271369" y="7505319"/>
            <a:ext cx="2716634" cy="1528107"/>
            <a:chOff x="0" y="0"/>
            <a:chExt cx="3901440" cy="2194560"/>
          </a:xfrm>
        </p:grpSpPr>
        <p:sp>
          <p:nvSpPr>
            <p:cNvPr name="Freeform 96" id="96"/>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97" id="97"/>
          <p:cNvGrpSpPr/>
          <p:nvPr/>
        </p:nvGrpSpPr>
        <p:grpSpPr>
          <a:xfrm rot="0">
            <a:off x="9271369" y="7478789"/>
            <a:ext cx="2716634" cy="1554636"/>
            <a:chOff x="0" y="0"/>
            <a:chExt cx="3901440" cy="2232660"/>
          </a:xfrm>
        </p:grpSpPr>
        <p:sp>
          <p:nvSpPr>
            <p:cNvPr name="Freeform 98" id="98"/>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99" id="99"/>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Recursos Humanos</a:t>
              </a:r>
            </a:p>
          </p:txBody>
        </p:sp>
      </p:grpSp>
      <p:sp>
        <p:nvSpPr>
          <p:cNvPr name="Freeform 100" id="100"/>
          <p:cNvSpPr/>
          <p:nvPr/>
        </p:nvSpPr>
        <p:spPr>
          <a:xfrm flipH="false" flipV="false" rot="0">
            <a:off x="12010173" y="7493531"/>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01" id="101"/>
          <p:cNvGrpSpPr/>
          <p:nvPr/>
        </p:nvGrpSpPr>
        <p:grpSpPr>
          <a:xfrm rot="0">
            <a:off x="12191750" y="7505319"/>
            <a:ext cx="4754110" cy="1528107"/>
            <a:chOff x="0" y="0"/>
            <a:chExt cx="6827520" cy="2194560"/>
          </a:xfrm>
        </p:grpSpPr>
        <p:sp>
          <p:nvSpPr>
            <p:cNvPr name="Freeform 102" id="102"/>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103" id="103"/>
          <p:cNvGrpSpPr/>
          <p:nvPr/>
        </p:nvGrpSpPr>
        <p:grpSpPr>
          <a:xfrm rot="0">
            <a:off x="12191750" y="7478789"/>
            <a:ext cx="4754110" cy="1554636"/>
            <a:chOff x="0" y="0"/>
            <a:chExt cx="6827520" cy="2232660"/>
          </a:xfrm>
        </p:grpSpPr>
        <p:sp>
          <p:nvSpPr>
            <p:cNvPr name="Freeform 104" id="104"/>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105" id="105"/>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Interviene si el incidente involucra a un empleado. Puede participar en medidas disciplinarias o correctivas.</a:t>
              </a:r>
            </a:p>
          </p:txBody>
        </p:sp>
      </p:grpSp>
      <p:grpSp>
        <p:nvGrpSpPr>
          <p:cNvPr name="Group 106" id="106"/>
          <p:cNvGrpSpPr/>
          <p:nvPr/>
        </p:nvGrpSpPr>
        <p:grpSpPr>
          <a:xfrm rot="0">
            <a:off x="15983863" y="24203"/>
            <a:ext cx="1855079" cy="1855079"/>
            <a:chOff x="0" y="0"/>
            <a:chExt cx="5852160" cy="5852160"/>
          </a:xfrm>
        </p:grpSpPr>
        <p:sp>
          <p:nvSpPr>
            <p:cNvPr name="Freeform 107" id="10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7"/>
              <a:stretch>
                <a:fillRect l="0" t="0" r="0" b="0"/>
              </a:stretch>
            </a:blipFill>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1.5</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50331"/>
            <a:ext cx="15544800" cy="2653189"/>
            <a:chOff x="0" y="0"/>
            <a:chExt cx="20726400" cy="3537585"/>
          </a:xfrm>
        </p:grpSpPr>
        <p:sp>
          <p:nvSpPr>
            <p:cNvPr name="Freeform 12" id="12"/>
            <p:cNvSpPr/>
            <p:nvPr/>
          </p:nvSpPr>
          <p:spPr>
            <a:xfrm flipH="false" flipV="false" rot="0">
              <a:off x="0" y="0"/>
              <a:ext cx="20726400" cy="3537585"/>
            </a:xfrm>
            <a:custGeom>
              <a:avLst/>
              <a:gdLst/>
              <a:ahLst/>
              <a:cxnLst/>
              <a:rect r="r" b="b" t="t" l="l"/>
              <a:pathLst>
                <a:path h="3537585" w="20726400">
                  <a:moveTo>
                    <a:pt x="0" y="0"/>
                  </a:moveTo>
                  <a:lnTo>
                    <a:pt x="20726400" y="0"/>
                  </a:lnTo>
                  <a:lnTo>
                    <a:pt x="20726400" y="3537585"/>
                  </a:lnTo>
                  <a:lnTo>
                    <a:pt x="0" y="3537585"/>
                  </a:lnTo>
                  <a:close/>
                </a:path>
              </a:pathLst>
            </a:custGeom>
            <a:blipFill>
              <a:blip r:embed="rId8">
                <a:alphaModFix amt="0"/>
              </a:blip>
              <a:stretch>
                <a:fillRect l="0" t="-64161" r="0" b="-64161"/>
              </a:stretch>
            </a:blipFill>
          </p:spPr>
        </p:sp>
        <p:sp>
          <p:nvSpPr>
            <p:cNvPr name="TextBox 13" id="13"/>
            <p:cNvSpPr txBox="true"/>
            <p:nvPr/>
          </p:nvSpPr>
          <p:spPr>
            <a:xfrm>
              <a:off x="0" y="-123825"/>
              <a:ext cx="20726400" cy="3661410"/>
            </a:xfrm>
            <a:prstGeom prst="rect">
              <a:avLst/>
            </a:prstGeom>
          </p:spPr>
          <p:txBody>
            <a:bodyPr anchor="ctr" rtlCol="false" tIns="0" lIns="0" bIns="0" rIns="0"/>
            <a:lstStyle/>
            <a:p>
              <a:pPr algn="l">
                <a:lnSpc>
                  <a:spcPts val="7200"/>
                </a:lnSpc>
              </a:pPr>
              <a:r>
                <a:rPr lang="en-US" sz="6000" b="true">
                  <a:solidFill>
                    <a:srgbClr val="FFFFFF"/>
                  </a:solidFill>
                  <a:latin typeface="Calibri (MS) Bold"/>
                  <a:ea typeface="Calibri (MS) Bold"/>
                  <a:cs typeface="Calibri (MS) Bold"/>
                  <a:sym typeface="Calibri (MS) Bold"/>
                </a:rPr>
                <a:t>Ética, confidencialidad</a:t>
              </a:r>
            </a:p>
            <a:p>
              <a:pPr algn="l">
                <a:lnSpc>
                  <a:spcPts val="7200"/>
                </a:lnSpc>
              </a:pPr>
              <a:r>
                <a:rPr lang="en-US" sz="6000" b="true">
                  <a:solidFill>
                    <a:srgbClr val="FFFFFF"/>
                  </a:solidFill>
                  <a:latin typeface="Calibri (MS) Bold"/>
                  <a:ea typeface="Calibri (MS) Bold"/>
                  <a:cs typeface="Calibri (MS) Bold"/>
                  <a:sym typeface="Calibri (MS) Bold"/>
                </a:rPr>
                <a:t>y responsabilidad</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Acceso a información sensible: manejo ético y seguro</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Protocolos de confidencialidad</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El rol del analista como primera línea de defensa</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Importancia del registro y la trazabilidad</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p.35</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p.36</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1.5  |  Acceso a información sensible: manejo ético y seguro</a:t>
              </a:r>
            </a:p>
          </p:txBody>
        </p:sp>
      </p:grpSp>
      <p:grpSp>
        <p:nvGrpSpPr>
          <p:cNvPr name="Group 20" id="20"/>
          <p:cNvGrpSpPr/>
          <p:nvPr/>
        </p:nvGrpSpPr>
        <p:grpSpPr>
          <a:xfrm rot="0">
            <a:off x="640080" y="1773936"/>
            <a:ext cx="17007840" cy="1060704"/>
            <a:chOff x="0" y="0"/>
            <a:chExt cx="22677120" cy="1414272"/>
          </a:xfrm>
        </p:grpSpPr>
        <p:sp>
          <p:nvSpPr>
            <p:cNvPr name="Freeform 21" id="21"/>
            <p:cNvSpPr/>
            <p:nvPr/>
          </p:nvSpPr>
          <p:spPr>
            <a:xfrm flipH="false" flipV="false" rot="0">
              <a:off x="0" y="0"/>
              <a:ext cx="22677120" cy="1414272"/>
            </a:xfrm>
            <a:custGeom>
              <a:avLst/>
              <a:gdLst/>
              <a:ahLst/>
              <a:cxnLst/>
              <a:rect r="r" b="b" t="t" l="l"/>
              <a:pathLst>
                <a:path h="1414272" w="22677120">
                  <a:moveTo>
                    <a:pt x="0" y="0"/>
                  </a:moveTo>
                  <a:lnTo>
                    <a:pt x="22677120" y="0"/>
                  </a:lnTo>
                  <a:lnTo>
                    <a:pt x="22677120" y="1414272"/>
                  </a:lnTo>
                  <a:lnTo>
                    <a:pt x="0" y="1414272"/>
                  </a:lnTo>
                  <a:close/>
                </a:path>
              </a:pathLst>
            </a:custGeom>
            <a:blipFill>
              <a:blip r:embed="rId7">
                <a:alphaModFix amt="0"/>
              </a:blip>
              <a:stretch>
                <a:fillRect l="0" t="-262215" r="0" b="-262215"/>
              </a:stretch>
            </a:blipFill>
          </p:spPr>
        </p:sp>
      </p:grpSp>
      <p:grpSp>
        <p:nvGrpSpPr>
          <p:cNvPr name="Group 22" id="22"/>
          <p:cNvGrpSpPr/>
          <p:nvPr/>
        </p:nvGrpSpPr>
        <p:grpSpPr>
          <a:xfrm rot="0">
            <a:off x="640080" y="1738217"/>
            <a:ext cx="17007840" cy="1096423"/>
            <a:chOff x="0" y="0"/>
            <a:chExt cx="22677120" cy="1461897"/>
          </a:xfrm>
        </p:grpSpPr>
        <p:sp>
          <p:nvSpPr>
            <p:cNvPr name="Freeform 23" id="23"/>
            <p:cNvSpPr/>
            <p:nvPr/>
          </p:nvSpPr>
          <p:spPr>
            <a:xfrm flipH="false" flipV="false" rot="0">
              <a:off x="0" y="0"/>
              <a:ext cx="22677120" cy="1461897"/>
            </a:xfrm>
            <a:custGeom>
              <a:avLst/>
              <a:gdLst/>
              <a:ahLst/>
              <a:cxnLst/>
              <a:rect r="r" b="b" t="t" l="l"/>
              <a:pathLst>
                <a:path h="1461897" w="22677120">
                  <a:moveTo>
                    <a:pt x="0" y="0"/>
                  </a:moveTo>
                  <a:lnTo>
                    <a:pt x="22677120" y="0"/>
                  </a:lnTo>
                  <a:lnTo>
                    <a:pt x="22677120" y="1461897"/>
                  </a:lnTo>
                  <a:lnTo>
                    <a:pt x="0" y="1461897"/>
                  </a:lnTo>
                  <a:close/>
                </a:path>
              </a:pathLst>
            </a:custGeom>
            <a:blipFill>
              <a:blip r:embed="rId8">
                <a:alphaModFix amt="0"/>
              </a:blip>
              <a:stretch>
                <a:fillRect l="0" t="-252254" r="0" b="-252254"/>
              </a:stretch>
            </a:blipFill>
          </p:spPr>
        </p:sp>
        <p:sp>
          <p:nvSpPr>
            <p:cNvPr name="TextBox 24" id="24"/>
            <p:cNvSpPr txBox="true"/>
            <p:nvPr/>
          </p:nvSpPr>
          <p:spPr>
            <a:xfrm>
              <a:off x="0" y="-47625"/>
              <a:ext cx="22677120" cy="1509522"/>
            </a:xfrm>
            <a:prstGeom prst="rect">
              <a:avLst/>
            </a:prstGeom>
          </p:spPr>
          <p:txBody>
            <a:bodyPr anchor="ctr" rtlCol="false" tIns="0" lIns="0" bIns="0" rIns="0"/>
            <a:lstStyle/>
            <a:p>
              <a:pPr algn="l">
                <a:lnSpc>
                  <a:spcPts val="2638"/>
                </a:lnSpc>
              </a:pPr>
              <a:r>
                <a:rPr lang="en-US" sz="2199">
                  <a:solidFill>
                    <a:srgbClr val="111111"/>
                  </a:solidFill>
                  <a:latin typeface="Calibri (MS)"/>
                  <a:ea typeface="Calibri (MS)"/>
                  <a:cs typeface="Calibri (MS)"/>
                  <a:sym typeface="Calibri (MS)"/>
                </a:rPr>
                <a:t>Los analistas tienen acceso a información extremadamente sensible: logs de usuarios, tráfico de red, configuraciones internas, credenciales comprometidas y datos personales o estratégicos del negocio. Ese nivel de acceso implica un nivel de responsabilidad igual de alto.</a:t>
              </a:r>
            </a:p>
          </p:txBody>
        </p:sp>
      </p:grpSp>
      <p:sp>
        <p:nvSpPr>
          <p:cNvPr name="Freeform 25" id="25"/>
          <p:cNvSpPr/>
          <p:nvPr/>
        </p:nvSpPr>
        <p:spPr>
          <a:xfrm flipH="false" flipV="false" rot="0">
            <a:off x="572519" y="3004823"/>
            <a:ext cx="17142904" cy="793432"/>
          </a:xfrm>
          <a:custGeom>
            <a:avLst/>
            <a:gdLst/>
            <a:ahLst/>
            <a:cxnLst/>
            <a:rect r="r" b="b" t="t" l="l"/>
            <a:pathLst>
              <a:path h="793432" w="17142904">
                <a:moveTo>
                  <a:pt x="0" y="0"/>
                </a:moveTo>
                <a:lnTo>
                  <a:pt x="17142905" y="0"/>
                </a:lnTo>
                <a:lnTo>
                  <a:pt x="17142905"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585216" y="3017520"/>
            <a:ext cx="17117568" cy="768096"/>
            <a:chOff x="0" y="0"/>
            <a:chExt cx="22823424" cy="1024128"/>
          </a:xfrm>
        </p:grpSpPr>
        <p:sp>
          <p:nvSpPr>
            <p:cNvPr name="Freeform 27" id="27"/>
            <p:cNvSpPr/>
            <p:nvPr/>
          </p:nvSpPr>
          <p:spPr>
            <a:xfrm flipH="false" flipV="false" rot="0">
              <a:off x="0" y="0"/>
              <a:ext cx="22823424" cy="1024128"/>
            </a:xfrm>
            <a:custGeom>
              <a:avLst/>
              <a:gdLst/>
              <a:ahLst/>
              <a:cxnLst/>
              <a:rect r="r" b="b" t="t" l="l"/>
              <a:pathLst>
                <a:path h="1024128" w="22823424">
                  <a:moveTo>
                    <a:pt x="0" y="0"/>
                  </a:moveTo>
                  <a:lnTo>
                    <a:pt x="22823424" y="0"/>
                  </a:lnTo>
                  <a:lnTo>
                    <a:pt x="22823424" y="1024128"/>
                  </a:lnTo>
                  <a:lnTo>
                    <a:pt x="0" y="1024128"/>
                  </a:lnTo>
                  <a:close/>
                </a:path>
              </a:pathLst>
            </a:custGeom>
            <a:blipFill>
              <a:blip r:embed="rId7">
                <a:alphaModFix amt="0"/>
              </a:blip>
              <a:stretch>
                <a:fillRect l="0" t="-383936" r="0" b="-383936"/>
              </a:stretch>
            </a:blipFill>
          </p:spPr>
        </p:sp>
      </p:grpSp>
      <p:grpSp>
        <p:nvGrpSpPr>
          <p:cNvPr name="Group 28" id="28"/>
          <p:cNvGrpSpPr/>
          <p:nvPr/>
        </p:nvGrpSpPr>
        <p:grpSpPr>
          <a:xfrm rot="0">
            <a:off x="585216" y="2981801"/>
            <a:ext cx="17117568" cy="803815"/>
            <a:chOff x="0" y="0"/>
            <a:chExt cx="22823424" cy="1071753"/>
          </a:xfrm>
        </p:grpSpPr>
        <p:sp>
          <p:nvSpPr>
            <p:cNvPr name="Freeform 29" id="29"/>
            <p:cNvSpPr/>
            <p:nvPr/>
          </p:nvSpPr>
          <p:spPr>
            <a:xfrm flipH="false" flipV="false" rot="0">
              <a:off x="0" y="0"/>
              <a:ext cx="22823424" cy="1071753"/>
            </a:xfrm>
            <a:custGeom>
              <a:avLst/>
              <a:gdLst/>
              <a:ahLst/>
              <a:cxnLst/>
              <a:rect r="r" b="b" t="t" l="l"/>
              <a:pathLst>
                <a:path h="1071753" w="22823424">
                  <a:moveTo>
                    <a:pt x="0" y="0"/>
                  </a:moveTo>
                  <a:lnTo>
                    <a:pt x="22823424" y="0"/>
                  </a:lnTo>
                  <a:lnTo>
                    <a:pt x="22823424" y="1071753"/>
                  </a:lnTo>
                  <a:lnTo>
                    <a:pt x="0" y="1071753"/>
                  </a:lnTo>
                  <a:close/>
                </a:path>
              </a:pathLst>
            </a:custGeom>
            <a:blipFill>
              <a:blip r:embed="rId8">
                <a:alphaModFix amt="0"/>
              </a:blip>
              <a:stretch>
                <a:fillRect l="0" t="-364941" r="0" b="-364941"/>
              </a:stretch>
            </a:blipFill>
          </p:spPr>
        </p:sp>
        <p:sp>
          <p:nvSpPr>
            <p:cNvPr name="TextBox 30" id="30"/>
            <p:cNvSpPr txBox="true"/>
            <p:nvPr/>
          </p:nvSpPr>
          <p:spPr>
            <a:xfrm>
              <a:off x="0" y="-47625"/>
              <a:ext cx="22823424" cy="1119378"/>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"Ver no significa tener permiso para divulgar"</a:t>
              </a:r>
            </a:p>
          </p:txBody>
        </p:sp>
      </p:grpSp>
      <p:sp>
        <p:nvSpPr>
          <p:cNvPr name="Freeform 31" id="31"/>
          <p:cNvSpPr/>
          <p:nvPr/>
        </p:nvSpPr>
        <p:spPr>
          <a:xfrm flipH="false" flipV="false" rot="0">
            <a:off x="1397153" y="4306128"/>
            <a:ext cx="2970638" cy="855717"/>
          </a:xfrm>
          <a:custGeom>
            <a:avLst/>
            <a:gdLst/>
            <a:ahLst/>
            <a:cxnLst/>
            <a:rect r="r" b="b" t="t" l="l"/>
            <a:pathLst>
              <a:path h="855717" w="2970638">
                <a:moveTo>
                  <a:pt x="0" y="0"/>
                </a:moveTo>
                <a:lnTo>
                  <a:pt x="2970639" y="0"/>
                </a:lnTo>
                <a:lnTo>
                  <a:pt x="2970639" y="855718"/>
                </a:lnTo>
                <a:lnTo>
                  <a:pt x="0" y="85571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1408715" y="4317690"/>
            <a:ext cx="2947567" cy="832646"/>
            <a:chOff x="0" y="0"/>
            <a:chExt cx="4315968" cy="1219200"/>
          </a:xfrm>
        </p:grpSpPr>
        <p:sp>
          <p:nvSpPr>
            <p:cNvPr name="Freeform 33" id="33"/>
            <p:cNvSpPr/>
            <p:nvPr/>
          </p:nvSpPr>
          <p:spPr>
            <a:xfrm flipH="false" flipV="false" rot="0">
              <a:off x="0" y="0"/>
              <a:ext cx="4315968" cy="1219200"/>
            </a:xfrm>
            <a:custGeom>
              <a:avLst/>
              <a:gdLst/>
              <a:ahLst/>
              <a:cxnLst/>
              <a:rect r="r" b="b" t="t" l="l"/>
              <a:pathLst>
                <a:path h="1219200" w="4315968">
                  <a:moveTo>
                    <a:pt x="0" y="0"/>
                  </a:moveTo>
                  <a:lnTo>
                    <a:pt x="4315968" y="0"/>
                  </a:lnTo>
                  <a:lnTo>
                    <a:pt x="4315968" y="1219200"/>
                  </a:lnTo>
                  <a:lnTo>
                    <a:pt x="0" y="1219200"/>
                  </a:lnTo>
                  <a:close/>
                </a:path>
              </a:pathLst>
            </a:custGeom>
            <a:blipFill>
              <a:blip r:embed="rId7">
                <a:alphaModFix amt="0"/>
              </a:blip>
              <a:stretch>
                <a:fillRect l="0" t="-18929" r="0" b="-18929"/>
              </a:stretch>
            </a:blipFill>
          </p:spPr>
        </p:sp>
      </p:grpSp>
      <p:grpSp>
        <p:nvGrpSpPr>
          <p:cNvPr name="Group 34" id="34"/>
          <p:cNvGrpSpPr/>
          <p:nvPr/>
        </p:nvGrpSpPr>
        <p:grpSpPr>
          <a:xfrm rot="0">
            <a:off x="1408715" y="4291670"/>
            <a:ext cx="2947567" cy="858666"/>
            <a:chOff x="0" y="0"/>
            <a:chExt cx="4315968" cy="1257300"/>
          </a:xfrm>
        </p:grpSpPr>
        <p:sp>
          <p:nvSpPr>
            <p:cNvPr name="Freeform 35" id="35"/>
            <p:cNvSpPr/>
            <p:nvPr/>
          </p:nvSpPr>
          <p:spPr>
            <a:xfrm flipH="false" flipV="false" rot="0">
              <a:off x="0" y="0"/>
              <a:ext cx="4315968" cy="1257300"/>
            </a:xfrm>
            <a:custGeom>
              <a:avLst/>
              <a:gdLst/>
              <a:ahLst/>
              <a:cxnLst/>
              <a:rect r="r" b="b" t="t" l="l"/>
              <a:pathLst>
                <a:path h="1257300" w="4315968">
                  <a:moveTo>
                    <a:pt x="0" y="0"/>
                  </a:moveTo>
                  <a:lnTo>
                    <a:pt x="4315968" y="0"/>
                  </a:lnTo>
                  <a:lnTo>
                    <a:pt x="4315968" y="1257300"/>
                  </a:lnTo>
                  <a:lnTo>
                    <a:pt x="0" y="1257300"/>
                  </a:lnTo>
                  <a:close/>
                </a:path>
              </a:pathLst>
            </a:custGeom>
            <a:blipFill>
              <a:blip r:embed="rId8">
                <a:alphaModFix amt="0"/>
              </a:blip>
              <a:stretch>
                <a:fillRect l="0" t="-16886" r="0" b="-16886"/>
              </a:stretch>
            </a:blipFill>
          </p:spPr>
        </p:sp>
        <p:sp>
          <p:nvSpPr>
            <p:cNvPr name="TextBox 36" id="36"/>
            <p:cNvSpPr txBox="true"/>
            <p:nvPr/>
          </p:nvSpPr>
          <p:spPr>
            <a:xfrm>
              <a:off x="0" y="-38100"/>
              <a:ext cx="4315968" cy="129540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Confidencialidad total</a:t>
              </a:r>
            </a:p>
          </p:txBody>
        </p:sp>
      </p:grpSp>
      <p:sp>
        <p:nvSpPr>
          <p:cNvPr name="Freeform 37" id="37"/>
          <p:cNvSpPr/>
          <p:nvPr/>
        </p:nvSpPr>
        <p:spPr>
          <a:xfrm flipH="false" flipV="false" rot="0">
            <a:off x="1397153" y="5172080"/>
            <a:ext cx="2970638" cy="2437745"/>
          </a:xfrm>
          <a:custGeom>
            <a:avLst/>
            <a:gdLst/>
            <a:ahLst/>
            <a:cxnLst/>
            <a:rect r="r" b="b" t="t" l="l"/>
            <a:pathLst>
              <a:path h="2437745" w="2970638">
                <a:moveTo>
                  <a:pt x="0" y="0"/>
                </a:moveTo>
                <a:lnTo>
                  <a:pt x="2970639" y="0"/>
                </a:lnTo>
                <a:lnTo>
                  <a:pt x="2970639" y="2437745"/>
                </a:lnTo>
                <a:lnTo>
                  <a:pt x="0" y="2437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8" id="38"/>
          <p:cNvSpPr txBox="true"/>
          <p:nvPr/>
        </p:nvSpPr>
        <p:spPr>
          <a:xfrm rot="0">
            <a:off x="1591900" y="5367834"/>
            <a:ext cx="2581203" cy="1449494"/>
          </a:xfrm>
          <a:prstGeom prst="rect">
            <a:avLst/>
          </a:prstGeom>
        </p:spPr>
        <p:txBody>
          <a:bodyPr anchor="t" rtlCol="false" tIns="0" lIns="0" bIns="0" rIns="0">
            <a:spAutoFit/>
          </a:bodyPr>
          <a:lstStyle/>
          <a:p>
            <a:pPr algn="l">
              <a:lnSpc>
                <a:spcPts val="2851"/>
              </a:lnSpc>
            </a:pPr>
            <a:r>
              <a:rPr lang="en-US" sz="1639">
                <a:solidFill>
                  <a:srgbClr val="333333"/>
                </a:solidFill>
                <a:latin typeface="Calibri (MS)"/>
                <a:ea typeface="Calibri (MS)"/>
                <a:cs typeface="Calibri (MS)"/>
                <a:sym typeface="Calibri (MS)"/>
              </a:rPr>
              <a:t>Nunca compartir información sensible fuera del entorno autorizado, ni con personas no involucradas.</a:t>
            </a:r>
          </a:p>
        </p:txBody>
      </p:sp>
      <p:sp>
        <p:nvSpPr>
          <p:cNvPr name="Freeform 39" id="39"/>
          <p:cNvSpPr/>
          <p:nvPr/>
        </p:nvSpPr>
        <p:spPr>
          <a:xfrm flipH="false" flipV="false" rot="0">
            <a:off x="4527903" y="4306128"/>
            <a:ext cx="2970638" cy="855717"/>
          </a:xfrm>
          <a:custGeom>
            <a:avLst/>
            <a:gdLst/>
            <a:ahLst/>
            <a:cxnLst/>
            <a:rect r="r" b="b" t="t" l="l"/>
            <a:pathLst>
              <a:path h="855717" w="2970638">
                <a:moveTo>
                  <a:pt x="0" y="0"/>
                </a:moveTo>
                <a:lnTo>
                  <a:pt x="2970638" y="0"/>
                </a:lnTo>
                <a:lnTo>
                  <a:pt x="2970638" y="855718"/>
                </a:lnTo>
                <a:lnTo>
                  <a:pt x="0" y="85571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0" id="40"/>
          <p:cNvGrpSpPr/>
          <p:nvPr/>
        </p:nvGrpSpPr>
        <p:grpSpPr>
          <a:xfrm rot="0">
            <a:off x="4539464" y="4317690"/>
            <a:ext cx="2947567" cy="832646"/>
            <a:chOff x="0" y="0"/>
            <a:chExt cx="4315968" cy="1219200"/>
          </a:xfrm>
        </p:grpSpPr>
        <p:sp>
          <p:nvSpPr>
            <p:cNvPr name="Freeform 41" id="41"/>
            <p:cNvSpPr/>
            <p:nvPr/>
          </p:nvSpPr>
          <p:spPr>
            <a:xfrm flipH="false" flipV="false" rot="0">
              <a:off x="0" y="0"/>
              <a:ext cx="4315968" cy="1219200"/>
            </a:xfrm>
            <a:custGeom>
              <a:avLst/>
              <a:gdLst/>
              <a:ahLst/>
              <a:cxnLst/>
              <a:rect r="r" b="b" t="t" l="l"/>
              <a:pathLst>
                <a:path h="1219200" w="4315968">
                  <a:moveTo>
                    <a:pt x="0" y="0"/>
                  </a:moveTo>
                  <a:lnTo>
                    <a:pt x="4315968" y="0"/>
                  </a:lnTo>
                  <a:lnTo>
                    <a:pt x="4315968" y="1219200"/>
                  </a:lnTo>
                  <a:lnTo>
                    <a:pt x="0" y="1219200"/>
                  </a:lnTo>
                  <a:close/>
                </a:path>
              </a:pathLst>
            </a:custGeom>
            <a:blipFill>
              <a:blip r:embed="rId7">
                <a:alphaModFix amt="0"/>
              </a:blip>
              <a:stretch>
                <a:fillRect l="0" t="-18929" r="0" b="-18929"/>
              </a:stretch>
            </a:blipFill>
          </p:spPr>
        </p:sp>
      </p:grpSp>
      <p:grpSp>
        <p:nvGrpSpPr>
          <p:cNvPr name="Group 42" id="42"/>
          <p:cNvGrpSpPr/>
          <p:nvPr/>
        </p:nvGrpSpPr>
        <p:grpSpPr>
          <a:xfrm rot="0">
            <a:off x="4539464" y="4291670"/>
            <a:ext cx="2947567" cy="858666"/>
            <a:chOff x="0" y="0"/>
            <a:chExt cx="4315968" cy="1257300"/>
          </a:xfrm>
        </p:grpSpPr>
        <p:sp>
          <p:nvSpPr>
            <p:cNvPr name="Freeform 43" id="43"/>
            <p:cNvSpPr/>
            <p:nvPr/>
          </p:nvSpPr>
          <p:spPr>
            <a:xfrm flipH="false" flipV="false" rot="0">
              <a:off x="0" y="0"/>
              <a:ext cx="4315968" cy="1257300"/>
            </a:xfrm>
            <a:custGeom>
              <a:avLst/>
              <a:gdLst/>
              <a:ahLst/>
              <a:cxnLst/>
              <a:rect r="r" b="b" t="t" l="l"/>
              <a:pathLst>
                <a:path h="1257300" w="4315968">
                  <a:moveTo>
                    <a:pt x="0" y="0"/>
                  </a:moveTo>
                  <a:lnTo>
                    <a:pt x="4315968" y="0"/>
                  </a:lnTo>
                  <a:lnTo>
                    <a:pt x="4315968" y="1257300"/>
                  </a:lnTo>
                  <a:lnTo>
                    <a:pt x="0" y="1257300"/>
                  </a:lnTo>
                  <a:close/>
                </a:path>
              </a:pathLst>
            </a:custGeom>
            <a:blipFill>
              <a:blip r:embed="rId8">
                <a:alphaModFix amt="0"/>
              </a:blip>
              <a:stretch>
                <a:fillRect l="0" t="-16886" r="0" b="-16886"/>
              </a:stretch>
            </a:blipFill>
          </p:spPr>
        </p:sp>
        <p:sp>
          <p:nvSpPr>
            <p:cNvPr name="TextBox 44" id="44"/>
            <p:cNvSpPr txBox="true"/>
            <p:nvPr/>
          </p:nvSpPr>
          <p:spPr>
            <a:xfrm>
              <a:off x="0" y="-38100"/>
              <a:ext cx="4315968" cy="129540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Uso estrictamente profesional</a:t>
              </a:r>
            </a:p>
          </p:txBody>
        </p:sp>
      </p:grpSp>
      <p:sp>
        <p:nvSpPr>
          <p:cNvPr name="Freeform 45" id="45"/>
          <p:cNvSpPr/>
          <p:nvPr/>
        </p:nvSpPr>
        <p:spPr>
          <a:xfrm flipH="false" flipV="false" rot="0">
            <a:off x="4527903" y="5172080"/>
            <a:ext cx="2970638" cy="2437745"/>
          </a:xfrm>
          <a:custGeom>
            <a:avLst/>
            <a:gdLst/>
            <a:ahLst/>
            <a:cxnLst/>
            <a:rect r="r" b="b" t="t" l="l"/>
            <a:pathLst>
              <a:path h="2437745" w="2970638">
                <a:moveTo>
                  <a:pt x="0" y="0"/>
                </a:moveTo>
                <a:lnTo>
                  <a:pt x="2970638" y="0"/>
                </a:lnTo>
                <a:lnTo>
                  <a:pt x="2970638" y="2437745"/>
                </a:lnTo>
                <a:lnTo>
                  <a:pt x="0" y="2437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6" id="46"/>
          <p:cNvSpPr txBox="true"/>
          <p:nvPr/>
        </p:nvSpPr>
        <p:spPr>
          <a:xfrm rot="0">
            <a:off x="4722649" y="5367834"/>
            <a:ext cx="2581203" cy="1087594"/>
          </a:xfrm>
          <a:prstGeom prst="rect">
            <a:avLst/>
          </a:prstGeom>
        </p:spPr>
        <p:txBody>
          <a:bodyPr anchor="t" rtlCol="false" tIns="0" lIns="0" bIns="0" rIns="0">
            <a:spAutoFit/>
          </a:bodyPr>
          <a:lstStyle/>
          <a:p>
            <a:pPr algn="l">
              <a:lnSpc>
                <a:spcPts val="2851"/>
              </a:lnSpc>
            </a:pPr>
            <a:r>
              <a:rPr lang="en-US" sz="1639">
                <a:solidFill>
                  <a:srgbClr val="333333"/>
                </a:solidFill>
                <a:latin typeface="Calibri (MS)"/>
                <a:ea typeface="Calibri (MS)"/>
                <a:cs typeface="Calibri (MS)"/>
                <a:sym typeface="Calibri (MS)"/>
              </a:rPr>
              <a:t>Acceder a datos solo cuando es necesario para realizar una tarea asignada.</a:t>
            </a:r>
          </a:p>
        </p:txBody>
      </p:sp>
      <p:sp>
        <p:nvSpPr>
          <p:cNvPr name="Freeform 47" id="47"/>
          <p:cNvSpPr/>
          <p:nvPr/>
        </p:nvSpPr>
        <p:spPr>
          <a:xfrm flipH="false" flipV="false" rot="0">
            <a:off x="7658652" y="4306128"/>
            <a:ext cx="2970638" cy="855717"/>
          </a:xfrm>
          <a:custGeom>
            <a:avLst/>
            <a:gdLst/>
            <a:ahLst/>
            <a:cxnLst/>
            <a:rect r="r" b="b" t="t" l="l"/>
            <a:pathLst>
              <a:path h="855717" w="2970638">
                <a:moveTo>
                  <a:pt x="0" y="0"/>
                </a:moveTo>
                <a:lnTo>
                  <a:pt x="2970639" y="0"/>
                </a:lnTo>
                <a:lnTo>
                  <a:pt x="2970639" y="855718"/>
                </a:lnTo>
                <a:lnTo>
                  <a:pt x="0" y="85571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48" id="48"/>
          <p:cNvGrpSpPr/>
          <p:nvPr/>
        </p:nvGrpSpPr>
        <p:grpSpPr>
          <a:xfrm rot="0">
            <a:off x="7670214" y="4317690"/>
            <a:ext cx="2947567" cy="832646"/>
            <a:chOff x="0" y="0"/>
            <a:chExt cx="4315968" cy="1219200"/>
          </a:xfrm>
        </p:grpSpPr>
        <p:sp>
          <p:nvSpPr>
            <p:cNvPr name="Freeform 49" id="49"/>
            <p:cNvSpPr/>
            <p:nvPr/>
          </p:nvSpPr>
          <p:spPr>
            <a:xfrm flipH="false" flipV="false" rot="0">
              <a:off x="0" y="0"/>
              <a:ext cx="4315968" cy="1219200"/>
            </a:xfrm>
            <a:custGeom>
              <a:avLst/>
              <a:gdLst/>
              <a:ahLst/>
              <a:cxnLst/>
              <a:rect r="r" b="b" t="t" l="l"/>
              <a:pathLst>
                <a:path h="1219200" w="4315968">
                  <a:moveTo>
                    <a:pt x="0" y="0"/>
                  </a:moveTo>
                  <a:lnTo>
                    <a:pt x="4315968" y="0"/>
                  </a:lnTo>
                  <a:lnTo>
                    <a:pt x="4315968" y="1219200"/>
                  </a:lnTo>
                  <a:lnTo>
                    <a:pt x="0" y="1219200"/>
                  </a:lnTo>
                  <a:close/>
                </a:path>
              </a:pathLst>
            </a:custGeom>
            <a:blipFill>
              <a:blip r:embed="rId7">
                <a:alphaModFix amt="0"/>
              </a:blip>
              <a:stretch>
                <a:fillRect l="0" t="-18929" r="0" b="-18929"/>
              </a:stretch>
            </a:blipFill>
          </p:spPr>
        </p:sp>
      </p:grpSp>
      <p:grpSp>
        <p:nvGrpSpPr>
          <p:cNvPr name="Group 50" id="50"/>
          <p:cNvGrpSpPr/>
          <p:nvPr/>
        </p:nvGrpSpPr>
        <p:grpSpPr>
          <a:xfrm rot="0">
            <a:off x="7670214" y="4291670"/>
            <a:ext cx="2947567" cy="858666"/>
            <a:chOff x="0" y="0"/>
            <a:chExt cx="4315968" cy="1257300"/>
          </a:xfrm>
        </p:grpSpPr>
        <p:sp>
          <p:nvSpPr>
            <p:cNvPr name="Freeform 51" id="51"/>
            <p:cNvSpPr/>
            <p:nvPr/>
          </p:nvSpPr>
          <p:spPr>
            <a:xfrm flipH="false" flipV="false" rot="0">
              <a:off x="0" y="0"/>
              <a:ext cx="4315968" cy="1257300"/>
            </a:xfrm>
            <a:custGeom>
              <a:avLst/>
              <a:gdLst/>
              <a:ahLst/>
              <a:cxnLst/>
              <a:rect r="r" b="b" t="t" l="l"/>
              <a:pathLst>
                <a:path h="1257300" w="4315968">
                  <a:moveTo>
                    <a:pt x="0" y="0"/>
                  </a:moveTo>
                  <a:lnTo>
                    <a:pt x="4315968" y="0"/>
                  </a:lnTo>
                  <a:lnTo>
                    <a:pt x="4315968" y="1257300"/>
                  </a:lnTo>
                  <a:lnTo>
                    <a:pt x="0" y="1257300"/>
                  </a:lnTo>
                  <a:close/>
                </a:path>
              </a:pathLst>
            </a:custGeom>
            <a:blipFill>
              <a:blip r:embed="rId8">
                <a:alphaModFix amt="0"/>
              </a:blip>
              <a:stretch>
                <a:fillRect l="0" t="-16886" r="0" b="-16886"/>
              </a:stretch>
            </a:blipFill>
          </p:spPr>
        </p:sp>
        <p:sp>
          <p:nvSpPr>
            <p:cNvPr name="TextBox 52" id="52"/>
            <p:cNvSpPr txBox="true"/>
            <p:nvPr/>
          </p:nvSpPr>
          <p:spPr>
            <a:xfrm>
              <a:off x="0" y="-38100"/>
              <a:ext cx="4315968" cy="129540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Evitar la curiosidad digital</a:t>
              </a:r>
            </a:p>
          </p:txBody>
        </p:sp>
      </p:grpSp>
      <p:sp>
        <p:nvSpPr>
          <p:cNvPr name="Freeform 53" id="53"/>
          <p:cNvSpPr/>
          <p:nvPr/>
        </p:nvSpPr>
        <p:spPr>
          <a:xfrm flipH="false" flipV="false" rot="0">
            <a:off x="7658652" y="5172080"/>
            <a:ext cx="2970638" cy="2437745"/>
          </a:xfrm>
          <a:custGeom>
            <a:avLst/>
            <a:gdLst/>
            <a:ahLst/>
            <a:cxnLst/>
            <a:rect r="r" b="b" t="t" l="l"/>
            <a:pathLst>
              <a:path h="2437745" w="2970638">
                <a:moveTo>
                  <a:pt x="0" y="0"/>
                </a:moveTo>
                <a:lnTo>
                  <a:pt x="2970639" y="0"/>
                </a:lnTo>
                <a:lnTo>
                  <a:pt x="2970639" y="2437745"/>
                </a:lnTo>
                <a:lnTo>
                  <a:pt x="0" y="2437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54" id="54"/>
          <p:cNvSpPr txBox="true"/>
          <p:nvPr/>
        </p:nvSpPr>
        <p:spPr>
          <a:xfrm rot="0">
            <a:off x="7853399" y="5367834"/>
            <a:ext cx="2581203" cy="1087594"/>
          </a:xfrm>
          <a:prstGeom prst="rect">
            <a:avLst/>
          </a:prstGeom>
        </p:spPr>
        <p:txBody>
          <a:bodyPr anchor="t" rtlCol="false" tIns="0" lIns="0" bIns="0" rIns="0">
            <a:spAutoFit/>
          </a:bodyPr>
          <a:lstStyle/>
          <a:p>
            <a:pPr algn="l">
              <a:lnSpc>
                <a:spcPts val="2851"/>
              </a:lnSpc>
            </a:pPr>
            <a:r>
              <a:rPr lang="en-US" sz="1639">
                <a:solidFill>
                  <a:srgbClr val="333333"/>
                </a:solidFill>
                <a:latin typeface="Calibri (MS)"/>
                <a:ea typeface="Calibri (MS)"/>
                <a:cs typeface="Calibri (MS)"/>
                <a:sym typeface="Calibri (MS)"/>
              </a:rPr>
              <a:t>No explorar información 'por interés' si no hay un motivo profesional válido.</a:t>
            </a:r>
          </a:p>
        </p:txBody>
      </p:sp>
      <p:sp>
        <p:nvSpPr>
          <p:cNvPr name="Freeform 55" id="55"/>
          <p:cNvSpPr/>
          <p:nvPr/>
        </p:nvSpPr>
        <p:spPr>
          <a:xfrm flipH="false" flipV="false" rot="0">
            <a:off x="10789402" y="4306128"/>
            <a:ext cx="2970638" cy="855717"/>
          </a:xfrm>
          <a:custGeom>
            <a:avLst/>
            <a:gdLst/>
            <a:ahLst/>
            <a:cxnLst/>
            <a:rect r="r" b="b" t="t" l="l"/>
            <a:pathLst>
              <a:path h="855717" w="2970638">
                <a:moveTo>
                  <a:pt x="0" y="0"/>
                </a:moveTo>
                <a:lnTo>
                  <a:pt x="2970638" y="0"/>
                </a:lnTo>
                <a:lnTo>
                  <a:pt x="2970638" y="855718"/>
                </a:lnTo>
                <a:lnTo>
                  <a:pt x="0" y="85571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6" id="56"/>
          <p:cNvGrpSpPr/>
          <p:nvPr/>
        </p:nvGrpSpPr>
        <p:grpSpPr>
          <a:xfrm rot="0">
            <a:off x="10800963" y="4317690"/>
            <a:ext cx="2947567" cy="832646"/>
            <a:chOff x="0" y="0"/>
            <a:chExt cx="4315968" cy="1219200"/>
          </a:xfrm>
        </p:grpSpPr>
        <p:sp>
          <p:nvSpPr>
            <p:cNvPr name="Freeform 57" id="57"/>
            <p:cNvSpPr/>
            <p:nvPr/>
          </p:nvSpPr>
          <p:spPr>
            <a:xfrm flipH="false" flipV="false" rot="0">
              <a:off x="0" y="0"/>
              <a:ext cx="4315968" cy="1219200"/>
            </a:xfrm>
            <a:custGeom>
              <a:avLst/>
              <a:gdLst/>
              <a:ahLst/>
              <a:cxnLst/>
              <a:rect r="r" b="b" t="t" l="l"/>
              <a:pathLst>
                <a:path h="1219200" w="4315968">
                  <a:moveTo>
                    <a:pt x="0" y="0"/>
                  </a:moveTo>
                  <a:lnTo>
                    <a:pt x="4315968" y="0"/>
                  </a:lnTo>
                  <a:lnTo>
                    <a:pt x="4315968" y="1219200"/>
                  </a:lnTo>
                  <a:lnTo>
                    <a:pt x="0" y="1219200"/>
                  </a:lnTo>
                  <a:close/>
                </a:path>
              </a:pathLst>
            </a:custGeom>
            <a:blipFill>
              <a:blip r:embed="rId7">
                <a:alphaModFix amt="0"/>
              </a:blip>
              <a:stretch>
                <a:fillRect l="0" t="-18929" r="0" b="-18929"/>
              </a:stretch>
            </a:blipFill>
          </p:spPr>
        </p:sp>
      </p:grpSp>
      <p:grpSp>
        <p:nvGrpSpPr>
          <p:cNvPr name="Group 58" id="58"/>
          <p:cNvGrpSpPr/>
          <p:nvPr/>
        </p:nvGrpSpPr>
        <p:grpSpPr>
          <a:xfrm rot="0">
            <a:off x="10800963" y="4291670"/>
            <a:ext cx="2947567" cy="858666"/>
            <a:chOff x="0" y="0"/>
            <a:chExt cx="4315968" cy="1257300"/>
          </a:xfrm>
        </p:grpSpPr>
        <p:sp>
          <p:nvSpPr>
            <p:cNvPr name="Freeform 59" id="59"/>
            <p:cNvSpPr/>
            <p:nvPr/>
          </p:nvSpPr>
          <p:spPr>
            <a:xfrm flipH="false" flipV="false" rot="0">
              <a:off x="0" y="0"/>
              <a:ext cx="4315968" cy="1257300"/>
            </a:xfrm>
            <a:custGeom>
              <a:avLst/>
              <a:gdLst/>
              <a:ahLst/>
              <a:cxnLst/>
              <a:rect r="r" b="b" t="t" l="l"/>
              <a:pathLst>
                <a:path h="1257300" w="4315968">
                  <a:moveTo>
                    <a:pt x="0" y="0"/>
                  </a:moveTo>
                  <a:lnTo>
                    <a:pt x="4315968" y="0"/>
                  </a:lnTo>
                  <a:lnTo>
                    <a:pt x="4315968" y="1257300"/>
                  </a:lnTo>
                  <a:lnTo>
                    <a:pt x="0" y="1257300"/>
                  </a:lnTo>
                  <a:close/>
                </a:path>
              </a:pathLst>
            </a:custGeom>
            <a:blipFill>
              <a:blip r:embed="rId8">
                <a:alphaModFix amt="0"/>
              </a:blip>
              <a:stretch>
                <a:fillRect l="0" t="-16886" r="0" b="-16886"/>
              </a:stretch>
            </a:blipFill>
          </p:spPr>
        </p:sp>
        <p:sp>
          <p:nvSpPr>
            <p:cNvPr name="TextBox 60" id="60"/>
            <p:cNvSpPr txBox="true"/>
            <p:nvPr/>
          </p:nvSpPr>
          <p:spPr>
            <a:xfrm>
              <a:off x="0" y="-38100"/>
              <a:ext cx="4315968" cy="129540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Cumplimiento de políticas</a:t>
              </a:r>
            </a:p>
          </p:txBody>
        </p:sp>
      </p:grpSp>
      <p:sp>
        <p:nvSpPr>
          <p:cNvPr name="Freeform 61" id="61"/>
          <p:cNvSpPr/>
          <p:nvPr/>
        </p:nvSpPr>
        <p:spPr>
          <a:xfrm flipH="false" flipV="false" rot="0">
            <a:off x="10789402" y="5172080"/>
            <a:ext cx="2970638" cy="2437745"/>
          </a:xfrm>
          <a:custGeom>
            <a:avLst/>
            <a:gdLst/>
            <a:ahLst/>
            <a:cxnLst/>
            <a:rect r="r" b="b" t="t" l="l"/>
            <a:pathLst>
              <a:path h="2437745" w="2970638">
                <a:moveTo>
                  <a:pt x="0" y="0"/>
                </a:moveTo>
                <a:lnTo>
                  <a:pt x="2970638" y="0"/>
                </a:lnTo>
                <a:lnTo>
                  <a:pt x="2970638" y="2437745"/>
                </a:lnTo>
                <a:lnTo>
                  <a:pt x="0" y="2437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2" id="62"/>
          <p:cNvSpPr txBox="true"/>
          <p:nvPr/>
        </p:nvSpPr>
        <p:spPr>
          <a:xfrm rot="0">
            <a:off x="10984148" y="5367834"/>
            <a:ext cx="2581203" cy="1087594"/>
          </a:xfrm>
          <a:prstGeom prst="rect">
            <a:avLst/>
          </a:prstGeom>
        </p:spPr>
        <p:txBody>
          <a:bodyPr anchor="t" rtlCol="false" tIns="0" lIns="0" bIns="0" rIns="0">
            <a:spAutoFit/>
          </a:bodyPr>
          <a:lstStyle/>
          <a:p>
            <a:pPr algn="l">
              <a:lnSpc>
                <a:spcPts val="2851"/>
              </a:lnSpc>
            </a:pPr>
            <a:r>
              <a:rPr lang="en-US" sz="1639">
                <a:solidFill>
                  <a:srgbClr val="333333"/>
                </a:solidFill>
                <a:latin typeface="Calibri (MS)"/>
                <a:ea typeface="Calibri (MS)"/>
                <a:cs typeface="Calibri (MS)"/>
                <a:sym typeface="Calibri (MS)"/>
              </a:rPr>
              <a:t>Seguir NDAs, normativas de la organización y cualquier marco legal aplicable.</a:t>
            </a:r>
          </a:p>
        </p:txBody>
      </p:sp>
      <p:sp>
        <p:nvSpPr>
          <p:cNvPr name="Freeform 63" id="63"/>
          <p:cNvSpPr/>
          <p:nvPr/>
        </p:nvSpPr>
        <p:spPr>
          <a:xfrm flipH="false" flipV="false" rot="0">
            <a:off x="13920151" y="4306128"/>
            <a:ext cx="2970638" cy="855717"/>
          </a:xfrm>
          <a:custGeom>
            <a:avLst/>
            <a:gdLst/>
            <a:ahLst/>
            <a:cxnLst/>
            <a:rect r="r" b="b" t="t" l="l"/>
            <a:pathLst>
              <a:path h="855717" w="2970638">
                <a:moveTo>
                  <a:pt x="0" y="0"/>
                </a:moveTo>
                <a:lnTo>
                  <a:pt x="2970638" y="0"/>
                </a:lnTo>
                <a:lnTo>
                  <a:pt x="2970638" y="855718"/>
                </a:lnTo>
                <a:lnTo>
                  <a:pt x="0" y="85571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4" id="64"/>
          <p:cNvGrpSpPr/>
          <p:nvPr/>
        </p:nvGrpSpPr>
        <p:grpSpPr>
          <a:xfrm rot="0">
            <a:off x="13931713" y="4317690"/>
            <a:ext cx="2947567" cy="832646"/>
            <a:chOff x="0" y="0"/>
            <a:chExt cx="4315968" cy="1219200"/>
          </a:xfrm>
        </p:grpSpPr>
        <p:sp>
          <p:nvSpPr>
            <p:cNvPr name="Freeform 65" id="65"/>
            <p:cNvSpPr/>
            <p:nvPr/>
          </p:nvSpPr>
          <p:spPr>
            <a:xfrm flipH="false" flipV="false" rot="0">
              <a:off x="0" y="0"/>
              <a:ext cx="4315968" cy="1219200"/>
            </a:xfrm>
            <a:custGeom>
              <a:avLst/>
              <a:gdLst/>
              <a:ahLst/>
              <a:cxnLst/>
              <a:rect r="r" b="b" t="t" l="l"/>
              <a:pathLst>
                <a:path h="1219200" w="4315968">
                  <a:moveTo>
                    <a:pt x="0" y="0"/>
                  </a:moveTo>
                  <a:lnTo>
                    <a:pt x="4315968" y="0"/>
                  </a:lnTo>
                  <a:lnTo>
                    <a:pt x="4315968" y="1219200"/>
                  </a:lnTo>
                  <a:lnTo>
                    <a:pt x="0" y="1219200"/>
                  </a:lnTo>
                  <a:close/>
                </a:path>
              </a:pathLst>
            </a:custGeom>
            <a:blipFill>
              <a:blip r:embed="rId7">
                <a:alphaModFix amt="0"/>
              </a:blip>
              <a:stretch>
                <a:fillRect l="0" t="-18929" r="0" b="-18929"/>
              </a:stretch>
            </a:blipFill>
          </p:spPr>
        </p:sp>
      </p:grpSp>
      <p:grpSp>
        <p:nvGrpSpPr>
          <p:cNvPr name="Group 66" id="66"/>
          <p:cNvGrpSpPr/>
          <p:nvPr/>
        </p:nvGrpSpPr>
        <p:grpSpPr>
          <a:xfrm rot="0">
            <a:off x="13931713" y="4291670"/>
            <a:ext cx="2947567" cy="858666"/>
            <a:chOff x="0" y="0"/>
            <a:chExt cx="4315968" cy="1257300"/>
          </a:xfrm>
        </p:grpSpPr>
        <p:sp>
          <p:nvSpPr>
            <p:cNvPr name="Freeform 67" id="67"/>
            <p:cNvSpPr/>
            <p:nvPr/>
          </p:nvSpPr>
          <p:spPr>
            <a:xfrm flipH="false" flipV="false" rot="0">
              <a:off x="0" y="0"/>
              <a:ext cx="4315968" cy="1257300"/>
            </a:xfrm>
            <a:custGeom>
              <a:avLst/>
              <a:gdLst/>
              <a:ahLst/>
              <a:cxnLst/>
              <a:rect r="r" b="b" t="t" l="l"/>
              <a:pathLst>
                <a:path h="1257300" w="4315968">
                  <a:moveTo>
                    <a:pt x="0" y="0"/>
                  </a:moveTo>
                  <a:lnTo>
                    <a:pt x="4315968" y="0"/>
                  </a:lnTo>
                  <a:lnTo>
                    <a:pt x="4315968" y="1257300"/>
                  </a:lnTo>
                  <a:lnTo>
                    <a:pt x="0" y="1257300"/>
                  </a:lnTo>
                  <a:close/>
                </a:path>
              </a:pathLst>
            </a:custGeom>
            <a:blipFill>
              <a:blip r:embed="rId8">
                <a:alphaModFix amt="0"/>
              </a:blip>
              <a:stretch>
                <a:fillRect l="0" t="-16886" r="0" b="-16886"/>
              </a:stretch>
            </a:blipFill>
          </p:spPr>
        </p:sp>
        <p:sp>
          <p:nvSpPr>
            <p:cNvPr name="TextBox 68" id="68"/>
            <p:cNvSpPr txBox="true"/>
            <p:nvPr/>
          </p:nvSpPr>
          <p:spPr>
            <a:xfrm>
              <a:off x="0" y="-38100"/>
              <a:ext cx="4315968" cy="129540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Principio de mínimo privilegio</a:t>
              </a:r>
            </a:p>
          </p:txBody>
        </p:sp>
      </p:grpSp>
      <p:sp>
        <p:nvSpPr>
          <p:cNvPr name="Freeform 69" id="69"/>
          <p:cNvSpPr/>
          <p:nvPr/>
        </p:nvSpPr>
        <p:spPr>
          <a:xfrm flipH="false" flipV="false" rot="0">
            <a:off x="13920151" y="5172080"/>
            <a:ext cx="2970638" cy="2437745"/>
          </a:xfrm>
          <a:custGeom>
            <a:avLst/>
            <a:gdLst/>
            <a:ahLst/>
            <a:cxnLst/>
            <a:rect r="r" b="b" t="t" l="l"/>
            <a:pathLst>
              <a:path h="2437745" w="2970638">
                <a:moveTo>
                  <a:pt x="0" y="0"/>
                </a:moveTo>
                <a:lnTo>
                  <a:pt x="2970638" y="0"/>
                </a:lnTo>
                <a:lnTo>
                  <a:pt x="2970638" y="2437745"/>
                </a:lnTo>
                <a:lnTo>
                  <a:pt x="0" y="2437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70" id="70"/>
          <p:cNvSpPr txBox="true"/>
          <p:nvPr/>
        </p:nvSpPr>
        <p:spPr>
          <a:xfrm rot="0">
            <a:off x="14114897" y="5367834"/>
            <a:ext cx="2581203" cy="1087594"/>
          </a:xfrm>
          <a:prstGeom prst="rect">
            <a:avLst/>
          </a:prstGeom>
        </p:spPr>
        <p:txBody>
          <a:bodyPr anchor="t" rtlCol="false" tIns="0" lIns="0" bIns="0" rIns="0">
            <a:spAutoFit/>
          </a:bodyPr>
          <a:lstStyle/>
          <a:p>
            <a:pPr algn="l">
              <a:lnSpc>
                <a:spcPts val="2851"/>
              </a:lnSpc>
            </a:pPr>
            <a:r>
              <a:rPr lang="en-US" sz="1639">
                <a:solidFill>
                  <a:srgbClr val="333333"/>
                </a:solidFill>
                <a:latin typeface="Calibri (MS)"/>
                <a:ea typeface="Calibri (MS)"/>
                <a:cs typeface="Calibri (MS)"/>
                <a:sym typeface="Calibri (MS)"/>
              </a:rPr>
              <a:t>Usar solo los accesos necesarios y no solicitar privilegios innecesarios.</a:t>
            </a:r>
          </a:p>
        </p:txBody>
      </p:sp>
      <p:sp>
        <p:nvSpPr>
          <p:cNvPr name="Freeform 71" id="71"/>
          <p:cNvSpPr/>
          <p:nvPr/>
        </p:nvSpPr>
        <p:spPr>
          <a:xfrm flipH="false" flipV="false" rot="0">
            <a:off x="2499676" y="8339098"/>
            <a:ext cx="13593764" cy="919202"/>
          </a:xfrm>
          <a:custGeom>
            <a:avLst/>
            <a:gdLst/>
            <a:ahLst/>
            <a:cxnLst/>
            <a:rect r="r" b="b" t="t" l="l"/>
            <a:pathLst>
              <a:path h="919202" w="13593764">
                <a:moveTo>
                  <a:pt x="0" y="0"/>
                </a:moveTo>
                <a:lnTo>
                  <a:pt x="13593764" y="0"/>
                </a:lnTo>
                <a:lnTo>
                  <a:pt x="13593764" y="919202"/>
                </a:lnTo>
                <a:lnTo>
                  <a:pt x="0" y="91920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72" id="72"/>
          <p:cNvGrpSpPr/>
          <p:nvPr/>
        </p:nvGrpSpPr>
        <p:grpSpPr>
          <a:xfrm rot="0">
            <a:off x="2770776" y="8349166"/>
            <a:ext cx="13051609" cy="899111"/>
            <a:chOff x="0" y="0"/>
            <a:chExt cx="21945600" cy="1511808"/>
          </a:xfrm>
        </p:grpSpPr>
        <p:sp>
          <p:nvSpPr>
            <p:cNvPr name="Freeform 73" id="73"/>
            <p:cNvSpPr/>
            <p:nvPr/>
          </p:nvSpPr>
          <p:spPr>
            <a:xfrm flipH="false" flipV="false" rot="0">
              <a:off x="0" y="0"/>
              <a:ext cx="21945600" cy="1511808"/>
            </a:xfrm>
            <a:custGeom>
              <a:avLst/>
              <a:gdLst/>
              <a:ahLst/>
              <a:cxnLst/>
              <a:rect r="r" b="b" t="t" l="l"/>
              <a:pathLst>
                <a:path h="1511808" w="21945600">
                  <a:moveTo>
                    <a:pt x="0" y="0"/>
                  </a:moveTo>
                  <a:lnTo>
                    <a:pt x="21945600" y="0"/>
                  </a:lnTo>
                  <a:lnTo>
                    <a:pt x="21945600" y="1511808"/>
                  </a:lnTo>
                  <a:lnTo>
                    <a:pt x="0" y="1511808"/>
                  </a:lnTo>
                  <a:close/>
                </a:path>
              </a:pathLst>
            </a:custGeom>
            <a:blipFill>
              <a:blip r:embed="rId7">
                <a:alphaModFix amt="0"/>
              </a:blip>
              <a:stretch>
                <a:fillRect l="0" t="-232650" r="0" b="-232651"/>
              </a:stretch>
            </a:blipFill>
          </p:spPr>
        </p:sp>
      </p:grpSp>
      <p:grpSp>
        <p:nvGrpSpPr>
          <p:cNvPr name="Group 74" id="74"/>
          <p:cNvGrpSpPr/>
          <p:nvPr/>
        </p:nvGrpSpPr>
        <p:grpSpPr>
          <a:xfrm rot="0">
            <a:off x="2770776" y="8320843"/>
            <a:ext cx="13051609" cy="927435"/>
            <a:chOff x="0" y="0"/>
            <a:chExt cx="21945600" cy="1559433"/>
          </a:xfrm>
        </p:grpSpPr>
        <p:sp>
          <p:nvSpPr>
            <p:cNvPr name="Freeform 75" id="75"/>
            <p:cNvSpPr/>
            <p:nvPr/>
          </p:nvSpPr>
          <p:spPr>
            <a:xfrm flipH="false" flipV="false" rot="0">
              <a:off x="0" y="0"/>
              <a:ext cx="21945600" cy="1559433"/>
            </a:xfrm>
            <a:custGeom>
              <a:avLst/>
              <a:gdLst/>
              <a:ahLst/>
              <a:cxnLst/>
              <a:rect r="r" b="b" t="t" l="l"/>
              <a:pathLst>
                <a:path h="1559433" w="21945600">
                  <a:moveTo>
                    <a:pt x="0" y="0"/>
                  </a:moveTo>
                  <a:lnTo>
                    <a:pt x="21945600" y="0"/>
                  </a:lnTo>
                  <a:lnTo>
                    <a:pt x="21945600" y="1559433"/>
                  </a:lnTo>
                  <a:lnTo>
                    <a:pt x="0" y="1559433"/>
                  </a:lnTo>
                  <a:close/>
                </a:path>
              </a:pathLst>
            </a:custGeom>
            <a:blipFill>
              <a:blip r:embed="rId8">
                <a:alphaModFix amt="0"/>
              </a:blip>
              <a:stretch>
                <a:fillRect l="0" t="-224209" r="0" b="-224209"/>
              </a:stretch>
            </a:blipFill>
          </p:spPr>
        </p:sp>
        <p:sp>
          <p:nvSpPr>
            <p:cNvPr name="TextBox 76" id="76"/>
            <p:cNvSpPr txBox="true"/>
            <p:nvPr/>
          </p:nvSpPr>
          <p:spPr>
            <a:xfrm>
              <a:off x="0" y="-38100"/>
              <a:ext cx="21945600" cy="1597533"/>
            </a:xfrm>
            <a:prstGeom prst="rect">
              <a:avLst/>
            </a:prstGeom>
          </p:spPr>
          <p:txBody>
            <a:bodyPr anchor="ctr" rtlCol="false" tIns="0" lIns="0" bIns="0" rIns="0"/>
            <a:lstStyle/>
            <a:p>
              <a:pPr algn="l">
                <a:lnSpc>
                  <a:spcPts val="2038"/>
                </a:lnSpc>
              </a:pPr>
              <a:r>
                <a:rPr lang="en-US" sz="1699" b="true">
                  <a:solidFill>
                    <a:srgbClr val="8A004F"/>
                  </a:solidFill>
                  <a:latin typeface="Calibri (MS) Bold"/>
                  <a:ea typeface="Calibri (MS) Bold"/>
                  <a:cs typeface="Calibri (MS) Bold"/>
                  <a:sym typeface="Calibri (MS) Bold"/>
                </a:rPr>
                <a:t>Como analista L1, vas a ser muchas veces la primera persona que ve lo que otros no ven. </a:t>
              </a:r>
              <a:r>
                <a:rPr lang="en-US" sz="1699">
                  <a:solidFill>
                    <a:srgbClr val="333333"/>
                  </a:solidFill>
                  <a:latin typeface="Calibri (MS)"/>
                  <a:ea typeface="Calibri (MS)"/>
                  <a:cs typeface="Calibri (MS)"/>
                  <a:sym typeface="Calibri (MS)"/>
                </a:rPr>
                <a:t>De vos depende manejar esa información con seriedad, respeto y profesionalismo.</a:t>
              </a:r>
            </a:p>
          </p:txBody>
        </p:sp>
      </p:grpSp>
      <p:grpSp>
        <p:nvGrpSpPr>
          <p:cNvPr name="Group 77" id="77"/>
          <p:cNvGrpSpPr/>
          <p:nvPr/>
        </p:nvGrpSpPr>
        <p:grpSpPr>
          <a:xfrm rot="0">
            <a:off x="15983863" y="24203"/>
            <a:ext cx="1855079" cy="1855079"/>
            <a:chOff x="0" y="0"/>
            <a:chExt cx="5852160" cy="5852160"/>
          </a:xfrm>
        </p:grpSpPr>
        <p:sp>
          <p:nvSpPr>
            <p:cNvPr name="Freeform 78" id="7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7"/>
              <a:stretch>
                <a:fillRect l="0" t="0" r="0" b="0"/>
              </a:stretch>
            </a:blipFill>
          </p:spPr>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p.37</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42862"/>
            <a:ext cx="16824960" cy="1688783"/>
            <a:chOff x="0" y="0"/>
            <a:chExt cx="22433280" cy="2251710"/>
          </a:xfrm>
        </p:grpSpPr>
        <p:sp>
          <p:nvSpPr>
            <p:cNvPr name="Freeform 17" id="17"/>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6">
                <a:alphaModFix amt="0"/>
              </a:blip>
              <a:stretch>
                <a:fillRect l="0" t="-144125" r="0" b="-144125"/>
              </a:stretch>
            </a:blipFill>
          </p:spPr>
        </p:sp>
        <p:sp>
          <p:nvSpPr>
            <p:cNvPr name="TextBox 18" id="18"/>
            <p:cNvSpPr txBox="true"/>
            <p:nvPr/>
          </p:nvSpPr>
          <p:spPr>
            <a:xfrm>
              <a:off x="0" y="-57150"/>
              <a:ext cx="22433280" cy="230886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1.5  |  Acciones permitidas vs. acciones prohibidas en el SOC</a:t>
              </a:r>
            </a:p>
          </p:txBody>
        </p:sp>
      </p:grpSp>
      <p:sp>
        <p:nvSpPr>
          <p:cNvPr name="Freeform 19" id="19"/>
          <p:cNvSpPr/>
          <p:nvPr/>
        </p:nvSpPr>
        <p:spPr>
          <a:xfrm flipH="false" flipV="false" rot="0">
            <a:off x="2512153" y="2456408"/>
            <a:ext cx="6528451" cy="797835"/>
          </a:xfrm>
          <a:custGeom>
            <a:avLst/>
            <a:gdLst/>
            <a:ahLst/>
            <a:cxnLst/>
            <a:rect r="r" b="b" t="t" l="l"/>
            <a:pathLst>
              <a:path h="797835" w="6528451">
                <a:moveTo>
                  <a:pt x="0" y="0"/>
                </a:moveTo>
                <a:lnTo>
                  <a:pt x="6528451" y="0"/>
                </a:lnTo>
                <a:lnTo>
                  <a:pt x="6528451" y="797835"/>
                </a:lnTo>
                <a:lnTo>
                  <a:pt x="0" y="7978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2521977" y="2466232"/>
            <a:ext cx="6508848" cy="778232"/>
            <a:chOff x="0" y="0"/>
            <a:chExt cx="11216640" cy="1341120"/>
          </a:xfrm>
        </p:grpSpPr>
        <p:sp>
          <p:nvSpPr>
            <p:cNvPr name="Freeform 21" id="21"/>
            <p:cNvSpPr/>
            <p:nvPr/>
          </p:nvSpPr>
          <p:spPr>
            <a:xfrm flipH="false" flipV="false" rot="0">
              <a:off x="0" y="0"/>
              <a:ext cx="11216640" cy="1341120"/>
            </a:xfrm>
            <a:custGeom>
              <a:avLst/>
              <a:gdLst/>
              <a:ahLst/>
              <a:cxnLst/>
              <a:rect r="r" b="b" t="t" l="l"/>
              <a:pathLst>
                <a:path h="1341120" w="11216640">
                  <a:moveTo>
                    <a:pt x="0" y="0"/>
                  </a:moveTo>
                  <a:lnTo>
                    <a:pt x="11216640" y="0"/>
                  </a:lnTo>
                  <a:lnTo>
                    <a:pt x="11216640" y="1341120"/>
                  </a:lnTo>
                  <a:lnTo>
                    <a:pt x="0" y="1341120"/>
                  </a:lnTo>
                  <a:close/>
                </a:path>
              </a:pathLst>
            </a:custGeom>
            <a:blipFill>
              <a:blip r:embed="rId5">
                <a:alphaModFix amt="0"/>
              </a:blip>
              <a:stretch>
                <a:fillRect l="0" t="-112852" r="0" b="-112852"/>
              </a:stretch>
            </a:blipFill>
          </p:spPr>
        </p:sp>
      </p:grpSp>
      <p:grpSp>
        <p:nvGrpSpPr>
          <p:cNvPr name="Group 22" id="22"/>
          <p:cNvGrpSpPr/>
          <p:nvPr/>
        </p:nvGrpSpPr>
        <p:grpSpPr>
          <a:xfrm rot="0">
            <a:off x="2521977" y="2444123"/>
            <a:ext cx="6508848" cy="800341"/>
            <a:chOff x="0" y="0"/>
            <a:chExt cx="11216640" cy="1379220"/>
          </a:xfrm>
        </p:grpSpPr>
        <p:sp>
          <p:nvSpPr>
            <p:cNvPr name="Freeform 23" id="23"/>
            <p:cNvSpPr/>
            <p:nvPr/>
          </p:nvSpPr>
          <p:spPr>
            <a:xfrm flipH="false" flipV="false" rot="0">
              <a:off x="0" y="0"/>
              <a:ext cx="11216640" cy="1379220"/>
            </a:xfrm>
            <a:custGeom>
              <a:avLst/>
              <a:gdLst/>
              <a:ahLst/>
              <a:cxnLst/>
              <a:rect r="r" b="b" t="t" l="l"/>
              <a:pathLst>
                <a:path h="1379220" w="11216640">
                  <a:moveTo>
                    <a:pt x="0" y="0"/>
                  </a:moveTo>
                  <a:lnTo>
                    <a:pt x="11216640" y="0"/>
                  </a:lnTo>
                  <a:lnTo>
                    <a:pt x="11216640" y="1379220"/>
                  </a:lnTo>
                  <a:lnTo>
                    <a:pt x="0" y="1379220"/>
                  </a:lnTo>
                  <a:close/>
                </a:path>
              </a:pathLst>
            </a:custGeom>
            <a:blipFill>
              <a:blip r:embed="rId6">
                <a:alphaModFix amt="0"/>
              </a:blip>
              <a:stretch>
                <a:fillRect l="0" t="-108463" r="0" b="-108463"/>
              </a:stretch>
            </a:blipFill>
          </p:spPr>
        </p:sp>
        <p:sp>
          <p:nvSpPr>
            <p:cNvPr name="TextBox 24" id="24"/>
            <p:cNvSpPr txBox="true"/>
            <p:nvPr/>
          </p:nvSpPr>
          <p:spPr>
            <a:xfrm>
              <a:off x="0" y="-38100"/>
              <a:ext cx="11216640" cy="141732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  ACCESO / ACCIÓN PERMITIDA</a:t>
              </a:r>
            </a:p>
          </p:txBody>
        </p:sp>
      </p:grpSp>
      <p:sp>
        <p:nvSpPr>
          <p:cNvPr name="Freeform 25" id="25"/>
          <p:cNvSpPr/>
          <p:nvPr/>
        </p:nvSpPr>
        <p:spPr>
          <a:xfrm flipH="false" flipV="false" rot="0">
            <a:off x="9247396" y="2456408"/>
            <a:ext cx="6528451" cy="797835"/>
          </a:xfrm>
          <a:custGeom>
            <a:avLst/>
            <a:gdLst/>
            <a:ahLst/>
            <a:cxnLst/>
            <a:rect r="r" b="b" t="t" l="l"/>
            <a:pathLst>
              <a:path h="797835" w="6528451">
                <a:moveTo>
                  <a:pt x="0" y="0"/>
                </a:moveTo>
                <a:lnTo>
                  <a:pt x="6528451" y="0"/>
                </a:lnTo>
                <a:lnTo>
                  <a:pt x="6528451" y="797835"/>
                </a:lnTo>
                <a:lnTo>
                  <a:pt x="0" y="7978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9257219" y="2466232"/>
            <a:ext cx="6508848" cy="778232"/>
            <a:chOff x="0" y="0"/>
            <a:chExt cx="11216640" cy="1341120"/>
          </a:xfrm>
        </p:grpSpPr>
        <p:sp>
          <p:nvSpPr>
            <p:cNvPr name="Freeform 27" id="27"/>
            <p:cNvSpPr/>
            <p:nvPr/>
          </p:nvSpPr>
          <p:spPr>
            <a:xfrm flipH="false" flipV="false" rot="0">
              <a:off x="0" y="0"/>
              <a:ext cx="11216640" cy="1341120"/>
            </a:xfrm>
            <a:custGeom>
              <a:avLst/>
              <a:gdLst/>
              <a:ahLst/>
              <a:cxnLst/>
              <a:rect r="r" b="b" t="t" l="l"/>
              <a:pathLst>
                <a:path h="1341120" w="11216640">
                  <a:moveTo>
                    <a:pt x="0" y="0"/>
                  </a:moveTo>
                  <a:lnTo>
                    <a:pt x="11216640" y="0"/>
                  </a:lnTo>
                  <a:lnTo>
                    <a:pt x="11216640" y="1341120"/>
                  </a:lnTo>
                  <a:lnTo>
                    <a:pt x="0" y="1341120"/>
                  </a:lnTo>
                  <a:close/>
                </a:path>
              </a:pathLst>
            </a:custGeom>
            <a:blipFill>
              <a:blip r:embed="rId5">
                <a:alphaModFix amt="0"/>
              </a:blip>
              <a:stretch>
                <a:fillRect l="0" t="-112852" r="0" b="-112852"/>
              </a:stretch>
            </a:blipFill>
          </p:spPr>
        </p:sp>
      </p:grpSp>
      <p:grpSp>
        <p:nvGrpSpPr>
          <p:cNvPr name="Group 28" id="28"/>
          <p:cNvGrpSpPr/>
          <p:nvPr/>
        </p:nvGrpSpPr>
        <p:grpSpPr>
          <a:xfrm rot="0">
            <a:off x="9257219" y="2444123"/>
            <a:ext cx="6508848" cy="800341"/>
            <a:chOff x="0" y="0"/>
            <a:chExt cx="11216640" cy="1379220"/>
          </a:xfrm>
        </p:grpSpPr>
        <p:sp>
          <p:nvSpPr>
            <p:cNvPr name="Freeform 29" id="29"/>
            <p:cNvSpPr/>
            <p:nvPr/>
          </p:nvSpPr>
          <p:spPr>
            <a:xfrm flipH="false" flipV="false" rot="0">
              <a:off x="0" y="0"/>
              <a:ext cx="11216640" cy="1379220"/>
            </a:xfrm>
            <a:custGeom>
              <a:avLst/>
              <a:gdLst/>
              <a:ahLst/>
              <a:cxnLst/>
              <a:rect r="r" b="b" t="t" l="l"/>
              <a:pathLst>
                <a:path h="1379220" w="11216640">
                  <a:moveTo>
                    <a:pt x="0" y="0"/>
                  </a:moveTo>
                  <a:lnTo>
                    <a:pt x="11216640" y="0"/>
                  </a:lnTo>
                  <a:lnTo>
                    <a:pt x="11216640" y="1379220"/>
                  </a:lnTo>
                  <a:lnTo>
                    <a:pt x="0" y="1379220"/>
                  </a:lnTo>
                  <a:close/>
                </a:path>
              </a:pathLst>
            </a:custGeom>
            <a:blipFill>
              <a:blip r:embed="rId6">
                <a:alphaModFix amt="0"/>
              </a:blip>
              <a:stretch>
                <a:fillRect l="0" t="-108463" r="0" b="-108463"/>
              </a:stretch>
            </a:blipFill>
          </p:spPr>
        </p:sp>
        <p:sp>
          <p:nvSpPr>
            <p:cNvPr name="TextBox 30" id="30"/>
            <p:cNvSpPr txBox="true"/>
            <p:nvPr/>
          </p:nvSpPr>
          <p:spPr>
            <a:xfrm>
              <a:off x="0" y="-38100"/>
              <a:ext cx="11216640" cy="141732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  ACCIÓN PROHIBIDA</a:t>
              </a:r>
            </a:p>
          </p:txBody>
        </p:sp>
      </p:grpSp>
      <p:sp>
        <p:nvSpPr>
          <p:cNvPr name="Freeform 31" id="31"/>
          <p:cNvSpPr/>
          <p:nvPr/>
        </p:nvSpPr>
        <p:spPr>
          <a:xfrm flipH="false" flipV="false" rot="0">
            <a:off x="2512153" y="3376137"/>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2705923" y="3385961"/>
            <a:ext cx="6197555" cy="806531"/>
            <a:chOff x="0" y="0"/>
            <a:chExt cx="10680192" cy="1389888"/>
          </a:xfrm>
        </p:grpSpPr>
        <p:sp>
          <p:nvSpPr>
            <p:cNvPr name="Freeform 33" id="33"/>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34" id="34"/>
          <p:cNvGrpSpPr/>
          <p:nvPr/>
        </p:nvGrpSpPr>
        <p:grpSpPr>
          <a:xfrm rot="0">
            <a:off x="2705923" y="3363852"/>
            <a:ext cx="6197555" cy="828640"/>
            <a:chOff x="0" y="0"/>
            <a:chExt cx="10680192" cy="1427988"/>
          </a:xfrm>
        </p:grpSpPr>
        <p:sp>
          <p:nvSpPr>
            <p:cNvPr name="Freeform 35" id="35"/>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36" id="36"/>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A8E6C0"/>
                  </a:solidFill>
                  <a:latin typeface="Calibri (MS)"/>
                  <a:ea typeface="Calibri (MS)"/>
                  <a:cs typeface="Calibri (MS)"/>
                  <a:sym typeface="Calibri (MS)"/>
                </a:rPr>
                <a:t>✔  Ver logs como parte del análisis asignado</a:t>
              </a:r>
            </a:p>
          </p:txBody>
        </p:sp>
      </p:grpSp>
      <p:sp>
        <p:nvSpPr>
          <p:cNvPr name="Freeform 37" id="37"/>
          <p:cNvSpPr/>
          <p:nvPr/>
        </p:nvSpPr>
        <p:spPr>
          <a:xfrm flipH="false" flipV="false" rot="0">
            <a:off x="9247396" y="3376137"/>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9427015" y="3385961"/>
            <a:ext cx="6197555" cy="806531"/>
            <a:chOff x="0" y="0"/>
            <a:chExt cx="10680192" cy="1389888"/>
          </a:xfrm>
        </p:grpSpPr>
        <p:sp>
          <p:nvSpPr>
            <p:cNvPr name="Freeform 39" id="39"/>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40" id="40"/>
          <p:cNvGrpSpPr/>
          <p:nvPr/>
        </p:nvGrpSpPr>
        <p:grpSpPr>
          <a:xfrm rot="0">
            <a:off x="9427015" y="3363852"/>
            <a:ext cx="6197555" cy="828640"/>
            <a:chOff x="0" y="0"/>
            <a:chExt cx="10680192" cy="1427988"/>
          </a:xfrm>
        </p:grpSpPr>
        <p:sp>
          <p:nvSpPr>
            <p:cNvPr name="Freeform 41" id="41"/>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42" id="42"/>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E6A8A8"/>
                  </a:solidFill>
                  <a:latin typeface="Calibri (MS)"/>
                  <a:ea typeface="Calibri (MS)"/>
                  <a:cs typeface="Calibri (MS)"/>
                  <a:sym typeface="Calibri (MS)"/>
                </a:rPr>
                <a:t>✘  Compartir capturas o logs por fuera del SOC</a:t>
              </a:r>
            </a:p>
          </p:txBody>
        </p:sp>
      </p:grpSp>
      <p:sp>
        <p:nvSpPr>
          <p:cNvPr name="Freeform 43" id="43"/>
          <p:cNvSpPr/>
          <p:nvPr/>
        </p:nvSpPr>
        <p:spPr>
          <a:xfrm flipH="false" flipV="false" rot="0">
            <a:off x="2512153" y="4324165"/>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4" id="44"/>
          <p:cNvGrpSpPr/>
          <p:nvPr/>
        </p:nvGrpSpPr>
        <p:grpSpPr>
          <a:xfrm rot="0">
            <a:off x="2705923" y="4333988"/>
            <a:ext cx="6197555" cy="806531"/>
            <a:chOff x="0" y="0"/>
            <a:chExt cx="10680192" cy="1389888"/>
          </a:xfrm>
        </p:grpSpPr>
        <p:sp>
          <p:nvSpPr>
            <p:cNvPr name="Freeform 45" id="45"/>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46" id="46"/>
          <p:cNvGrpSpPr/>
          <p:nvPr/>
        </p:nvGrpSpPr>
        <p:grpSpPr>
          <a:xfrm rot="0">
            <a:off x="2705923" y="4311880"/>
            <a:ext cx="6197555" cy="828640"/>
            <a:chOff x="0" y="0"/>
            <a:chExt cx="10680192" cy="1427988"/>
          </a:xfrm>
        </p:grpSpPr>
        <p:sp>
          <p:nvSpPr>
            <p:cNvPr name="Freeform 47" id="47"/>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48" id="48"/>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A8E6C0"/>
                  </a:solidFill>
                  <a:latin typeface="Calibri (MS)"/>
                  <a:ea typeface="Calibri (MS)"/>
                  <a:cs typeface="Calibri (MS)"/>
                  <a:sym typeface="Calibri (MS)"/>
                </a:rPr>
                <a:t>✔  Analizar un incidente que te fue asignado</a:t>
              </a:r>
            </a:p>
          </p:txBody>
        </p:sp>
      </p:grpSp>
      <p:sp>
        <p:nvSpPr>
          <p:cNvPr name="Freeform 49" id="49"/>
          <p:cNvSpPr/>
          <p:nvPr/>
        </p:nvSpPr>
        <p:spPr>
          <a:xfrm flipH="false" flipV="false" rot="0">
            <a:off x="9247396" y="4324165"/>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0" id="50"/>
          <p:cNvGrpSpPr/>
          <p:nvPr/>
        </p:nvGrpSpPr>
        <p:grpSpPr>
          <a:xfrm rot="0">
            <a:off x="9427015" y="4333988"/>
            <a:ext cx="6197555" cy="806531"/>
            <a:chOff x="0" y="0"/>
            <a:chExt cx="10680192" cy="1389888"/>
          </a:xfrm>
        </p:grpSpPr>
        <p:sp>
          <p:nvSpPr>
            <p:cNvPr name="Freeform 51" id="51"/>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52" id="52"/>
          <p:cNvGrpSpPr/>
          <p:nvPr/>
        </p:nvGrpSpPr>
        <p:grpSpPr>
          <a:xfrm rot="0">
            <a:off x="9427015" y="4311880"/>
            <a:ext cx="6197555" cy="828640"/>
            <a:chOff x="0" y="0"/>
            <a:chExt cx="10680192" cy="1427988"/>
          </a:xfrm>
        </p:grpSpPr>
        <p:sp>
          <p:nvSpPr>
            <p:cNvPr name="Freeform 53" id="53"/>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54" id="54"/>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E6A8A8"/>
                  </a:solidFill>
                  <a:latin typeface="Calibri (MS)"/>
                  <a:ea typeface="Calibri (MS)"/>
                  <a:cs typeface="Calibri (MS)"/>
                  <a:sym typeface="Calibri (MS)"/>
                </a:rPr>
                <a:t>✘  Comentar datos sensibles con amigos o en redes sociales</a:t>
              </a:r>
            </a:p>
          </p:txBody>
        </p:sp>
      </p:grpSp>
      <p:sp>
        <p:nvSpPr>
          <p:cNvPr name="Freeform 55" id="55"/>
          <p:cNvSpPr/>
          <p:nvPr/>
        </p:nvSpPr>
        <p:spPr>
          <a:xfrm flipH="false" flipV="false" rot="0">
            <a:off x="2512153" y="5272193"/>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6" id="56"/>
          <p:cNvGrpSpPr/>
          <p:nvPr/>
        </p:nvGrpSpPr>
        <p:grpSpPr>
          <a:xfrm rot="0">
            <a:off x="2705923" y="5282016"/>
            <a:ext cx="6197555" cy="806531"/>
            <a:chOff x="0" y="0"/>
            <a:chExt cx="10680192" cy="1389888"/>
          </a:xfrm>
        </p:grpSpPr>
        <p:sp>
          <p:nvSpPr>
            <p:cNvPr name="Freeform 57" id="57"/>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58" id="58"/>
          <p:cNvGrpSpPr/>
          <p:nvPr/>
        </p:nvGrpSpPr>
        <p:grpSpPr>
          <a:xfrm rot="0">
            <a:off x="2705923" y="5259907"/>
            <a:ext cx="6197555" cy="828640"/>
            <a:chOff x="0" y="0"/>
            <a:chExt cx="10680192" cy="1427988"/>
          </a:xfrm>
        </p:grpSpPr>
        <p:sp>
          <p:nvSpPr>
            <p:cNvPr name="Freeform 59" id="59"/>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60" id="60"/>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A8E6C0"/>
                  </a:solidFill>
                  <a:latin typeface="Calibri (MS)"/>
                  <a:ea typeface="Calibri (MS)"/>
                  <a:cs typeface="Calibri (MS)"/>
                  <a:sym typeface="Calibri (MS)"/>
                </a:rPr>
                <a:t>✔  Reportar hallazgos al equipo / Team Lead</a:t>
              </a:r>
            </a:p>
          </p:txBody>
        </p:sp>
      </p:grpSp>
      <p:sp>
        <p:nvSpPr>
          <p:cNvPr name="Freeform 61" id="61"/>
          <p:cNvSpPr/>
          <p:nvPr/>
        </p:nvSpPr>
        <p:spPr>
          <a:xfrm flipH="false" flipV="false" rot="0">
            <a:off x="9247396" y="5272193"/>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62" id="62"/>
          <p:cNvGrpSpPr/>
          <p:nvPr/>
        </p:nvGrpSpPr>
        <p:grpSpPr>
          <a:xfrm rot="0">
            <a:off x="9427015" y="5282016"/>
            <a:ext cx="6197555" cy="806531"/>
            <a:chOff x="0" y="0"/>
            <a:chExt cx="10680192" cy="1389888"/>
          </a:xfrm>
        </p:grpSpPr>
        <p:sp>
          <p:nvSpPr>
            <p:cNvPr name="Freeform 63" id="63"/>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64" id="64"/>
          <p:cNvGrpSpPr/>
          <p:nvPr/>
        </p:nvGrpSpPr>
        <p:grpSpPr>
          <a:xfrm rot="0">
            <a:off x="9427015" y="5259907"/>
            <a:ext cx="6197555" cy="828640"/>
            <a:chOff x="0" y="0"/>
            <a:chExt cx="10680192" cy="1427988"/>
          </a:xfrm>
        </p:grpSpPr>
        <p:sp>
          <p:nvSpPr>
            <p:cNvPr name="Freeform 65" id="65"/>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66" id="66"/>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E6A8A8"/>
                  </a:solidFill>
                  <a:latin typeface="Calibri (MS)"/>
                  <a:ea typeface="Calibri (MS)"/>
                  <a:cs typeface="Calibri (MS)"/>
                  <a:sym typeface="Calibri (MS)"/>
                </a:rPr>
                <a:t>✘  Investigar información por curiosidad personal</a:t>
              </a:r>
            </a:p>
          </p:txBody>
        </p:sp>
      </p:grpSp>
      <p:sp>
        <p:nvSpPr>
          <p:cNvPr name="Freeform 67" id="67"/>
          <p:cNvSpPr/>
          <p:nvPr/>
        </p:nvSpPr>
        <p:spPr>
          <a:xfrm flipH="false" flipV="false" rot="0">
            <a:off x="2512153" y="6220220"/>
            <a:ext cx="6528451" cy="826134"/>
          </a:xfrm>
          <a:custGeom>
            <a:avLst/>
            <a:gdLst/>
            <a:ahLst/>
            <a:cxnLst/>
            <a:rect r="r" b="b" t="t" l="l"/>
            <a:pathLst>
              <a:path h="826134" w="6528451">
                <a:moveTo>
                  <a:pt x="0" y="0"/>
                </a:moveTo>
                <a:lnTo>
                  <a:pt x="6528451" y="0"/>
                </a:lnTo>
                <a:lnTo>
                  <a:pt x="6528451" y="826135"/>
                </a:lnTo>
                <a:lnTo>
                  <a:pt x="0" y="82613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8" id="68"/>
          <p:cNvGrpSpPr/>
          <p:nvPr/>
        </p:nvGrpSpPr>
        <p:grpSpPr>
          <a:xfrm rot="0">
            <a:off x="2705923" y="6230044"/>
            <a:ext cx="6197555" cy="806531"/>
            <a:chOff x="0" y="0"/>
            <a:chExt cx="10680192" cy="1389888"/>
          </a:xfrm>
        </p:grpSpPr>
        <p:sp>
          <p:nvSpPr>
            <p:cNvPr name="Freeform 69" id="69"/>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70" id="70"/>
          <p:cNvGrpSpPr/>
          <p:nvPr/>
        </p:nvGrpSpPr>
        <p:grpSpPr>
          <a:xfrm rot="0">
            <a:off x="2705923" y="6207935"/>
            <a:ext cx="6197555" cy="828640"/>
            <a:chOff x="0" y="0"/>
            <a:chExt cx="10680192" cy="1427988"/>
          </a:xfrm>
        </p:grpSpPr>
        <p:sp>
          <p:nvSpPr>
            <p:cNvPr name="Freeform 71" id="71"/>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72" id="72"/>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A8E6C0"/>
                  </a:solidFill>
                  <a:latin typeface="Calibri (MS)"/>
                  <a:ea typeface="Calibri (MS)"/>
                  <a:cs typeface="Calibri (MS)"/>
                  <a:sym typeface="Calibri (MS)"/>
                </a:rPr>
                <a:t>✔  Usar herramientas según el procedimiento establecido</a:t>
              </a:r>
            </a:p>
          </p:txBody>
        </p:sp>
      </p:grpSp>
      <p:sp>
        <p:nvSpPr>
          <p:cNvPr name="Freeform 73" id="73"/>
          <p:cNvSpPr/>
          <p:nvPr/>
        </p:nvSpPr>
        <p:spPr>
          <a:xfrm flipH="false" flipV="false" rot="0">
            <a:off x="9247396" y="6220220"/>
            <a:ext cx="6528451" cy="826134"/>
          </a:xfrm>
          <a:custGeom>
            <a:avLst/>
            <a:gdLst/>
            <a:ahLst/>
            <a:cxnLst/>
            <a:rect r="r" b="b" t="t" l="l"/>
            <a:pathLst>
              <a:path h="826134" w="6528451">
                <a:moveTo>
                  <a:pt x="0" y="0"/>
                </a:moveTo>
                <a:lnTo>
                  <a:pt x="6528451" y="0"/>
                </a:lnTo>
                <a:lnTo>
                  <a:pt x="6528451" y="826135"/>
                </a:lnTo>
                <a:lnTo>
                  <a:pt x="0" y="82613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74" id="74"/>
          <p:cNvGrpSpPr/>
          <p:nvPr/>
        </p:nvGrpSpPr>
        <p:grpSpPr>
          <a:xfrm rot="0">
            <a:off x="9427015" y="6230044"/>
            <a:ext cx="6197555" cy="806531"/>
            <a:chOff x="0" y="0"/>
            <a:chExt cx="10680192" cy="1389888"/>
          </a:xfrm>
        </p:grpSpPr>
        <p:sp>
          <p:nvSpPr>
            <p:cNvPr name="Freeform 75" id="75"/>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76" id="76"/>
          <p:cNvGrpSpPr/>
          <p:nvPr/>
        </p:nvGrpSpPr>
        <p:grpSpPr>
          <a:xfrm rot="0">
            <a:off x="9427015" y="6207935"/>
            <a:ext cx="6197555" cy="828640"/>
            <a:chOff x="0" y="0"/>
            <a:chExt cx="10680192" cy="1427988"/>
          </a:xfrm>
        </p:grpSpPr>
        <p:sp>
          <p:nvSpPr>
            <p:cNvPr name="Freeform 77" id="77"/>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78" id="78"/>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E6A8A8"/>
                  </a:solidFill>
                  <a:latin typeface="Calibri (MS)"/>
                  <a:ea typeface="Calibri (MS)"/>
                  <a:cs typeface="Calibri (MS)"/>
                  <a:sym typeface="Calibri (MS)"/>
                </a:rPr>
                <a:t>✘  Copiar información a dispositivos externos no autorizados</a:t>
              </a:r>
            </a:p>
          </p:txBody>
        </p:sp>
      </p:grpSp>
      <p:sp>
        <p:nvSpPr>
          <p:cNvPr name="Freeform 79" id="79"/>
          <p:cNvSpPr/>
          <p:nvPr/>
        </p:nvSpPr>
        <p:spPr>
          <a:xfrm flipH="false" flipV="false" rot="0">
            <a:off x="2512153" y="7168248"/>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0" id="80"/>
          <p:cNvGrpSpPr/>
          <p:nvPr/>
        </p:nvGrpSpPr>
        <p:grpSpPr>
          <a:xfrm rot="0">
            <a:off x="2705923" y="7178072"/>
            <a:ext cx="6197555" cy="806531"/>
            <a:chOff x="0" y="0"/>
            <a:chExt cx="10680192" cy="1389888"/>
          </a:xfrm>
        </p:grpSpPr>
        <p:sp>
          <p:nvSpPr>
            <p:cNvPr name="Freeform 81" id="81"/>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82" id="82"/>
          <p:cNvGrpSpPr/>
          <p:nvPr/>
        </p:nvGrpSpPr>
        <p:grpSpPr>
          <a:xfrm rot="0">
            <a:off x="2705923" y="7155963"/>
            <a:ext cx="6197555" cy="828640"/>
            <a:chOff x="0" y="0"/>
            <a:chExt cx="10680192" cy="1427988"/>
          </a:xfrm>
        </p:grpSpPr>
        <p:sp>
          <p:nvSpPr>
            <p:cNvPr name="Freeform 83" id="83"/>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84" id="84"/>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A8E6C0"/>
                  </a:solidFill>
                  <a:latin typeface="Calibri (MS)"/>
                  <a:ea typeface="Calibri (MS)"/>
                  <a:cs typeface="Calibri (MS)"/>
                  <a:sym typeface="Calibri (MS)"/>
                </a:rPr>
                <a:t>✔  Escalar con contexto claro y documentado</a:t>
              </a:r>
            </a:p>
          </p:txBody>
        </p:sp>
      </p:grpSp>
      <p:sp>
        <p:nvSpPr>
          <p:cNvPr name="Freeform 85" id="85"/>
          <p:cNvSpPr/>
          <p:nvPr/>
        </p:nvSpPr>
        <p:spPr>
          <a:xfrm flipH="false" flipV="false" rot="0">
            <a:off x="9247396" y="7168248"/>
            <a:ext cx="6528451" cy="826134"/>
          </a:xfrm>
          <a:custGeom>
            <a:avLst/>
            <a:gdLst/>
            <a:ahLst/>
            <a:cxnLst/>
            <a:rect r="r" b="b" t="t" l="l"/>
            <a:pathLst>
              <a:path h="826134" w="6528451">
                <a:moveTo>
                  <a:pt x="0" y="0"/>
                </a:moveTo>
                <a:lnTo>
                  <a:pt x="6528451" y="0"/>
                </a:lnTo>
                <a:lnTo>
                  <a:pt x="6528451" y="826134"/>
                </a:lnTo>
                <a:lnTo>
                  <a:pt x="0" y="8261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86" id="86"/>
          <p:cNvGrpSpPr/>
          <p:nvPr/>
        </p:nvGrpSpPr>
        <p:grpSpPr>
          <a:xfrm rot="0">
            <a:off x="9427015" y="7178072"/>
            <a:ext cx="6197555" cy="806531"/>
            <a:chOff x="0" y="0"/>
            <a:chExt cx="10680192" cy="1389888"/>
          </a:xfrm>
        </p:grpSpPr>
        <p:sp>
          <p:nvSpPr>
            <p:cNvPr name="Freeform 87" id="87"/>
            <p:cNvSpPr/>
            <p:nvPr/>
          </p:nvSpPr>
          <p:spPr>
            <a:xfrm flipH="false" flipV="false" rot="0">
              <a:off x="0" y="0"/>
              <a:ext cx="10680192" cy="1389888"/>
            </a:xfrm>
            <a:custGeom>
              <a:avLst/>
              <a:gdLst/>
              <a:ahLst/>
              <a:cxnLst/>
              <a:rect r="r" b="b" t="t" l="l"/>
              <a:pathLst>
                <a:path h="1389888" w="10680192">
                  <a:moveTo>
                    <a:pt x="0" y="0"/>
                  </a:moveTo>
                  <a:lnTo>
                    <a:pt x="10680192" y="0"/>
                  </a:lnTo>
                  <a:lnTo>
                    <a:pt x="10680192" y="1389888"/>
                  </a:lnTo>
                  <a:lnTo>
                    <a:pt x="0" y="1389888"/>
                  </a:lnTo>
                  <a:close/>
                </a:path>
              </a:pathLst>
            </a:custGeom>
            <a:blipFill>
              <a:blip r:embed="rId5">
                <a:alphaModFix amt="0"/>
              </a:blip>
              <a:stretch>
                <a:fillRect l="0" t="-99622" r="0" b="-99623"/>
              </a:stretch>
            </a:blipFill>
          </p:spPr>
        </p:sp>
      </p:grpSp>
      <p:grpSp>
        <p:nvGrpSpPr>
          <p:cNvPr name="Group 88" id="88"/>
          <p:cNvGrpSpPr/>
          <p:nvPr/>
        </p:nvGrpSpPr>
        <p:grpSpPr>
          <a:xfrm rot="0">
            <a:off x="9427015" y="7155963"/>
            <a:ext cx="6197555" cy="828640"/>
            <a:chOff x="0" y="0"/>
            <a:chExt cx="10680192" cy="1427988"/>
          </a:xfrm>
        </p:grpSpPr>
        <p:sp>
          <p:nvSpPr>
            <p:cNvPr name="Freeform 89" id="89"/>
            <p:cNvSpPr/>
            <p:nvPr/>
          </p:nvSpPr>
          <p:spPr>
            <a:xfrm flipH="false" flipV="false" rot="0">
              <a:off x="0" y="0"/>
              <a:ext cx="10680192" cy="1427988"/>
            </a:xfrm>
            <a:custGeom>
              <a:avLst/>
              <a:gdLst/>
              <a:ahLst/>
              <a:cxnLst/>
              <a:rect r="r" b="b" t="t" l="l"/>
              <a:pathLst>
                <a:path h="1427988" w="10680192">
                  <a:moveTo>
                    <a:pt x="0" y="0"/>
                  </a:moveTo>
                  <a:lnTo>
                    <a:pt x="10680192" y="0"/>
                  </a:lnTo>
                  <a:lnTo>
                    <a:pt x="10680192" y="1427988"/>
                  </a:lnTo>
                  <a:lnTo>
                    <a:pt x="0" y="1427988"/>
                  </a:lnTo>
                  <a:close/>
                </a:path>
              </a:pathLst>
            </a:custGeom>
            <a:blipFill>
              <a:blip r:embed="rId6">
                <a:alphaModFix amt="0"/>
              </a:blip>
              <a:stretch>
                <a:fillRect l="0" t="-95732" r="0" b="-95732"/>
              </a:stretch>
            </a:blipFill>
          </p:spPr>
        </p:sp>
        <p:sp>
          <p:nvSpPr>
            <p:cNvPr name="TextBox 90" id="90"/>
            <p:cNvSpPr txBox="true"/>
            <p:nvPr/>
          </p:nvSpPr>
          <p:spPr>
            <a:xfrm>
              <a:off x="0" y="-38100"/>
              <a:ext cx="10680192" cy="1466088"/>
            </a:xfrm>
            <a:prstGeom prst="rect">
              <a:avLst/>
            </a:prstGeom>
          </p:spPr>
          <p:txBody>
            <a:bodyPr anchor="ctr" rtlCol="false" tIns="0" lIns="0" bIns="0" rIns="0"/>
            <a:lstStyle/>
            <a:p>
              <a:pPr algn="l">
                <a:lnSpc>
                  <a:spcPts val="2400"/>
                </a:lnSpc>
              </a:pPr>
              <a:r>
                <a:rPr lang="en-US" sz="2000">
                  <a:solidFill>
                    <a:srgbClr val="E6A8A8"/>
                  </a:solidFill>
                  <a:latin typeface="Calibri (MS)"/>
                  <a:ea typeface="Calibri (MS)"/>
                  <a:cs typeface="Calibri (MS)"/>
                  <a:sym typeface="Calibri (MS)"/>
                </a:rPr>
                <a:t>✘  Acceder a información de otros equipos sin necesidad operativa</a:t>
              </a:r>
            </a:p>
          </p:txBody>
        </p:sp>
      </p:grpSp>
      <p:sp>
        <p:nvSpPr>
          <p:cNvPr name="Freeform 91" id="91"/>
          <p:cNvSpPr/>
          <p:nvPr/>
        </p:nvSpPr>
        <p:spPr>
          <a:xfrm flipH="false" flipV="false" rot="0">
            <a:off x="572548" y="8586454"/>
            <a:ext cx="17142904" cy="466306"/>
          </a:xfrm>
          <a:custGeom>
            <a:avLst/>
            <a:gdLst/>
            <a:ahLst/>
            <a:cxnLst/>
            <a:rect r="r" b="b" t="t" l="l"/>
            <a:pathLst>
              <a:path h="466306" w="17142904">
                <a:moveTo>
                  <a:pt x="0" y="0"/>
                </a:moveTo>
                <a:lnTo>
                  <a:pt x="17142904" y="0"/>
                </a:lnTo>
                <a:lnTo>
                  <a:pt x="17142904" y="466306"/>
                </a:lnTo>
                <a:lnTo>
                  <a:pt x="0" y="46630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92" id="92"/>
          <p:cNvGrpSpPr/>
          <p:nvPr/>
        </p:nvGrpSpPr>
        <p:grpSpPr>
          <a:xfrm rot="0">
            <a:off x="914400" y="9144000"/>
            <a:ext cx="16459200" cy="544849"/>
            <a:chOff x="0" y="0"/>
            <a:chExt cx="21945600" cy="726465"/>
          </a:xfrm>
        </p:grpSpPr>
        <p:sp>
          <p:nvSpPr>
            <p:cNvPr name="Freeform 93" id="93"/>
            <p:cNvSpPr/>
            <p:nvPr/>
          </p:nvSpPr>
          <p:spPr>
            <a:xfrm flipH="false" flipV="false" rot="0">
              <a:off x="0" y="0"/>
              <a:ext cx="21945600" cy="726440"/>
            </a:xfrm>
            <a:custGeom>
              <a:avLst/>
              <a:gdLst/>
              <a:ahLst/>
              <a:cxnLst/>
              <a:rect r="r" b="b" t="t" l="l"/>
              <a:pathLst>
                <a:path h="726440" w="21945600">
                  <a:moveTo>
                    <a:pt x="0" y="0"/>
                  </a:moveTo>
                  <a:lnTo>
                    <a:pt x="21945600" y="0"/>
                  </a:lnTo>
                  <a:lnTo>
                    <a:pt x="21945600" y="726440"/>
                  </a:lnTo>
                  <a:lnTo>
                    <a:pt x="0" y="726440"/>
                  </a:lnTo>
                  <a:close/>
                </a:path>
              </a:pathLst>
            </a:custGeom>
            <a:blipFill>
              <a:blip r:embed="rId5">
                <a:alphaModFix amt="0"/>
              </a:blip>
              <a:stretch>
                <a:fillRect l="0" t="-538227" r="0" b="-538232"/>
              </a:stretch>
            </a:blipFill>
          </p:spPr>
        </p:sp>
      </p:grpSp>
      <p:grpSp>
        <p:nvGrpSpPr>
          <p:cNvPr name="Group 94" id="94"/>
          <p:cNvGrpSpPr/>
          <p:nvPr/>
        </p:nvGrpSpPr>
        <p:grpSpPr>
          <a:xfrm rot="0">
            <a:off x="914429" y="8563432"/>
            <a:ext cx="16459200" cy="580568"/>
            <a:chOff x="0" y="0"/>
            <a:chExt cx="21945600" cy="774090"/>
          </a:xfrm>
        </p:grpSpPr>
        <p:sp>
          <p:nvSpPr>
            <p:cNvPr name="Freeform 95" id="95"/>
            <p:cNvSpPr/>
            <p:nvPr/>
          </p:nvSpPr>
          <p:spPr>
            <a:xfrm flipH="false" flipV="false" rot="0">
              <a:off x="0" y="0"/>
              <a:ext cx="21945600" cy="774096"/>
            </a:xfrm>
            <a:custGeom>
              <a:avLst/>
              <a:gdLst/>
              <a:ahLst/>
              <a:cxnLst/>
              <a:rect r="r" b="b" t="t" l="l"/>
              <a:pathLst>
                <a:path h="774096" w="21945600">
                  <a:moveTo>
                    <a:pt x="0" y="0"/>
                  </a:moveTo>
                  <a:lnTo>
                    <a:pt x="21945600" y="0"/>
                  </a:lnTo>
                  <a:lnTo>
                    <a:pt x="21945600" y="774096"/>
                  </a:lnTo>
                  <a:lnTo>
                    <a:pt x="0" y="774096"/>
                  </a:lnTo>
                  <a:close/>
                </a:path>
              </a:pathLst>
            </a:custGeom>
            <a:blipFill>
              <a:blip r:embed="rId6">
                <a:alphaModFix amt="0"/>
              </a:blip>
              <a:stretch>
                <a:fillRect l="0" t="-502400" r="0" b="-502400"/>
              </a:stretch>
            </a:blipFill>
          </p:spPr>
        </p:sp>
        <p:sp>
          <p:nvSpPr>
            <p:cNvPr name="TextBox 96" id="96"/>
            <p:cNvSpPr txBox="true"/>
            <p:nvPr/>
          </p:nvSpPr>
          <p:spPr>
            <a:xfrm>
              <a:off x="0" y="-47625"/>
              <a:ext cx="21945600" cy="821715"/>
            </a:xfrm>
            <a:prstGeom prst="rect">
              <a:avLst/>
            </a:prstGeom>
          </p:spPr>
          <p:txBody>
            <a:bodyPr anchor="ctr" rtlCol="false" tIns="0" lIns="0" bIns="0" rIns="0"/>
            <a:lstStyle/>
            <a:p>
              <a:pPr algn="ctr">
                <a:lnSpc>
                  <a:spcPts val="2520"/>
                </a:lnSpc>
              </a:pPr>
              <a:r>
                <a:rPr lang="en-US" sz="2100" i="true">
                  <a:solidFill>
                    <a:srgbClr val="FFCCEE"/>
                  </a:solidFill>
                  <a:latin typeface="Calibri (MS) Italics"/>
                  <a:ea typeface="Calibri (MS) Italics"/>
                  <a:cs typeface="Calibri (MS) Italics"/>
                  <a:sym typeface="Calibri (MS) Italics"/>
                </a:rPr>
                <a:t>"Ser analista SOC no solo es detectar amenazas. Es también proteger la confianza de toda una organización."</a:t>
              </a:r>
            </a:p>
          </p:txBody>
        </p:sp>
      </p:grpSp>
      <p:grpSp>
        <p:nvGrpSpPr>
          <p:cNvPr name="Group 97" id="97"/>
          <p:cNvGrpSpPr/>
          <p:nvPr/>
        </p:nvGrpSpPr>
        <p:grpSpPr>
          <a:xfrm rot="0">
            <a:off x="15983863" y="24203"/>
            <a:ext cx="1855079" cy="1855079"/>
            <a:chOff x="0" y="0"/>
            <a:chExt cx="5852160" cy="5852160"/>
          </a:xfrm>
        </p:grpSpPr>
        <p:sp>
          <p:nvSpPr>
            <p:cNvPr name="Freeform 98" id="9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9"/>
              <a:stretch>
                <a:fillRect l="0" t="0" r="0" b="0"/>
              </a:stretch>
            </a:blipFill>
          </p:spPr>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p.38</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1.5  |  Protocolos de confidencialidad en el SOC</a:t>
              </a:r>
            </a:p>
          </p:txBody>
        </p:sp>
      </p:grpSp>
      <p:grpSp>
        <p:nvGrpSpPr>
          <p:cNvPr name="Group 20" id="20"/>
          <p:cNvGrpSpPr/>
          <p:nvPr/>
        </p:nvGrpSpPr>
        <p:grpSpPr>
          <a:xfrm rot="0">
            <a:off x="640080" y="1773936"/>
            <a:ext cx="17007840" cy="1133856"/>
            <a:chOff x="0" y="0"/>
            <a:chExt cx="22677120" cy="1511808"/>
          </a:xfrm>
        </p:grpSpPr>
        <p:sp>
          <p:nvSpPr>
            <p:cNvPr name="Freeform 21" id="21"/>
            <p:cNvSpPr/>
            <p:nvPr/>
          </p:nvSpPr>
          <p:spPr>
            <a:xfrm flipH="false" flipV="false" rot="0">
              <a:off x="0" y="0"/>
              <a:ext cx="22677120" cy="1511808"/>
            </a:xfrm>
            <a:custGeom>
              <a:avLst/>
              <a:gdLst/>
              <a:ahLst/>
              <a:cxnLst/>
              <a:rect r="r" b="b" t="t" l="l"/>
              <a:pathLst>
                <a:path h="1511808" w="22677120">
                  <a:moveTo>
                    <a:pt x="0" y="0"/>
                  </a:moveTo>
                  <a:lnTo>
                    <a:pt x="22677120" y="0"/>
                  </a:lnTo>
                  <a:lnTo>
                    <a:pt x="22677120" y="1511808"/>
                  </a:lnTo>
                  <a:lnTo>
                    <a:pt x="0" y="1511808"/>
                  </a:lnTo>
                  <a:close/>
                </a:path>
              </a:pathLst>
            </a:custGeom>
            <a:blipFill>
              <a:blip r:embed="rId7">
                <a:alphaModFix amt="0"/>
              </a:blip>
              <a:stretch>
                <a:fillRect l="0" t="-242072" r="0" b="-242072"/>
              </a:stretch>
            </a:blipFill>
          </p:spPr>
        </p:sp>
      </p:grpSp>
      <p:grpSp>
        <p:nvGrpSpPr>
          <p:cNvPr name="Group 22" id="22"/>
          <p:cNvGrpSpPr/>
          <p:nvPr/>
        </p:nvGrpSpPr>
        <p:grpSpPr>
          <a:xfrm rot="0">
            <a:off x="640051" y="2067832"/>
            <a:ext cx="17007840" cy="1169575"/>
            <a:chOff x="0" y="0"/>
            <a:chExt cx="22677120" cy="1559433"/>
          </a:xfrm>
        </p:grpSpPr>
        <p:sp>
          <p:nvSpPr>
            <p:cNvPr name="Freeform 23" id="23"/>
            <p:cNvSpPr/>
            <p:nvPr/>
          </p:nvSpPr>
          <p:spPr>
            <a:xfrm flipH="false" flipV="false" rot="0">
              <a:off x="0" y="0"/>
              <a:ext cx="22677120" cy="1559433"/>
            </a:xfrm>
            <a:custGeom>
              <a:avLst/>
              <a:gdLst/>
              <a:ahLst/>
              <a:cxnLst/>
              <a:rect r="r" b="b" t="t" l="l"/>
              <a:pathLst>
                <a:path h="1559433" w="22677120">
                  <a:moveTo>
                    <a:pt x="0" y="0"/>
                  </a:moveTo>
                  <a:lnTo>
                    <a:pt x="22677120" y="0"/>
                  </a:lnTo>
                  <a:lnTo>
                    <a:pt x="22677120" y="1559433"/>
                  </a:lnTo>
                  <a:lnTo>
                    <a:pt x="0" y="1559433"/>
                  </a:lnTo>
                  <a:close/>
                </a:path>
              </a:pathLst>
            </a:custGeom>
            <a:blipFill>
              <a:blip r:embed="rId8">
                <a:alphaModFix amt="0"/>
              </a:blip>
              <a:stretch>
                <a:fillRect l="0" t="-233349" r="0" b="-233349"/>
              </a:stretch>
            </a:blipFill>
          </p:spPr>
        </p:sp>
        <p:sp>
          <p:nvSpPr>
            <p:cNvPr name="TextBox 24" id="24"/>
            <p:cNvSpPr txBox="true"/>
            <p:nvPr/>
          </p:nvSpPr>
          <p:spPr>
            <a:xfrm>
              <a:off x="0" y="-47625"/>
              <a:ext cx="22677120" cy="1607058"/>
            </a:xfrm>
            <a:prstGeom prst="rect">
              <a:avLst/>
            </a:prstGeom>
          </p:spPr>
          <p:txBody>
            <a:bodyPr anchor="ctr" rtlCol="false" tIns="0" lIns="0" bIns="0" rIns="0"/>
            <a:lstStyle/>
            <a:p>
              <a:pPr algn="l">
                <a:lnSpc>
                  <a:spcPts val="2520"/>
                </a:lnSpc>
              </a:pPr>
              <a:r>
                <a:rPr lang="en-US" sz="2100">
                  <a:solidFill>
                    <a:srgbClr val="111111"/>
                  </a:solidFill>
                  <a:latin typeface="Calibri (MS)"/>
                  <a:ea typeface="Calibri (MS)"/>
                  <a:cs typeface="Calibri (MS)"/>
                  <a:sym typeface="Calibri (MS)"/>
                </a:rPr>
                <a:t>Los protocolos de confidencialidad son el conjunto de normas y procedimientos que regulan cómo debe manejarse la información dentro de un SOC. Son necesarios porque el SOC es un entorno de </a:t>
              </a:r>
              <a:r>
                <a:rPr lang="en-US" sz="2100" b="true">
                  <a:solidFill>
                    <a:srgbClr val="8A004F"/>
                  </a:solidFill>
                  <a:latin typeface="Calibri (MS) Bold"/>
                  <a:ea typeface="Calibri (MS) Bold"/>
                  <a:cs typeface="Calibri (MS) Bold"/>
                  <a:sym typeface="Calibri (MS) Bold"/>
                </a:rPr>
                <a:t>alta exposición informativa</a:t>
              </a:r>
              <a:r>
                <a:rPr lang="en-US" sz="2100">
                  <a:solidFill>
                    <a:srgbClr val="111111"/>
                  </a:solidFill>
                  <a:latin typeface="Calibri (MS)"/>
                  <a:ea typeface="Calibri (MS)"/>
                  <a:cs typeface="Calibri (MS)"/>
                  <a:sym typeface="Calibri (MS)"/>
                </a:rPr>
                <a:t>: una mala práctica puede poner en riesgo la seguridad, el cumplimiento normativo y la reputación de la organización.</a:t>
              </a:r>
            </a:p>
          </p:txBody>
        </p:sp>
      </p:grpSp>
      <p:sp>
        <p:nvSpPr>
          <p:cNvPr name="Freeform 25" id="25"/>
          <p:cNvSpPr/>
          <p:nvPr/>
        </p:nvSpPr>
        <p:spPr>
          <a:xfrm flipH="false" flipV="false" rot="0">
            <a:off x="1306349" y="3661556"/>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318003" y="3673209"/>
            <a:ext cx="5119660" cy="671431"/>
            <a:chOff x="0" y="0"/>
            <a:chExt cx="7437120" cy="975360"/>
          </a:xfrm>
        </p:grpSpPr>
        <p:sp>
          <p:nvSpPr>
            <p:cNvPr name="Freeform 27" id="27"/>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28" id="28"/>
          <p:cNvGrpSpPr/>
          <p:nvPr/>
        </p:nvGrpSpPr>
        <p:grpSpPr>
          <a:xfrm rot="0">
            <a:off x="1318003" y="3646982"/>
            <a:ext cx="5119660" cy="697659"/>
            <a:chOff x="0" y="0"/>
            <a:chExt cx="7437120" cy="1013460"/>
          </a:xfrm>
        </p:grpSpPr>
        <p:sp>
          <p:nvSpPr>
            <p:cNvPr name="Freeform 29" id="29"/>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30" id="30"/>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NDAs — Acuerdos de confidencialidad</a:t>
              </a:r>
            </a:p>
          </p:txBody>
        </p:sp>
      </p:grpSp>
      <p:sp>
        <p:nvSpPr>
          <p:cNvPr name="Freeform 31" id="31"/>
          <p:cNvSpPr/>
          <p:nvPr/>
        </p:nvSpPr>
        <p:spPr>
          <a:xfrm flipH="false" flipV="false" rot="0">
            <a:off x="1306349" y="4366558"/>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544611" y="4547215"/>
            <a:ext cx="4666444" cy="946476"/>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Firmados al ingresar al equipo. Establecen obligaciones legales sobre la información manejada.</a:t>
            </a:r>
          </a:p>
        </p:txBody>
      </p:sp>
      <p:sp>
        <p:nvSpPr>
          <p:cNvPr name="Freeform 33" id="33"/>
          <p:cNvSpPr/>
          <p:nvPr/>
        </p:nvSpPr>
        <p:spPr>
          <a:xfrm flipH="false" flipV="false" rot="0">
            <a:off x="6711367" y="3661556"/>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6723021" y="3673209"/>
            <a:ext cx="5119660" cy="671431"/>
            <a:chOff x="0" y="0"/>
            <a:chExt cx="7437120" cy="975360"/>
          </a:xfrm>
        </p:grpSpPr>
        <p:sp>
          <p:nvSpPr>
            <p:cNvPr name="Freeform 35" id="35"/>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36" id="36"/>
          <p:cNvGrpSpPr/>
          <p:nvPr/>
        </p:nvGrpSpPr>
        <p:grpSpPr>
          <a:xfrm rot="0">
            <a:off x="6723021" y="3646982"/>
            <a:ext cx="5119660" cy="697659"/>
            <a:chOff x="0" y="0"/>
            <a:chExt cx="7437120" cy="1013460"/>
          </a:xfrm>
        </p:grpSpPr>
        <p:sp>
          <p:nvSpPr>
            <p:cNvPr name="Freeform 37" id="37"/>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38" id="38"/>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Clasificación de la información</a:t>
              </a:r>
            </a:p>
          </p:txBody>
        </p:sp>
      </p:grpSp>
      <p:sp>
        <p:nvSpPr>
          <p:cNvPr name="Freeform 39" id="39"/>
          <p:cNvSpPr/>
          <p:nvPr/>
        </p:nvSpPr>
        <p:spPr>
          <a:xfrm flipH="false" flipV="false" rot="0">
            <a:off x="6711367" y="4366558"/>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949629" y="4547215"/>
            <a:ext cx="4666444" cy="946476"/>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Define qué es 'confidencial', 'interno' o 'público'. No toda la información tiene el mismo nivel de sensibilidad.</a:t>
            </a:r>
          </a:p>
        </p:txBody>
      </p:sp>
      <p:sp>
        <p:nvSpPr>
          <p:cNvPr name="Freeform 41" id="41"/>
          <p:cNvSpPr/>
          <p:nvPr/>
        </p:nvSpPr>
        <p:spPr>
          <a:xfrm flipH="false" flipV="false" rot="0">
            <a:off x="12116385" y="3661556"/>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2128039" y="3673209"/>
            <a:ext cx="5119660" cy="671431"/>
            <a:chOff x="0" y="0"/>
            <a:chExt cx="7437120" cy="975360"/>
          </a:xfrm>
        </p:grpSpPr>
        <p:sp>
          <p:nvSpPr>
            <p:cNvPr name="Freeform 43" id="43"/>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44" id="44"/>
          <p:cNvGrpSpPr/>
          <p:nvPr/>
        </p:nvGrpSpPr>
        <p:grpSpPr>
          <a:xfrm rot="0">
            <a:off x="12128039" y="3646982"/>
            <a:ext cx="5119660" cy="697659"/>
            <a:chOff x="0" y="0"/>
            <a:chExt cx="7437120" cy="1013460"/>
          </a:xfrm>
        </p:grpSpPr>
        <p:sp>
          <p:nvSpPr>
            <p:cNvPr name="Freeform 45" id="45"/>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46" id="46"/>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Reglas de acceso y mínimo privilegio</a:t>
              </a:r>
            </a:p>
          </p:txBody>
        </p:sp>
      </p:grpSp>
      <p:sp>
        <p:nvSpPr>
          <p:cNvPr name="Freeform 47" id="47"/>
          <p:cNvSpPr/>
          <p:nvPr/>
        </p:nvSpPr>
        <p:spPr>
          <a:xfrm flipH="false" flipV="false" rot="0">
            <a:off x="12116385" y="4366558"/>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2354647" y="4547215"/>
            <a:ext cx="4666444" cy="641627"/>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Se accede solo a lo necesario para la tarea. No se investiga ni explora información por curiosidad.</a:t>
            </a:r>
          </a:p>
        </p:txBody>
      </p:sp>
      <p:sp>
        <p:nvSpPr>
          <p:cNvPr name="Freeform 49" id="49"/>
          <p:cNvSpPr/>
          <p:nvPr/>
        </p:nvSpPr>
        <p:spPr>
          <a:xfrm flipH="false" flipV="false" rot="0">
            <a:off x="1306349" y="6045135"/>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318003" y="6056789"/>
            <a:ext cx="5119660" cy="671431"/>
            <a:chOff x="0" y="0"/>
            <a:chExt cx="7437120" cy="975360"/>
          </a:xfrm>
        </p:grpSpPr>
        <p:sp>
          <p:nvSpPr>
            <p:cNvPr name="Freeform 51" id="51"/>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52" id="52"/>
          <p:cNvGrpSpPr/>
          <p:nvPr/>
        </p:nvGrpSpPr>
        <p:grpSpPr>
          <a:xfrm rot="0">
            <a:off x="1318003" y="6030561"/>
            <a:ext cx="5119660" cy="697659"/>
            <a:chOff x="0" y="0"/>
            <a:chExt cx="7437120" cy="1013460"/>
          </a:xfrm>
        </p:grpSpPr>
        <p:sp>
          <p:nvSpPr>
            <p:cNvPr name="Freeform 53" id="53"/>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54" id="54"/>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Control de dispositivos y medios</a:t>
              </a:r>
            </a:p>
          </p:txBody>
        </p:sp>
      </p:grpSp>
      <p:sp>
        <p:nvSpPr>
          <p:cNvPr name="Freeform 55" id="55"/>
          <p:cNvSpPr/>
          <p:nvPr/>
        </p:nvSpPr>
        <p:spPr>
          <a:xfrm flipH="false" flipV="false" rot="0">
            <a:off x="1306349" y="6750137"/>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544611" y="6930794"/>
            <a:ext cx="4666444" cy="946476"/>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Prohibido copiar datos a dispositivos externos, hacer capturas no autorizadas o reenviar info por canales no oficiales.</a:t>
            </a:r>
          </a:p>
        </p:txBody>
      </p:sp>
      <p:sp>
        <p:nvSpPr>
          <p:cNvPr name="Freeform 57" id="57"/>
          <p:cNvSpPr/>
          <p:nvPr/>
        </p:nvSpPr>
        <p:spPr>
          <a:xfrm flipH="false" flipV="false" rot="0">
            <a:off x="6711367" y="6045135"/>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6723021" y="6056789"/>
            <a:ext cx="5119660" cy="671431"/>
            <a:chOff x="0" y="0"/>
            <a:chExt cx="7437120" cy="975360"/>
          </a:xfrm>
        </p:grpSpPr>
        <p:sp>
          <p:nvSpPr>
            <p:cNvPr name="Freeform 59" id="59"/>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60" id="60"/>
          <p:cNvGrpSpPr/>
          <p:nvPr/>
        </p:nvGrpSpPr>
        <p:grpSpPr>
          <a:xfrm rot="0">
            <a:off x="6723021" y="6030561"/>
            <a:ext cx="5119660" cy="697659"/>
            <a:chOff x="0" y="0"/>
            <a:chExt cx="7437120" cy="1013460"/>
          </a:xfrm>
        </p:grpSpPr>
        <p:sp>
          <p:nvSpPr>
            <p:cNvPr name="Freeform 61" id="61"/>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62" id="62"/>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Canales autorizados de comunicación</a:t>
              </a:r>
            </a:p>
          </p:txBody>
        </p:sp>
      </p:grpSp>
      <p:sp>
        <p:nvSpPr>
          <p:cNvPr name="Freeform 63" id="63"/>
          <p:cNvSpPr/>
          <p:nvPr/>
        </p:nvSpPr>
        <p:spPr>
          <a:xfrm flipH="false" flipV="false" rot="0">
            <a:off x="6711367" y="6750137"/>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949629" y="6930794"/>
            <a:ext cx="4666444" cy="946476"/>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Toda información sensible debe compartirse únicamente por canales corporativos seguros y autorizados.</a:t>
            </a:r>
          </a:p>
        </p:txBody>
      </p:sp>
      <p:sp>
        <p:nvSpPr>
          <p:cNvPr name="Freeform 65" id="65"/>
          <p:cNvSpPr/>
          <p:nvPr/>
        </p:nvSpPr>
        <p:spPr>
          <a:xfrm flipH="false" flipV="false" rot="0">
            <a:off x="12116385" y="6045135"/>
            <a:ext cx="5142915" cy="694686"/>
          </a:xfrm>
          <a:custGeom>
            <a:avLst/>
            <a:gdLst/>
            <a:ahLst/>
            <a:cxnLst/>
            <a:rect r="r" b="b" t="t" l="l"/>
            <a:pathLst>
              <a:path h="694686" w="5142915">
                <a:moveTo>
                  <a:pt x="0" y="0"/>
                </a:moveTo>
                <a:lnTo>
                  <a:pt x="5142915" y="0"/>
                </a:lnTo>
                <a:lnTo>
                  <a:pt x="5142915" y="694686"/>
                </a:lnTo>
                <a:lnTo>
                  <a:pt x="0" y="69468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6" id="66"/>
          <p:cNvGrpSpPr/>
          <p:nvPr/>
        </p:nvGrpSpPr>
        <p:grpSpPr>
          <a:xfrm rot="0">
            <a:off x="12128039" y="6056789"/>
            <a:ext cx="5119660" cy="671431"/>
            <a:chOff x="0" y="0"/>
            <a:chExt cx="7437120" cy="975360"/>
          </a:xfrm>
        </p:grpSpPr>
        <p:sp>
          <p:nvSpPr>
            <p:cNvPr name="Freeform 67" id="67"/>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7">
                <a:alphaModFix amt="0"/>
              </a:blip>
              <a:stretch>
                <a:fillRect l="0" t="-98470" r="0" b="-98470"/>
              </a:stretch>
            </a:blipFill>
          </p:spPr>
        </p:sp>
      </p:grpSp>
      <p:grpSp>
        <p:nvGrpSpPr>
          <p:cNvPr name="Group 68" id="68"/>
          <p:cNvGrpSpPr/>
          <p:nvPr/>
        </p:nvGrpSpPr>
        <p:grpSpPr>
          <a:xfrm rot="0">
            <a:off x="12128039" y="6030561"/>
            <a:ext cx="5119660" cy="697659"/>
            <a:chOff x="0" y="0"/>
            <a:chExt cx="7437120" cy="1013460"/>
          </a:xfrm>
        </p:grpSpPr>
        <p:sp>
          <p:nvSpPr>
            <p:cNvPr name="Freeform 69" id="69"/>
            <p:cNvSpPr/>
            <p:nvPr/>
          </p:nvSpPr>
          <p:spPr>
            <a:xfrm flipH="false" flipV="false" rot="0">
              <a:off x="0" y="0"/>
              <a:ext cx="7437120" cy="1013460"/>
            </a:xfrm>
            <a:custGeom>
              <a:avLst/>
              <a:gdLst/>
              <a:ahLst/>
              <a:cxnLst/>
              <a:rect r="r" b="b" t="t" l="l"/>
              <a:pathLst>
                <a:path h="1013460" w="7437120">
                  <a:moveTo>
                    <a:pt x="0" y="0"/>
                  </a:moveTo>
                  <a:lnTo>
                    <a:pt x="7437120" y="0"/>
                  </a:lnTo>
                  <a:lnTo>
                    <a:pt x="7437120" y="1013460"/>
                  </a:lnTo>
                  <a:lnTo>
                    <a:pt x="0" y="1013460"/>
                  </a:lnTo>
                  <a:close/>
                </a:path>
              </a:pathLst>
            </a:custGeom>
            <a:blipFill>
              <a:blip r:embed="rId8">
                <a:alphaModFix amt="0"/>
              </a:blip>
              <a:stretch>
                <a:fillRect l="0" t="-92987" r="0" b="-92987"/>
              </a:stretch>
            </a:blipFill>
          </p:spPr>
        </p:sp>
        <p:sp>
          <p:nvSpPr>
            <p:cNvPr name="TextBox 70" id="70"/>
            <p:cNvSpPr txBox="true"/>
            <p:nvPr/>
          </p:nvSpPr>
          <p:spPr>
            <a:xfrm>
              <a:off x="0" y="-38100"/>
              <a:ext cx="7437120" cy="10515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Manejo de incidentes internos</a:t>
              </a:r>
            </a:p>
          </p:txBody>
        </p:sp>
      </p:grpSp>
      <p:sp>
        <p:nvSpPr>
          <p:cNvPr name="Freeform 71" id="71"/>
          <p:cNvSpPr/>
          <p:nvPr/>
        </p:nvSpPr>
        <p:spPr>
          <a:xfrm flipH="false" flipV="false" rot="0">
            <a:off x="12116385" y="6750137"/>
            <a:ext cx="5142915" cy="1584332"/>
          </a:xfrm>
          <a:custGeom>
            <a:avLst/>
            <a:gdLst/>
            <a:ahLst/>
            <a:cxnLst/>
            <a:rect r="r" b="b" t="t" l="l"/>
            <a:pathLst>
              <a:path h="1584332" w="5142915">
                <a:moveTo>
                  <a:pt x="0" y="0"/>
                </a:moveTo>
                <a:lnTo>
                  <a:pt x="5142915" y="0"/>
                </a:lnTo>
                <a:lnTo>
                  <a:pt x="5142915" y="1584332"/>
                </a:lnTo>
                <a:lnTo>
                  <a:pt x="0" y="15843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2" id="72"/>
          <p:cNvSpPr txBox="true"/>
          <p:nvPr/>
        </p:nvSpPr>
        <p:spPr>
          <a:xfrm rot="0">
            <a:off x="12354647" y="6930794"/>
            <a:ext cx="4666444" cy="946476"/>
          </a:xfrm>
          <a:prstGeom prst="rect">
            <a:avLst/>
          </a:prstGeom>
        </p:spPr>
        <p:txBody>
          <a:bodyPr anchor="t" rtlCol="false" tIns="0" lIns="0" bIns="0" rIns="0">
            <a:spAutoFit/>
          </a:bodyPr>
          <a:lstStyle/>
          <a:p>
            <a:pPr algn="l">
              <a:lnSpc>
                <a:spcPts val="2440"/>
              </a:lnSpc>
            </a:pPr>
            <a:r>
              <a:rPr lang="en-US" sz="1743">
                <a:solidFill>
                  <a:srgbClr val="333333"/>
                </a:solidFill>
                <a:latin typeface="Calibri (MS)"/>
                <a:ea typeface="Calibri (MS)"/>
                <a:cs typeface="Calibri (MS)"/>
                <a:sym typeface="Calibri (MS)"/>
              </a:rPr>
              <a:t>Si hay sospecha de violación de confidencialidad, el protocolo define cómo actuar, a quién informar y qué documentar.</a:t>
            </a:r>
          </a:p>
        </p:txBody>
      </p:sp>
      <p:grpSp>
        <p:nvGrpSpPr>
          <p:cNvPr name="Group 73" id="73"/>
          <p:cNvGrpSpPr/>
          <p:nvPr/>
        </p:nvGrpSpPr>
        <p:grpSpPr>
          <a:xfrm rot="0">
            <a:off x="15983863" y="24203"/>
            <a:ext cx="1855079" cy="1855079"/>
            <a:chOff x="0" y="0"/>
            <a:chExt cx="5852160" cy="5852160"/>
          </a:xfrm>
        </p:grpSpPr>
        <p:sp>
          <p:nvSpPr>
            <p:cNvPr name="Freeform 74" id="74"/>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p.39</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1.5  |  Importancia del registro y la trazabilidad</a:t>
              </a:r>
            </a:p>
          </p:txBody>
        </p:sp>
      </p:grpSp>
      <p:grpSp>
        <p:nvGrpSpPr>
          <p:cNvPr name="Group 20" id="20"/>
          <p:cNvGrpSpPr/>
          <p:nvPr/>
        </p:nvGrpSpPr>
        <p:grpSpPr>
          <a:xfrm rot="0">
            <a:off x="640080" y="1773936"/>
            <a:ext cx="17007840" cy="1005840"/>
            <a:chOff x="0" y="0"/>
            <a:chExt cx="22677120" cy="1341120"/>
          </a:xfrm>
        </p:grpSpPr>
        <p:sp>
          <p:nvSpPr>
            <p:cNvPr name="Freeform 21" id="21"/>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7">
                <a:alphaModFix amt="0"/>
              </a:blip>
              <a:stretch>
                <a:fillRect l="0" t="-279245" r="0" b="-279245"/>
              </a:stretch>
            </a:blipFill>
          </p:spPr>
        </p:sp>
      </p:grpSp>
      <p:grpSp>
        <p:nvGrpSpPr>
          <p:cNvPr name="Group 22" id="22"/>
          <p:cNvGrpSpPr/>
          <p:nvPr/>
        </p:nvGrpSpPr>
        <p:grpSpPr>
          <a:xfrm rot="0">
            <a:off x="640080" y="1738217"/>
            <a:ext cx="17007840" cy="1041559"/>
            <a:chOff x="0" y="0"/>
            <a:chExt cx="22677120" cy="1388745"/>
          </a:xfrm>
        </p:grpSpPr>
        <p:sp>
          <p:nvSpPr>
            <p:cNvPr name="Freeform 23" id="23"/>
            <p:cNvSpPr/>
            <p:nvPr/>
          </p:nvSpPr>
          <p:spPr>
            <a:xfrm flipH="false" flipV="false" rot="0">
              <a:off x="0" y="0"/>
              <a:ext cx="22677120" cy="1388745"/>
            </a:xfrm>
            <a:custGeom>
              <a:avLst/>
              <a:gdLst/>
              <a:ahLst/>
              <a:cxnLst/>
              <a:rect r="r" b="b" t="t" l="l"/>
              <a:pathLst>
                <a:path h="1388745" w="22677120">
                  <a:moveTo>
                    <a:pt x="0" y="0"/>
                  </a:moveTo>
                  <a:lnTo>
                    <a:pt x="22677120" y="0"/>
                  </a:lnTo>
                  <a:lnTo>
                    <a:pt x="22677120" y="1388745"/>
                  </a:lnTo>
                  <a:lnTo>
                    <a:pt x="0" y="1388745"/>
                  </a:lnTo>
                  <a:close/>
                </a:path>
              </a:pathLst>
            </a:custGeom>
            <a:blipFill>
              <a:blip r:embed="rId8">
                <a:alphaModFix amt="0"/>
              </a:blip>
              <a:stretch>
                <a:fillRect l="0" t="-268175" r="0" b="-268175"/>
              </a:stretch>
            </a:blipFill>
          </p:spPr>
        </p:sp>
        <p:sp>
          <p:nvSpPr>
            <p:cNvPr name="TextBox 24" id="24"/>
            <p:cNvSpPr txBox="true"/>
            <p:nvPr/>
          </p:nvSpPr>
          <p:spPr>
            <a:xfrm>
              <a:off x="0" y="-47625"/>
              <a:ext cx="22677120" cy="1436370"/>
            </a:xfrm>
            <a:prstGeom prst="rect">
              <a:avLst/>
            </a:prstGeom>
          </p:spPr>
          <p:txBody>
            <a:bodyPr anchor="ctr" rtlCol="false" tIns="0" lIns="0" bIns="0" rIns="0"/>
            <a:lstStyle/>
            <a:p>
              <a:pPr algn="l">
                <a:lnSpc>
                  <a:spcPts val="2638"/>
                </a:lnSpc>
              </a:pPr>
              <a:r>
                <a:rPr lang="en-US" sz="2199" b="true">
                  <a:solidFill>
                    <a:srgbClr val="8A004F"/>
                  </a:solidFill>
                  <a:latin typeface="Calibri (MS) Bold"/>
                  <a:ea typeface="Calibri (MS) Bold"/>
                  <a:cs typeface="Calibri (MS) Bold"/>
                  <a:sym typeface="Calibri (MS) Bold"/>
                </a:rPr>
                <a:t>Registrar</a:t>
              </a:r>
              <a:r>
                <a:rPr lang="en-US" sz="2199">
                  <a:solidFill>
                    <a:srgbClr val="111111"/>
                  </a:solidFill>
                  <a:latin typeface="Calibri (MS)"/>
                  <a:ea typeface="Calibri (MS)"/>
                  <a:cs typeface="Calibri (MS)"/>
                  <a:sym typeface="Calibri (MS)"/>
                </a:rPr>
                <a:t> significa documentar todo lo que ocurre durante el ciclo de vida de una alerta o incidente. </a:t>
              </a:r>
              <a:r>
                <a:rPr lang="en-US" sz="2199" b="true">
                  <a:solidFill>
                    <a:srgbClr val="8A004F"/>
                  </a:solidFill>
                  <a:latin typeface="Calibri (MS) Bold"/>
                  <a:ea typeface="Calibri (MS) Bold"/>
                  <a:cs typeface="Calibri (MS) Bold"/>
                  <a:sym typeface="Calibri (MS) Bold"/>
                </a:rPr>
                <a:t>Trazabilidad</a:t>
              </a:r>
              <a:r>
                <a:rPr lang="en-US" sz="2199">
                  <a:solidFill>
                    <a:srgbClr val="111111"/>
                  </a:solidFill>
                  <a:latin typeface="Calibri (MS)"/>
                  <a:ea typeface="Calibri (MS)"/>
                  <a:cs typeface="Calibri (MS)"/>
                  <a:sym typeface="Calibri (MS)"/>
                </a:rPr>
                <a:t> es la capacidad de reconstruir cada paso del proceso para auditar, responder a reguladores o mejorar procedimientos.</a:t>
              </a:r>
            </a:p>
          </p:txBody>
        </p:sp>
      </p:grpSp>
      <p:sp>
        <p:nvSpPr>
          <p:cNvPr name="Freeform 25" id="25"/>
          <p:cNvSpPr/>
          <p:nvPr/>
        </p:nvSpPr>
        <p:spPr>
          <a:xfrm flipH="false" flipV="false" rot="0">
            <a:off x="1634278" y="3264176"/>
            <a:ext cx="2814128" cy="963853"/>
          </a:xfrm>
          <a:custGeom>
            <a:avLst/>
            <a:gdLst/>
            <a:ahLst/>
            <a:cxnLst/>
            <a:rect r="r" b="b" t="t" l="l"/>
            <a:pathLst>
              <a:path h="963853" w="2814128">
                <a:moveTo>
                  <a:pt x="0" y="0"/>
                </a:moveTo>
                <a:lnTo>
                  <a:pt x="2814127" y="0"/>
                </a:lnTo>
                <a:lnTo>
                  <a:pt x="2814127" y="963853"/>
                </a:lnTo>
                <a:lnTo>
                  <a:pt x="0" y="9638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645546" y="3275444"/>
            <a:ext cx="2791642" cy="941368"/>
            <a:chOff x="0" y="0"/>
            <a:chExt cx="4194048" cy="1414272"/>
          </a:xfrm>
        </p:grpSpPr>
        <p:sp>
          <p:nvSpPr>
            <p:cNvPr name="Freeform 27" id="27"/>
            <p:cNvSpPr/>
            <p:nvPr/>
          </p:nvSpPr>
          <p:spPr>
            <a:xfrm flipH="false" flipV="false" rot="0">
              <a:off x="0" y="0"/>
              <a:ext cx="4194048" cy="1414272"/>
            </a:xfrm>
            <a:custGeom>
              <a:avLst/>
              <a:gdLst/>
              <a:ahLst/>
              <a:cxnLst/>
              <a:rect r="r" b="b" t="t" l="l"/>
              <a:pathLst>
                <a:path h="1414272" w="4194048">
                  <a:moveTo>
                    <a:pt x="0" y="0"/>
                  </a:moveTo>
                  <a:lnTo>
                    <a:pt x="4194048" y="0"/>
                  </a:lnTo>
                  <a:lnTo>
                    <a:pt x="4194048" y="1414272"/>
                  </a:lnTo>
                  <a:lnTo>
                    <a:pt x="0" y="1414272"/>
                  </a:lnTo>
                  <a:close/>
                </a:path>
              </a:pathLst>
            </a:custGeom>
            <a:blipFill>
              <a:blip r:embed="rId7">
                <a:alphaModFix amt="0"/>
              </a:blip>
              <a:stretch>
                <a:fillRect l="0" t="-7743" r="0" b="-7742"/>
              </a:stretch>
            </a:blipFill>
          </p:spPr>
        </p:sp>
      </p:grpSp>
      <p:grpSp>
        <p:nvGrpSpPr>
          <p:cNvPr name="Group 28" id="28"/>
          <p:cNvGrpSpPr/>
          <p:nvPr/>
        </p:nvGrpSpPr>
        <p:grpSpPr>
          <a:xfrm rot="0">
            <a:off x="1645546" y="3250084"/>
            <a:ext cx="2791642" cy="966728"/>
            <a:chOff x="0" y="0"/>
            <a:chExt cx="4194048" cy="1452372"/>
          </a:xfrm>
        </p:grpSpPr>
        <p:sp>
          <p:nvSpPr>
            <p:cNvPr name="Freeform 29" id="29"/>
            <p:cNvSpPr/>
            <p:nvPr/>
          </p:nvSpPr>
          <p:spPr>
            <a:xfrm flipH="false" flipV="false" rot="0">
              <a:off x="0" y="0"/>
              <a:ext cx="4194048" cy="1452372"/>
            </a:xfrm>
            <a:custGeom>
              <a:avLst/>
              <a:gdLst/>
              <a:ahLst/>
              <a:cxnLst/>
              <a:rect r="r" b="b" t="t" l="l"/>
              <a:pathLst>
                <a:path h="1452372" w="4194048">
                  <a:moveTo>
                    <a:pt x="0" y="0"/>
                  </a:moveTo>
                  <a:lnTo>
                    <a:pt x="4194048" y="0"/>
                  </a:lnTo>
                  <a:lnTo>
                    <a:pt x="4194048" y="1452372"/>
                  </a:lnTo>
                  <a:lnTo>
                    <a:pt x="0" y="1452372"/>
                  </a:lnTo>
                  <a:close/>
                </a:path>
              </a:pathLst>
            </a:custGeom>
            <a:blipFill>
              <a:blip r:embed="rId8">
                <a:alphaModFix amt="0"/>
              </a:blip>
              <a:stretch>
                <a:fillRect l="0" t="-6267" r="0" b="-6267"/>
              </a:stretch>
            </a:blipFill>
          </p:spPr>
        </p:sp>
        <p:sp>
          <p:nvSpPr>
            <p:cNvPr name="TextBox 30" id="30"/>
            <p:cNvSpPr txBox="true"/>
            <p:nvPr/>
          </p:nvSpPr>
          <p:spPr>
            <a:xfrm>
              <a:off x="0" y="-38100"/>
              <a:ext cx="4194048" cy="149047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Evita errores</a:t>
              </a:r>
            </a:p>
            <a:p>
              <a:pPr algn="ctr">
                <a:lnSpc>
                  <a:spcPts val="2040"/>
                </a:lnSpc>
              </a:pPr>
              <a:r>
                <a:rPr lang="en-US" sz="1700" b="true">
                  <a:solidFill>
                    <a:srgbClr val="FFFFFF"/>
                  </a:solidFill>
                  <a:latin typeface="Calibri (MS) Bold"/>
                  <a:ea typeface="Calibri (MS) Bold"/>
                  <a:cs typeface="Calibri (MS) Bold"/>
                  <a:sym typeface="Calibri (MS) Bold"/>
                </a:rPr>
                <a:t>y repeticiones</a:t>
              </a:r>
            </a:p>
          </p:txBody>
        </p:sp>
      </p:grpSp>
      <p:sp>
        <p:nvSpPr>
          <p:cNvPr name="Freeform 31" id="31"/>
          <p:cNvSpPr/>
          <p:nvPr/>
        </p:nvSpPr>
        <p:spPr>
          <a:xfrm flipH="false" flipV="false" rot="0">
            <a:off x="1634278" y="4238004"/>
            <a:ext cx="2814128" cy="2099987"/>
          </a:xfrm>
          <a:custGeom>
            <a:avLst/>
            <a:gdLst/>
            <a:ahLst/>
            <a:cxnLst/>
            <a:rect r="r" b="b" t="t" l="l"/>
            <a:pathLst>
              <a:path h="2099987" w="2814128">
                <a:moveTo>
                  <a:pt x="0" y="0"/>
                </a:moveTo>
                <a:lnTo>
                  <a:pt x="2814127" y="0"/>
                </a:lnTo>
                <a:lnTo>
                  <a:pt x="2814127" y="2099987"/>
                </a:lnTo>
                <a:lnTo>
                  <a:pt x="0" y="20999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1824081" y="4384409"/>
            <a:ext cx="2434571" cy="1577978"/>
          </a:xfrm>
          <a:prstGeom prst="rect">
            <a:avLst/>
          </a:prstGeom>
        </p:spPr>
        <p:txBody>
          <a:bodyPr anchor="t" rtlCol="false" tIns="0" lIns="0" bIns="0" rIns="0">
            <a:spAutoFit/>
          </a:bodyPr>
          <a:lstStyle/>
          <a:p>
            <a:pPr algn="l">
              <a:lnSpc>
                <a:spcPts val="2540"/>
              </a:lnSpc>
            </a:pPr>
            <a:r>
              <a:rPr lang="en-US" sz="1597">
                <a:solidFill>
                  <a:srgbClr val="333333"/>
                </a:solidFill>
                <a:latin typeface="Calibri (MS)"/>
                <a:ea typeface="Calibri (MS)"/>
                <a:cs typeface="Calibri (MS)"/>
                <a:sym typeface="Calibri (MS)"/>
              </a:rPr>
              <a:t>Si el análisis no se documenta, el siguiente analista podría repetir el trabajo o pasar por alto un patrón ya identificado.</a:t>
            </a:r>
          </a:p>
        </p:txBody>
      </p:sp>
      <p:sp>
        <p:nvSpPr>
          <p:cNvPr name="Freeform 33" id="33"/>
          <p:cNvSpPr/>
          <p:nvPr/>
        </p:nvSpPr>
        <p:spPr>
          <a:xfrm flipH="false" flipV="false" rot="0">
            <a:off x="4685607" y="3264176"/>
            <a:ext cx="2814128" cy="963853"/>
          </a:xfrm>
          <a:custGeom>
            <a:avLst/>
            <a:gdLst/>
            <a:ahLst/>
            <a:cxnLst/>
            <a:rect r="r" b="b" t="t" l="l"/>
            <a:pathLst>
              <a:path h="963853" w="2814128">
                <a:moveTo>
                  <a:pt x="0" y="0"/>
                </a:moveTo>
                <a:lnTo>
                  <a:pt x="2814128" y="0"/>
                </a:lnTo>
                <a:lnTo>
                  <a:pt x="2814128" y="963853"/>
                </a:lnTo>
                <a:lnTo>
                  <a:pt x="0" y="96385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4696875" y="3275444"/>
            <a:ext cx="2791642" cy="941368"/>
            <a:chOff x="0" y="0"/>
            <a:chExt cx="4194048" cy="1414272"/>
          </a:xfrm>
        </p:grpSpPr>
        <p:sp>
          <p:nvSpPr>
            <p:cNvPr name="Freeform 35" id="35"/>
            <p:cNvSpPr/>
            <p:nvPr/>
          </p:nvSpPr>
          <p:spPr>
            <a:xfrm flipH="false" flipV="false" rot="0">
              <a:off x="0" y="0"/>
              <a:ext cx="4194048" cy="1414272"/>
            </a:xfrm>
            <a:custGeom>
              <a:avLst/>
              <a:gdLst/>
              <a:ahLst/>
              <a:cxnLst/>
              <a:rect r="r" b="b" t="t" l="l"/>
              <a:pathLst>
                <a:path h="1414272" w="4194048">
                  <a:moveTo>
                    <a:pt x="0" y="0"/>
                  </a:moveTo>
                  <a:lnTo>
                    <a:pt x="4194048" y="0"/>
                  </a:lnTo>
                  <a:lnTo>
                    <a:pt x="4194048" y="1414272"/>
                  </a:lnTo>
                  <a:lnTo>
                    <a:pt x="0" y="1414272"/>
                  </a:lnTo>
                  <a:close/>
                </a:path>
              </a:pathLst>
            </a:custGeom>
            <a:blipFill>
              <a:blip r:embed="rId7">
                <a:alphaModFix amt="0"/>
              </a:blip>
              <a:stretch>
                <a:fillRect l="0" t="-7743" r="0" b="-7742"/>
              </a:stretch>
            </a:blipFill>
          </p:spPr>
        </p:sp>
      </p:grpSp>
      <p:grpSp>
        <p:nvGrpSpPr>
          <p:cNvPr name="Group 36" id="36"/>
          <p:cNvGrpSpPr/>
          <p:nvPr/>
        </p:nvGrpSpPr>
        <p:grpSpPr>
          <a:xfrm rot="0">
            <a:off x="4696875" y="3250084"/>
            <a:ext cx="2791642" cy="966728"/>
            <a:chOff x="0" y="0"/>
            <a:chExt cx="4194048" cy="1452372"/>
          </a:xfrm>
        </p:grpSpPr>
        <p:sp>
          <p:nvSpPr>
            <p:cNvPr name="Freeform 37" id="37"/>
            <p:cNvSpPr/>
            <p:nvPr/>
          </p:nvSpPr>
          <p:spPr>
            <a:xfrm flipH="false" flipV="false" rot="0">
              <a:off x="0" y="0"/>
              <a:ext cx="4194048" cy="1452372"/>
            </a:xfrm>
            <a:custGeom>
              <a:avLst/>
              <a:gdLst/>
              <a:ahLst/>
              <a:cxnLst/>
              <a:rect r="r" b="b" t="t" l="l"/>
              <a:pathLst>
                <a:path h="1452372" w="4194048">
                  <a:moveTo>
                    <a:pt x="0" y="0"/>
                  </a:moveTo>
                  <a:lnTo>
                    <a:pt x="4194048" y="0"/>
                  </a:lnTo>
                  <a:lnTo>
                    <a:pt x="4194048" y="1452372"/>
                  </a:lnTo>
                  <a:lnTo>
                    <a:pt x="0" y="1452372"/>
                  </a:lnTo>
                  <a:close/>
                </a:path>
              </a:pathLst>
            </a:custGeom>
            <a:blipFill>
              <a:blip r:embed="rId8">
                <a:alphaModFix amt="0"/>
              </a:blip>
              <a:stretch>
                <a:fillRect l="0" t="-6267" r="0" b="-6267"/>
              </a:stretch>
            </a:blipFill>
          </p:spPr>
        </p:sp>
        <p:sp>
          <p:nvSpPr>
            <p:cNvPr name="TextBox 38" id="38"/>
            <p:cNvSpPr txBox="true"/>
            <p:nvPr/>
          </p:nvSpPr>
          <p:spPr>
            <a:xfrm>
              <a:off x="0" y="-38100"/>
              <a:ext cx="4194048" cy="149047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Permite respuesta</a:t>
              </a:r>
            </a:p>
            <a:p>
              <a:pPr algn="ctr">
                <a:lnSpc>
                  <a:spcPts val="2040"/>
                </a:lnSpc>
              </a:pPr>
              <a:r>
                <a:rPr lang="en-US" sz="1700" b="true">
                  <a:solidFill>
                    <a:srgbClr val="FFFFFF"/>
                  </a:solidFill>
                  <a:latin typeface="Calibri (MS) Bold"/>
                  <a:ea typeface="Calibri (MS) Bold"/>
                  <a:cs typeface="Calibri (MS) Bold"/>
                  <a:sym typeface="Calibri (MS) Bold"/>
                </a:rPr>
                <a:t>coordinada</a:t>
              </a:r>
            </a:p>
          </p:txBody>
        </p:sp>
      </p:grpSp>
      <p:sp>
        <p:nvSpPr>
          <p:cNvPr name="Freeform 39" id="39"/>
          <p:cNvSpPr/>
          <p:nvPr/>
        </p:nvSpPr>
        <p:spPr>
          <a:xfrm flipH="false" flipV="false" rot="0">
            <a:off x="4685607" y="4238004"/>
            <a:ext cx="2814128" cy="2099987"/>
          </a:xfrm>
          <a:custGeom>
            <a:avLst/>
            <a:gdLst/>
            <a:ahLst/>
            <a:cxnLst/>
            <a:rect r="r" b="b" t="t" l="l"/>
            <a:pathLst>
              <a:path h="2099987" w="2814128">
                <a:moveTo>
                  <a:pt x="0" y="0"/>
                </a:moveTo>
                <a:lnTo>
                  <a:pt x="2814128" y="0"/>
                </a:lnTo>
                <a:lnTo>
                  <a:pt x="2814128" y="2099987"/>
                </a:lnTo>
                <a:lnTo>
                  <a:pt x="0" y="20999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4875411" y="4384409"/>
            <a:ext cx="2434571" cy="1577978"/>
          </a:xfrm>
          <a:prstGeom prst="rect">
            <a:avLst/>
          </a:prstGeom>
        </p:spPr>
        <p:txBody>
          <a:bodyPr anchor="t" rtlCol="false" tIns="0" lIns="0" bIns="0" rIns="0">
            <a:spAutoFit/>
          </a:bodyPr>
          <a:lstStyle/>
          <a:p>
            <a:pPr algn="l">
              <a:lnSpc>
                <a:spcPts val="2540"/>
              </a:lnSpc>
            </a:pPr>
            <a:r>
              <a:rPr lang="en-US" sz="1597">
                <a:solidFill>
                  <a:srgbClr val="333333"/>
                </a:solidFill>
                <a:latin typeface="Calibri (MS)"/>
                <a:ea typeface="Calibri (MS)"/>
                <a:cs typeface="Calibri (MS)"/>
                <a:sym typeface="Calibri (MS)"/>
              </a:rPr>
              <a:t>En un equipo 24/7, los turnos cambian constantemente. La única forma de mantener el contexto es a través de registros detallados.</a:t>
            </a:r>
          </a:p>
        </p:txBody>
      </p:sp>
      <p:sp>
        <p:nvSpPr>
          <p:cNvPr name="Freeform 41" id="41"/>
          <p:cNvSpPr/>
          <p:nvPr/>
        </p:nvSpPr>
        <p:spPr>
          <a:xfrm flipH="false" flipV="false" rot="0">
            <a:off x="7736936" y="3264176"/>
            <a:ext cx="2814128" cy="963853"/>
          </a:xfrm>
          <a:custGeom>
            <a:avLst/>
            <a:gdLst/>
            <a:ahLst/>
            <a:cxnLst/>
            <a:rect r="r" b="b" t="t" l="l"/>
            <a:pathLst>
              <a:path h="963853" w="2814128">
                <a:moveTo>
                  <a:pt x="0" y="0"/>
                </a:moveTo>
                <a:lnTo>
                  <a:pt x="2814128" y="0"/>
                </a:lnTo>
                <a:lnTo>
                  <a:pt x="2814128" y="963853"/>
                </a:lnTo>
                <a:lnTo>
                  <a:pt x="0" y="96385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7748205" y="3275444"/>
            <a:ext cx="2791642" cy="941368"/>
            <a:chOff x="0" y="0"/>
            <a:chExt cx="4194048" cy="1414272"/>
          </a:xfrm>
        </p:grpSpPr>
        <p:sp>
          <p:nvSpPr>
            <p:cNvPr name="Freeform 43" id="43"/>
            <p:cNvSpPr/>
            <p:nvPr/>
          </p:nvSpPr>
          <p:spPr>
            <a:xfrm flipH="false" flipV="false" rot="0">
              <a:off x="0" y="0"/>
              <a:ext cx="4194048" cy="1414272"/>
            </a:xfrm>
            <a:custGeom>
              <a:avLst/>
              <a:gdLst/>
              <a:ahLst/>
              <a:cxnLst/>
              <a:rect r="r" b="b" t="t" l="l"/>
              <a:pathLst>
                <a:path h="1414272" w="4194048">
                  <a:moveTo>
                    <a:pt x="0" y="0"/>
                  </a:moveTo>
                  <a:lnTo>
                    <a:pt x="4194048" y="0"/>
                  </a:lnTo>
                  <a:lnTo>
                    <a:pt x="4194048" y="1414272"/>
                  </a:lnTo>
                  <a:lnTo>
                    <a:pt x="0" y="1414272"/>
                  </a:lnTo>
                  <a:close/>
                </a:path>
              </a:pathLst>
            </a:custGeom>
            <a:blipFill>
              <a:blip r:embed="rId7">
                <a:alphaModFix amt="0"/>
              </a:blip>
              <a:stretch>
                <a:fillRect l="0" t="-7743" r="0" b="-7742"/>
              </a:stretch>
            </a:blipFill>
          </p:spPr>
        </p:sp>
      </p:grpSp>
      <p:grpSp>
        <p:nvGrpSpPr>
          <p:cNvPr name="Group 44" id="44"/>
          <p:cNvGrpSpPr/>
          <p:nvPr/>
        </p:nvGrpSpPr>
        <p:grpSpPr>
          <a:xfrm rot="0">
            <a:off x="7748205" y="3250084"/>
            <a:ext cx="2791642" cy="966728"/>
            <a:chOff x="0" y="0"/>
            <a:chExt cx="4194048" cy="1452372"/>
          </a:xfrm>
        </p:grpSpPr>
        <p:sp>
          <p:nvSpPr>
            <p:cNvPr name="Freeform 45" id="45"/>
            <p:cNvSpPr/>
            <p:nvPr/>
          </p:nvSpPr>
          <p:spPr>
            <a:xfrm flipH="false" flipV="false" rot="0">
              <a:off x="0" y="0"/>
              <a:ext cx="4194048" cy="1452372"/>
            </a:xfrm>
            <a:custGeom>
              <a:avLst/>
              <a:gdLst/>
              <a:ahLst/>
              <a:cxnLst/>
              <a:rect r="r" b="b" t="t" l="l"/>
              <a:pathLst>
                <a:path h="1452372" w="4194048">
                  <a:moveTo>
                    <a:pt x="0" y="0"/>
                  </a:moveTo>
                  <a:lnTo>
                    <a:pt x="4194048" y="0"/>
                  </a:lnTo>
                  <a:lnTo>
                    <a:pt x="4194048" y="1452372"/>
                  </a:lnTo>
                  <a:lnTo>
                    <a:pt x="0" y="1452372"/>
                  </a:lnTo>
                  <a:close/>
                </a:path>
              </a:pathLst>
            </a:custGeom>
            <a:blipFill>
              <a:blip r:embed="rId8">
                <a:alphaModFix amt="0"/>
              </a:blip>
              <a:stretch>
                <a:fillRect l="0" t="-6267" r="0" b="-6267"/>
              </a:stretch>
            </a:blipFill>
          </p:spPr>
        </p:sp>
        <p:sp>
          <p:nvSpPr>
            <p:cNvPr name="TextBox 46" id="46"/>
            <p:cNvSpPr txBox="true"/>
            <p:nvPr/>
          </p:nvSpPr>
          <p:spPr>
            <a:xfrm>
              <a:off x="0" y="-38100"/>
              <a:ext cx="4194048" cy="149047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Facilita auditorías</a:t>
              </a:r>
            </a:p>
            <a:p>
              <a:pPr algn="ctr">
                <a:lnSpc>
                  <a:spcPts val="2040"/>
                </a:lnSpc>
              </a:pPr>
              <a:r>
                <a:rPr lang="en-US" sz="1700" b="true">
                  <a:solidFill>
                    <a:srgbClr val="FFFFFF"/>
                  </a:solidFill>
                  <a:latin typeface="Calibri (MS) Bold"/>
                  <a:ea typeface="Calibri (MS) Bold"/>
                  <a:cs typeface="Calibri (MS) Bold"/>
                  <a:sym typeface="Calibri (MS) Bold"/>
                </a:rPr>
                <a:t>y compliance</a:t>
              </a:r>
            </a:p>
          </p:txBody>
        </p:sp>
      </p:grpSp>
      <p:sp>
        <p:nvSpPr>
          <p:cNvPr name="Freeform 47" id="47"/>
          <p:cNvSpPr/>
          <p:nvPr/>
        </p:nvSpPr>
        <p:spPr>
          <a:xfrm flipH="false" flipV="false" rot="0">
            <a:off x="7736936" y="4238004"/>
            <a:ext cx="2814128" cy="2099987"/>
          </a:xfrm>
          <a:custGeom>
            <a:avLst/>
            <a:gdLst/>
            <a:ahLst/>
            <a:cxnLst/>
            <a:rect r="r" b="b" t="t" l="l"/>
            <a:pathLst>
              <a:path h="2099987" w="2814128">
                <a:moveTo>
                  <a:pt x="0" y="0"/>
                </a:moveTo>
                <a:lnTo>
                  <a:pt x="2814128" y="0"/>
                </a:lnTo>
                <a:lnTo>
                  <a:pt x="2814128" y="2099987"/>
                </a:lnTo>
                <a:lnTo>
                  <a:pt x="0" y="20999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7926740" y="4384409"/>
            <a:ext cx="2434571" cy="1263703"/>
          </a:xfrm>
          <a:prstGeom prst="rect">
            <a:avLst/>
          </a:prstGeom>
        </p:spPr>
        <p:txBody>
          <a:bodyPr anchor="t" rtlCol="false" tIns="0" lIns="0" bIns="0" rIns="0">
            <a:spAutoFit/>
          </a:bodyPr>
          <a:lstStyle/>
          <a:p>
            <a:pPr algn="l">
              <a:lnSpc>
                <a:spcPts val="2540"/>
              </a:lnSpc>
            </a:pPr>
            <a:r>
              <a:rPr lang="en-US" sz="1597">
                <a:solidFill>
                  <a:srgbClr val="333333"/>
                </a:solidFill>
                <a:latin typeface="Calibri (MS)"/>
                <a:ea typeface="Calibri (MS)"/>
                <a:cs typeface="Calibri (MS)"/>
                <a:sym typeface="Calibri (MS)"/>
              </a:rPr>
              <a:t>Marcos como ISO 27001, GDPR y NIST exigen registros completos de incidentes de seguridad.</a:t>
            </a:r>
          </a:p>
        </p:txBody>
      </p:sp>
      <p:sp>
        <p:nvSpPr>
          <p:cNvPr name="Freeform 49" id="49"/>
          <p:cNvSpPr/>
          <p:nvPr/>
        </p:nvSpPr>
        <p:spPr>
          <a:xfrm flipH="false" flipV="false" rot="0">
            <a:off x="10788265" y="3264176"/>
            <a:ext cx="2814128" cy="963853"/>
          </a:xfrm>
          <a:custGeom>
            <a:avLst/>
            <a:gdLst/>
            <a:ahLst/>
            <a:cxnLst/>
            <a:rect r="r" b="b" t="t" l="l"/>
            <a:pathLst>
              <a:path h="963853" w="2814128">
                <a:moveTo>
                  <a:pt x="0" y="0"/>
                </a:moveTo>
                <a:lnTo>
                  <a:pt x="2814128" y="0"/>
                </a:lnTo>
                <a:lnTo>
                  <a:pt x="2814128" y="963853"/>
                </a:lnTo>
                <a:lnTo>
                  <a:pt x="0" y="96385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10799534" y="3275444"/>
            <a:ext cx="2791642" cy="941368"/>
            <a:chOff x="0" y="0"/>
            <a:chExt cx="4194048" cy="1414272"/>
          </a:xfrm>
        </p:grpSpPr>
        <p:sp>
          <p:nvSpPr>
            <p:cNvPr name="Freeform 51" id="51"/>
            <p:cNvSpPr/>
            <p:nvPr/>
          </p:nvSpPr>
          <p:spPr>
            <a:xfrm flipH="false" flipV="false" rot="0">
              <a:off x="0" y="0"/>
              <a:ext cx="4194048" cy="1414272"/>
            </a:xfrm>
            <a:custGeom>
              <a:avLst/>
              <a:gdLst/>
              <a:ahLst/>
              <a:cxnLst/>
              <a:rect r="r" b="b" t="t" l="l"/>
              <a:pathLst>
                <a:path h="1414272" w="4194048">
                  <a:moveTo>
                    <a:pt x="0" y="0"/>
                  </a:moveTo>
                  <a:lnTo>
                    <a:pt x="4194048" y="0"/>
                  </a:lnTo>
                  <a:lnTo>
                    <a:pt x="4194048" y="1414272"/>
                  </a:lnTo>
                  <a:lnTo>
                    <a:pt x="0" y="1414272"/>
                  </a:lnTo>
                  <a:close/>
                </a:path>
              </a:pathLst>
            </a:custGeom>
            <a:blipFill>
              <a:blip r:embed="rId7">
                <a:alphaModFix amt="0"/>
              </a:blip>
              <a:stretch>
                <a:fillRect l="0" t="-7743" r="0" b="-7742"/>
              </a:stretch>
            </a:blipFill>
          </p:spPr>
        </p:sp>
      </p:grpSp>
      <p:grpSp>
        <p:nvGrpSpPr>
          <p:cNvPr name="Group 52" id="52"/>
          <p:cNvGrpSpPr/>
          <p:nvPr/>
        </p:nvGrpSpPr>
        <p:grpSpPr>
          <a:xfrm rot="0">
            <a:off x="10799534" y="3250084"/>
            <a:ext cx="2791642" cy="966728"/>
            <a:chOff x="0" y="0"/>
            <a:chExt cx="4194048" cy="1452372"/>
          </a:xfrm>
        </p:grpSpPr>
        <p:sp>
          <p:nvSpPr>
            <p:cNvPr name="Freeform 53" id="53"/>
            <p:cNvSpPr/>
            <p:nvPr/>
          </p:nvSpPr>
          <p:spPr>
            <a:xfrm flipH="false" flipV="false" rot="0">
              <a:off x="0" y="0"/>
              <a:ext cx="4194048" cy="1452372"/>
            </a:xfrm>
            <a:custGeom>
              <a:avLst/>
              <a:gdLst/>
              <a:ahLst/>
              <a:cxnLst/>
              <a:rect r="r" b="b" t="t" l="l"/>
              <a:pathLst>
                <a:path h="1452372" w="4194048">
                  <a:moveTo>
                    <a:pt x="0" y="0"/>
                  </a:moveTo>
                  <a:lnTo>
                    <a:pt x="4194048" y="0"/>
                  </a:lnTo>
                  <a:lnTo>
                    <a:pt x="4194048" y="1452372"/>
                  </a:lnTo>
                  <a:lnTo>
                    <a:pt x="0" y="1452372"/>
                  </a:lnTo>
                  <a:close/>
                </a:path>
              </a:pathLst>
            </a:custGeom>
            <a:blipFill>
              <a:blip r:embed="rId8">
                <a:alphaModFix amt="0"/>
              </a:blip>
              <a:stretch>
                <a:fillRect l="0" t="-6267" r="0" b="-6267"/>
              </a:stretch>
            </a:blipFill>
          </p:spPr>
        </p:sp>
        <p:sp>
          <p:nvSpPr>
            <p:cNvPr name="TextBox 54" id="54"/>
            <p:cNvSpPr txBox="true"/>
            <p:nvPr/>
          </p:nvSpPr>
          <p:spPr>
            <a:xfrm>
              <a:off x="0" y="-38100"/>
              <a:ext cx="4194048" cy="149047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Protege al equipo</a:t>
              </a:r>
            </a:p>
            <a:p>
              <a:pPr algn="ctr">
                <a:lnSpc>
                  <a:spcPts val="2040"/>
                </a:lnSpc>
              </a:pPr>
              <a:r>
                <a:rPr lang="en-US" sz="1700" b="true">
                  <a:solidFill>
                    <a:srgbClr val="FFFFFF"/>
                  </a:solidFill>
                  <a:latin typeface="Calibri (MS) Bold"/>
                  <a:ea typeface="Calibri (MS) Bold"/>
                  <a:cs typeface="Calibri (MS) Bold"/>
                  <a:sym typeface="Calibri (MS) Bold"/>
                </a:rPr>
                <a:t>y la organización</a:t>
              </a:r>
            </a:p>
          </p:txBody>
        </p:sp>
      </p:grpSp>
      <p:sp>
        <p:nvSpPr>
          <p:cNvPr name="Freeform 55" id="55"/>
          <p:cNvSpPr/>
          <p:nvPr/>
        </p:nvSpPr>
        <p:spPr>
          <a:xfrm flipH="false" flipV="false" rot="0">
            <a:off x="10788265" y="4238004"/>
            <a:ext cx="2814128" cy="2099987"/>
          </a:xfrm>
          <a:custGeom>
            <a:avLst/>
            <a:gdLst/>
            <a:ahLst/>
            <a:cxnLst/>
            <a:rect r="r" b="b" t="t" l="l"/>
            <a:pathLst>
              <a:path h="2099987" w="2814128">
                <a:moveTo>
                  <a:pt x="0" y="0"/>
                </a:moveTo>
                <a:lnTo>
                  <a:pt x="2814128" y="0"/>
                </a:lnTo>
                <a:lnTo>
                  <a:pt x="2814128" y="2099987"/>
                </a:lnTo>
                <a:lnTo>
                  <a:pt x="0" y="20999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10978069" y="4384409"/>
            <a:ext cx="2434571" cy="1263703"/>
          </a:xfrm>
          <a:prstGeom prst="rect">
            <a:avLst/>
          </a:prstGeom>
        </p:spPr>
        <p:txBody>
          <a:bodyPr anchor="t" rtlCol="false" tIns="0" lIns="0" bIns="0" rIns="0">
            <a:spAutoFit/>
          </a:bodyPr>
          <a:lstStyle/>
          <a:p>
            <a:pPr algn="l">
              <a:lnSpc>
                <a:spcPts val="2540"/>
              </a:lnSpc>
            </a:pPr>
            <a:r>
              <a:rPr lang="en-US" sz="1597">
                <a:solidFill>
                  <a:srgbClr val="333333"/>
                </a:solidFill>
                <a:latin typeface="Calibri (MS)"/>
                <a:ea typeface="Calibri (MS)"/>
                <a:cs typeface="Calibri (MS)"/>
                <a:sym typeface="Calibri (MS)"/>
              </a:rPr>
              <a:t>Si algo sale mal, el registro sirve para demostrar que se actuó con criterio y dentro del protocolo.</a:t>
            </a:r>
          </a:p>
        </p:txBody>
      </p:sp>
      <p:sp>
        <p:nvSpPr>
          <p:cNvPr name="Freeform 57" id="57"/>
          <p:cNvSpPr/>
          <p:nvPr/>
        </p:nvSpPr>
        <p:spPr>
          <a:xfrm flipH="false" flipV="false" rot="0">
            <a:off x="13839595" y="3264176"/>
            <a:ext cx="2814128" cy="963853"/>
          </a:xfrm>
          <a:custGeom>
            <a:avLst/>
            <a:gdLst/>
            <a:ahLst/>
            <a:cxnLst/>
            <a:rect r="r" b="b" t="t" l="l"/>
            <a:pathLst>
              <a:path h="963853" w="2814128">
                <a:moveTo>
                  <a:pt x="0" y="0"/>
                </a:moveTo>
                <a:lnTo>
                  <a:pt x="2814127" y="0"/>
                </a:lnTo>
                <a:lnTo>
                  <a:pt x="2814127" y="963853"/>
                </a:lnTo>
                <a:lnTo>
                  <a:pt x="0" y="96385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13850863" y="3275444"/>
            <a:ext cx="2791642" cy="941368"/>
            <a:chOff x="0" y="0"/>
            <a:chExt cx="4194048" cy="1414272"/>
          </a:xfrm>
        </p:grpSpPr>
        <p:sp>
          <p:nvSpPr>
            <p:cNvPr name="Freeform 59" id="59"/>
            <p:cNvSpPr/>
            <p:nvPr/>
          </p:nvSpPr>
          <p:spPr>
            <a:xfrm flipH="false" flipV="false" rot="0">
              <a:off x="0" y="0"/>
              <a:ext cx="4194048" cy="1414272"/>
            </a:xfrm>
            <a:custGeom>
              <a:avLst/>
              <a:gdLst/>
              <a:ahLst/>
              <a:cxnLst/>
              <a:rect r="r" b="b" t="t" l="l"/>
              <a:pathLst>
                <a:path h="1414272" w="4194048">
                  <a:moveTo>
                    <a:pt x="0" y="0"/>
                  </a:moveTo>
                  <a:lnTo>
                    <a:pt x="4194048" y="0"/>
                  </a:lnTo>
                  <a:lnTo>
                    <a:pt x="4194048" y="1414272"/>
                  </a:lnTo>
                  <a:lnTo>
                    <a:pt x="0" y="1414272"/>
                  </a:lnTo>
                  <a:close/>
                </a:path>
              </a:pathLst>
            </a:custGeom>
            <a:blipFill>
              <a:blip r:embed="rId7">
                <a:alphaModFix amt="0"/>
              </a:blip>
              <a:stretch>
                <a:fillRect l="0" t="-7743" r="0" b="-7742"/>
              </a:stretch>
            </a:blipFill>
          </p:spPr>
        </p:sp>
      </p:grpSp>
      <p:grpSp>
        <p:nvGrpSpPr>
          <p:cNvPr name="Group 60" id="60"/>
          <p:cNvGrpSpPr/>
          <p:nvPr/>
        </p:nvGrpSpPr>
        <p:grpSpPr>
          <a:xfrm rot="0">
            <a:off x="13850863" y="3250084"/>
            <a:ext cx="2791642" cy="966728"/>
            <a:chOff x="0" y="0"/>
            <a:chExt cx="4194048" cy="1452372"/>
          </a:xfrm>
        </p:grpSpPr>
        <p:sp>
          <p:nvSpPr>
            <p:cNvPr name="Freeform 61" id="61"/>
            <p:cNvSpPr/>
            <p:nvPr/>
          </p:nvSpPr>
          <p:spPr>
            <a:xfrm flipH="false" flipV="false" rot="0">
              <a:off x="0" y="0"/>
              <a:ext cx="4194048" cy="1452372"/>
            </a:xfrm>
            <a:custGeom>
              <a:avLst/>
              <a:gdLst/>
              <a:ahLst/>
              <a:cxnLst/>
              <a:rect r="r" b="b" t="t" l="l"/>
              <a:pathLst>
                <a:path h="1452372" w="4194048">
                  <a:moveTo>
                    <a:pt x="0" y="0"/>
                  </a:moveTo>
                  <a:lnTo>
                    <a:pt x="4194048" y="0"/>
                  </a:lnTo>
                  <a:lnTo>
                    <a:pt x="4194048" y="1452372"/>
                  </a:lnTo>
                  <a:lnTo>
                    <a:pt x="0" y="1452372"/>
                  </a:lnTo>
                  <a:close/>
                </a:path>
              </a:pathLst>
            </a:custGeom>
            <a:blipFill>
              <a:blip r:embed="rId8">
                <a:alphaModFix amt="0"/>
              </a:blip>
              <a:stretch>
                <a:fillRect l="0" t="-6267" r="0" b="-6267"/>
              </a:stretch>
            </a:blipFill>
          </p:spPr>
        </p:sp>
        <p:sp>
          <p:nvSpPr>
            <p:cNvPr name="TextBox 62" id="62"/>
            <p:cNvSpPr txBox="true"/>
            <p:nvPr/>
          </p:nvSpPr>
          <p:spPr>
            <a:xfrm>
              <a:off x="0" y="-38100"/>
              <a:ext cx="4194048" cy="149047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Mejora procesos</a:t>
              </a:r>
            </a:p>
            <a:p>
              <a:pPr algn="ctr">
                <a:lnSpc>
                  <a:spcPts val="2040"/>
                </a:lnSpc>
              </a:pPr>
              <a:r>
                <a:rPr lang="en-US" sz="1700" b="true">
                  <a:solidFill>
                    <a:srgbClr val="FFFFFF"/>
                  </a:solidFill>
                  <a:latin typeface="Calibri (MS) Bold"/>
                  <a:ea typeface="Calibri (MS) Bold"/>
                  <a:cs typeface="Calibri (MS) Bold"/>
                  <a:sym typeface="Calibri (MS) Bold"/>
                </a:rPr>
                <a:t>y detecciones</a:t>
              </a:r>
            </a:p>
          </p:txBody>
        </p:sp>
      </p:grpSp>
      <p:sp>
        <p:nvSpPr>
          <p:cNvPr name="Freeform 63" id="63"/>
          <p:cNvSpPr/>
          <p:nvPr/>
        </p:nvSpPr>
        <p:spPr>
          <a:xfrm flipH="false" flipV="false" rot="0">
            <a:off x="13839595" y="4238004"/>
            <a:ext cx="2814128" cy="2099987"/>
          </a:xfrm>
          <a:custGeom>
            <a:avLst/>
            <a:gdLst/>
            <a:ahLst/>
            <a:cxnLst/>
            <a:rect r="r" b="b" t="t" l="l"/>
            <a:pathLst>
              <a:path h="2099987" w="2814128">
                <a:moveTo>
                  <a:pt x="0" y="0"/>
                </a:moveTo>
                <a:lnTo>
                  <a:pt x="2814127" y="0"/>
                </a:lnTo>
                <a:lnTo>
                  <a:pt x="2814127" y="2099987"/>
                </a:lnTo>
                <a:lnTo>
                  <a:pt x="0" y="20999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14029398" y="4384409"/>
            <a:ext cx="2434571" cy="1577978"/>
          </a:xfrm>
          <a:prstGeom prst="rect">
            <a:avLst/>
          </a:prstGeom>
        </p:spPr>
        <p:txBody>
          <a:bodyPr anchor="t" rtlCol="false" tIns="0" lIns="0" bIns="0" rIns="0">
            <a:spAutoFit/>
          </a:bodyPr>
          <a:lstStyle/>
          <a:p>
            <a:pPr algn="l">
              <a:lnSpc>
                <a:spcPts val="2540"/>
              </a:lnSpc>
            </a:pPr>
            <a:r>
              <a:rPr lang="en-US" sz="1597">
                <a:solidFill>
                  <a:srgbClr val="333333"/>
                </a:solidFill>
                <a:latin typeface="Calibri (MS)"/>
                <a:ea typeface="Calibri (MS)"/>
                <a:cs typeface="Calibri (MS)"/>
                <a:sym typeface="Calibri (MS)"/>
              </a:rPr>
              <a:t>La revisión de registros permite encontrar cuellos de botella, detectar falsas alarmas frecuentes y afinar las reglas del SIEM.</a:t>
            </a:r>
          </a:p>
        </p:txBody>
      </p:sp>
      <p:grpSp>
        <p:nvGrpSpPr>
          <p:cNvPr name="Group 65" id="65"/>
          <p:cNvGrpSpPr/>
          <p:nvPr/>
        </p:nvGrpSpPr>
        <p:grpSpPr>
          <a:xfrm rot="0">
            <a:off x="640080" y="6675120"/>
            <a:ext cx="17007840" cy="585216"/>
            <a:chOff x="0" y="0"/>
            <a:chExt cx="22677120" cy="780288"/>
          </a:xfrm>
        </p:grpSpPr>
        <p:sp>
          <p:nvSpPr>
            <p:cNvPr name="Freeform 66" id="66"/>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67" id="67"/>
          <p:cNvGrpSpPr/>
          <p:nvPr/>
        </p:nvGrpSpPr>
        <p:grpSpPr>
          <a:xfrm rot="0">
            <a:off x="640080" y="6639401"/>
            <a:ext cx="17007840" cy="620935"/>
            <a:chOff x="0" y="0"/>
            <a:chExt cx="22677120" cy="827913"/>
          </a:xfrm>
        </p:grpSpPr>
        <p:sp>
          <p:nvSpPr>
            <p:cNvPr name="Freeform 68" id="68"/>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69" id="69"/>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¿Qué se registra normalmente?</a:t>
              </a:r>
            </a:p>
          </p:txBody>
        </p:sp>
      </p:grpSp>
      <p:grpSp>
        <p:nvGrpSpPr>
          <p:cNvPr name="Group 70" id="70"/>
          <p:cNvGrpSpPr/>
          <p:nvPr/>
        </p:nvGrpSpPr>
        <p:grpSpPr>
          <a:xfrm rot="0">
            <a:off x="1028700" y="7498461"/>
            <a:ext cx="8412480" cy="1379389"/>
            <a:chOff x="0" y="0"/>
            <a:chExt cx="11216640" cy="1839186"/>
          </a:xfrm>
        </p:grpSpPr>
        <p:sp>
          <p:nvSpPr>
            <p:cNvPr name="Freeform 71" id="71"/>
            <p:cNvSpPr/>
            <p:nvPr/>
          </p:nvSpPr>
          <p:spPr>
            <a:xfrm flipH="false" flipV="false" rot="0">
              <a:off x="0" y="0"/>
              <a:ext cx="11216640" cy="1839186"/>
            </a:xfrm>
            <a:custGeom>
              <a:avLst/>
              <a:gdLst/>
              <a:ahLst/>
              <a:cxnLst/>
              <a:rect r="r" b="b" t="t" l="l"/>
              <a:pathLst>
                <a:path h="1839186" w="11216640">
                  <a:moveTo>
                    <a:pt x="0" y="0"/>
                  </a:moveTo>
                  <a:lnTo>
                    <a:pt x="11216640" y="0"/>
                  </a:lnTo>
                  <a:lnTo>
                    <a:pt x="11216640" y="1839186"/>
                  </a:lnTo>
                  <a:lnTo>
                    <a:pt x="0" y="1839186"/>
                  </a:lnTo>
                  <a:close/>
                </a:path>
              </a:pathLst>
            </a:custGeom>
            <a:blipFill>
              <a:blip r:embed="rId8">
                <a:alphaModFix amt="0"/>
              </a:blip>
              <a:stretch>
                <a:fillRect l="0" t="-34934" r="0" b="-102731"/>
              </a:stretch>
            </a:blipFill>
          </p:spPr>
        </p:sp>
        <p:sp>
          <p:nvSpPr>
            <p:cNvPr name="TextBox 72" id="72"/>
            <p:cNvSpPr txBox="true"/>
            <p:nvPr/>
          </p:nvSpPr>
          <p:spPr>
            <a:xfrm>
              <a:off x="0" y="-38100"/>
              <a:ext cx="11216640" cy="1877286"/>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Hora de la alerta y quién la recibió</a:t>
              </a:r>
            </a:p>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Tipo de incidente y clasificación asignada</a:t>
              </a:r>
            </a:p>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Acciones tomadas (consultas, bloqueos, correlaciones)</a:t>
              </a:r>
            </a:p>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Herramientas utilizadas durante el análisis</a:t>
              </a:r>
            </a:p>
          </p:txBody>
        </p:sp>
      </p:grpSp>
      <p:grpSp>
        <p:nvGrpSpPr>
          <p:cNvPr name="Group 73" id="73"/>
          <p:cNvGrpSpPr/>
          <p:nvPr/>
        </p:nvGrpSpPr>
        <p:grpSpPr>
          <a:xfrm rot="0">
            <a:off x="7571383" y="7498461"/>
            <a:ext cx="8412480" cy="1379389"/>
            <a:chOff x="0" y="0"/>
            <a:chExt cx="11216640" cy="1839186"/>
          </a:xfrm>
        </p:grpSpPr>
        <p:sp>
          <p:nvSpPr>
            <p:cNvPr name="Freeform 74" id="74"/>
            <p:cNvSpPr/>
            <p:nvPr/>
          </p:nvSpPr>
          <p:spPr>
            <a:xfrm flipH="false" flipV="false" rot="0">
              <a:off x="0" y="0"/>
              <a:ext cx="11216640" cy="1839186"/>
            </a:xfrm>
            <a:custGeom>
              <a:avLst/>
              <a:gdLst/>
              <a:ahLst/>
              <a:cxnLst/>
              <a:rect r="r" b="b" t="t" l="l"/>
              <a:pathLst>
                <a:path h="1839186" w="11216640">
                  <a:moveTo>
                    <a:pt x="0" y="0"/>
                  </a:moveTo>
                  <a:lnTo>
                    <a:pt x="11216640" y="0"/>
                  </a:lnTo>
                  <a:lnTo>
                    <a:pt x="11216640" y="1839186"/>
                  </a:lnTo>
                  <a:lnTo>
                    <a:pt x="0" y="1839186"/>
                  </a:lnTo>
                  <a:close/>
                </a:path>
              </a:pathLst>
            </a:custGeom>
            <a:blipFill>
              <a:blip r:embed="rId8">
                <a:alphaModFix amt="0"/>
              </a:blip>
              <a:stretch>
                <a:fillRect l="0" t="-34934" r="0" b="-102731"/>
              </a:stretch>
            </a:blipFill>
          </p:spPr>
        </p:sp>
        <p:sp>
          <p:nvSpPr>
            <p:cNvPr name="TextBox 75" id="75"/>
            <p:cNvSpPr txBox="true"/>
            <p:nvPr/>
          </p:nvSpPr>
          <p:spPr>
            <a:xfrm>
              <a:off x="0" y="-38100"/>
              <a:ext cx="11216640" cy="1877286"/>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Justificación de las decisiones tomadas</a:t>
              </a:r>
            </a:p>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A quién se escaló, cuándo y con qué datos</a:t>
              </a:r>
            </a:p>
            <a:p>
              <a:pPr algn="l" marL="458349" indent="-152783" lvl="2">
                <a:lnSpc>
                  <a:spcPts val="2279"/>
                </a:lnSpc>
                <a:buFont typeface="Arial"/>
                <a:buChar char="⚬"/>
              </a:pPr>
              <a:r>
                <a:rPr lang="en-US" sz="1899">
                  <a:solidFill>
                    <a:srgbClr val="333333"/>
                  </a:solidFill>
                  <a:latin typeface="Calibri (MS)"/>
                  <a:ea typeface="Calibri (MS)"/>
                  <a:cs typeface="Calibri (MS)"/>
                  <a:sym typeface="Calibri (MS)"/>
                </a:rPr>
                <a:t>Resultado final y lecciones aprendidas</a:t>
              </a:r>
            </a:p>
          </p:txBody>
        </p:sp>
      </p:grpSp>
      <p:grpSp>
        <p:nvGrpSpPr>
          <p:cNvPr name="Group 76" id="76"/>
          <p:cNvGrpSpPr/>
          <p:nvPr/>
        </p:nvGrpSpPr>
        <p:grpSpPr>
          <a:xfrm rot="0">
            <a:off x="15983863" y="24203"/>
            <a:ext cx="1855079" cy="1855079"/>
            <a:chOff x="0" y="0"/>
            <a:chExt cx="5852160" cy="5852160"/>
          </a:xfrm>
        </p:grpSpPr>
        <p:sp>
          <p:nvSpPr>
            <p:cNvPr name="Freeform 77" id="7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1.6</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57475"/>
            <a:ext cx="15544800" cy="2646045"/>
            <a:chOff x="0" y="0"/>
            <a:chExt cx="20726400" cy="3528060"/>
          </a:xfrm>
        </p:grpSpPr>
        <p:sp>
          <p:nvSpPr>
            <p:cNvPr name="Freeform 12" id="12"/>
            <p:cNvSpPr/>
            <p:nvPr/>
          </p:nvSpPr>
          <p:spPr>
            <a:xfrm flipH="false" flipV="false" rot="0">
              <a:off x="0" y="0"/>
              <a:ext cx="20726400" cy="3528060"/>
            </a:xfrm>
            <a:custGeom>
              <a:avLst/>
              <a:gdLst/>
              <a:ahLst/>
              <a:cxnLst/>
              <a:rect r="r" b="b" t="t" l="l"/>
              <a:pathLst>
                <a:path h="3528060" w="20726400">
                  <a:moveTo>
                    <a:pt x="0" y="0"/>
                  </a:moveTo>
                  <a:lnTo>
                    <a:pt x="20726400" y="0"/>
                  </a:lnTo>
                  <a:lnTo>
                    <a:pt x="20726400" y="3528060"/>
                  </a:lnTo>
                  <a:lnTo>
                    <a:pt x="0" y="3528060"/>
                  </a:lnTo>
                  <a:close/>
                </a:path>
              </a:pathLst>
            </a:custGeom>
            <a:blipFill>
              <a:blip r:embed="rId8">
                <a:alphaModFix amt="0"/>
              </a:blip>
              <a:stretch>
                <a:fillRect l="0" t="-64469" r="0" b="-64469"/>
              </a:stretch>
            </a:blipFill>
          </p:spPr>
        </p:sp>
        <p:sp>
          <p:nvSpPr>
            <p:cNvPr name="TextBox 13" id="13"/>
            <p:cNvSpPr txBox="true"/>
            <p:nvPr/>
          </p:nvSpPr>
          <p:spPr>
            <a:xfrm>
              <a:off x="0" y="-114300"/>
              <a:ext cx="20726400" cy="3642360"/>
            </a:xfrm>
            <a:prstGeom prst="rect">
              <a:avLst/>
            </a:prstGeom>
          </p:spPr>
          <p:txBody>
            <a:bodyPr anchor="ctr" rtlCol="false" tIns="0" lIns="0" bIns="0" rIns="0"/>
            <a:lstStyle/>
            <a:p>
              <a:pPr algn="l">
                <a:lnSpc>
                  <a:spcPts val="6720"/>
                </a:lnSpc>
              </a:pPr>
              <a:r>
                <a:rPr lang="en-US" sz="5600" b="true">
                  <a:solidFill>
                    <a:srgbClr val="FFFFFF"/>
                  </a:solidFill>
                  <a:latin typeface="Calibri (MS) Bold"/>
                  <a:ea typeface="Calibri (MS) Bold"/>
                  <a:cs typeface="Calibri (MS) Bold"/>
                  <a:sym typeface="Calibri (MS) Bold"/>
                </a:rPr>
                <a:t>Proyección profesional</a:t>
              </a:r>
            </a:p>
            <a:p>
              <a:pPr algn="l">
                <a:lnSpc>
                  <a:spcPts val="6720"/>
                </a:lnSpc>
              </a:pPr>
              <a:r>
                <a:rPr lang="en-US" sz="5600" b="true">
                  <a:solidFill>
                    <a:srgbClr val="FFFFFF"/>
                  </a:solidFill>
                  <a:latin typeface="Calibri (MS) Bold"/>
                  <a:ea typeface="Calibri (MS) Bold"/>
                  <a:cs typeface="Calibri (MS) Bold"/>
                  <a:sym typeface="Calibri (MS) Bold"/>
                </a:rPr>
                <a:t>y desarrollo en el SOC</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¿Hacia dónde puede crecer un analista SOC moderno?</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Certificaciones y conocimientos relevantes</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Salidas laborales dentro y fuera del SOC</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Cómo construir una carrera sostenible en ciberseguridad</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p.40</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p.41</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Rutas de crecimiento desde el SOC Moderno</a:t>
              </a:r>
            </a:p>
          </p:txBody>
        </p:sp>
      </p:grpSp>
      <p:grpSp>
        <p:nvGrpSpPr>
          <p:cNvPr name="Group 20" id="20"/>
          <p:cNvGrpSpPr/>
          <p:nvPr/>
        </p:nvGrpSpPr>
        <p:grpSpPr>
          <a:xfrm rot="0">
            <a:off x="640080" y="1773936"/>
            <a:ext cx="17007840" cy="950976"/>
            <a:chOff x="0" y="0"/>
            <a:chExt cx="22677120" cy="1267968"/>
          </a:xfrm>
        </p:grpSpPr>
        <p:sp>
          <p:nvSpPr>
            <p:cNvPr name="Freeform 21" id="21"/>
            <p:cNvSpPr/>
            <p:nvPr/>
          </p:nvSpPr>
          <p:spPr>
            <a:xfrm flipH="false" flipV="false" rot="0">
              <a:off x="0" y="0"/>
              <a:ext cx="22677120" cy="1267968"/>
            </a:xfrm>
            <a:custGeom>
              <a:avLst/>
              <a:gdLst/>
              <a:ahLst/>
              <a:cxnLst/>
              <a:rect r="r" b="b" t="t" l="l"/>
              <a:pathLst>
                <a:path h="1267968" w="22677120">
                  <a:moveTo>
                    <a:pt x="0" y="0"/>
                  </a:moveTo>
                  <a:lnTo>
                    <a:pt x="22677120" y="0"/>
                  </a:lnTo>
                  <a:lnTo>
                    <a:pt x="22677120" y="1267968"/>
                  </a:lnTo>
                  <a:lnTo>
                    <a:pt x="0" y="1267968"/>
                  </a:lnTo>
                  <a:close/>
                </a:path>
              </a:pathLst>
            </a:custGeom>
            <a:blipFill>
              <a:blip r:embed="rId7">
                <a:alphaModFix amt="0"/>
              </a:blip>
              <a:stretch>
                <a:fillRect l="0" t="-298240" r="0" b="-298240"/>
              </a:stretch>
            </a:blipFill>
          </p:spPr>
        </p:sp>
      </p:grpSp>
      <p:grpSp>
        <p:nvGrpSpPr>
          <p:cNvPr name="Group 22" id="22"/>
          <p:cNvGrpSpPr/>
          <p:nvPr/>
        </p:nvGrpSpPr>
        <p:grpSpPr>
          <a:xfrm rot="0">
            <a:off x="640080" y="1902809"/>
            <a:ext cx="17007840" cy="986695"/>
            <a:chOff x="0" y="0"/>
            <a:chExt cx="22677120" cy="1315593"/>
          </a:xfrm>
        </p:grpSpPr>
        <p:sp>
          <p:nvSpPr>
            <p:cNvPr name="Freeform 23" id="23"/>
            <p:cNvSpPr/>
            <p:nvPr/>
          </p:nvSpPr>
          <p:spPr>
            <a:xfrm flipH="false" flipV="false" rot="0">
              <a:off x="0" y="0"/>
              <a:ext cx="22677120" cy="1315593"/>
            </a:xfrm>
            <a:custGeom>
              <a:avLst/>
              <a:gdLst/>
              <a:ahLst/>
              <a:cxnLst/>
              <a:rect r="r" b="b" t="t" l="l"/>
              <a:pathLst>
                <a:path h="1315593" w="22677120">
                  <a:moveTo>
                    <a:pt x="0" y="0"/>
                  </a:moveTo>
                  <a:lnTo>
                    <a:pt x="22677120" y="0"/>
                  </a:lnTo>
                  <a:lnTo>
                    <a:pt x="22677120" y="1315593"/>
                  </a:lnTo>
                  <a:lnTo>
                    <a:pt x="0" y="1315593"/>
                  </a:lnTo>
                  <a:close/>
                </a:path>
              </a:pathLst>
            </a:custGeom>
            <a:blipFill>
              <a:blip r:embed="rId8">
                <a:alphaModFix amt="0"/>
              </a:blip>
              <a:stretch>
                <a:fillRect l="0" t="-285867" r="0" b="-285867"/>
              </a:stretch>
            </a:blipFill>
          </p:spPr>
        </p:sp>
        <p:sp>
          <p:nvSpPr>
            <p:cNvPr name="TextBox 24" id="24"/>
            <p:cNvSpPr txBox="true"/>
            <p:nvPr/>
          </p:nvSpPr>
          <p:spPr>
            <a:xfrm>
              <a:off x="0" y="-47625"/>
              <a:ext cx="22677120" cy="1363218"/>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El SOC es la puerta de entrada al mundo profesional de la ciberseguridad. Desde aquí podés crecer en múltiples direcciones. En el SOC moderno, las rutas no son lineales: la especialización temprana es cada vez más valorada.</a:t>
              </a:r>
            </a:p>
          </p:txBody>
        </p:sp>
      </p:grpSp>
      <p:grpSp>
        <p:nvGrpSpPr>
          <p:cNvPr name="Group 25" id="25"/>
          <p:cNvGrpSpPr/>
          <p:nvPr/>
        </p:nvGrpSpPr>
        <p:grpSpPr>
          <a:xfrm rot="0">
            <a:off x="640080" y="2889504"/>
            <a:ext cx="17007840" cy="585216"/>
            <a:chOff x="0" y="0"/>
            <a:chExt cx="22677120" cy="780288"/>
          </a:xfrm>
        </p:grpSpPr>
        <p:sp>
          <p:nvSpPr>
            <p:cNvPr name="Freeform 26" id="26"/>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27" id="27"/>
          <p:cNvGrpSpPr/>
          <p:nvPr/>
        </p:nvGrpSpPr>
        <p:grpSpPr>
          <a:xfrm rot="0">
            <a:off x="640080" y="2853785"/>
            <a:ext cx="17007840" cy="620935"/>
            <a:chOff x="0" y="0"/>
            <a:chExt cx="22677120" cy="827913"/>
          </a:xfrm>
        </p:grpSpPr>
        <p:sp>
          <p:nvSpPr>
            <p:cNvPr name="Freeform 28" id="28"/>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29" id="29"/>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Rutas de crecimiento en el SOC moderno:</a:t>
              </a:r>
            </a:p>
          </p:txBody>
        </p:sp>
      </p:grpSp>
      <p:sp>
        <p:nvSpPr>
          <p:cNvPr name="Freeform 30" id="30"/>
          <p:cNvSpPr/>
          <p:nvPr/>
        </p:nvSpPr>
        <p:spPr>
          <a:xfrm flipH="false" flipV="false" rot="0">
            <a:off x="1918314"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1" id="31"/>
          <p:cNvGrpSpPr/>
          <p:nvPr/>
        </p:nvGrpSpPr>
        <p:grpSpPr>
          <a:xfrm rot="0">
            <a:off x="1929934" y="3682413"/>
            <a:ext cx="3481511" cy="1205138"/>
            <a:chOff x="0" y="0"/>
            <a:chExt cx="5071872" cy="1755648"/>
          </a:xfrm>
        </p:grpSpPr>
        <p:sp>
          <p:nvSpPr>
            <p:cNvPr name="Freeform 32" id="32"/>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33" id="33"/>
          <p:cNvGrpSpPr/>
          <p:nvPr/>
        </p:nvGrpSpPr>
        <p:grpSpPr>
          <a:xfrm rot="0">
            <a:off x="1929934" y="3656260"/>
            <a:ext cx="3481511" cy="1231291"/>
            <a:chOff x="0" y="0"/>
            <a:chExt cx="5071872" cy="1793748"/>
          </a:xfrm>
        </p:grpSpPr>
        <p:sp>
          <p:nvSpPr>
            <p:cNvPr name="Freeform 34" id="34"/>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35" id="35"/>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Analista SOC</a:t>
              </a:r>
            </a:p>
            <a:p>
              <a:pPr algn="ctr">
                <a:lnSpc>
                  <a:spcPts val="2279"/>
                </a:lnSpc>
              </a:pPr>
              <a:r>
                <a:rPr lang="en-US" sz="1899" b="true">
                  <a:solidFill>
                    <a:srgbClr val="FFFFFF"/>
                  </a:solidFill>
                  <a:latin typeface="Calibri (MS) Bold"/>
                  <a:ea typeface="Calibri (MS) Bold"/>
                  <a:cs typeface="Calibri (MS) Bold"/>
                  <a:sym typeface="Calibri (MS) Bold"/>
                </a:rPr>
                <a:t>(Punto de partida)</a:t>
              </a:r>
            </a:p>
          </p:txBody>
        </p:sp>
      </p:grpSp>
      <p:sp>
        <p:nvSpPr>
          <p:cNvPr name="Freeform 36" id="36"/>
          <p:cNvSpPr/>
          <p:nvPr/>
        </p:nvSpPr>
        <p:spPr>
          <a:xfrm flipH="false" flipV="false" rot="0">
            <a:off x="1918314"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2130736"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Análisis, validación, escalamiento, documentación. Criterio operativo.</a:t>
            </a:r>
          </a:p>
        </p:txBody>
      </p:sp>
      <p:grpSp>
        <p:nvGrpSpPr>
          <p:cNvPr name="Group 38" id="38"/>
          <p:cNvGrpSpPr/>
          <p:nvPr/>
        </p:nvGrpSpPr>
        <p:grpSpPr>
          <a:xfrm rot="0">
            <a:off x="5444921" y="3682413"/>
            <a:ext cx="636045" cy="1205138"/>
            <a:chOff x="0" y="0"/>
            <a:chExt cx="926592" cy="1755648"/>
          </a:xfrm>
        </p:grpSpPr>
        <p:sp>
          <p:nvSpPr>
            <p:cNvPr name="Freeform 39" id="39"/>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40" id="40"/>
          <p:cNvGrpSpPr/>
          <p:nvPr/>
        </p:nvGrpSpPr>
        <p:grpSpPr>
          <a:xfrm rot="0">
            <a:off x="5444921" y="3636645"/>
            <a:ext cx="636045" cy="1250906"/>
            <a:chOff x="0" y="0"/>
            <a:chExt cx="926592" cy="1822323"/>
          </a:xfrm>
        </p:grpSpPr>
        <p:sp>
          <p:nvSpPr>
            <p:cNvPr name="Freeform 41" id="41"/>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42" id="42"/>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3" id="43"/>
          <p:cNvSpPr/>
          <p:nvPr/>
        </p:nvSpPr>
        <p:spPr>
          <a:xfrm flipH="false" flipV="false" rot="0">
            <a:off x="5567205"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4" id="44"/>
          <p:cNvGrpSpPr/>
          <p:nvPr/>
        </p:nvGrpSpPr>
        <p:grpSpPr>
          <a:xfrm rot="0">
            <a:off x="5578825" y="3682413"/>
            <a:ext cx="3481511" cy="1205138"/>
            <a:chOff x="0" y="0"/>
            <a:chExt cx="5071872" cy="1755648"/>
          </a:xfrm>
        </p:grpSpPr>
        <p:sp>
          <p:nvSpPr>
            <p:cNvPr name="Freeform 45" id="45"/>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46" id="46"/>
          <p:cNvGrpSpPr/>
          <p:nvPr/>
        </p:nvGrpSpPr>
        <p:grpSpPr>
          <a:xfrm rot="0">
            <a:off x="5578825" y="3656260"/>
            <a:ext cx="3481511" cy="1231291"/>
            <a:chOff x="0" y="0"/>
            <a:chExt cx="5071872" cy="1793748"/>
          </a:xfrm>
        </p:grpSpPr>
        <p:sp>
          <p:nvSpPr>
            <p:cNvPr name="Freeform 47" id="47"/>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48" id="48"/>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SOC L2</a:t>
              </a:r>
            </a:p>
            <a:p>
              <a:pPr algn="ctr">
                <a:lnSpc>
                  <a:spcPts val="2279"/>
                </a:lnSpc>
              </a:pPr>
              <a:r>
                <a:rPr lang="en-US" sz="1899" b="true">
                  <a:solidFill>
                    <a:srgbClr val="FFFFFF"/>
                  </a:solidFill>
                  <a:latin typeface="Calibri (MS) Bold"/>
                  <a:ea typeface="Calibri (MS) Bold"/>
                  <a:cs typeface="Calibri (MS) Bold"/>
                  <a:sym typeface="Calibri (MS) Bold"/>
                </a:rPr>
                <a:t>Analyst</a:t>
              </a:r>
            </a:p>
          </p:txBody>
        </p:sp>
      </p:grpSp>
      <p:sp>
        <p:nvSpPr>
          <p:cNvPr name="Freeform 49" id="49"/>
          <p:cNvSpPr/>
          <p:nvPr/>
        </p:nvSpPr>
        <p:spPr>
          <a:xfrm flipH="false" flipV="false" rot="0">
            <a:off x="5567205"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0" id="50"/>
          <p:cNvSpPr txBox="true"/>
          <p:nvPr/>
        </p:nvSpPr>
        <p:spPr>
          <a:xfrm rot="0">
            <a:off x="5779627"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Investigación profunda. Respuesta a incidentes complejos. Contención.</a:t>
            </a:r>
          </a:p>
        </p:txBody>
      </p:sp>
      <p:grpSp>
        <p:nvGrpSpPr>
          <p:cNvPr name="Group 51" id="51"/>
          <p:cNvGrpSpPr/>
          <p:nvPr/>
        </p:nvGrpSpPr>
        <p:grpSpPr>
          <a:xfrm rot="0">
            <a:off x="9093812" y="3682413"/>
            <a:ext cx="636045" cy="1205138"/>
            <a:chOff x="0" y="0"/>
            <a:chExt cx="926592" cy="1755648"/>
          </a:xfrm>
        </p:grpSpPr>
        <p:sp>
          <p:nvSpPr>
            <p:cNvPr name="Freeform 52" id="52"/>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53" id="53"/>
          <p:cNvGrpSpPr/>
          <p:nvPr/>
        </p:nvGrpSpPr>
        <p:grpSpPr>
          <a:xfrm rot="0">
            <a:off x="9093812" y="3636645"/>
            <a:ext cx="636045" cy="1250906"/>
            <a:chOff x="0" y="0"/>
            <a:chExt cx="926592" cy="1822323"/>
          </a:xfrm>
        </p:grpSpPr>
        <p:sp>
          <p:nvSpPr>
            <p:cNvPr name="Freeform 54" id="54"/>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55" id="55"/>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56" id="56"/>
          <p:cNvSpPr/>
          <p:nvPr/>
        </p:nvSpPr>
        <p:spPr>
          <a:xfrm flipH="false" flipV="false" rot="0">
            <a:off x="9216096"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7" id="57"/>
          <p:cNvGrpSpPr/>
          <p:nvPr/>
        </p:nvGrpSpPr>
        <p:grpSpPr>
          <a:xfrm rot="0">
            <a:off x="9227716" y="3682413"/>
            <a:ext cx="3481511" cy="1205138"/>
            <a:chOff x="0" y="0"/>
            <a:chExt cx="5071872" cy="1755648"/>
          </a:xfrm>
        </p:grpSpPr>
        <p:sp>
          <p:nvSpPr>
            <p:cNvPr name="Freeform 58" id="58"/>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59" id="59"/>
          <p:cNvGrpSpPr/>
          <p:nvPr/>
        </p:nvGrpSpPr>
        <p:grpSpPr>
          <a:xfrm rot="0">
            <a:off x="9227716" y="3656260"/>
            <a:ext cx="3481511" cy="1231291"/>
            <a:chOff x="0" y="0"/>
            <a:chExt cx="5071872" cy="1793748"/>
          </a:xfrm>
        </p:grpSpPr>
        <p:sp>
          <p:nvSpPr>
            <p:cNvPr name="Freeform 60" id="60"/>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61" id="61"/>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SOC L3</a:t>
              </a:r>
            </a:p>
            <a:p>
              <a:pPr algn="ctr">
                <a:lnSpc>
                  <a:spcPts val="2279"/>
                </a:lnSpc>
              </a:pPr>
              <a:r>
                <a:rPr lang="en-US" sz="1899" b="true">
                  <a:solidFill>
                    <a:srgbClr val="FFFFFF"/>
                  </a:solidFill>
                  <a:latin typeface="Calibri (MS) Bold"/>
                  <a:ea typeface="Calibri (MS) Bold"/>
                  <a:cs typeface="Calibri (MS) Bold"/>
                  <a:sym typeface="Calibri (MS) Bold"/>
                </a:rPr>
                <a:t>Senior/TH</a:t>
              </a:r>
            </a:p>
          </p:txBody>
        </p:sp>
      </p:grpSp>
      <p:sp>
        <p:nvSpPr>
          <p:cNvPr name="Freeform 62" id="62"/>
          <p:cNvSpPr/>
          <p:nvPr/>
        </p:nvSpPr>
        <p:spPr>
          <a:xfrm flipH="false" flipV="false" rot="0">
            <a:off x="9216096"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3" id="63"/>
          <p:cNvSpPr txBox="true"/>
          <p:nvPr/>
        </p:nvSpPr>
        <p:spPr>
          <a:xfrm rot="0">
            <a:off x="9428518"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Hunting proactivo, análisis forense, CTI, desarrollo de reglas.</a:t>
            </a:r>
          </a:p>
        </p:txBody>
      </p:sp>
      <p:grpSp>
        <p:nvGrpSpPr>
          <p:cNvPr name="Group 64" id="64"/>
          <p:cNvGrpSpPr/>
          <p:nvPr/>
        </p:nvGrpSpPr>
        <p:grpSpPr>
          <a:xfrm rot="0">
            <a:off x="12742703" y="3682413"/>
            <a:ext cx="636045" cy="1205138"/>
            <a:chOff x="0" y="0"/>
            <a:chExt cx="926592" cy="1755648"/>
          </a:xfrm>
        </p:grpSpPr>
        <p:sp>
          <p:nvSpPr>
            <p:cNvPr name="Freeform 65" id="65"/>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66" id="66"/>
          <p:cNvGrpSpPr/>
          <p:nvPr/>
        </p:nvGrpSpPr>
        <p:grpSpPr>
          <a:xfrm rot="0">
            <a:off x="12742703" y="3636645"/>
            <a:ext cx="636045" cy="1250906"/>
            <a:chOff x="0" y="0"/>
            <a:chExt cx="926592" cy="1822323"/>
          </a:xfrm>
        </p:grpSpPr>
        <p:sp>
          <p:nvSpPr>
            <p:cNvPr name="Freeform 67" id="67"/>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68" id="68"/>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69" id="69"/>
          <p:cNvSpPr/>
          <p:nvPr/>
        </p:nvSpPr>
        <p:spPr>
          <a:xfrm flipH="false" flipV="false" rot="0">
            <a:off x="12864987"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0" id="70"/>
          <p:cNvGrpSpPr/>
          <p:nvPr/>
        </p:nvGrpSpPr>
        <p:grpSpPr>
          <a:xfrm rot="0">
            <a:off x="12876607" y="3682413"/>
            <a:ext cx="3481511" cy="1205138"/>
            <a:chOff x="0" y="0"/>
            <a:chExt cx="5071872" cy="1755648"/>
          </a:xfrm>
        </p:grpSpPr>
        <p:sp>
          <p:nvSpPr>
            <p:cNvPr name="Freeform 71" id="71"/>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72" id="72"/>
          <p:cNvGrpSpPr/>
          <p:nvPr/>
        </p:nvGrpSpPr>
        <p:grpSpPr>
          <a:xfrm rot="0">
            <a:off x="12876607" y="3656260"/>
            <a:ext cx="3481511" cy="1231291"/>
            <a:chOff x="0" y="0"/>
            <a:chExt cx="5071872" cy="1793748"/>
          </a:xfrm>
        </p:grpSpPr>
        <p:sp>
          <p:nvSpPr>
            <p:cNvPr name="Freeform 73" id="73"/>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74" id="74"/>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Team Lead /</a:t>
              </a:r>
            </a:p>
            <a:p>
              <a:pPr algn="ctr">
                <a:lnSpc>
                  <a:spcPts val="2279"/>
                </a:lnSpc>
              </a:pPr>
              <a:r>
                <a:rPr lang="en-US" sz="1899" b="true">
                  <a:solidFill>
                    <a:srgbClr val="FFFFFF"/>
                  </a:solidFill>
                  <a:latin typeface="Calibri (MS) Bold"/>
                  <a:ea typeface="Calibri (MS) Bold"/>
                  <a:cs typeface="Calibri (MS) Bold"/>
                  <a:sym typeface="Calibri (MS) Bold"/>
                </a:rPr>
                <a:t>SOC Manager</a:t>
              </a:r>
            </a:p>
          </p:txBody>
        </p:sp>
      </p:grpSp>
      <p:sp>
        <p:nvSpPr>
          <p:cNvPr name="Freeform 75" id="75"/>
          <p:cNvSpPr/>
          <p:nvPr/>
        </p:nvSpPr>
        <p:spPr>
          <a:xfrm flipH="false" flipV="false" rot="0">
            <a:off x="12864987"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6" id="76"/>
          <p:cNvSpPr txBox="true"/>
          <p:nvPr/>
        </p:nvSpPr>
        <p:spPr>
          <a:xfrm rot="0">
            <a:off x="13077409"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Liderazgo operativo, coordinación del equipo, reportes a management.</a:t>
            </a:r>
          </a:p>
        </p:txBody>
      </p:sp>
      <p:grpSp>
        <p:nvGrpSpPr>
          <p:cNvPr name="Group 77" id="77"/>
          <p:cNvGrpSpPr/>
          <p:nvPr/>
        </p:nvGrpSpPr>
        <p:grpSpPr>
          <a:xfrm rot="0">
            <a:off x="640080" y="6803136"/>
            <a:ext cx="17007840" cy="585216"/>
            <a:chOff x="0" y="0"/>
            <a:chExt cx="22677120" cy="780288"/>
          </a:xfrm>
        </p:grpSpPr>
        <p:sp>
          <p:nvSpPr>
            <p:cNvPr name="Freeform 78" id="78"/>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79" id="79"/>
          <p:cNvGrpSpPr/>
          <p:nvPr/>
        </p:nvGrpSpPr>
        <p:grpSpPr>
          <a:xfrm rot="0">
            <a:off x="640080" y="6767417"/>
            <a:ext cx="17007840" cy="620935"/>
            <a:chOff x="0" y="0"/>
            <a:chExt cx="22677120" cy="827913"/>
          </a:xfrm>
        </p:grpSpPr>
        <p:sp>
          <p:nvSpPr>
            <p:cNvPr name="Freeform 80" id="80"/>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81" id="81"/>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Especializaciones posibles desde el SOC:</a:t>
              </a:r>
            </a:p>
          </p:txBody>
        </p:sp>
      </p:grpSp>
      <p:sp>
        <p:nvSpPr>
          <p:cNvPr name="Freeform 82" id="82"/>
          <p:cNvSpPr/>
          <p:nvPr/>
        </p:nvSpPr>
        <p:spPr>
          <a:xfrm flipH="false" flipV="false" rot="0">
            <a:off x="1918314" y="7649320"/>
            <a:ext cx="3472583" cy="634821"/>
          </a:xfrm>
          <a:custGeom>
            <a:avLst/>
            <a:gdLst/>
            <a:ahLst/>
            <a:cxnLst/>
            <a:rect r="r" b="b" t="t" l="l"/>
            <a:pathLst>
              <a:path h="634821" w="3472583">
                <a:moveTo>
                  <a:pt x="0" y="0"/>
                </a:moveTo>
                <a:lnTo>
                  <a:pt x="3472583" y="0"/>
                </a:lnTo>
                <a:lnTo>
                  <a:pt x="3472583" y="634821"/>
                </a:lnTo>
                <a:lnTo>
                  <a:pt x="0" y="63482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83" id="83"/>
          <p:cNvGrpSpPr/>
          <p:nvPr/>
        </p:nvGrpSpPr>
        <p:grpSpPr>
          <a:xfrm rot="0">
            <a:off x="1928963" y="7659970"/>
            <a:ext cx="3451332" cy="613570"/>
            <a:chOff x="0" y="0"/>
            <a:chExt cx="5486400" cy="975360"/>
          </a:xfrm>
        </p:grpSpPr>
        <p:sp>
          <p:nvSpPr>
            <p:cNvPr name="Freeform 84" id="84"/>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85" id="85"/>
          <p:cNvGrpSpPr/>
          <p:nvPr/>
        </p:nvGrpSpPr>
        <p:grpSpPr>
          <a:xfrm rot="0">
            <a:off x="1928963" y="7636002"/>
            <a:ext cx="3451332" cy="637538"/>
            <a:chOff x="0" y="0"/>
            <a:chExt cx="5486400" cy="1013460"/>
          </a:xfrm>
        </p:grpSpPr>
        <p:sp>
          <p:nvSpPr>
            <p:cNvPr name="Freeform 86" id="86"/>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87" id="87"/>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Ingeniería de Seguridad</a:t>
              </a:r>
            </a:p>
          </p:txBody>
        </p:sp>
      </p:grpSp>
      <p:sp>
        <p:nvSpPr>
          <p:cNvPr name="Freeform 88" id="88"/>
          <p:cNvSpPr/>
          <p:nvPr/>
        </p:nvSpPr>
        <p:spPr>
          <a:xfrm flipH="false" flipV="false" rot="0">
            <a:off x="1918314" y="8293569"/>
            <a:ext cx="3472583" cy="1125678"/>
          </a:xfrm>
          <a:custGeom>
            <a:avLst/>
            <a:gdLst/>
            <a:ahLst/>
            <a:cxnLst/>
            <a:rect r="r" b="b" t="t" l="l"/>
            <a:pathLst>
              <a:path h="1125678" w="3472583">
                <a:moveTo>
                  <a:pt x="0" y="0"/>
                </a:moveTo>
                <a:lnTo>
                  <a:pt x="3472583" y="0"/>
                </a:lnTo>
                <a:lnTo>
                  <a:pt x="3472583"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89" id="89"/>
          <p:cNvSpPr txBox="true"/>
          <p:nvPr/>
        </p:nvSpPr>
        <p:spPr>
          <a:xfrm rot="0">
            <a:off x="2130736"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SIEM, SOAR, automatización, arquitecturas seguras</a:t>
            </a:r>
          </a:p>
        </p:txBody>
      </p:sp>
      <p:sp>
        <p:nvSpPr>
          <p:cNvPr name="Freeform 90" id="90"/>
          <p:cNvSpPr/>
          <p:nvPr/>
        </p:nvSpPr>
        <p:spPr>
          <a:xfrm flipH="false" flipV="false" rot="0">
            <a:off x="5599734"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1" id="91"/>
          <p:cNvGrpSpPr/>
          <p:nvPr/>
        </p:nvGrpSpPr>
        <p:grpSpPr>
          <a:xfrm rot="0">
            <a:off x="5610384" y="7659970"/>
            <a:ext cx="3451332" cy="613570"/>
            <a:chOff x="0" y="0"/>
            <a:chExt cx="5486400" cy="975360"/>
          </a:xfrm>
        </p:grpSpPr>
        <p:sp>
          <p:nvSpPr>
            <p:cNvPr name="Freeform 92" id="92"/>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93" id="93"/>
          <p:cNvGrpSpPr/>
          <p:nvPr/>
        </p:nvGrpSpPr>
        <p:grpSpPr>
          <a:xfrm rot="0">
            <a:off x="5610384" y="7636002"/>
            <a:ext cx="3451332" cy="637538"/>
            <a:chOff x="0" y="0"/>
            <a:chExt cx="5486400" cy="1013460"/>
          </a:xfrm>
        </p:grpSpPr>
        <p:sp>
          <p:nvSpPr>
            <p:cNvPr name="Freeform 94" id="94"/>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95" id="95"/>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Forense Digital / IR</a:t>
              </a:r>
            </a:p>
          </p:txBody>
        </p:sp>
      </p:grpSp>
      <p:sp>
        <p:nvSpPr>
          <p:cNvPr name="Freeform 96" id="96"/>
          <p:cNvSpPr/>
          <p:nvPr/>
        </p:nvSpPr>
        <p:spPr>
          <a:xfrm flipH="false" flipV="false" rot="0">
            <a:off x="5599734"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97" id="97"/>
          <p:cNvSpPr txBox="true"/>
          <p:nvPr/>
        </p:nvSpPr>
        <p:spPr>
          <a:xfrm rot="0">
            <a:off x="5812157"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Análisis de malware, memoria, logs complejos, CSIRT</a:t>
            </a:r>
          </a:p>
        </p:txBody>
      </p:sp>
      <p:sp>
        <p:nvSpPr>
          <p:cNvPr name="Freeform 98" id="98"/>
          <p:cNvSpPr/>
          <p:nvPr/>
        </p:nvSpPr>
        <p:spPr>
          <a:xfrm flipH="false" flipV="false" rot="0">
            <a:off x="9281155"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99" id="99"/>
          <p:cNvGrpSpPr/>
          <p:nvPr/>
        </p:nvGrpSpPr>
        <p:grpSpPr>
          <a:xfrm rot="0">
            <a:off x="9291805" y="7659970"/>
            <a:ext cx="3451332" cy="613570"/>
            <a:chOff x="0" y="0"/>
            <a:chExt cx="5486400" cy="975360"/>
          </a:xfrm>
        </p:grpSpPr>
        <p:sp>
          <p:nvSpPr>
            <p:cNvPr name="Freeform 100" id="100"/>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101" id="101"/>
          <p:cNvGrpSpPr/>
          <p:nvPr/>
        </p:nvGrpSpPr>
        <p:grpSpPr>
          <a:xfrm rot="0">
            <a:off x="9291805" y="7636002"/>
            <a:ext cx="3451332" cy="637538"/>
            <a:chOff x="0" y="0"/>
            <a:chExt cx="5486400" cy="1013460"/>
          </a:xfrm>
        </p:grpSpPr>
        <p:sp>
          <p:nvSpPr>
            <p:cNvPr name="Freeform 102" id="102"/>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103" id="103"/>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Threat Intelligence</a:t>
              </a:r>
            </a:p>
          </p:txBody>
        </p:sp>
      </p:grpSp>
      <p:sp>
        <p:nvSpPr>
          <p:cNvPr name="Freeform 104" id="104"/>
          <p:cNvSpPr/>
          <p:nvPr/>
        </p:nvSpPr>
        <p:spPr>
          <a:xfrm flipH="false" flipV="false" rot="0">
            <a:off x="9281155"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105" id="105"/>
          <p:cNvSpPr txBox="true"/>
          <p:nvPr/>
        </p:nvSpPr>
        <p:spPr>
          <a:xfrm rot="0">
            <a:off x="9493578"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Análisis de APTs, campañas maliciosas, OSINT</a:t>
            </a:r>
          </a:p>
        </p:txBody>
      </p:sp>
      <p:sp>
        <p:nvSpPr>
          <p:cNvPr name="Freeform 106" id="106"/>
          <p:cNvSpPr/>
          <p:nvPr/>
        </p:nvSpPr>
        <p:spPr>
          <a:xfrm flipH="false" flipV="false" rot="0">
            <a:off x="12962576"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07" id="107"/>
          <p:cNvGrpSpPr/>
          <p:nvPr/>
        </p:nvGrpSpPr>
        <p:grpSpPr>
          <a:xfrm rot="0">
            <a:off x="12973226" y="7659970"/>
            <a:ext cx="3451332" cy="613570"/>
            <a:chOff x="0" y="0"/>
            <a:chExt cx="5486400" cy="975360"/>
          </a:xfrm>
        </p:grpSpPr>
        <p:sp>
          <p:nvSpPr>
            <p:cNvPr name="Freeform 108" id="108"/>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109" id="109"/>
          <p:cNvGrpSpPr/>
          <p:nvPr/>
        </p:nvGrpSpPr>
        <p:grpSpPr>
          <a:xfrm rot="0">
            <a:off x="12973226" y="7636002"/>
            <a:ext cx="3451332" cy="637538"/>
            <a:chOff x="0" y="0"/>
            <a:chExt cx="5486400" cy="1013460"/>
          </a:xfrm>
        </p:grpSpPr>
        <p:sp>
          <p:nvSpPr>
            <p:cNvPr name="Freeform 110" id="110"/>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111" id="111"/>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Red Team / Pentesting</a:t>
              </a:r>
            </a:p>
          </p:txBody>
        </p:sp>
      </p:grpSp>
      <p:sp>
        <p:nvSpPr>
          <p:cNvPr name="Freeform 112" id="112"/>
          <p:cNvSpPr/>
          <p:nvPr/>
        </p:nvSpPr>
        <p:spPr>
          <a:xfrm flipH="false" flipV="false" rot="0">
            <a:off x="12962576"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113" id="113"/>
          <p:cNvSpPr txBox="true"/>
          <p:nvPr/>
        </p:nvSpPr>
        <p:spPr>
          <a:xfrm rot="0">
            <a:off x="13174999"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Ethical hacking, simulación de ataques, defensa proactiva</a:t>
            </a:r>
          </a:p>
        </p:txBody>
      </p:sp>
      <p:grpSp>
        <p:nvGrpSpPr>
          <p:cNvPr name="Group 114" id="114"/>
          <p:cNvGrpSpPr/>
          <p:nvPr/>
        </p:nvGrpSpPr>
        <p:grpSpPr>
          <a:xfrm rot="0">
            <a:off x="15983863" y="24203"/>
            <a:ext cx="1855079" cy="1855079"/>
            <a:chOff x="0" y="0"/>
            <a:chExt cx="5852160" cy="5852160"/>
          </a:xfrm>
        </p:grpSpPr>
        <p:sp>
          <p:nvSpPr>
            <p:cNvPr name="Freeform 115" id="115"/>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31"/>
              <a:stretch>
                <a:fillRect l="0" t="0" r="0" b="0"/>
              </a:stretch>
            </a:blipFill>
          </p:spPr>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Certificaciones y conocimientos relevantes</a:t>
              </a:r>
            </a:p>
          </p:txBody>
        </p:sp>
      </p:grpSp>
      <p:grpSp>
        <p:nvGrpSpPr>
          <p:cNvPr name="Group 20" id="20"/>
          <p:cNvGrpSpPr/>
          <p:nvPr/>
        </p:nvGrpSpPr>
        <p:grpSpPr>
          <a:xfrm rot="0">
            <a:off x="640080" y="1773936"/>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65416" y="2167557"/>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Para avanzar profesionalmente en ciberseguridad, las certificaciones internacionales validan tus habilidades, dan acceso a roles más avanzados y te diferencian en el mercado laboral.</a:t>
              </a:r>
            </a:p>
          </p:txBody>
        </p:sp>
      </p:grpSp>
      <p:graphicFrame>
        <p:nvGraphicFramePr>
          <p:cNvPr name="Table 25" id="25"/>
          <p:cNvGraphicFramePr>
            <a:graphicFrameLocks noGrp="true"/>
          </p:cNvGraphicFramePr>
          <p:nvPr/>
        </p:nvGraphicFramePr>
        <p:xfrm>
          <a:off x="1504887" y="3418517"/>
          <a:ext cx="15278169" cy="4584175"/>
        </p:xfrm>
        <a:graphic>
          <a:graphicData uri="http://schemas.openxmlformats.org/drawingml/2006/table">
            <a:tbl>
              <a:tblPr/>
              <a:tblGrid>
                <a:gridCol w="4606436"/>
                <a:gridCol w="5741105"/>
                <a:gridCol w="4930628"/>
              </a:tblGrid>
              <a:tr h="735357">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Certificación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Enfoque Principal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Recomendada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r>
              <a:tr h="735357">
                <a:tc>
                  <a:txBody>
                    <a:bodyPr anchor="t" rtlCol="false"/>
                    <a:lstStyle/>
                    <a:p>
                      <a:pPr algn="l">
                        <a:lnSpc>
                          <a:spcPts val="2400"/>
                        </a:lnSpc>
                        <a:defRPr/>
                      </a:pPr>
                      <a:r>
                        <a:rPr lang="en-US" sz="2000" b="true">
                          <a:solidFill>
                            <a:srgbClr val="1A73C0"/>
                          </a:solidFill>
                          <a:latin typeface="Calibri (MS) Bold"/>
                          <a:ea typeface="Calibri (MS) Bold"/>
                          <a:cs typeface="Calibri (MS) Bold"/>
                          <a:sym typeface="Calibri (MS) Bold"/>
                        </a:rPr>
                        <a:t>CompTIA Security+</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Fundamentos de seguridad, redes y amenazas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Primeras entrevistas técnicas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907389">
                <a:tc>
                  <a:txBody>
                    <a:bodyPr anchor="t" rtlCol="false"/>
                    <a:lstStyle/>
                    <a:p>
                      <a:pPr algn="l">
                        <a:lnSpc>
                          <a:spcPts val="2400"/>
                        </a:lnSpc>
                        <a:defRPr/>
                      </a:pPr>
                      <a:r>
                        <a:rPr lang="en-US" sz="2000" b="true">
                          <a:solidFill>
                            <a:srgbClr val="0E7B8C"/>
                          </a:solidFill>
                          <a:latin typeface="Calibri (MS) Bold"/>
                          <a:ea typeface="Calibri (MS) Bold"/>
                          <a:cs typeface="Calibri (MS) Bold"/>
                          <a:sym typeface="Calibri (MS) Bold"/>
                        </a:rPr>
                        <a:t>Microsoft SC-200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Operación de SOC en entornos con Microsoft Sentinel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Analistas SOC en entornos MS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22A05B"/>
                          </a:solidFill>
                          <a:latin typeface="Calibri (MS) Bold"/>
                          <a:ea typeface="Calibri (MS) Bold"/>
                          <a:cs typeface="Calibri (MS) Bold"/>
                          <a:sym typeface="Calibri (MS) Bold"/>
                        </a:rPr>
                        <a:t>Google Cybersecurity Certificate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Formación general, práctica y accesible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Transición desde otros perfiles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E07B00"/>
                          </a:solidFill>
                          <a:latin typeface="Calibri (MS) Bold"/>
                          <a:ea typeface="Calibri (MS) Bold"/>
                          <a:cs typeface="Calibri (MS) Bold"/>
                          <a:sym typeface="Calibri (MS) Bold"/>
                        </a:rPr>
                        <a:t>Fortinet NSE 1-3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Conceptos básicos y uso de productos Fortinet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SOCs con herramientas Fortinet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8A004F"/>
                          </a:solidFill>
                          <a:latin typeface="Calibri (MS) Bold"/>
                          <a:ea typeface="Calibri (MS) Bold"/>
                          <a:cs typeface="Calibri (MS) Bold"/>
                          <a:sym typeface="Calibri (MS) Bold"/>
                        </a:rPr>
                        <a:t>Blue Team Level 1 (BTL1)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Enfoque práctico orientado a SOC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Buen complemento técnico inicial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bl>
          </a:graphicData>
        </a:graphic>
      </p:graphicFrame>
      <p:sp>
        <p:nvSpPr>
          <p:cNvPr name="Freeform 26" id="26"/>
          <p:cNvSpPr/>
          <p:nvPr/>
        </p:nvSpPr>
        <p:spPr>
          <a:xfrm flipH="false" flipV="false" rot="0">
            <a:off x="1908448" y="8550659"/>
            <a:ext cx="14521777" cy="614081"/>
          </a:xfrm>
          <a:custGeom>
            <a:avLst/>
            <a:gdLst/>
            <a:ahLst/>
            <a:cxnLst/>
            <a:rect r="r" b="b" t="t" l="l"/>
            <a:pathLst>
              <a:path h="614081" w="14521777">
                <a:moveTo>
                  <a:pt x="0" y="0"/>
                </a:moveTo>
                <a:lnTo>
                  <a:pt x="14521777" y="0"/>
                </a:lnTo>
                <a:lnTo>
                  <a:pt x="14521777" y="614081"/>
                </a:lnTo>
                <a:lnTo>
                  <a:pt x="0" y="61408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7" id="27"/>
          <p:cNvGrpSpPr/>
          <p:nvPr/>
        </p:nvGrpSpPr>
        <p:grpSpPr>
          <a:xfrm rot="0">
            <a:off x="2195465" y="8534781"/>
            <a:ext cx="14005163" cy="723519"/>
            <a:chOff x="0" y="0"/>
            <a:chExt cx="18673551" cy="964692"/>
          </a:xfrm>
        </p:grpSpPr>
        <p:sp>
          <p:nvSpPr>
            <p:cNvPr name="Freeform 28" id="28"/>
            <p:cNvSpPr/>
            <p:nvPr/>
          </p:nvSpPr>
          <p:spPr>
            <a:xfrm flipH="false" flipV="false" rot="0">
              <a:off x="0" y="0"/>
              <a:ext cx="18673550" cy="964692"/>
            </a:xfrm>
            <a:custGeom>
              <a:avLst/>
              <a:gdLst/>
              <a:ahLst/>
              <a:cxnLst/>
              <a:rect r="r" b="b" t="t" l="l"/>
              <a:pathLst>
                <a:path h="964692" w="18673550">
                  <a:moveTo>
                    <a:pt x="0" y="0"/>
                  </a:moveTo>
                  <a:lnTo>
                    <a:pt x="18673550" y="0"/>
                  </a:lnTo>
                  <a:lnTo>
                    <a:pt x="18673550" y="964692"/>
                  </a:lnTo>
                  <a:lnTo>
                    <a:pt x="0" y="964692"/>
                  </a:lnTo>
                  <a:close/>
                </a:path>
              </a:pathLst>
            </a:custGeom>
            <a:blipFill>
              <a:blip r:embed="rId8">
                <a:alphaModFix amt="0"/>
              </a:blip>
              <a:stretch>
                <a:fillRect l="0" t="-398186" r="-18828" b="-398186"/>
              </a:stretch>
            </a:blipFill>
          </p:spPr>
        </p:sp>
        <p:sp>
          <p:nvSpPr>
            <p:cNvPr name="TextBox 29" id="29"/>
            <p:cNvSpPr txBox="true"/>
            <p:nvPr/>
          </p:nvSpPr>
          <p:spPr>
            <a:xfrm>
              <a:off x="0" y="-38100"/>
              <a:ext cx="18673551" cy="1002792"/>
            </a:xfrm>
            <a:prstGeom prst="rect">
              <a:avLst/>
            </a:prstGeom>
          </p:spPr>
          <p:txBody>
            <a:bodyPr anchor="ctr" rtlCol="false" tIns="0" lIns="0" bIns="0" rIns="0"/>
            <a:lstStyle/>
            <a:p>
              <a:pPr algn="l">
                <a:lnSpc>
                  <a:spcPts val="2400"/>
                </a:lnSpc>
              </a:pPr>
              <a:r>
                <a:rPr lang="en-US" sz="2000" i="true">
                  <a:solidFill>
                    <a:srgbClr val="1A73C0"/>
                  </a:solidFill>
                  <a:latin typeface="Calibri (MS) Italics"/>
                  <a:ea typeface="Calibri (MS) Italics"/>
                  <a:cs typeface="Calibri (MS) Italics"/>
                  <a:sym typeface="Calibri (MS) Italics"/>
                </a:rPr>
                <a:t>Estas certificaciones no requieren experiencia previa y son una buena forma de demostrar compromiso con la disciplina desde el inicio.</a:t>
              </a:r>
            </a:p>
          </p:txBody>
        </p:sp>
      </p:grpSp>
      <p:grpSp>
        <p:nvGrpSpPr>
          <p:cNvPr name="Group 30" id="30"/>
          <p:cNvGrpSpPr/>
          <p:nvPr/>
        </p:nvGrpSpPr>
        <p:grpSpPr>
          <a:xfrm rot="0">
            <a:off x="15983863" y="24203"/>
            <a:ext cx="1855079" cy="1855079"/>
            <a:chOff x="0" y="0"/>
            <a:chExt cx="5852160" cy="5852160"/>
          </a:xfrm>
        </p:grpSpPr>
        <p:sp>
          <p:nvSpPr>
            <p:cNvPr name="Freeform 31" id="31"/>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3"/>
              <a:stretch>
                <a:fillRect l="0" t="0" r="0" b="0"/>
              </a:stretch>
            </a:blipFill>
          </p:spPr>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p.43</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Salidas laborales dentro y fuera del SOC</a:t>
              </a:r>
            </a:p>
          </p:txBody>
        </p:sp>
      </p:grpSp>
      <p:grpSp>
        <p:nvGrpSpPr>
          <p:cNvPr name="Group 19" id="19"/>
          <p:cNvGrpSpPr/>
          <p:nvPr/>
        </p:nvGrpSpPr>
        <p:grpSpPr>
          <a:xfrm rot="0">
            <a:off x="640080" y="1828800"/>
            <a:ext cx="17007840" cy="640080"/>
            <a:chOff x="0" y="0"/>
            <a:chExt cx="22677120" cy="853440"/>
          </a:xfrm>
        </p:grpSpPr>
        <p:sp>
          <p:nvSpPr>
            <p:cNvPr name="Freeform 20" id="20"/>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21" id="21"/>
          <p:cNvGrpSpPr/>
          <p:nvPr/>
        </p:nvGrpSpPr>
        <p:grpSpPr>
          <a:xfrm rot="0">
            <a:off x="640080" y="1879282"/>
            <a:ext cx="17007840" cy="675799"/>
            <a:chOff x="0" y="0"/>
            <a:chExt cx="22677120" cy="901065"/>
          </a:xfrm>
        </p:grpSpPr>
        <p:sp>
          <p:nvSpPr>
            <p:cNvPr name="Freeform 22" id="22"/>
            <p:cNvSpPr/>
            <p:nvPr/>
          </p:nvSpPr>
          <p:spPr>
            <a:xfrm flipH="false" flipV="false" rot="0">
              <a:off x="0" y="0"/>
              <a:ext cx="22677120" cy="901065"/>
            </a:xfrm>
            <a:custGeom>
              <a:avLst/>
              <a:gdLst/>
              <a:ahLst/>
              <a:cxnLst/>
              <a:rect r="r" b="b" t="t" l="l"/>
              <a:pathLst>
                <a:path h="901065" w="22677120">
                  <a:moveTo>
                    <a:pt x="0" y="0"/>
                  </a:moveTo>
                  <a:lnTo>
                    <a:pt x="22677120" y="0"/>
                  </a:lnTo>
                  <a:lnTo>
                    <a:pt x="22677120" y="901065"/>
                  </a:lnTo>
                  <a:lnTo>
                    <a:pt x="0" y="901065"/>
                  </a:lnTo>
                  <a:close/>
                </a:path>
              </a:pathLst>
            </a:custGeom>
            <a:blipFill>
              <a:blip r:embed="rId6">
                <a:alphaModFix amt="0"/>
              </a:blip>
              <a:stretch>
                <a:fillRect l="0" t="-440380" r="0" b="-440380"/>
              </a:stretch>
            </a:blipFill>
          </p:spPr>
        </p:sp>
        <p:sp>
          <p:nvSpPr>
            <p:cNvPr name="TextBox 23" id="23"/>
            <p:cNvSpPr txBox="true"/>
            <p:nvPr/>
          </p:nvSpPr>
          <p:spPr>
            <a:xfrm>
              <a:off x="0" y="-47625"/>
              <a:ext cx="22677120" cy="948690"/>
            </a:xfrm>
            <a:prstGeom prst="rect">
              <a:avLst/>
            </a:prstGeom>
          </p:spPr>
          <p:txBody>
            <a:bodyPr anchor="ctr" rtlCol="false" tIns="0" lIns="0" bIns="0" rIns="0"/>
            <a:lstStyle/>
            <a:p>
              <a:pPr algn="l">
                <a:lnSpc>
                  <a:spcPts val="2638"/>
                </a:lnSpc>
              </a:pPr>
              <a:r>
                <a:rPr lang="en-US" sz="2199" b="true">
                  <a:solidFill>
                    <a:srgbClr val="F5C518"/>
                  </a:solidFill>
                  <a:latin typeface="Calibri (MS) Bold"/>
                  <a:ea typeface="Calibri (MS) Bold"/>
                  <a:cs typeface="Calibri (MS) Bold"/>
                  <a:sym typeface="Calibri (MS) Bold"/>
                </a:rPr>
                <a:t>Dentro del SOC</a:t>
              </a:r>
            </a:p>
          </p:txBody>
        </p:sp>
      </p:grpSp>
      <p:sp>
        <p:nvSpPr>
          <p:cNvPr name="Freeform 24" id="24"/>
          <p:cNvSpPr/>
          <p:nvPr/>
        </p:nvSpPr>
        <p:spPr>
          <a:xfrm flipH="false" flipV="false" rot="0">
            <a:off x="1585791" y="2616040"/>
            <a:ext cx="4873234" cy="690070"/>
          </a:xfrm>
          <a:custGeom>
            <a:avLst/>
            <a:gdLst/>
            <a:ahLst/>
            <a:cxnLst/>
            <a:rect r="r" b="b" t="t" l="l"/>
            <a:pathLst>
              <a:path h="690070" w="4873234">
                <a:moveTo>
                  <a:pt x="0" y="0"/>
                </a:moveTo>
                <a:lnTo>
                  <a:pt x="4873233" y="0"/>
                </a:lnTo>
                <a:lnTo>
                  <a:pt x="4873233"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1596834" y="2627082"/>
            <a:ext cx="4851198" cy="668034"/>
            <a:chOff x="0" y="0"/>
            <a:chExt cx="7437120" cy="1024128"/>
          </a:xfrm>
        </p:grpSpPr>
        <p:sp>
          <p:nvSpPr>
            <p:cNvPr name="Freeform 26" id="26"/>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27" id="27"/>
          <p:cNvGrpSpPr/>
          <p:nvPr/>
        </p:nvGrpSpPr>
        <p:grpSpPr>
          <a:xfrm rot="0">
            <a:off x="1596834" y="2602230"/>
            <a:ext cx="4851198" cy="692886"/>
            <a:chOff x="0" y="0"/>
            <a:chExt cx="7437120" cy="1062228"/>
          </a:xfrm>
        </p:grpSpPr>
        <p:sp>
          <p:nvSpPr>
            <p:cNvPr name="Freeform 28" id="28"/>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29" id="29"/>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Escalada técnica</a:t>
              </a:r>
            </a:p>
          </p:txBody>
        </p:sp>
      </p:grpSp>
      <p:sp>
        <p:nvSpPr>
          <p:cNvPr name="Freeform 30" id="30"/>
          <p:cNvSpPr/>
          <p:nvPr/>
        </p:nvSpPr>
        <p:spPr>
          <a:xfrm flipH="false" flipV="false" rot="0">
            <a:off x="1585791" y="3315885"/>
            <a:ext cx="4873234" cy="1167237"/>
          </a:xfrm>
          <a:custGeom>
            <a:avLst/>
            <a:gdLst/>
            <a:ahLst/>
            <a:cxnLst/>
            <a:rect r="r" b="b" t="t" l="l"/>
            <a:pathLst>
              <a:path h="1167237" w="4873234">
                <a:moveTo>
                  <a:pt x="0" y="0"/>
                </a:moveTo>
                <a:lnTo>
                  <a:pt x="4873233" y="0"/>
                </a:lnTo>
                <a:lnTo>
                  <a:pt x="4873233"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1" id="31"/>
          <p:cNvSpPr txBox="true"/>
          <p:nvPr/>
        </p:nvSpPr>
        <p:spPr>
          <a:xfrm rot="0">
            <a:off x="1892574" y="3448984"/>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L2: Respuesta a incidentes</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L3: Inteligencia, hunting, forense</a:t>
            </a:r>
          </a:p>
        </p:txBody>
      </p:sp>
      <p:sp>
        <p:nvSpPr>
          <p:cNvPr name="Freeform 32" id="32"/>
          <p:cNvSpPr/>
          <p:nvPr/>
        </p:nvSpPr>
        <p:spPr>
          <a:xfrm flipH="false" flipV="false" rot="0">
            <a:off x="6707383" y="2616040"/>
            <a:ext cx="4873234" cy="690070"/>
          </a:xfrm>
          <a:custGeom>
            <a:avLst/>
            <a:gdLst/>
            <a:ahLst/>
            <a:cxnLst/>
            <a:rect r="r" b="b" t="t" l="l"/>
            <a:pathLst>
              <a:path h="690070" w="4873234">
                <a:moveTo>
                  <a:pt x="0" y="0"/>
                </a:moveTo>
                <a:lnTo>
                  <a:pt x="4873234" y="0"/>
                </a:lnTo>
                <a:lnTo>
                  <a:pt x="4873234"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3" id="33"/>
          <p:cNvGrpSpPr/>
          <p:nvPr/>
        </p:nvGrpSpPr>
        <p:grpSpPr>
          <a:xfrm rot="0">
            <a:off x="6718426" y="2627082"/>
            <a:ext cx="4851198" cy="668034"/>
            <a:chOff x="0" y="0"/>
            <a:chExt cx="7437120" cy="1024128"/>
          </a:xfrm>
        </p:grpSpPr>
        <p:sp>
          <p:nvSpPr>
            <p:cNvPr name="Freeform 34" id="34"/>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35" id="35"/>
          <p:cNvGrpSpPr/>
          <p:nvPr/>
        </p:nvGrpSpPr>
        <p:grpSpPr>
          <a:xfrm rot="0">
            <a:off x="6718426" y="2602230"/>
            <a:ext cx="4851198" cy="692886"/>
            <a:chOff x="0" y="0"/>
            <a:chExt cx="7437120" cy="1062228"/>
          </a:xfrm>
        </p:grpSpPr>
        <p:sp>
          <p:nvSpPr>
            <p:cNvPr name="Freeform 36" id="36"/>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37" id="37"/>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Infraestructura de seguridad</a:t>
              </a:r>
            </a:p>
          </p:txBody>
        </p:sp>
      </p:grpSp>
      <p:sp>
        <p:nvSpPr>
          <p:cNvPr name="Freeform 38" id="38"/>
          <p:cNvSpPr/>
          <p:nvPr/>
        </p:nvSpPr>
        <p:spPr>
          <a:xfrm flipH="false" flipV="false" rot="0">
            <a:off x="6707383" y="3315885"/>
            <a:ext cx="4873234" cy="1167237"/>
          </a:xfrm>
          <a:custGeom>
            <a:avLst/>
            <a:gdLst/>
            <a:ahLst/>
            <a:cxnLst/>
            <a:rect r="r" b="b" t="t" l="l"/>
            <a:pathLst>
              <a:path h="1167237" w="4873234">
                <a:moveTo>
                  <a:pt x="0" y="0"/>
                </a:moveTo>
                <a:lnTo>
                  <a:pt x="4873234" y="0"/>
                </a:lnTo>
                <a:lnTo>
                  <a:pt x="4873234"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6994027" y="3471945"/>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Ingeniería de SIEM y SOAR</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Automatización y arquitectura</a:t>
            </a:r>
          </a:p>
        </p:txBody>
      </p:sp>
      <p:sp>
        <p:nvSpPr>
          <p:cNvPr name="Freeform 40" id="40"/>
          <p:cNvSpPr/>
          <p:nvPr/>
        </p:nvSpPr>
        <p:spPr>
          <a:xfrm flipH="false" flipV="false" rot="0">
            <a:off x="11828976" y="2616040"/>
            <a:ext cx="4873234" cy="690070"/>
          </a:xfrm>
          <a:custGeom>
            <a:avLst/>
            <a:gdLst/>
            <a:ahLst/>
            <a:cxnLst/>
            <a:rect r="r" b="b" t="t" l="l"/>
            <a:pathLst>
              <a:path h="690070" w="4873234">
                <a:moveTo>
                  <a:pt x="0" y="0"/>
                </a:moveTo>
                <a:lnTo>
                  <a:pt x="4873233" y="0"/>
                </a:lnTo>
                <a:lnTo>
                  <a:pt x="4873233"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1" id="41"/>
          <p:cNvGrpSpPr/>
          <p:nvPr/>
        </p:nvGrpSpPr>
        <p:grpSpPr>
          <a:xfrm rot="0">
            <a:off x="11840018" y="2627082"/>
            <a:ext cx="4851198" cy="668034"/>
            <a:chOff x="0" y="0"/>
            <a:chExt cx="7437120" cy="1024128"/>
          </a:xfrm>
        </p:grpSpPr>
        <p:sp>
          <p:nvSpPr>
            <p:cNvPr name="Freeform 42" id="42"/>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43" id="43"/>
          <p:cNvGrpSpPr/>
          <p:nvPr/>
        </p:nvGrpSpPr>
        <p:grpSpPr>
          <a:xfrm rot="0">
            <a:off x="11840018" y="2602230"/>
            <a:ext cx="4851198" cy="692886"/>
            <a:chOff x="0" y="0"/>
            <a:chExt cx="7437120" cy="1062228"/>
          </a:xfrm>
        </p:grpSpPr>
        <p:sp>
          <p:nvSpPr>
            <p:cNvPr name="Freeform 44" id="44"/>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45" id="45"/>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Gestión operativa</a:t>
              </a:r>
            </a:p>
          </p:txBody>
        </p:sp>
      </p:grpSp>
      <p:sp>
        <p:nvSpPr>
          <p:cNvPr name="Freeform 46" id="46"/>
          <p:cNvSpPr/>
          <p:nvPr/>
        </p:nvSpPr>
        <p:spPr>
          <a:xfrm flipH="false" flipV="false" rot="0">
            <a:off x="11828976" y="3315885"/>
            <a:ext cx="4873234" cy="1167237"/>
          </a:xfrm>
          <a:custGeom>
            <a:avLst/>
            <a:gdLst/>
            <a:ahLst/>
            <a:cxnLst/>
            <a:rect r="r" b="b" t="t" l="l"/>
            <a:pathLst>
              <a:path h="1167237" w="4873234">
                <a:moveTo>
                  <a:pt x="0" y="0"/>
                </a:moveTo>
                <a:lnTo>
                  <a:pt x="4873233" y="0"/>
                </a:lnTo>
                <a:lnTo>
                  <a:pt x="4873233"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7" id="47"/>
          <p:cNvSpPr txBox="true"/>
          <p:nvPr/>
        </p:nvSpPr>
        <p:spPr>
          <a:xfrm rot="0">
            <a:off x="12115620" y="3471945"/>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Coordinador de turno</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Team Lead / SOC Manager</a:t>
            </a:r>
          </a:p>
        </p:txBody>
      </p:sp>
      <p:grpSp>
        <p:nvGrpSpPr>
          <p:cNvPr name="Group 48" id="48"/>
          <p:cNvGrpSpPr/>
          <p:nvPr/>
        </p:nvGrpSpPr>
        <p:grpSpPr>
          <a:xfrm rot="0">
            <a:off x="640080" y="5029200"/>
            <a:ext cx="17007840" cy="640080"/>
            <a:chOff x="0" y="0"/>
            <a:chExt cx="22677120" cy="853440"/>
          </a:xfrm>
        </p:grpSpPr>
        <p:sp>
          <p:nvSpPr>
            <p:cNvPr name="Freeform 49" id="49"/>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50" id="50"/>
          <p:cNvGrpSpPr/>
          <p:nvPr/>
        </p:nvGrpSpPr>
        <p:grpSpPr>
          <a:xfrm rot="0">
            <a:off x="640080" y="5111683"/>
            <a:ext cx="17007840" cy="675799"/>
            <a:chOff x="0" y="0"/>
            <a:chExt cx="22677120" cy="901065"/>
          </a:xfrm>
        </p:grpSpPr>
        <p:sp>
          <p:nvSpPr>
            <p:cNvPr name="Freeform 51" id="51"/>
            <p:cNvSpPr/>
            <p:nvPr/>
          </p:nvSpPr>
          <p:spPr>
            <a:xfrm flipH="false" flipV="false" rot="0">
              <a:off x="0" y="0"/>
              <a:ext cx="22677120" cy="901065"/>
            </a:xfrm>
            <a:custGeom>
              <a:avLst/>
              <a:gdLst/>
              <a:ahLst/>
              <a:cxnLst/>
              <a:rect r="r" b="b" t="t" l="l"/>
              <a:pathLst>
                <a:path h="901065" w="22677120">
                  <a:moveTo>
                    <a:pt x="0" y="0"/>
                  </a:moveTo>
                  <a:lnTo>
                    <a:pt x="22677120" y="0"/>
                  </a:lnTo>
                  <a:lnTo>
                    <a:pt x="22677120" y="901065"/>
                  </a:lnTo>
                  <a:lnTo>
                    <a:pt x="0" y="901065"/>
                  </a:lnTo>
                  <a:close/>
                </a:path>
              </a:pathLst>
            </a:custGeom>
            <a:blipFill>
              <a:blip r:embed="rId6">
                <a:alphaModFix amt="0"/>
              </a:blip>
              <a:stretch>
                <a:fillRect l="0" t="-440380" r="0" b="-440380"/>
              </a:stretch>
            </a:blipFill>
          </p:spPr>
        </p:sp>
        <p:sp>
          <p:nvSpPr>
            <p:cNvPr name="TextBox 52" id="52"/>
            <p:cNvSpPr txBox="true"/>
            <p:nvPr/>
          </p:nvSpPr>
          <p:spPr>
            <a:xfrm>
              <a:off x="0" y="-47625"/>
              <a:ext cx="22677120" cy="948690"/>
            </a:xfrm>
            <a:prstGeom prst="rect">
              <a:avLst/>
            </a:prstGeom>
          </p:spPr>
          <p:txBody>
            <a:bodyPr anchor="ctr" rtlCol="false" tIns="0" lIns="0" bIns="0" rIns="0"/>
            <a:lstStyle/>
            <a:p>
              <a:pPr algn="l">
                <a:lnSpc>
                  <a:spcPts val="2638"/>
                </a:lnSpc>
              </a:pPr>
              <a:r>
                <a:rPr lang="en-US" sz="2199" b="true">
                  <a:solidFill>
                    <a:srgbClr val="F5C518"/>
                  </a:solidFill>
                  <a:latin typeface="Calibri (MS) Bold"/>
                  <a:ea typeface="Calibri (MS) Bold"/>
                  <a:cs typeface="Calibri (MS) Bold"/>
                  <a:sym typeface="Calibri (MS) Bold"/>
                </a:rPr>
                <a:t>Fuera del SOC</a:t>
              </a:r>
            </a:p>
          </p:txBody>
        </p:sp>
      </p:grpSp>
      <p:sp>
        <p:nvSpPr>
          <p:cNvPr name="Freeform 53" id="53"/>
          <p:cNvSpPr/>
          <p:nvPr/>
        </p:nvSpPr>
        <p:spPr>
          <a:xfrm flipH="false" flipV="false" rot="0">
            <a:off x="1596834" y="5820321"/>
            <a:ext cx="4866130" cy="625534"/>
          </a:xfrm>
          <a:custGeom>
            <a:avLst/>
            <a:gdLst/>
            <a:ahLst/>
            <a:cxnLst/>
            <a:rect r="r" b="b" t="t" l="l"/>
            <a:pathLst>
              <a:path h="625534" w="4866130">
                <a:moveTo>
                  <a:pt x="0" y="0"/>
                </a:moveTo>
                <a:lnTo>
                  <a:pt x="4866129" y="0"/>
                </a:lnTo>
                <a:lnTo>
                  <a:pt x="4866129" y="625535"/>
                </a:lnTo>
                <a:lnTo>
                  <a:pt x="0" y="62553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4" id="54"/>
          <p:cNvGrpSpPr/>
          <p:nvPr/>
        </p:nvGrpSpPr>
        <p:grpSpPr>
          <a:xfrm rot="0">
            <a:off x="1607860" y="5831348"/>
            <a:ext cx="4844126" cy="603530"/>
            <a:chOff x="0" y="0"/>
            <a:chExt cx="7437120" cy="926592"/>
          </a:xfrm>
        </p:grpSpPr>
        <p:sp>
          <p:nvSpPr>
            <p:cNvPr name="Freeform 55" id="55"/>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56" id="56"/>
          <p:cNvGrpSpPr/>
          <p:nvPr/>
        </p:nvGrpSpPr>
        <p:grpSpPr>
          <a:xfrm rot="0">
            <a:off x="1607860" y="5806532"/>
            <a:ext cx="4844126" cy="628347"/>
            <a:chOff x="0" y="0"/>
            <a:chExt cx="7437120" cy="964692"/>
          </a:xfrm>
        </p:grpSpPr>
        <p:sp>
          <p:nvSpPr>
            <p:cNvPr name="Freeform 57" id="57"/>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58" id="58"/>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Red Team / Pentesting</a:t>
              </a:r>
            </a:p>
          </p:txBody>
        </p:sp>
      </p:grpSp>
      <p:sp>
        <p:nvSpPr>
          <p:cNvPr name="Freeform 59" id="59"/>
          <p:cNvSpPr/>
          <p:nvPr/>
        </p:nvSpPr>
        <p:spPr>
          <a:xfrm flipH="false" flipV="false" rot="0">
            <a:off x="1596834" y="6455617"/>
            <a:ext cx="4866130" cy="1006711"/>
          </a:xfrm>
          <a:custGeom>
            <a:avLst/>
            <a:gdLst/>
            <a:ahLst/>
            <a:cxnLst/>
            <a:rect r="r" b="b" t="t" l="l"/>
            <a:pathLst>
              <a:path h="1006711" w="4866130">
                <a:moveTo>
                  <a:pt x="0" y="0"/>
                </a:moveTo>
                <a:lnTo>
                  <a:pt x="4866129" y="0"/>
                </a:lnTo>
                <a:lnTo>
                  <a:pt x="4866129"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0" id="60"/>
          <p:cNvSpPr txBox="true"/>
          <p:nvPr/>
        </p:nvSpPr>
        <p:spPr>
          <a:xfrm rot="0">
            <a:off x="1806312"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Ethical hacking, pruebas de penetración, adversarial emulation. Para quienes se interesan por el enfoque ofensivo.</a:t>
            </a:r>
          </a:p>
        </p:txBody>
      </p:sp>
      <p:sp>
        <p:nvSpPr>
          <p:cNvPr name="Freeform 61" id="61"/>
          <p:cNvSpPr/>
          <p:nvPr/>
        </p:nvSpPr>
        <p:spPr>
          <a:xfrm flipH="false" flipV="false" rot="0">
            <a:off x="6710960" y="5820321"/>
            <a:ext cx="4866130" cy="625534"/>
          </a:xfrm>
          <a:custGeom>
            <a:avLst/>
            <a:gdLst/>
            <a:ahLst/>
            <a:cxnLst/>
            <a:rect r="r" b="b" t="t" l="l"/>
            <a:pathLst>
              <a:path h="625534" w="4866130">
                <a:moveTo>
                  <a:pt x="0" y="0"/>
                </a:moveTo>
                <a:lnTo>
                  <a:pt x="4866130" y="0"/>
                </a:lnTo>
                <a:lnTo>
                  <a:pt x="4866130" y="625535"/>
                </a:lnTo>
                <a:lnTo>
                  <a:pt x="0" y="62553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2" id="62"/>
          <p:cNvGrpSpPr/>
          <p:nvPr/>
        </p:nvGrpSpPr>
        <p:grpSpPr>
          <a:xfrm rot="0">
            <a:off x="6721987" y="5831348"/>
            <a:ext cx="4844126" cy="603530"/>
            <a:chOff x="0" y="0"/>
            <a:chExt cx="7437120" cy="926592"/>
          </a:xfrm>
        </p:grpSpPr>
        <p:sp>
          <p:nvSpPr>
            <p:cNvPr name="Freeform 63" id="63"/>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64" id="64"/>
          <p:cNvGrpSpPr/>
          <p:nvPr/>
        </p:nvGrpSpPr>
        <p:grpSpPr>
          <a:xfrm rot="0">
            <a:off x="6721987" y="5806532"/>
            <a:ext cx="4844126" cy="628347"/>
            <a:chOff x="0" y="0"/>
            <a:chExt cx="7437120" cy="964692"/>
          </a:xfrm>
        </p:grpSpPr>
        <p:sp>
          <p:nvSpPr>
            <p:cNvPr name="Freeform 65" id="65"/>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66" id="66"/>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CSIRT / CERT</a:t>
              </a:r>
            </a:p>
          </p:txBody>
        </p:sp>
      </p:grpSp>
      <p:sp>
        <p:nvSpPr>
          <p:cNvPr name="Freeform 67" id="67"/>
          <p:cNvSpPr/>
          <p:nvPr/>
        </p:nvSpPr>
        <p:spPr>
          <a:xfrm flipH="false" flipV="false" rot="0">
            <a:off x="6710960" y="6455617"/>
            <a:ext cx="4866130" cy="1006711"/>
          </a:xfrm>
          <a:custGeom>
            <a:avLst/>
            <a:gdLst/>
            <a:ahLst/>
            <a:cxnLst/>
            <a:rect r="r" b="b" t="t" l="l"/>
            <a:pathLst>
              <a:path h="1006711" w="4866130">
                <a:moveTo>
                  <a:pt x="0" y="0"/>
                </a:moveTo>
                <a:lnTo>
                  <a:pt x="4866130" y="0"/>
                </a:lnTo>
                <a:lnTo>
                  <a:pt x="4866130"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8" id="68"/>
          <p:cNvSpPr txBox="true"/>
          <p:nvPr/>
        </p:nvSpPr>
        <p:spPr>
          <a:xfrm rot="0">
            <a:off x="6920438"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Respuesta a incidentes críticos en equipos nacionales, sectoriales o empresariales de alto impacto.</a:t>
            </a:r>
          </a:p>
        </p:txBody>
      </p:sp>
      <p:sp>
        <p:nvSpPr>
          <p:cNvPr name="Freeform 69" id="69"/>
          <p:cNvSpPr/>
          <p:nvPr/>
        </p:nvSpPr>
        <p:spPr>
          <a:xfrm flipH="false" flipV="false" rot="0">
            <a:off x="11825086" y="5820321"/>
            <a:ext cx="4866130" cy="625534"/>
          </a:xfrm>
          <a:custGeom>
            <a:avLst/>
            <a:gdLst/>
            <a:ahLst/>
            <a:cxnLst/>
            <a:rect r="r" b="b" t="t" l="l"/>
            <a:pathLst>
              <a:path h="625534" w="4866130">
                <a:moveTo>
                  <a:pt x="0" y="0"/>
                </a:moveTo>
                <a:lnTo>
                  <a:pt x="4866130" y="0"/>
                </a:lnTo>
                <a:lnTo>
                  <a:pt x="4866130" y="625535"/>
                </a:lnTo>
                <a:lnTo>
                  <a:pt x="0" y="62553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0" id="70"/>
          <p:cNvGrpSpPr/>
          <p:nvPr/>
        </p:nvGrpSpPr>
        <p:grpSpPr>
          <a:xfrm rot="0">
            <a:off x="11836113" y="5831348"/>
            <a:ext cx="4844126" cy="603530"/>
            <a:chOff x="0" y="0"/>
            <a:chExt cx="7437120" cy="926592"/>
          </a:xfrm>
        </p:grpSpPr>
        <p:sp>
          <p:nvSpPr>
            <p:cNvPr name="Freeform 71" id="71"/>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72" id="72"/>
          <p:cNvGrpSpPr/>
          <p:nvPr/>
        </p:nvGrpSpPr>
        <p:grpSpPr>
          <a:xfrm rot="0">
            <a:off x="11836113" y="5806532"/>
            <a:ext cx="4844126" cy="628347"/>
            <a:chOff x="0" y="0"/>
            <a:chExt cx="7437120" cy="964692"/>
          </a:xfrm>
        </p:grpSpPr>
        <p:sp>
          <p:nvSpPr>
            <p:cNvPr name="Freeform 73" id="73"/>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74" id="74"/>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Threat Intelligence (CTI)</a:t>
              </a:r>
            </a:p>
          </p:txBody>
        </p:sp>
      </p:grpSp>
      <p:sp>
        <p:nvSpPr>
          <p:cNvPr name="Freeform 75" id="75"/>
          <p:cNvSpPr/>
          <p:nvPr/>
        </p:nvSpPr>
        <p:spPr>
          <a:xfrm flipH="false" flipV="false" rot="0">
            <a:off x="11825086" y="6455617"/>
            <a:ext cx="4866130" cy="1006711"/>
          </a:xfrm>
          <a:custGeom>
            <a:avLst/>
            <a:gdLst/>
            <a:ahLst/>
            <a:cxnLst/>
            <a:rect r="r" b="b" t="t" l="l"/>
            <a:pathLst>
              <a:path h="1006711" w="4866130">
                <a:moveTo>
                  <a:pt x="0" y="0"/>
                </a:moveTo>
                <a:lnTo>
                  <a:pt x="4866130" y="0"/>
                </a:lnTo>
                <a:lnTo>
                  <a:pt x="4866130"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76" id="76"/>
          <p:cNvSpPr txBox="true"/>
          <p:nvPr/>
        </p:nvSpPr>
        <p:spPr>
          <a:xfrm rot="0">
            <a:off x="12034565"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Análisis de grupos APT, campañas maliciosas, fuentes OSINT y contextos geopolíticos.</a:t>
            </a:r>
          </a:p>
        </p:txBody>
      </p:sp>
      <p:sp>
        <p:nvSpPr>
          <p:cNvPr name="Freeform 77" id="77"/>
          <p:cNvSpPr/>
          <p:nvPr/>
        </p:nvSpPr>
        <p:spPr>
          <a:xfrm flipH="false" flipV="false" rot="0">
            <a:off x="1596834" y="7567383"/>
            <a:ext cx="4866130" cy="625534"/>
          </a:xfrm>
          <a:custGeom>
            <a:avLst/>
            <a:gdLst/>
            <a:ahLst/>
            <a:cxnLst/>
            <a:rect r="r" b="b" t="t" l="l"/>
            <a:pathLst>
              <a:path h="625534" w="4866130">
                <a:moveTo>
                  <a:pt x="0" y="0"/>
                </a:moveTo>
                <a:lnTo>
                  <a:pt x="4866129" y="0"/>
                </a:lnTo>
                <a:lnTo>
                  <a:pt x="4866129" y="625534"/>
                </a:lnTo>
                <a:lnTo>
                  <a:pt x="0" y="62553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8" id="78"/>
          <p:cNvGrpSpPr/>
          <p:nvPr/>
        </p:nvGrpSpPr>
        <p:grpSpPr>
          <a:xfrm rot="0">
            <a:off x="1607860" y="7578410"/>
            <a:ext cx="4844126" cy="603530"/>
            <a:chOff x="0" y="0"/>
            <a:chExt cx="7437120" cy="926592"/>
          </a:xfrm>
        </p:grpSpPr>
        <p:sp>
          <p:nvSpPr>
            <p:cNvPr name="Freeform 79" id="79"/>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80" id="80"/>
          <p:cNvGrpSpPr/>
          <p:nvPr/>
        </p:nvGrpSpPr>
        <p:grpSpPr>
          <a:xfrm rot="0">
            <a:off x="1607860" y="7553594"/>
            <a:ext cx="4844126" cy="628347"/>
            <a:chOff x="0" y="0"/>
            <a:chExt cx="7437120" cy="964692"/>
          </a:xfrm>
        </p:grpSpPr>
        <p:sp>
          <p:nvSpPr>
            <p:cNvPr name="Freeform 81" id="81"/>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82" id="82"/>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Cloud Security</a:t>
              </a:r>
            </a:p>
          </p:txBody>
        </p:sp>
      </p:grpSp>
      <p:sp>
        <p:nvSpPr>
          <p:cNvPr name="Freeform 83" id="83"/>
          <p:cNvSpPr/>
          <p:nvPr/>
        </p:nvSpPr>
        <p:spPr>
          <a:xfrm flipH="false" flipV="false" rot="0">
            <a:off x="1596834" y="8202678"/>
            <a:ext cx="4866130" cy="1006711"/>
          </a:xfrm>
          <a:custGeom>
            <a:avLst/>
            <a:gdLst/>
            <a:ahLst/>
            <a:cxnLst/>
            <a:rect r="r" b="b" t="t" l="l"/>
            <a:pathLst>
              <a:path h="1006711" w="4866130">
                <a:moveTo>
                  <a:pt x="0" y="0"/>
                </a:moveTo>
                <a:lnTo>
                  <a:pt x="4866129" y="0"/>
                </a:lnTo>
                <a:lnTo>
                  <a:pt x="4866129"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84" id="84"/>
          <p:cNvSpPr txBox="true"/>
          <p:nvPr/>
        </p:nvSpPr>
        <p:spPr>
          <a:xfrm rot="0">
            <a:off x="1806312"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Seguridad en entornos cloud: auditorías, configuración segura, logs en entornos distribuidos.</a:t>
            </a:r>
          </a:p>
        </p:txBody>
      </p:sp>
      <p:sp>
        <p:nvSpPr>
          <p:cNvPr name="Freeform 85" id="85"/>
          <p:cNvSpPr/>
          <p:nvPr/>
        </p:nvSpPr>
        <p:spPr>
          <a:xfrm flipH="false" flipV="false" rot="0">
            <a:off x="6710960" y="7567383"/>
            <a:ext cx="4866130" cy="625534"/>
          </a:xfrm>
          <a:custGeom>
            <a:avLst/>
            <a:gdLst/>
            <a:ahLst/>
            <a:cxnLst/>
            <a:rect r="r" b="b" t="t" l="l"/>
            <a:pathLst>
              <a:path h="625534" w="4866130">
                <a:moveTo>
                  <a:pt x="0" y="0"/>
                </a:moveTo>
                <a:lnTo>
                  <a:pt x="4866130" y="0"/>
                </a:lnTo>
                <a:lnTo>
                  <a:pt x="4866130" y="625534"/>
                </a:lnTo>
                <a:lnTo>
                  <a:pt x="0" y="62553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86" id="86"/>
          <p:cNvGrpSpPr/>
          <p:nvPr/>
        </p:nvGrpSpPr>
        <p:grpSpPr>
          <a:xfrm rot="0">
            <a:off x="6721987" y="7578410"/>
            <a:ext cx="4844126" cy="603530"/>
            <a:chOff x="0" y="0"/>
            <a:chExt cx="7437120" cy="926592"/>
          </a:xfrm>
        </p:grpSpPr>
        <p:sp>
          <p:nvSpPr>
            <p:cNvPr name="Freeform 87" id="87"/>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88" id="88"/>
          <p:cNvGrpSpPr/>
          <p:nvPr/>
        </p:nvGrpSpPr>
        <p:grpSpPr>
          <a:xfrm rot="0">
            <a:off x="6721987" y="7553594"/>
            <a:ext cx="4844126" cy="628347"/>
            <a:chOff x="0" y="0"/>
            <a:chExt cx="7437120" cy="964692"/>
          </a:xfrm>
        </p:grpSpPr>
        <p:sp>
          <p:nvSpPr>
            <p:cNvPr name="Freeform 89" id="89"/>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90" id="90"/>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GRC — Gobernanza, Riesgo y Cumplimiento</a:t>
              </a:r>
            </a:p>
          </p:txBody>
        </p:sp>
      </p:grpSp>
      <p:sp>
        <p:nvSpPr>
          <p:cNvPr name="Freeform 91" id="91"/>
          <p:cNvSpPr/>
          <p:nvPr/>
        </p:nvSpPr>
        <p:spPr>
          <a:xfrm flipH="false" flipV="false" rot="0">
            <a:off x="6710960" y="8202678"/>
            <a:ext cx="4866130" cy="1006711"/>
          </a:xfrm>
          <a:custGeom>
            <a:avLst/>
            <a:gdLst/>
            <a:ahLst/>
            <a:cxnLst/>
            <a:rect r="r" b="b" t="t" l="l"/>
            <a:pathLst>
              <a:path h="1006711" w="4866130">
                <a:moveTo>
                  <a:pt x="0" y="0"/>
                </a:moveTo>
                <a:lnTo>
                  <a:pt x="4866130" y="0"/>
                </a:lnTo>
                <a:lnTo>
                  <a:pt x="4866130"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92" id="92"/>
          <p:cNvSpPr txBox="true"/>
          <p:nvPr/>
        </p:nvSpPr>
        <p:spPr>
          <a:xfrm rot="0">
            <a:off x="6920438"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Políticas, auditorías, cumplimiento normativo (ISO 27001, GDPR, NIST).</a:t>
            </a:r>
          </a:p>
        </p:txBody>
      </p:sp>
      <p:sp>
        <p:nvSpPr>
          <p:cNvPr name="Freeform 93" id="93"/>
          <p:cNvSpPr/>
          <p:nvPr/>
        </p:nvSpPr>
        <p:spPr>
          <a:xfrm flipH="false" flipV="false" rot="0">
            <a:off x="11825086" y="7567383"/>
            <a:ext cx="4866130" cy="625534"/>
          </a:xfrm>
          <a:custGeom>
            <a:avLst/>
            <a:gdLst/>
            <a:ahLst/>
            <a:cxnLst/>
            <a:rect r="r" b="b" t="t" l="l"/>
            <a:pathLst>
              <a:path h="625534" w="4866130">
                <a:moveTo>
                  <a:pt x="0" y="0"/>
                </a:moveTo>
                <a:lnTo>
                  <a:pt x="4866130" y="0"/>
                </a:lnTo>
                <a:lnTo>
                  <a:pt x="4866130" y="625534"/>
                </a:lnTo>
                <a:lnTo>
                  <a:pt x="0" y="62553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4" id="94"/>
          <p:cNvGrpSpPr/>
          <p:nvPr/>
        </p:nvGrpSpPr>
        <p:grpSpPr>
          <a:xfrm rot="0">
            <a:off x="11836113" y="7578410"/>
            <a:ext cx="4844126" cy="603530"/>
            <a:chOff x="0" y="0"/>
            <a:chExt cx="7437120" cy="926592"/>
          </a:xfrm>
        </p:grpSpPr>
        <p:sp>
          <p:nvSpPr>
            <p:cNvPr name="Freeform 95" id="95"/>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96" id="96"/>
          <p:cNvGrpSpPr/>
          <p:nvPr/>
        </p:nvGrpSpPr>
        <p:grpSpPr>
          <a:xfrm rot="0">
            <a:off x="11836113" y="7553594"/>
            <a:ext cx="4844126" cy="628347"/>
            <a:chOff x="0" y="0"/>
            <a:chExt cx="7437120" cy="964692"/>
          </a:xfrm>
        </p:grpSpPr>
        <p:sp>
          <p:nvSpPr>
            <p:cNvPr name="Freeform 97" id="97"/>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98" id="98"/>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DevSecOps</a:t>
              </a:r>
            </a:p>
          </p:txBody>
        </p:sp>
      </p:grpSp>
      <p:sp>
        <p:nvSpPr>
          <p:cNvPr name="Freeform 99" id="99"/>
          <p:cNvSpPr/>
          <p:nvPr/>
        </p:nvSpPr>
        <p:spPr>
          <a:xfrm flipH="false" flipV="false" rot="0">
            <a:off x="11825086" y="8202678"/>
            <a:ext cx="4866130" cy="1006711"/>
          </a:xfrm>
          <a:custGeom>
            <a:avLst/>
            <a:gdLst/>
            <a:ahLst/>
            <a:cxnLst/>
            <a:rect r="r" b="b" t="t" l="l"/>
            <a:pathLst>
              <a:path h="1006711" w="4866130">
                <a:moveTo>
                  <a:pt x="0" y="0"/>
                </a:moveTo>
                <a:lnTo>
                  <a:pt x="4866130" y="0"/>
                </a:lnTo>
                <a:lnTo>
                  <a:pt x="4866130"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00" id="100"/>
          <p:cNvSpPr txBox="true"/>
          <p:nvPr/>
        </p:nvSpPr>
        <p:spPr>
          <a:xfrm rot="0">
            <a:off x="12034565"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Integración de seguridad en el ciclo de desarrollo de software y operaciones de TI.</a:t>
            </a:r>
          </a:p>
        </p:txBody>
      </p:sp>
      <p:grpSp>
        <p:nvGrpSpPr>
          <p:cNvPr name="Group 101" id="101"/>
          <p:cNvGrpSpPr/>
          <p:nvPr/>
        </p:nvGrpSpPr>
        <p:grpSpPr>
          <a:xfrm rot="0">
            <a:off x="15983863" y="24203"/>
            <a:ext cx="1855079" cy="1855079"/>
            <a:chOff x="0" y="0"/>
            <a:chExt cx="5852160" cy="5852160"/>
          </a:xfrm>
        </p:grpSpPr>
        <p:sp>
          <p:nvSpPr>
            <p:cNvPr name="Freeform 102" id="102"/>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7"/>
              <a:stretch>
                <a:fillRect l="0" t="0" r="0" b="0"/>
              </a:stretch>
            </a:blipFill>
          </p:spPr>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1.6  |  Cómo construir una carrera sostenible en ciberseguridad</a:t>
              </a:r>
            </a:p>
          </p:txBody>
        </p:sp>
      </p:grpSp>
      <p:grpSp>
        <p:nvGrpSpPr>
          <p:cNvPr name="Group 20" id="20"/>
          <p:cNvGrpSpPr/>
          <p:nvPr/>
        </p:nvGrpSpPr>
        <p:grpSpPr>
          <a:xfrm rot="0">
            <a:off x="640080" y="1773936"/>
            <a:ext cx="17007840" cy="877824"/>
            <a:chOff x="0" y="0"/>
            <a:chExt cx="22677120" cy="1170432"/>
          </a:xfrm>
        </p:grpSpPr>
        <p:sp>
          <p:nvSpPr>
            <p:cNvPr name="Freeform 21" id="21"/>
            <p:cNvSpPr/>
            <p:nvPr/>
          </p:nvSpPr>
          <p:spPr>
            <a:xfrm flipH="false" flipV="false" rot="0">
              <a:off x="0" y="0"/>
              <a:ext cx="22677120" cy="1170432"/>
            </a:xfrm>
            <a:custGeom>
              <a:avLst/>
              <a:gdLst/>
              <a:ahLst/>
              <a:cxnLst/>
              <a:rect r="r" b="b" t="t" l="l"/>
              <a:pathLst>
                <a:path h="1170432" w="22677120">
                  <a:moveTo>
                    <a:pt x="0" y="0"/>
                  </a:moveTo>
                  <a:lnTo>
                    <a:pt x="22677120" y="0"/>
                  </a:lnTo>
                  <a:lnTo>
                    <a:pt x="22677120" y="1170432"/>
                  </a:lnTo>
                  <a:lnTo>
                    <a:pt x="0" y="1170432"/>
                  </a:lnTo>
                  <a:close/>
                </a:path>
              </a:pathLst>
            </a:custGeom>
            <a:blipFill>
              <a:blip r:embed="rId7">
                <a:alphaModFix amt="0"/>
              </a:blip>
              <a:stretch>
                <a:fillRect l="0" t="-327260" r="0" b="-327260"/>
              </a:stretch>
            </a:blipFill>
          </p:spPr>
        </p:sp>
      </p:grpSp>
      <p:grpSp>
        <p:nvGrpSpPr>
          <p:cNvPr name="Group 22" id="22"/>
          <p:cNvGrpSpPr/>
          <p:nvPr/>
        </p:nvGrpSpPr>
        <p:grpSpPr>
          <a:xfrm rot="0">
            <a:off x="742690" y="2100852"/>
            <a:ext cx="17007840" cy="913543"/>
            <a:chOff x="0" y="0"/>
            <a:chExt cx="22677120" cy="1218057"/>
          </a:xfrm>
        </p:grpSpPr>
        <p:sp>
          <p:nvSpPr>
            <p:cNvPr name="Freeform 23" id="23"/>
            <p:cNvSpPr/>
            <p:nvPr/>
          </p:nvSpPr>
          <p:spPr>
            <a:xfrm flipH="false" flipV="false" rot="0">
              <a:off x="0" y="0"/>
              <a:ext cx="22677120" cy="1218057"/>
            </a:xfrm>
            <a:custGeom>
              <a:avLst/>
              <a:gdLst/>
              <a:ahLst/>
              <a:cxnLst/>
              <a:rect r="r" b="b" t="t" l="l"/>
              <a:pathLst>
                <a:path h="1218057" w="22677120">
                  <a:moveTo>
                    <a:pt x="0" y="0"/>
                  </a:moveTo>
                  <a:lnTo>
                    <a:pt x="22677120" y="0"/>
                  </a:lnTo>
                  <a:lnTo>
                    <a:pt x="22677120" y="1218057"/>
                  </a:lnTo>
                  <a:lnTo>
                    <a:pt x="0" y="1218057"/>
                  </a:lnTo>
                  <a:close/>
                </a:path>
              </a:pathLst>
            </a:custGeom>
            <a:blipFill>
              <a:blip r:embed="rId8">
                <a:alphaModFix amt="0"/>
              </a:blip>
              <a:stretch>
                <a:fillRect l="0" t="-312761" r="0" b="-312761"/>
              </a:stretch>
            </a:blipFill>
          </p:spPr>
        </p:sp>
        <p:sp>
          <p:nvSpPr>
            <p:cNvPr name="TextBox 24" id="24"/>
            <p:cNvSpPr txBox="true"/>
            <p:nvPr/>
          </p:nvSpPr>
          <p:spPr>
            <a:xfrm>
              <a:off x="0" y="-47625"/>
              <a:ext cx="22677120" cy="1265682"/>
            </a:xfrm>
            <a:prstGeom prst="rect">
              <a:avLst/>
            </a:prstGeom>
          </p:spPr>
          <p:txBody>
            <a:bodyPr anchor="ctr" rtlCol="false" tIns="0" lIns="0" bIns="0" rIns="0"/>
            <a:lstStyle/>
            <a:p>
              <a:pPr algn="l">
                <a:lnSpc>
                  <a:spcPts val="2638"/>
                </a:lnSpc>
              </a:pPr>
              <a:r>
                <a:rPr lang="en-US" sz="2199">
                  <a:solidFill>
                    <a:srgbClr val="6B6B6B"/>
                  </a:solidFill>
                  <a:latin typeface="Calibri (MS)"/>
                  <a:ea typeface="Calibri (MS)"/>
                  <a:cs typeface="Calibri (MS)"/>
                  <a:sym typeface="Calibri (MS)"/>
                </a:rPr>
                <a:t>Una carrera sostenible no se trata solo de conseguir un empleo, sino de mantenerte actualizado, motivado y preparado para crecer en un entorno que cambia constantemente.</a:t>
              </a:r>
            </a:p>
          </p:txBody>
        </p:sp>
      </p:grpSp>
      <p:sp>
        <p:nvSpPr>
          <p:cNvPr name="Freeform 25" id="25"/>
          <p:cNvSpPr/>
          <p:nvPr/>
        </p:nvSpPr>
        <p:spPr>
          <a:xfrm flipH="false" flipV="false" rot="0">
            <a:off x="731520"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742690" y="3261103"/>
            <a:ext cx="4906878" cy="772230"/>
            <a:chOff x="0" y="0"/>
            <a:chExt cx="7437120" cy="1170432"/>
          </a:xfrm>
        </p:grpSpPr>
        <p:sp>
          <p:nvSpPr>
            <p:cNvPr name="Freeform 27" id="27"/>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28" id="28"/>
          <p:cNvGrpSpPr/>
          <p:nvPr/>
        </p:nvGrpSpPr>
        <p:grpSpPr>
          <a:xfrm rot="0">
            <a:off x="742690" y="3235965"/>
            <a:ext cx="4906878" cy="797368"/>
            <a:chOff x="0" y="0"/>
            <a:chExt cx="7437120" cy="1208532"/>
          </a:xfrm>
        </p:grpSpPr>
        <p:sp>
          <p:nvSpPr>
            <p:cNvPr name="Freeform 29" id="29"/>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30" id="30"/>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Formación continua y adaptable</a:t>
              </a:r>
            </a:p>
          </p:txBody>
        </p:sp>
      </p:grpSp>
      <p:sp>
        <p:nvSpPr>
          <p:cNvPr name="Freeform 31" id="31"/>
          <p:cNvSpPr/>
          <p:nvPr/>
        </p:nvSpPr>
        <p:spPr>
          <a:xfrm flipH="false" flipV="false" rot="0">
            <a:off x="731520"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984011"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Las amenazas evolucionan, las herramientas cambian, los ataques se vuelven más sofisticados. Seguir aprendiendo es parte del trabajo, no solo del crecimiento.</a:t>
            </a:r>
          </a:p>
        </p:txBody>
      </p:sp>
      <p:sp>
        <p:nvSpPr>
          <p:cNvPr name="Freeform 33" id="33"/>
          <p:cNvSpPr/>
          <p:nvPr/>
        </p:nvSpPr>
        <p:spPr>
          <a:xfrm flipH="false" flipV="false" rot="0">
            <a:off x="5911896"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5923066" y="3261103"/>
            <a:ext cx="4906878" cy="772230"/>
            <a:chOff x="0" y="0"/>
            <a:chExt cx="7437120" cy="1170432"/>
          </a:xfrm>
        </p:grpSpPr>
        <p:sp>
          <p:nvSpPr>
            <p:cNvPr name="Freeform 35" id="35"/>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36" id="36"/>
          <p:cNvGrpSpPr/>
          <p:nvPr/>
        </p:nvGrpSpPr>
        <p:grpSpPr>
          <a:xfrm rot="0">
            <a:off x="5923066" y="3235965"/>
            <a:ext cx="4906878" cy="797368"/>
            <a:chOff x="0" y="0"/>
            <a:chExt cx="7437120" cy="1208532"/>
          </a:xfrm>
        </p:grpSpPr>
        <p:sp>
          <p:nvSpPr>
            <p:cNvPr name="Freeform 37" id="37"/>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38" id="38"/>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Curiosidad activa y mentalidad analítica</a:t>
              </a:r>
            </a:p>
          </p:txBody>
        </p:sp>
      </p:grpSp>
      <p:sp>
        <p:nvSpPr>
          <p:cNvPr name="Freeform 39" id="39"/>
          <p:cNvSpPr/>
          <p:nvPr/>
        </p:nvSpPr>
        <p:spPr>
          <a:xfrm flipH="false" flipV="false" rot="0">
            <a:off x="5911896"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164388"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Los mejores analistas no son los que lo saben todo, sino los que preguntan más, investigan mejor y no se conforman con la primera respuesta.</a:t>
            </a:r>
          </a:p>
        </p:txBody>
      </p:sp>
      <p:sp>
        <p:nvSpPr>
          <p:cNvPr name="Freeform 41" id="41"/>
          <p:cNvSpPr/>
          <p:nvPr/>
        </p:nvSpPr>
        <p:spPr>
          <a:xfrm flipH="false" flipV="false" rot="0">
            <a:off x="11092273"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1103442" y="3261103"/>
            <a:ext cx="4906878" cy="772230"/>
            <a:chOff x="0" y="0"/>
            <a:chExt cx="7437120" cy="1170432"/>
          </a:xfrm>
        </p:grpSpPr>
        <p:sp>
          <p:nvSpPr>
            <p:cNvPr name="Freeform 43" id="43"/>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44" id="44"/>
          <p:cNvGrpSpPr/>
          <p:nvPr/>
        </p:nvGrpSpPr>
        <p:grpSpPr>
          <a:xfrm rot="0">
            <a:off x="11103442" y="3235965"/>
            <a:ext cx="4906878" cy="797368"/>
            <a:chOff x="0" y="0"/>
            <a:chExt cx="7437120" cy="1208532"/>
          </a:xfrm>
        </p:grpSpPr>
        <p:sp>
          <p:nvSpPr>
            <p:cNvPr name="Freeform 45" id="45"/>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46" id="46"/>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Construcción de red y marca profesional</a:t>
              </a:r>
            </a:p>
          </p:txBody>
        </p:sp>
      </p:grpSp>
      <p:sp>
        <p:nvSpPr>
          <p:cNvPr name="Freeform 47" id="47"/>
          <p:cNvSpPr/>
          <p:nvPr/>
        </p:nvSpPr>
        <p:spPr>
          <a:xfrm flipH="false" flipV="false" rot="0">
            <a:off x="11092273"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1344764"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Participar en comunidades, foros y eventos. Compartir lo que aprendés (en redes o con colegas) ayuda a visibilizar tu trabajo y construir reputación.</a:t>
            </a:r>
          </a:p>
        </p:txBody>
      </p:sp>
      <p:sp>
        <p:nvSpPr>
          <p:cNvPr name="Freeform 49" id="49"/>
          <p:cNvSpPr/>
          <p:nvPr/>
        </p:nvSpPr>
        <p:spPr>
          <a:xfrm flipH="false" flipV="false" rot="0">
            <a:off x="731520" y="6226237"/>
            <a:ext cx="4929167" cy="794519"/>
          </a:xfrm>
          <a:custGeom>
            <a:avLst/>
            <a:gdLst/>
            <a:ahLst/>
            <a:cxnLst/>
            <a:rect r="r" b="b" t="t" l="l"/>
            <a:pathLst>
              <a:path h="794519" w="4929167">
                <a:moveTo>
                  <a:pt x="0" y="0"/>
                </a:moveTo>
                <a:lnTo>
                  <a:pt x="4929167" y="0"/>
                </a:lnTo>
                <a:lnTo>
                  <a:pt x="4929167" y="794518"/>
                </a:lnTo>
                <a:lnTo>
                  <a:pt x="0" y="79451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742690" y="6237406"/>
            <a:ext cx="4906878" cy="772230"/>
            <a:chOff x="0" y="0"/>
            <a:chExt cx="7437120" cy="1170432"/>
          </a:xfrm>
        </p:grpSpPr>
        <p:sp>
          <p:nvSpPr>
            <p:cNvPr name="Freeform 51" id="51"/>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52" id="52"/>
          <p:cNvGrpSpPr/>
          <p:nvPr/>
        </p:nvGrpSpPr>
        <p:grpSpPr>
          <a:xfrm rot="0">
            <a:off x="742690" y="6212268"/>
            <a:ext cx="4906878" cy="797368"/>
            <a:chOff x="0" y="0"/>
            <a:chExt cx="7437120" cy="1208532"/>
          </a:xfrm>
        </p:grpSpPr>
        <p:sp>
          <p:nvSpPr>
            <p:cNvPr name="Freeform 53" id="53"/>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54" id="54"/>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Equilibrio técnico y humano</a:t>
              </a:r>
            </a:p>
          </p:txBody>
        </p:sp>
      </p:grpSp>
      <p:sp>
        <p:nvSpPr>
          <p:cNvPr name="Freeform 55" id="55"/>
          <p:cNvSpPr/>
          <p:nvPr/>
        </p:nvSpPr>
        <p:spPr>
          <a:xfrm flipH="false" flipV="false" rot="0">
            <a:off x="731520" y="7030643"/>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984011" y="7090856"/>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Saber usar una herramienta es importante. Pero también lo es: comunicar con claridad, documentar bien, trabajar en equipo y tomar decisiones bajo presión.</a:t>
            </a:r>
          </a:p>
        </p:txBody>
      </p:sp>
      <p:sp>
        <p:nvSpPr>
          <p:cNvPr name="Freeform 57" id="57"/>
          <p:cNvSpPr/>
          <p:nvPr/>
        </p:nvSpPr>
        <p:spPr>
          <a:xfrm flipH="false" flipV="false" rot="0">
            <a:off x="5911896" y="6226237"/>
            <a:ext cx="4929167" cy="794519"/>
          </a:xfrm>
          <a:custGeom>
            <a:avLst/>
            <a:gdLst/>
            <a:ahLst/>
            <a:cxnLst/>
            <a:rect r="r" b="b" t="t" l="l"/>
            <a:pathLst>
              <a:path h="794519" w="4929167">
                <a:moveTo>
                  <a:pt x="0" y="0"/>
                </a:moveTo>
                <a:lnTo>
                  <a:pt x="4929167" y="0"/>
                </a:lnTo>
                <a:lnTo>
                  <a:pt x="4929167" y="794518"/>
                </a:lnTo>
                <a:lnTo>
                  <a:pt x="0" y="79451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5923066" y="6237406"/>
            <a:ext cx="4906878" cy="772230"/>
            <a:chOff x="0" y="0"/>
            <a:chExt cx="7437120" cy="1170432"/>
          </a:xfrm>
        </p:grpSpPr>
        <p:sp>
          <p:nvSpPr>
            <p:cNvPr name="Freeform 59" id="59"/>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60" id="60"/>
          <p:cNvGrpSpPr/>
          <p:nvPr/>
        </p:nvGrpSpPr>
        <p:grpSpPr>
          <a:xfrm rot="0">
            <a:off x="5923066" y="6212268"/>
            <a:ext cx="4906878" cy="797368"/>
            <a:chOff x="0" y="0"/>
            <a:chExt cx="7437120" cy="1208532"/>
          </a:xfrm>
        </p:grpSpPr>
        <p:sp>
          <p:nvSpPr>
            <p:cNvPr name="Freeform 61" id="61"/>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62" id="62"/>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Cuidado personal y organización del tiempo</a:t>
              </a:r>
            </a:p>
          </p:txBody>
        </p:sp>
      </p:grpSp>
      <p:sp>
        <p:nvSpPr>
          <p:cNvPr name="Freeform 63" id="63"/>
          <p:cNvSpPr/>
          <p:nvPr/>
        </p:nvSpPr>
        <p:spPr>
          <a:xfrm flipH="false" flipV="false" rot="0">
            <a:off x="5911896" y="7030643"/>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164388" y="7090856"/>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Establecer límites, descansar bien, pedir ayuda cuando se necesite y organizarse para sostener el ritmo a largo plazo. El burnout en SOC es real.</a:t>
            </a:r>
          </a:p>
        </p:txBody>
      </p:sp>
      <p:grpSp>
        <p:nvGrpSpPr>
          <p:cNvPr name="Group 65" id="65"/>
          <p:cNvGrpSpPr/>
          <p:nvPr/>
        </p:nvGrpSpPr>
        <p:grpSpPr>
          <a:xfrm rot="0">
            <a:off x="15983863" y="24203"/>
            <a:ext cx="1855079" cy="1855079"/>
            <a:chOff x="0" y="0"/>
            <a:chExt cx="5852160" cy="5852160"/>
          </a:xfrm>
        </p:grpSpPr>
        <p:sp>
          <p:nvSpPr>
            <p:cNvPr name="Freeform 66" id="6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8765543"/>
            <a:ext cx="18313336" cy="1854136"/>
          </a:xfrm>
          <a:custGeom>
            <a:avLst/>
            <a:gdLst/>
            <a:ahLst/>
            <a:cxnLst/>
            <a:rect r="r" b="b" t="t" l="l"/>
            <a:pathLst>
              <a:path h="1854136" w="18313336">
                <a:moveTo>
                  <a:pt x="0" y="0"/>
                </a:moveTo>
                <a:lnTo>
                  <a:pt x="18313337" y="0"/>
                </a:lnTo>
                <a:lnTo>
                  <a:pt x="18313337" y="1854137"/>
                </a:lnTo>
                <a:lnTo>
                  <a:pt x="0" y="18541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9144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8715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999">
                  <a:solidFill>
                    <a:srgbClr val="8A004F"/>
                  </a:solidFill>
                  <a:latin typeface="Calibri (MS) Bold"/>
                  <a:ea typeface="Calibri (MS) Bold"/>
                  <a:cs typeface="Calibri (MS) Bold"/>
                  <a:sym typeface="Calibri (MS) Bold"/>
                </a:rPr>
                <a:t>RESUMEN</a:t>
              </a:r>
            </a:p>
          </p:txBody>
        </p:sp>
      </p:grpSp>
      <p:grpSp>
        <p:nvGrpSpPr>
          <p:cNvPr name="Group 9" id="9"/>
          <p:cNvGrpSpPr/>
          <p:nvPr/>
        </p:nvGrpSpPr>
        <p:grpSpPr>
          <a:xfrm rot="0">
            <a:off x="1463040" y="1755648"/>
            <a:ext cx="15544800" cy="1188720"/>
            <a:chOff x="0" y="0"/>
            <a:chExt cx="20726400" cy="1584960"/>
          </a:xfrm>
        </p:grpSpPr>
        <p:sp>
          <p:nvSpPr>
            <p:cNvPr name="Freeform 10" id="10"/>
            <p:cNvSpPr/>
            <p:nvPr/>
          </p:nvSpPr>
          <p:spPr>
            <a:xfrm flipH="false" flipV="false" rot="0">
              <a:off x="0" y="0"/>
              <a:ext cx="20726400" cy="1584960"/>
            </a:xfrm>
            <a:custGeom>
              <a:avLst/>
              <a:gdLst/>
              <a:ahLst/>
              <a:cxnLst/>
              <a:rect r="r" b="b" t="t" l="l"/>
              <a:pathLst>
                <a:path h="1584960" w="20726400">
                  <a:moveTo>
                    <a:pt x="0" y="0"/>
                  </a:moveTo>
                  <a:lnTo>
                    <a:pt x="20726400" y="0"/>
                  </a:lnTo>
                  <a:lnTo>
                    <a:pt x="20726400" y="1584960"/>
                  </a:lnTo>
                  <a:lnTo>
                    <a:pt x="0" y="1584960"/>
                  </a:lnTo>
                  <a:close/>
                </a:path>
              </a:pathLst>
            </a:custGeom>
            <a:blipFill>
              <a:blip r:embed="rId7">
                <a:alphaModFix amt="0"/>
              </a:blip>
              <a:stretch>
                <a:fillRect l="0" t="-204627" r="0" b="-204626"/>
              </a:stretch>
            </a:blipFill>
          </p:spPr>
        </p:sp>
      </p:grpSp>
      <p:grpSp>
        <p:nvGrpSpPr>
          <p:cNvPr name="Group 11" id="11"/>
          <p:cNvGrpSpPr/>
          <p:nvPr/>
        </p:nvGrpSpPr>
        <p:grpSpPr>
          <a:xfrm rot="0">
            <a:off x="1463040" y="1698498"/>
            <a:ext cx="15544800" cy="1245870"/>
            <a:chOff x="0" y="0"/>
            <a:chExt cx="20726400" cy="1661160"/>
          </a:xfrm>
        </p:grpSpPr>
        <p:sp>
          <p:nvSpPr>
            <p:cNvPr name="Freeform 12" id="12"/>
            <p:cNvSpPr/>
            <p:nvPr/>
          </p:nvSpPr>
          <p:spPr>
            <a:xfrm flipH="false" flipV="false" rot="0">
              <a:off x="0" y="0"/>
              <a:ext cx="20726400" cy="1661160"/>
            </a:xfrm>
            <a:custGeom>
              <a:avLst/>
              <a:gdLst/>
              <a:ahLst/>
              <a:cxnLst/>
              <a:rect r="r" b="b" t="t" l="l"/>
              <a:pathLst>
                <a:path h="1661160" w="20726400">
                  <a:moveTo>
                    <a:pt x="0" y="0"/>
                  </a:moveTo>
                  <a:lnTo>
                    <a:pt x="20726400" y="0"/>
                  </a:lnTo>
                  <a:lnTo>
                    <a:pt x="20726400" y="1661160"/>
                  </a:lnTo>
                  <a:lnTo>
                    <a:pt x="0" y="1661160"/>
                  </a:lnTo>
                  <a:close/>
                </a:path>
              </a:pathLst>
            </a:custGeom>
            <a:blipFill>
              <a:blip r:embed="rId8">
                <a:alphaModFix amt="0"/>
              </a:blip>
              <a:stretch>
                <a:fillRect l="0" t="-193116" r="0" b="-193116"/>
              </a:stretch>
            </a:blipFill>
          </p:spPr>
        </p:sp>
        <p:sp>
          <p:nvSpPr>
            <p:cNvPr name="TextBox 13" id="13"/>
            <p:cNvSpPr txBox="true"/>
            <p:nvPr/>
          </p:nvSpPr>
          <p:spPr>
            <a:xfrm>
              <a:off x="0" y="-76200"/>
              <a:ext cx="20726400" cy="173736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Módulo 1: Introducción al Rol SOC</a:t>
              </a:r>
            </a:p>
          </p:txBody>
        </p:sp>
      </p:grpSp>
      <p:sp>
        <p:nvSpPr>
          <p:cNvPr name="Freeform 14" id="14"/>
          <p:cNvSpPr/>
          <p:nvPr/>
        </p:nvSpPr>
        <p:spPr>
          <a:xfrm flipH="false" flipV="false" rot="0">
            <a:off x="1413767" y="3096263"/>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1426464" y="3108960"/>
            <a:ext cx="512064" cy="548640"/>
            <a:chOff x="0" y="0"/>
            <a:chExt cx="682752" cy="731520"/>
          </a:xfrm>
        </p:grpSpPr>
        <p:sp>
          <p:nvSpPr>
            <p:cNvPr name="Freeform 16" id="16"/>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17" id="17"/>
          <p:cNvGrpSpPr/>
          <p:nvPr/>
        </p:nvGrpSpPr>
        <p:grpSpPr>
          <a:xfrm rot="0">
            <a:off x="1426464" y="3080385"/>
            <a:ext cx="512064" cy="577215"/>
            <a:chOff x="0" y="0"/>
            <a:chExt cx="682752" cy="769620"/>
          </a:xfrm>
        </p:grpSpPr>
        <p:sp>
          <p:nvSpPr>
            <p:cNvPr name="Freeform 18" id="18"/>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19" id="19"/>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20" id="20"/>
          <p:cNvGrpSpPr/>
          <p:nvPr/>
        </p:nvGrpSpPr>
        <p:grpSpPr>
          <a:xfrm rot="0">
            <a:off x="2048256" y="3108960"/>
            <a:ext cx="15544800" cy="548640"/>
            <a:chOff x="0" y="0"/>
            <a:chExt cx="20726400" cy="731520"/>
          </a:xfrm>
        </p:grpSpPr>
        <p:sp>
          <p:nvSpPr>
            <p:cNvPr name="Freeform 21" id="21"/>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22" id="22"/>
          <p:cNvGrpSpPr/>
          <p:nvPr/>
        </p:nvGrpSpPr>
        <p:grpSpPr>
          <a:xfrm rot="0">
            <a:off x="2048256" y="3080385"/>
            <a:ext cx="15544800" cy="577215"/>
            <a:chOff x="0" y="0"/>
            <a:chExt cx="20726400" cy="769620"/>
          </a:xfrm>
        </p:grpSpPr>
        <p:sp>
          <p:nvSpPr>
            <p:cNvPr name="Freeform 23" id="23"/>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24" id="24"/>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Comprendiste qué es un SOC, sus objetivos y por qué es esencial en la estrategia de ciberseguridad.</a:t>
              </a:r>
            </a:p>
          </p:txBody>
        </p:sp>
      </p:grpSp>
      <p:sp>
        <p:nvSpPr>
          <p:cNvPr name="Freeform 25" id="25"/>
          <p:cNvSpPr/>
          <p:nvPr/>
        </p:nvSpPr>
        <p:spPr>
          <a:xfrm flipH="false" flipV="false" rot="0">
            <a:off x="1413767" y="3864359"/>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6" id="26"/>
          <p:cNvGrpSpPr/>
          <p:nvPr/>
        </p:nvGrpSpPr>
        <p:grpSpPr>
          <a:xfrm rot="0">
            <a:off x="1426464" y="3877056"/>
            <a:ext cx="512064" cy="548640"/>
            <a:chOff x="0" y="0"/>
            <a:chExt cx="682752" cy="731520"/>
          </a:xfrm>
        </p:grpSpPr>
        <p:sp>
          <p:nvSpPr>
            <p:cNvPr name="Freeform 27" id="27"/>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28" id="28"/>
          <p:cNvGrpSpPr/>
          <p:nvPr/>
        </p:nvGrpSpPr>
        <p:grpSpPr>
          <a:xfrm rot="0">
            <a:off x="1426464" y="3848481"/>
            <a:ext cx="512064" cy="577215"/>
            <a:chOff x="0" y="0"/>
            <a:chExt cx="682752" cy="769620"/>
          </a:xfrm>
        </p:grpSpPr>
        <p:sp>
          <p:nvSpPr>
            <p:cNvPr name="Freeform 29" id="29"/>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30" id="30"/>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31" id="31"/>
          <p:cNvGrpSpPr/>
          <p:nvPr/>
        </p:nvGrpSpPr>
        <p:grpSpPr>
          <a:xfrm rot="0">
            <a:off x="2048256" y="3877056"/>
            <a:ext cx="15544800" cy="548640"/>
            <a:chOff x="0" y="0"/>
            <a:chExt cx="20726400" cy="731520"/>
          </a:xfrm>
        </p:grpSpPr>
        <p:sp>
          <p:nvSpPr>
            <p:cNvPr name="Freeform 32" id="32"/>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33" id="33"/>
          <p:cNvGrpSpPr/>
          <p:nvPr/>
        </p:nvGrpSpPr>
        <p:grpSpPr>
          <a:xfrm rot="0">
            <a:off x="2048256" y="3848481"/>
            <a:ext cx="15544800" cy="577215"/>
            <a:chOff x="0" y="0"/>
            <a:chExt cx="20726400" cy="769620"/>
          </a:xfrm>
        </p:grpSpPr>
        <p:sp>
          <p:nvSpPr>
            <p:cNvPr name="Freeform 34" id="34"/>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35" id="35"/>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Conociste los tipos de SOC (interno, externo MSSP, híbrido) y su relación con NOC, CSIRT y CERT.</a:t>
              </a:r>
            </a:p>
          </p:txBody>
        </p:sp>
      </p:grpSp>
      <p:sp>
        <p:nvSpPr>
          <p:cNvPr name="Freeform 36" id="36"/>
          <p:cNvSpPr/>
          <p:nvPr/>
        </p:nvSpPr>
        <p:spPr>
          <a:xfrm flipH="false" flipV="false" rot="0">
            <a:off x="1413767" y="4632455"/>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7" id="37"/>
          <p:cNvGrpSpPr/>
          <p:nvPr/>
        </p:nvGrpSpPr>
        <p:grpSpPr>
          <a:xfrm rot="0">
            <a:off x="1426464" y="4645152"/>
            <a:ext cx="512064" cy="548640"/>
            <a:chOff x="0" y="0"/>
            <a:chExt cx="682752" cy="731520"/>
          </a:xfrm>
        </p:grpSpPr>
        <p:sp>
          <p:nvSpPr>
            <p:cNvPr name="Freeform 38" id="38"/>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39" id="39"/>
          <p:cNvGrpSpPr/>
          <p:nvPr/>
        </p:nvGrpSpPr>
        <p:grpSpPr>
          <a:xfrm rot="0">
            <a:off x="1426464" y="4616577"/>
            <a:ext cx="512064" cy="577215"/>
            <a:chOff x="0" y="0"/>
            <a:chExt cx="682752" cy="769620"/>
          </a:xfrm>
        </p:grpSpPr>
        <p:sp>
          <p:nvSpPr>
            <p:cNvPr name="Freeform 40" id="40"/>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41" id="41"/>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42" id="42"/>
          <p:cNvGrpSpPr/>
          <p:nvPr/>
        </p:nvGrpSpPr>
        <p:grpSpPr>
          <a:xfrm rot="0">
            <a:off x="2048256" y="4645152"/>
            <a:ext cx="15544800" cy="548640"/>
            <a:chOff x="0" y="0"/>
            <a:chExt cx="20726400" cy="731520"/>
          </a:xfrm>
        </p:grpSpPr>
        <p:sp>
          <p:nvSpPr>
            <p:cNvPr name="Freeform 43" id="43"/>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44" id="44"/>
          <p:cNvGrpSpPr/>
          <p:nvPr/>
        </p:nvGrpSpPr>
        <p:grpSpPr>
          <a:xfrm rot="0">
            <a:off x="2048256" y="4616577"/>
            <a:ext cx="15544800" cy="577215"/>
            <a:chOff x="0" y="0"/>
            <a:chExt cx="20726400" cy="769620"/>
          </a:xfrm>
        </p:grpSpPr>
        <p:sp>
          <p:nvSpPr>
            <p:cNvPr name="Freeform 45" id="45"/>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46" id="46"/>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Exploraste la estructura interna: niveles L1/L2/L3, roles especializados y dinámicas de trabajo.</a:t>
              </a:r>
            </a:p>
          </p:txBody>
        </p:sp>
      </p:grpSp>
      <p:sp>
        <p:nvSpPr>
          <p:cNvPr name="Freeform 47" id="47"/>
          <p:cNvSpPr/>
          <p:nvPr/>
        </p:nvSpPr>
        <p:spPr>
          <a:xfrm flipH="false" flipV="false" rot="0">
            <a:off x="1413767" y="5400551"/>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8" id="48"/>
          <p:cNvGrpSpPr/>
          <p:nvPr/>
        </p:nvGrpSpPr>
        <p:grpSpPr>
          <a:xfrm rot="0">
            <a:off x="1426464" y="5413248"/>
            <a:ext cx="512064" cy="548640"/>
            <a:chOff x="0" y="0"/>
            <a:chExt cx="682752" cy="731520"/>
          </a:xfrm>
        </p:grpSpPr>
        <p:sp>
          <p:nvSpPr>
            <p:cNvPr name="Freeform 49" id="49"/>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50" id="50"/>
          <p:cNvGrpSpPr/>
          <p:nvPr/>
        </p:nvGrpSpPr>
        <p:grpSpPr>
          <a:xfrm rot="0">
            <a:off x="1426464" y="5384673"/>
            <a:ext cx="512064" cy="577215"/>
            <a:chOff x="0" y="0"/>
            <a:chExt cx="682752" cy="769620"/>
          </a:xfrm>
        </p:grpSpPr>
        <p:sp>
          <p:nvSpPr>
            <p:cNvPr name="Freeform 51" id="51"/>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52" id="52"/>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53" id="53"/>
          <p:cNvGrpSpPr/>
          <p:nvPr/>
        </p:nvGrpSpPr>
        <p:grpSpPr>
          <a:xfrm rot="0">
            <a:off x="2048256" y="5413248"/>
            <a:ext cx="15544800" cy="548640"/>
            <a:chOff x="0" y="0"/>
            <a:chExt cx="20726400" cy="731520"/>
          </a:xfrm>
        </p:grpSpPr>
        <p:sp>
          <p:nvSpPr>
            <p:cNvPr name="Freeform 54" id="54"/>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55" id="55"/>
          <p:cNvGrpSpPr/>
          <p:nvPr/>
        </p:nvGrpSpPr>
        <p:grpSpPr>
          <a:xfrm rot="0">
            <a:off x="2048256" y="5384673"/>
            <a:ext cx="15544800" cy="577215"/>
            <a:chOff x="0" y="0"/>
            <a:chExt cx="20726400" cy="769620"/>
          </a:xfrm>
        </p:grpSpPr>
        <p:sp>
          <p:nvSpPr>
            <p:cNvPr name="Freeform 56" id="56"/>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57" id="57"/>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Comprendiste el rol del analista SOC moderno: criterio operativo, habilidades y herramientas clave.</a:t>
              </a:r>
            </a:p>
          </p:txBody>
        </p:sp>
      </p:grpSp>
      <p:sp>
        <p:nvSpPr>
          <p:cNvPr name="Freeform 58" id="58"/>
          <p:cNvSpPr/>
          <p:nvPr/>
        </p:nvSpPr>
        <p:spPr>
          <a:xfrm flipH="false" flipV="false" rot="0">
            <a:off x="1413767" y="6168647"/>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59" id="59"/>
          <p:cNvGrpSpPr/>
          <p:nvPr/>
        </p:nvGrpSpPr>
        <p:grpSpPr>
          <a:xfrm rot="0">
            <a:off x="1426464" y="6181344"/>
            <a:ext cx="512064" cy="548640"/>
            <a:chOff x="0" y="0"/>
            <a:chExt cx="682752" cy="731520"/>
          </a:xfrm>
        </p:grpSpPr>
        <p:sp>
          <p:nvSpPr>
            <p:cNvPr name="Freeform 60" id="60"/>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61" id="61"/>
          <p:cNvGrpSpPr/>
          <p:nvPr/>
        </p:nvGrpSpPr>
        <p:grpSpPr>
          <a:xfrm rot="0">
            <a:off x="1426464" y="6152769"/>
            <a:ext cx="512064" cy="577215"/>
            <a:chOff x="0" y="0"/>
            <a:chExt cx="682752" cy="769620"/>
          </a:xfrm>
        </p:grpSpPr>
        <p:sp>
          <p:nvSpPr>
            <p:cNvPr name="Freeform 62" id="62"/>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63" id="63"/>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64" id="64"/>
          <p:cNvGrpSpPr/>
          <p:nvPr/>
        </p:nvGrpSpPr>
        <p:grpSpPr>
          <a:xfrm rot="0">
            <a:off x="2048256" y="6181344"/>
            <a:ext cx="15544800" cy="548640"/>
            <a:chOff x="0" y="0"/>
            <a:chExt cx="20726400" cy="731520"/>
          </a:xfrm>
        </p:grpSpPr>
        <p:sp>
          <p:nvSpPr>
            <p:cNvPr name="Freeform 65" id="65"/>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66" id="66"/>
          <p:cNvGrpSpPr/>
          <p:nvPr/>
        </p:nvGrpSpPr>
        <p:grpSpPr>
          <a:xfrm rot="0">
            <a:off x="2048256" y="6152769"/>
            <a:ext cx="15544800" cy="577215"/>
            <a:chOff x="0" y="0"/>
            <a:chExt cx="20726400" cy="769620"/>
          </a:xfrm>
        </p:grpSpPr>
        <p:sp>
          <p:nvSpPr>
            <p:cNvPr name="Freeform 67" id="67"/>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68" id="68"/>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Aprendiste cómo fluye la información desde un evento hasta un incidente, y cómo coordinan los niveles.</a:t>
              </a:r>
            </a:p>
          </p:txBody>
        </p:sp>
      </p:grpSp>
      <p:sp>
        <p:nvSpPr>
          <p:cNvPr name="Freeform 69" id="69"/>
          <p:cNvSpPr/>
          <p:nvPr/>
        </p:nvSpPr>
        <p:spPr>
          <a:xfrm flipH="false" flipV="false" rot="0">
            <a:off x="1413767" y="6936743"/>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0" id="70"/>
          <p:cNvGrpSpPr/>
          <p:nvPr/>
        </p:nvGrpSpPr>
        <p:grpSpPr>
          <a:xfrm rot="0">
            <a:off x="1426464" y="6949440"/>
            <a:ext cx="512064" cy="548640"/>
            <a:chOff x="0" y="0"/>
            <a:chExt cx="682752" cy="731520"/>
          </a:xfrm>
        </p:grpSpPr>
        <p:sp>
          <p:nvSpPr>
            <p:cNvPr name="Freeform 71" id="71"/>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72" id="72"/>
          <p:cNvGrpSpPr/>
          <p:nvPr/>
        </p:nvGrpSpPr>
        <p:grpSpPr>
          <a:xfrm rot="0">
            <a:off x="1426464" y="6920865"/>
            <a:ext cx="512064" cy="577215"/>
            <a:chOff x="0" y="0"/>
            <a:chExt cx="682752" cy="769620"/>
          </a:xfrm>
        </p:grpSpPr>
        <p:sp>
          <p:nvSpPr>
            <p:cNvPr name="Freeform 73" id="73"/>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74" id="74"/>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75" id="75"/>
          <p:cNvGrpSpPr/>
          <p:nvPr/>
        </p:nvGrpSpPr>
        <p:grpSpPr>
          <a:xfrm rot="0">
            <a:off x="2048256" y="6949440"/>
            <a:ext cx="15544800" cy="548640"/>
            <a:chOff x="0" y="0"/>
            <a:chExt cx="20726400" cy="731520"/>
          </a:xfrm>
        </p:grpSpPr>
        <p:sp>
          <p:nvSpPr>
            <p:cNvPr name="Freeform 76" id="76"/>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77" id="77"/>
          <p:cNvGrpSpPr/>
          <p:nvPr/>
        </p:nvGrpSpPr>
        <p:grpSpPr>
          <a:xfrm rot="0">
            <a:off x="2048256" y="6920865"/>
            <a:ext cx="15544800" cy="577215"/>
            <a:chOff x="0" y="0"/>
            <a:chExt cx="20726400" cy="769620"/>
          </a:xfrm>
        </p:grpSpPr>
        <p:sp>
          <p:nvSpPr>
            <p:cNvPr name="Freeform 78" id="78"/>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79" id="79"/>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Reflexionaste sobre ética, confidencialidad y la importancia de documentar con responsabilidad.</a:t>
              </a:r>
            </a:p>
          </p:txBody>
        </p:sp>
      </p:grpSp>
      <p:sp>
        <p:nvSpPr>
          <p:cNvPr name="Freeform 80" id="80"/>
          <p:cNvSpPr/>
          <p:nvPr/>
        </p:nvSpPr>
        <p:spPr>
          <a:xfrm flipH="false" flipV="false" rot="0">
            <a:off x="1413767" y="7704839"/>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1" id="81"/>
          <p:cNvGrpSpPr/>
          <p:nvPr/>
        </p:nvGrpSpPr>
        <p:grpSpPr>
          <a:xfrm rot="0">
            <a:off x="1426464" y="7717536"/>
            <a:ext cx="512064" cy="548640"/>
            <a:chOff x="0" y="0"/>
            <a:chExt cx="682752" cy="731520"/>
          </a:xfrm>
        </p:grpSpPr>
        <p:sp>
          <p:nvSpPr>
            <p:cNvPr name="Freeform 82" id="82"/>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83" id="83"/>
          <p:cNvGrpSpPr/>
          <p:nvPr/>
        </p:nvGrpSpPr>
        <p:grpSpPr>
          <a:xfrm rot="0">
            <a:off x="1426464" y="7688961"/>
            <a:ext cx="512064" cy="577215"/>
            <a:chOff x="0" y="0"/>
            <a:chExt cx="682752" cy="769620"/>
          </a:xfrm>
        </p:grpSpPr>
        <p:sp>
          <p:nvSpPr>
            <p:cNvPr name="Freeform 84" id="84"/>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85" id="85"/>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86" id="86"/>
          <p:cNvGrpSpPr/>
          <p:nvPr/>
        </p:nvGrpSpPr>
        <p:grpSpPr>
          <a:xfrm rot="0">
            <a:off x="2048256" y="7717536"/>
            <a:ext cx="15544800" cy="548640"/>
            <a:chOff x="0" y="0"/>
            <a:chExt cx="20726400" cy="731520"/>
          </a:xfrm>
        </p:grpSpPr>
        <p:sp>
          <p:nvSpPr>
            <p:cNvPr name="Freeform 87" id="87"/>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88" id="88"/>
          <p:cNvGrpSpPr/>
          <p:nvPr/>
        </p:nvGrpSpPr>
        <p:grpSpPr>
          <a:xfrm rot="0">
            <a:off x="2048256" y="7688961"/>
            <a:ext cx="15544800" cy="577215"/>
            <a:chOff x="0" y="0"/>
            <a:chExt cx="20726400" cy="769620"/>
          </a:xfrm>
        </p:grpSpPr>
        <p:sp>
          <p:nvSpPr>
            <p:cNvPr name="Freeform 89" id="89"/>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90" id="90"/>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Exploraste rutas de crecimiento, certificaciones y salidas laborales en ciberseguridad.</a:t>
              </a:r>
            </a:p>
          </p:txBody>
        </p:sp>
      </p:grpSp>
      <p:sp>
        <p:nvSpPr>
          <p:cNvPr name="Freeform 91" id="91"/>
          <p:cNvSpPr/>
          <p:nvPr/>
        </p:nvSpPr>
        <p:spPr>
          <a:xfrm flipH="false" flipV="false" rot="0">
            <a:off x="1413767" y="8546087"/>
            <a:ext cx="16191928" cy="962701"/>
          </a:xfrm>
          <a:custGeom>
            <a:avLst/>
            <a:gdLst/>
            <a:ahLst/>
            <a:cxnLst/>
            <a:rect r="r" b="b" t="t" l="l"/>
            <a:pathLst>
              <a:path h="962701" w="16191928">
                <a:moveTo>
                  <a:pt x="0" y="0"/>
                </a:moveTo>
                <a:lnTo>
                  <a:pt x="16191929" y="0"/>
                </a:lnTo>
                <a:lnTo>
                  <a:pt x="16191929" y="962701"/>
                </a:lnTo>
                <a:lnTo>
                  <a:pt x="0" y="9627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2" id="92"/>
          <p:cNvGrpSpPr/>
          <p:nvPr/>
        </p:nvGrpSpPr>
        <p:grpSpPr>
          <a:xfrm rot="0">
            <a:off x="1682496" y="8558784"/>
            <a:ext cx="15764256" cy="950043"/>
            <a:chOff x="0" y="0"/>
            <a:chExt cx="21019008" cy="1266723"/>
          </a:xfrm>
        </p:grpSpPr>
        <p:sp>
          <p:nvSpPr>
            <p:cNvPr name="Freeform 93" id="93"/>
            <p:cNvSpPr/>
            <p:nvPr/>
          </p:nvSpPr>
          <p:spPr>
            <a:xfrm flipH="false" flipV="false" rot="0">
              <a:off x="0" y="0"/>
              <a:ext cx="21019008" cy="1266698"/>
            </a:xfrm>
            <a:custGeom>
              <a:avLst/>
              <a:gdLst/>
              <a:ahLst/>
              <a:cxnLst/>
              <a:rect r="r" b="b" t="t" l="l"/>
              <a:pathLst>
                <a:path h="1266698" w="21019008">
                  <a:moveTo>
                    <a:pt x="0" y="0"/>
                  </a:moveTo>
                  <a:lnTo>
                    <a:pt x="21019008" y="0"/>
                  </a:lnTo>
                  <a:lnTo>
                    <a:pt x="21019008" y="1266698"/>
                  </a:lnTo>
                  <a:lnTo>
                    <a:pt x="0" y="1266698"/>
                  </a:lnTo>
                  <a:close/>
                </a:path>
              </a:pathLst>
            </a:custGeom>
            <a:blipFill>
              <a:blip r:embed="rId7">
                <a:alphaModFix amt="0"/>
              </a:blip>
              <a:stretch>
                <a:fillRect l="0" t="-273100" r="0" b="-273102"/>
              </a:stretch>
            </a:blipFill>
          </p:spPr>
        </p:sp>
      </p:grpSp>
      <p:grpSp>
        <p:nvGrpSpPr>
          <p:cNvPr name="Group 94" id="94"/>
          <p:cNvGrpSpPr/>
          <p:nvPr/>
        </p:nvGrpSpPr>
        <p:grpSpPr>
          <a:xfrm rot="0">
            <a:off x="1682496" y="8523065"/>
            <a:ext cx="15764256" cy="985761"/>
            <a:chOff x="0" y="0"/>
            <a:chExt cx="21019008" cy="1314348"/>
          </a:xfrm>
        </p:grpSpPr>
        <p:sp>
          <p:nvSpPr>
            <p:cNvPr name="Freeform 95" id="95"/>
            <p:cNvSpPr/>
            <p:nvPr/>
          </p:nvSpPr>
          <p:spPr>
            <a:xfrm flipH="false" flipV="false" rot="0">
              <a:off x="0" y="0"/>
              <a:ext cx="21019008" cy="1314353"/>
            </a:xfrm>
            <a:custGeom>
              <a:avLst/>
              <a:gdLst/>
              <a:ahLst/>
              <a:cxnLst/>
              <a:rect r="r" b="b" t="t" l="l"/>
              <a:pathLst>
                <a:path h="1314353" w="21019008">
                  <a:moveTo>
                    <a:pt x="0" y="0"/>
                  </a:moveTo>
                  <a:lnTo>
                    <a:pt x="21019008" y="0"/>
                  </a:lnTo>
                  <a:lnTo>
                    <a:pt x="21019008" y="1314353"/>
                  </a:lnTo>
                  <a:lnTo>
                    <a:pt x="0" y="1314353"/>
                  </a:lnTo>
                  <a:close/>
                </a:path>
              </a:pathLst>
            </a:custGeom>
            <a:blipFill>
              <a:blip r:embed="rId8">
                <a:alphaModFix amt="0"/>
              </a:blip>
              <a:stretch>
                <a:fillRect l="0" t="-261603" r="0" b="-261602"/>
              </a:stretch>
            </a:blipFill>
          </p:spPr>
        </p:sp>
        <p:sp>
          <p:nvSpPr>
            <p:cNvPr name="TextBox 96" id="96"/>
            <p:cNvSpPr txBox="true"/>
            <p:nvPr/>
          </p:nvSpPr>
          <p:spPr>
            <a:xfrm>
              <a:off x="0" y="-47625"/>
              <a:ext cx="21019008" cy="1361973"/>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Ya tenés una visión clara del SOC moderno y del rol del analista que opera dentro de él. </a:t>
              </a:r>
              <a:r>
                <a:rPr lang="en-US" sz="2100">
                  <a:solidFill>
                    <a:srgbClr val="FFDDEE"/>
                  </a:solidFill>
                  <a:latin typeface="Calibri (MS)"/>
                  <a:ea typeface="Calibri (MS)"/>
                  <a:cs typeface="Calibri (MS)"/>
                  <a:sym typeface="Calibri (MS)"/>
                </a:rPr>
                <a:t>Estás listo para avanzar hacia los fundamentos técnicos que todo analista SOC necesita manejar.</a:t>
              </a:r>
            </a:p>
          </p:txBody>
        </p:sp>
      </p:grpSp>
      <p:sp>
        <p:nvSpPr>
          <p:cNvPr name="Freeform 97" id="97"/>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98" id="98"/>
          <p:cNvGrpSpPr/>
          <p:nvPr/>
        </p:nvGrpSpPr>
        <p:grpSpPr>
          <a:xfrm rot="0">
            <a:off x="548640" y="9784080"/>
            <a:ext cx="15544800" cy="512064"/>
            <a:chOff x="0" y="0"/>
            <a:chExt cx="20726400" cy="682752"/>
          </a:xfrm>
        </p:grpSpPr>
        <p:sp>
          <p:nvSpPr>
            <p:cNvPr name="Freeform 99" id="99"/>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100" id="100"/>
          <p:cNvGrpSpPr/>
          <p:nvPr/>
        </p:nvGrpSpPr>
        <p:grpSpPr>
          <a:xfrm rot="0">
            <a:off x="548640" y="9762649"/>
            <a:ext cx="15544800" cy="533495"/>
            <a:chOff x="0" y="0"/>
            <a:chExt cx="20726400" cy="711327"/>
          </a:xfrm>
        </p:grpSpPr>
        <p:sp>
          <p:nvSpPr>
            <p:cNvPr name="Freeform 101" id="101"/>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102" id="102"/>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103" id="103"/>
          <p:cNvGrpSpPr/>
          <p:nvPr/>
        </p:nvGrpSpPr>
        <p:grpSpPr>
          <a:xfrm rot="0">
            <a:off x="16824960" y="9784080"/>
            <a:ext cx="1280160" cy="512064"/>
            <a:chOff x="0" y="0"/>
            <a:chExt cx="1706880" cy="682752"/>
          </a:xfrm>
        </p:grpSpPr>
        <p:sp>
          <p:nvSpPr>
            <p:cNvPr name="Freeform 104" id="104"/>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05" id="105"/>
          <p:cNvGrpSpPr/>
          <p:nvPr/>
        </p:nvGrpSpPr>
        <p:grpSpPr>
          <a:xfrm rot="0">
            <a:off x="16824960" y="9762649"/>
            <a:ext cx="1280160" cy="533495"/>
            <a:chOff x="0" y="0"/>
            <a:chExt cx="1706880" cy="711327"/>
          </a:xfrm>
        </p:grpSpPr>
        <p:sp>
          <p:nvSpPr>
            <p:cNvPr name="Freeform 106" id="106"/>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07" id="107"/>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p.45</a:t>
              </a:r>
            </a:p>
          </p:txBody>
        </p:sp>
      </p:grpSp>
      <p:grpSp>
        <p:nvGrpSpPr>
          <p:cNvPr name="Group 108" id="108"/>
          <p:cNvGrpSpPr/>
          <p:nvPr/>
        </p:nvGrpSpPr>
        <p:grpSpPr>
          <a:xfrm rot="0">
            <a:off x="15076686" y="1046103"/>
            <a:ext cx="2388354" cy="2388354"/>
            <a:chOff x="0" y="0"/>
            <a:chExt cx="5852160" cy="5852160"/>
          </a:xfrm>
        </p:grpSpPr>
        <p:sp>
          <p:nvSpPr>
            <p:cNvPr name="Freeform 109" id="10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5"/>
              <a:stretch>
                <a:fillRect l="0" t="0" r="0" b="0"/>
              </a:stretch>
            </a:blipFill>
          </p:spPr>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p.46</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  Errores comunes del Analista SOC — Módulo 1</a:t>
              </a:r>
            </a:p>
          </p:txBody>
        </p:sp>
      </p:grpSp>
      <p:grpSp>
        <p:nvGrpSpPr>
          <p:cNvPr name="Group 19" id="19"/>
          <p:cNvGrpSpPr/>
          <p:nvPr/>
        </p:nvGrpSpPr>
        <p:grpSpPr>
          <a:xfrm rot="0">
            <a:off x="640080" y="1773936"/>
            <a:ext cx="17007840" cy="822960"/>
            <a:chOff x="0" y="0"/>
            <a:chExt cx="22677120" cy="1097280"/>
          </a:xfrm>
        </p:grpSpPr>
        <p:sp>
          <p:nvSpPr>
            <p:cNvPr name="Freeform 20" id="20"/>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5">
                <a:alphaModFix amt="0"/>
              </a:blip>
              <a:stretch>
                <a:fillRect l="0" t="-352410" r="0" b="-352410"/>
              </a:stretch>
            </a:blipFill>
          </p:spPr>
        </p:sp>
      </p:grpSp>
      <p:grpSp>
        <p:nvGrpSpPr>
          <p:cNvPr name="Group 21" id="21"/>
          <p:cNvGrpSpPr/>
          <p:nvPr/>
        </p:nvGrpSpPr>
        <p:grpSpPr>
          <a:xfrm rot="0">
            <a:off x="640080" y="1738217"/>
            <a:ext cx="17007840" cy="858679"/>
            <a:chOff x="0" y="0"/>
            <a:chExt cx="22677120" cy="1144905"/>
          </a:xfrm>
        </p:grpSpPr>
        <p:sp>
          <p:nvSpPr>
            <p:cNvPr name="Freeform 22" id="22"/>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6">
                <a:alphaModFix amt="0"/>
              </a:blip>
              <a:stretch>
                <a:fillRect l="0" t="-335939" r="0" b="-335939"/>
              </a:stretch>
            </a:blipFill>
          </p:spPr>
        </p:sp>
        <p:sp>
          <p:nvSpPr>
            <p:cNvPr name="TextBox 23" id="23"/>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AAAAAA"/>
                  </a:solidFill>
                  <a:latin typeface="Calibri (MS)"/>
                  <a:ea typeface="Calibri (MS)"/>
                  <a:cs typeface="Calibri (MS)"/>
                  <a:sym typeface="Calibri (MS)"/>
                </a:rPr>
                <a:t>Reconocer estos errores desde el principio marca la diferencia entre un analista que genera ruido y uno que genera valor.</a:t>
              </a:r>
            </a:p>
          </p:txBody>
        </p:sp>
      </p:grpSp>
      <p:sp>
        <p:nvSpPr>
          <p:cNvPr name="Freeform 24" id="24"/>
          <p:cNvSpPr/>
          <p:nvPr/>
        </p:nvSpPr>
        <p:spPr>
          <a:xfrm flipH="false" flipV="false" rot="0">
            <a:off x="572519" y="273050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572519" y="273050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859536" y="2743200"/>
            <a:ext cx="7827264" cy="585216"/>
            <a:chOff x="0" y="0"/>
            <a:chExt cx="10436352" cy="780288"/>
          </a:xfrm>
        </p:grpSpPr>
        <p:sp>
          <p:nvSpPr>
            <p:cNvPr name="Freeform 27" id="27"/>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28" id="28"/>
          <p:cNvGrpSpPr/>
          <p:nvPr/>
        </p:nvGrpSpPr>
        <p:grpSpPr>
          <a:xfrm rot="0">
            <a:off x="859536" y="2714625"/>
            <a:ext cx="7827264" cy="613791"/>
            <a:chOff x="0" y="0"/>
            <a:chExt cx="10436352" cy="818388"/>
          </a:xfrm>
        </p:grpSpPr>
        <p:sp>
          <p:nvSpPr>
            <p:cNvPr name="Freeform 29" id="29"/>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30" id="30"/>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Asumir que toda alerta es un incidente</a:t>
              </a:r>
            </a:p>
          </p:txBody>
        </p:sp>
      </p:grpSp>
      <p:sp>
        <p:nvSpPr>
          <p:cNvPr name="TextBox 31" id="31"/>
          <p:cNvSpPr txBox="true"/>
          <p:nvPr/>
        </p:nvSpPr>
        <p:spPr>
          <a:xfrm rot="0">
            <a:off x="950976" y="331622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Siempre validar el contexto antes de clasificar. Una alerta es una señal, no una conclusión.</a:t>
            </a:r>
          </a:p>
        </p:txBody>
      </p:sp>
      <p:sp>
        <p:nvSpPr>
          <p:cNvPr name="Freeform 32" id="32"/>
          <p:cNvSpPr/>
          <p:nvPr/>
        </p:nvSpPr>
        <p:spPr>
          <a:xfrm flipH="false" flipV="false" rot="0">
            <a:off x="9497063" y="273050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3" id="33"/>
          <p:cNvSpPr/>
          <p:nvPr/>
        </p:nvSpPr>
        <p:spPr>
          <a:xfrm flipH="false" flipV="false" rot="0">
            <a:off x="9497063" y="273050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9784080" y="2743200"/>
            <a:ext cx="7827264" cy="585216"/>
            <a:chOff x="0" y="0"/>
            <a:chExt cx="10436352" cy="780288"/>
          </a:xfrm>
        </p:grpSpPr>
        <p:sp>
          <p:nvSpPr>
            <p:cNvPr name="Freeform 35" id="35"/>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36" id="36"/>
          <p:cNvGrpSpPr/>
          <p:nvPr/>
        </p:nvGrpSpPr>
        <p:grpSpPr>
          <a:xfrm rot="0">
            <a:off x="9784080" y="2714625"/>
            <a:ext cx="7827264" cy="613791"/>
            <a:chOff x="0" y="0"/>
            <a:chExt cx="10436352" cy="818388"/>
          </a:xfrm>
        </p:grpSpPr>
        <p:sp>
          <p:nvSpPr>
            <p:cNvPr name="Freeform 37" id="37"/>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38" id="38"/>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Cerrar una alerta sin revisar el contexto completo</a:t>
              </a:r>
            </a:p>
          </p:txBody>
        </p:sp>
      </p:grpSp>
      <p:sp>
        <p:nvSpPr>
          <p:cNvPr name="TextBox 39" id="39"/>
          <p:cNvSpPr txBox="true"/>
          <p:nvPr/>
        </p:nvSpPr>
        <p:spPr>
          <a:xfrm rot="0">
            <a:off x="9875520" y="331622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Verificar usuario, sistema, horario, patrones previos. No cerrar por intuición.</a:t>
            </a:r>
          </a:p>
        </p:txBody>
      </p:sp>
      <p:sp>
        <p:nvSpPr>
          <p:cNvPr name="Freeform 40" id="40"/>
          <p:cNvSpPr/>
          <p:nvPr/>
        </p:nvSpPr>
        <p:spPr>
          <a:xfrm flipH="false" flipV="false" rot="0">
            <a:off x="572519" y="437642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1" id="41"/>
          <p:cNvSpPr/>
          <p:nvPr/>
        </p:nvSpPr>
        <p:spPr>
          <a:xfrm flipH="false" flipV="false" rot="0">
            <a:off x="572519" y="437642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2" id="42"/>
          <p:cNvGrpSpPr/>
          <p:nvPr/>
        </p:nvGrpSpPr>
        <p:grpSpPr>
          <a:xfrm rot="0">
            <a:off x="859536" y="4389120"/>
            <a:ext cx="7827264" cy="585216"/>
            <a:chOff x="0" y="0"/>
            <a:chExt cx="10436352" cy="780288"/>
          </a:xfrm>
        </p:grpSpPr>
        <p:sp>
          <p:nvSpPr>
            <p:cNvPr name="Freeform 43" id="43"/>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44" id="44"/>
          <p:cNvGrpSpPr/>
          <p:nvPr/>
        </p:nvGrpSpPr>
        <p:grpSpPr>
          <a:xfrm rot="0">
            <a:off x="859536" y="4360545"/>
            <a:ext cx="7827264" cy="613791"/>
            <a:chOff x="0" y="0"/>
            <a:chExt cx="10436352" cy="818388"/>
          </a:xfrm>
        </p:grpSpPr>
        <p:sp>
          <p:nvSpPr>
            <p:cNvPr name="Freeform 45" id="45"/>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46" id="46"/>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No documentar las acciones tomadas</a:t>
              </a:r>
            </a:p>
          </p:txBody>
        </p:sp>
      </p:grpSp>
      <p:sp>
        <p:nvSpPr>
          <p:cNvPr name="TextBox 47" id="47"/>
          <p:cNvSpPr txBox="true"/>
          <p:nvPr/>
        </p:nvSpPr>
        <p:spPr>
          <a:xfrm rot="0">
            <a:off x="950976" y="496214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Si no está documentado, no ocurrió. La documentación protege al analista y al equipo.</a:t>
            </a:r>
          </a:p>
        </p:txBody>
      </p:sp>
      <p:sp>
        <p:nvSpPr>
          <p:cNvPr name="Freeform 48" id="48"/>
          <p:cNvSpPr/>
          <p:nvPr/>
        </p:nvSpPr>
        <p:spPr>
          <a:xfrm flipH="false" flipV="false" rot="0">
            <a:off x="9497063" y="437642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9" id="49"/>
          <p:cNvSpPr/>
          <p:nvPr/>
        </p:nvSpPr>
        <p:spPr>
          <a:xfrm flipH="false" flipV="false" rot="0">
            <a:off x="9497063" y="437642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0" id="50"/>
          <p:cNvGrpSpPr/>
          <p:nvPr/>
        </p:nvGrpSpPr>
        <p:grpSpPr>
          <a:xfrm rot="0">
            <a:off x="9784080" y="4389120"/>
            <a:ext cx="7827264" cy="585216"/>
            <a:chOff x="0" y="0"/>
            <a:chExt cx="10436352" cy="780288"/>
          </a:xfrm>
        </p:grpSpPr>
        <p:sp>
          <p:nvSpPr>
            <p:cNvPr name="Freeform 51" id="51"/>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52" id="52"/>
          <p:cNvGrpSpPr/>
          <p:nvPr/>
        </p:nvGrpSpPr>
        <p:grpSpPr>
          <a:xfrm rot="0">
            <a:off x="9784080" y="4360545"/>
            <a:ext cx="7827264" cy="613791"/>
            <a:chOff x="0" y="0"/>
            <a:chExt cx="10436352" cy="818388"/>
          </a:xfrm>
        </p:grpSpPr>
        <p:sp>
          <p:nvSpPr>
            <p:cNvPr name="Freeform 53" id="53"/>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54" id="54"/>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Escalar sin incluir contexto suficiente</a:t>
              </a:r>
            </a:p>
          </p:txBody>
        </p:sp>
      </p:grpSp>
      <p:sp>
        <p:nvSpPr>
          <p:cNvPr name="TextBox 55" id="55"/>
          <p:cNvSpPr txBox="true"/>
          <p:nvPr/>
        </p:nvSpPr>
        <p:spPr>
          <a:xfrm rot="0">
            <a:off x="9875520" y="496214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L2 necesita toda la información disponible para actuar rápido. Escalar vacío es peor que no escalar.</a:t>
            </a:r>
          </a:p>
        </p:txBody>
      </p:sp>
      <p:sp>
        <p:nvSpPr>
          <p:cNvPr name="Freeform 56" id="56"/>
          <p:cNvSpPr/>
          <p:nvPr/>
        </p:nvSpPr>
        <p:spPr>
          <a:xfrm flipH="false" flipV="false" rot="0">
            <a:off x="572519" y="602234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57" id="57"/>
          <p:cNvSpPr/>
          <p:nvPr/>
        </p:nvSpPr>
        <p:spPr>
          <a:xfrm flipH="false" flipV="false" rot="0">
            <a:off x="572519" y="602234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8" id="58"/>
          <p:cNvGrpSpPr/>
          <p:nvPr/>
        </p:nvGrpSpPr>
        <p:grpSpPr>
          <a:xfrm rot="0">
            <a:off x="859536" y="6035040"/>
            <a:ext cx="7827264" cy="585216"/>
            <a:chOff x="0" y="0"/>
            <a:chExt cx="10436352" cy="780288"/>
          </a:xfrm>
        </p:grpSpPr>
        <p:sp>
          <p:nvSpPr>
            <p:cNvPr name="Freeform 59" id="59"/>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60" id="60"/>
          <p:cNvGrpSpPr/>
          <p:nvPr/>
        </p:nvGrpSpPr>
        <p:grpSpPr>
          <a:xfrm rot="0">
            <a:off x="859536" y="6006465"/>
            <a:ext cx="7827264" cy="613791"/>
            <a:chOff x="0" y="0"/>
            <a:chExt cx="10436352" cy="818388"/>
          </a:xfrm>
        </p:grpSpPr>
        <p:sp>
          <p:nvSpPr>
            <p:cNvPr name="Freeform 61" id="61"/>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62" id="62"/>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Analizar eventos de forma aislada</a:t>
              </a:r>
            </a:p>
          </p:txBody>
        </p:sp>
      </p:grpSp>
      <p:sp>
        <p:nvSpPr>
          <p:cNvPr name="TextBox 63" id="63"/>
          <p:cNvSpPr txBox="true"/>
          <p:nvPr/>
        </p:nvSpPr>
        <p:spPr>
          <a:xfrm rot="0">
            <a:off x="950976" y="660806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Los incidentes tienen contexto temporal y relacionado. Correlacionar antes de decidir.</a:t>
            </a:r>
          </a:p>
        </p:txBody>
      </p:sp>
      <p:sp>
        <p:nvSpPr>
          <p:cNvPr name="Freeform 64" id="64"/>
          <p:cNvSpPr/>
          <p:nvPr/>
        </p:nvSpPr>
        <p:spPr>
          <a:xfrm flipH="false" flipV="false" rot="0">
            <a:off x="9497063" y="602234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5" id="65"/>
          <p:cNvSpPr/>
          <p:nvPr/>
        </p:nvSpPr>
        <p:spPr>
          <a:xfrm flipH="false" flipV="false" rot="0">
            <a:off x="9497063" y="602234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6" id="66"/>
          <p:cNvGrpSpPr/>
          <p:nvPr/>
        </p:nvGrpSpPr>
        <p:grpSpPr>
          <a:xfrm rot="0">
            <a:off x="9784080" y="6035040"/>
            <a:ext cx="7827264" cy="585216"/>
            <a:chOff x="0" y="0"/>
            <a:chExt cx="10436352" cy="780288"/>
          </a:xfrm>
        </p:grpSpPr>
        <p:sp>
          <p:nvSpPr>
            <p:cNvPr name="Freeform 67" id="67"/>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68" id="68"/>
          <p:cNvGrpSpPr/>
          <p:nvPr/>
        </p:nvGrpSpPr>
        <p:grpSpPr>
          <a:xfrm rot="0">
            <a:off x="9784080" y="6006465"/>
            <a:ext cx="7827264" cy="613791"/>
            <a:chOff x="0" y="0"/>
            <a:chExt cx="10436352" cy="818388"/>
          </a:xfrm>
        </p:grpSpPr>
        <p:sp>
          <p:nvSpPr>
            <p:cNvPr name="Freeform 69" id="69"/>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70" id="70"/>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Confiar ciegamente en una herramienta</a:t>
              </a:r>
            </a:p>
          </p:txBody>
        </p:sp>
      </p:grpSp>
      <p:sp>
        <p:nvSpPr>
          <p:cNvPr name="TextBox 71" id="71"/>
          <p:cNvSpPr txBox="true"/>
          <p:nvPr/>
        </p:nvSpPr>
        <p:spPr>
          <a:xfrm rot="0">
            <a:off x="9875520" y="660806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Las herramientas tienen límites y falsos negativos. El criterio humano es esencial.</a:t>
            </a:r>
          </a:p>
        </p:txBody>
      </p:sp>
      <p:sp>
        <p:nvSpPr>
          <p:cNvPr name="Freeform 72" id="72"/>
          <p:cNvSpPr/>
          <p:nvPr/>
        </p:nvSpPr>
        <p:spPr>
          <a:xfrm flipH="false" flipV="false" rot="0">
            <a:off x="572519" y="766826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3" id="73"/>
          <p:cNvSpPr/>
          <p:nvPr/>
        </p:nvSpPr>
        <p:spPr>
          <a:xfrm flipH="false" flipV="false" rot="0">
            <a:off x="572519" y="766826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4" id="74"/>
          <p:cNvGrpSpPr/>
          <p:nvPr/>
        </p:nvGrpSpPr>
        <p:grpSpPr>
          <a:xfrm rot="0">
            <a:off x="859536" y="7680960"/>
            <a:ext cx="7827264" cy="585216"/>
            <a:chOff x="0" y="0"/>
            <a:chExt cx="10436352" cy="780288"/>
          </a:xfrm>
        </p:grpSpPr>
        <p:sp>
          <p:nvSpPr>
            <p:cNvPr name="Freeform 75" id="75"/>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76" id="76"/>
          <p:cNvGrpSpPr/>
          <p:nvPr/>
        </p:nvGrpSpPr>
        <p:grpSpPr>
          <a:xfrm rot="0">
            <a:off x="859536" y="7652385"/>
            <a:ext cx="7827264" cy="613791"/>
            <a:chOff x="0" y="0"/>
            <a:chExt cx="10436352" cy="818388"/>
          </a:xfrm>
        </p:grpSpPr>
        <p:sp>
          <p:nvSpPr>
            <p:cNvPr name="Freeform 77" id="77"/>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78" id="78"/>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Compartir información fuera del canal autorizado</a:t>
              </a:r>
            </a:p>
          </p:txBody>
        </p:sp>
      </p:grpSp>
      <p:sp>
        <p:nvSpPr>
          <p:cNvPr name="TextBox 79" id="79"/>
          <p:cNvSpPr txBox="true"/>
          <p:nvPr/>
        </p:nvSpPr>
        <p:spPr>
          <a:xfrm rot="0">
            <a:off x="950976" y="825398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Toda información sensible solo circula por canales corporativos autorizados.</a:t>
            </a:r>
          </a:p>
        </p:txBody>
      </p:sp>
      <p:sp>
        <p:nvSpPr>
          <p:cNvPr name="Freeform 80" id="80"/>
          <p:cNvSpPr/>
          <p:nvPr/>
        </p:nvSpPr>
        <p:spPr>
          <a:xfrm flipH="false" flipV="false" rot="0">
            <a:off x="9497063" y="766826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1" id="81"/>
          <p:cNvSpPr/>
          <p:nvPr/>
        </p:nvSpPr>
        <p:spPr>
          <a:xfrm flipH="false" flipV="false" rot="0">
            <a:off x="9497063" y="766826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2" id="82"/>
          <p:cNvGrpSpPr/>
          <p:nvPr/>
        </p:nvGrpSpPr>
        <p:grpSpPr>
          <a:xfrm rot="0">
            <a:off x="9784080" y="7680960"/>
            <a:ext cx="7827264" cy="585216"/>
            <a:chOff x="0" y="0"/>
            <a:chExt cx="10436352" cy="780288"/>
          </a:xfrm>
        </p:grpSpPr>
        <p:sp>
          <p:nvSpPr>
            <p:cNvPr name="Freeform 83" id="83"/>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84" id="84"/>
          <p:cNvGrpSpPr/>
          <p:nvPr/>
        </p:nvGrpSpPr>
        <p:grpSpPr>
          <a:xfrm rot="0">
            <a:off x="9784080" y="7652385"/>
            <a:ext cx="7827264" cy="613791"/>
            <a:chOff x="0" y="0"/>
            <a:chExt cx="10436352" cy="818388"/>
          </a:xfrm>
        </p:grpSpPr>
        <p:sp>
          <p:nvSpPr>
            <p:cNvPr name="Freeform 85" id="85"/>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86" id="86"/>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Confirmar impacto sin evidencia sólida</a:t>
              </a:r>
            </a:p>
          </p:txBody>
        </p:sp>
      </p:grpSp>
      <p:sp>
        <p:nvSpPr>
          <p:cNvPr name="TextBox 87" id="87"/>
          <p:cNvSpPr txBox="true"/>
          <p:nvPr/>
        </p:nvSpPr>
        <p:spPr>
          <a:xfrm rot="0">
            <a:off x="9875520" y="825398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Un comportamiento sospechoso no es evidencia de compromiso. Investigar antes de concluir.</a:t>
            </a:r>
          </a:p>
        </p:txBody>
      </p:sp>
      <p:grpSp>
        <p:nvGrpSpPr>
          <p:cNvPr name="Group 88" id="88"/>
          <p:cNvGrpSpPr/>
          <p:nvPr/>
        </p:nvGrpSpPr>
        <p:grpSpPr>
          <a:xfrm rot="0">
            <a:off x="15983863" y="24203"/>
            <a:ext cx="1855079" cy="1855079"/>
            <a:chOff x="0" y="0"/>
            <a:chExt cx="5852160" cy="5852160"/>
          </a:xfrm>
        </p:grpSpPr>
        <p:sp>
          <p:nvSpPr>
            <p:cNvPr name="Freeform 89" id="8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3"/>
              <a:stretch>
                <a:fillRect l="0" t="0" r="0" b="0"/>
              </a:stretch>
            </a:blipFill>
          </p:spPr>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p.47</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Preguntas de repaso — Módulo 1</a:t>
              </a:r>
            </a:p>
          </p:txBody>
        </p:sp>
      </p:grpSp>
      <p:sp>
        <p:nvSpPr>
          <p:cNvPr name="Freeform 20" id="20"/>
          <p:cNvSpPr/>
          <p:nvPr/>
        </p:nvSpPr>
        <p:spPr>
          <a:xfrm flipH="false" flipV="false" rot="0">
            <a:off x="572519" y="177952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792224"/>
            <a:ext cx="694944" cy="768096"/>
            <a:chOff x="0" y="0"/>
            <a:chExt cx="926592" cy="1024128"/>
          </a:xfrm>
        </p:grpSpPr>
        <p:sp>
          <p:nvSpPr>
            <p:cNvPr name="Freeform 22" id="22"/>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23" id="23"/>
          <p:cNvGrpSpPr/>
          <p:nvPr/>
        </p:nvGrpSpPr>
        <p:grpSpPr>
          <a:xfrm rot="0">
            <a:off x="585216" y="1756505"/>
            <a:ext cx="694944" cy="803815"/>
            <a:chOff x="0" y="0"/>
            <a:chExt cx="926592" cy="1071753"/>
          </a:xfrm>
        </p:grpSpPr>
        <p:sp>
          <p:nvSpPr>
            <p:cNvPr name="Freeform 24" id="24"/>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25" id="25"/>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1</a:t>
              </a:r>
            </a:p>
          </p:txBody>
        </p:sp>
      </p:grpSp>
      <p:sp>
        <p:nvSpPr>
          <p:cNvPr name="Freeform 26" id="26"/>
          <p:cNvSpPr/>
          <p:nvPr/>
        </p:nvSpPr>
        <p:spPr>
          <a:xfrm flipH="false" flipV="false" rot="0">
            <a:off x="1304039" y="177952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1536192" y="1792224"/>
            <a:ext cx="16020288" cy="768096"/>
            <a:chOff x="0" y="0"/>
            <a:chExt cx="21360384" cy="1024128"/>
          </a:xfrm>
        </p:grpSpPr>
        <p:sp>
          <p:nvSpPr>
            <p:cNvPr name="Freeform 28" id="28"/>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29" id="29"/>
          <p:cNvGrpSpPr/>
          <p:nvPr/>
        </p:nvGrpSpPr>
        <p:grpSpPr>
          <a:xfrm rot="0">
            <a:off x="1536192" y="1763649"/>
            <a:ext cx="16020288" cy="796671"/>
            <a:chOff x="0" y="0"/>
            <a:chExt cx="21360384" cy="1062228"/>
          </a:xfrm>
        </p:grpSpPr>
        <p:sp>
          <p:nvSpPr>
            <p:cNvPr name="Freeform 30" id="30"/>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31" id="31"/>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¿Cuáles son los tres objetivos operativos principales de un SOC y cómo se relacionan entre sí?</a:t>
              </a:r>
            </a:p>
          </p:txBody>
        </p:sp>
      </p:grpSp>
      <p:sp>
        <p:nvSpPr>
          <p:cNvPr name="Freeform 32" id="32"/>
          <p:cNvSpPr/>
          <p:nvPr/>
        </p:nvSpPr>
        <p:spPr>
          <a:xfrm flipH="false" flipV="false" rot="0">
            <a:off x="572519" y="278536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3" id="33"/>
          <p:cNvGrpSpPr/>
          <p:nvPr/>
        </p:nvGrpSpPr>
        <p:grpSpPr>
          <a:xfrm rot="0">
            <a:off x="585216" y="2798064"/>
            <a:ext cx="694944" cy="768096"/>
            <a:chOff x="0" y="0"/>
            <a:chExt cx="926592" cy="1024128"/>
          </a:xfrm>
        </p:grpSpPr>
        <p:sp>
          <p:nvSpPr>
            <p:cNvPr name="Freeform 34" id="34"/>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35" id="35"/>
          <p:cNvGrpSpPr/>
          <p:nvPr/>
        </p:nvGrpSpPr>
        <p:grpSpPr>
          <a:xfrm rot="0">
            <a:off x="585216" y="2762345"/>
            <a:ext cx="694944" cy="803815"/>
            <a:chOff x="0" y="0"/>
            <a:chExt cx="926592" cy="1071753"/>
          </a:xfrm>
        </p:grpSpPr>
        <p:sp>
          <p:nvSpPr>
            <p:cNvPr name="Freeform 36" id="36"/>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37" id="37"/>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2</a:t>
              </a:r>
            </a:p>
          </p:txBody>
        </p:sp>
      </p:grpSp>
      <p:sp>
        <p:nvSpPr>
          <p:cNvPr name="Freeform 38" id="38"/>
          <p:cNvSpPr/>
          <p:nvPr/>
        </p:nvSpPr>
        <p:spPr>
          <a:xfrm flipH="false" flipV="false" rot="0">
            <a:off x="1304039" y="278536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9" id="39"/>
          <p:cNvGrpSpPr/>
          <p:nvPr/>
        </p:nvGrpSpPr>
        <p:grpSpPr>
          <a:xfrm rot="0">
            <a:off x="1536192" y="2798064"/>
            <a:ext cx="16020288" cy="768096"/>
            <a:chOff x="0" y="0"/>
            <a:chExt cx="21360384" cy="1024128"/>
          </a:xfrm>
        </p:grpSpPr>
        <p:sp>
          <p:nvSpPr>
            <p:cNvPr name="Freeform 40" id="40"/>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41" id="41"/>
          <p:cNvGrpSpPr/>
          <p:nvPr/>
        </p:nvGrpSpPr>
        <p:grpSpPr>
          <a:xfrm rot="0">
            <a:off x="1536192" y="2769489"/>
            <a:ext cx="16020288" cy="796671"/>
            <a:chOff x="0" y="0"/>
            <a:chExt cx="21360384" cy="1062228"/>
          </a:xfrm>
        </p:grpSpPr>
        <p:sp>
          <p:nvSpPr>
            <p:cNvPr name="Freeform 42" id="42"/>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43" id="43"/>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 es la diferencia entre un SOC interno y un MSSP? ¿Para qué tipo de organización aplica cada uno?</a:t>
              </a:r>
            </a:p>
          </p:txBody>
        </p:sp>
      </p:grpSp>
      <p:sp>
        <p:nvSpPr>
          <p:cNvPr name="Freeform 44" id="44"/>
          <p:cNvSpPr/>
          <p:nvPr/>
        </p:nvSpPr>
        <p:spPr>
          <a:xfrm flipH="false" flipV="false" rot="0">
            <a:off x="572519" y="379120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5" id="45"/>
          <p:cNvGrpSpPr/>
          <p:nvPr/>
        </p:nvGrpSpPr>
        <p:grpSpPr>
          <a:xfrm rot="0">
            <a:off x="585216" y="3803904"/>
            <a:ext cx="694944" cy="768096"/>
            <a:chOff x="0" y="0"/>
            <a:chExt cx="926592" cy="1024128"/>
          </a:xfrm>
        </p:grpSpPr>
        <p:sp>
          <p:nvSpPr>
            <p:cNvPr name="Freeform 46" id="46"/>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47" id="47"/>
          <p:cNvGrpSpPr/>
          <p:nvPr/>
        </p:nvGrpSpPr>
        <p:grpSpPr>
          <a:xfrm rot="0">
            <a:off x="585216" y="3768185"/>
            <a:ext cx="694944" cy="803815"/>
            <a:chOff x="0" y="0"/>
            <a:chExt cx="926592" cy="1071753"/>
          </a:xfrm>
        </p:grpSpPr>
        <p:sp>
          <p:nvSpPr>
            <p:cNvPr name="Freeform 48" id="48"/>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49" id="49"/>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3</a:t>
              </a:r>
            </a:p>
          </p:txBody>
        </p:sp>
      </p:grpSp>
      <p:sp>
        <p:nvSpPr>
          <p:cNvPr name="Freeform 50" id="50"/>
          <p:cNvSpPr/>
          <p:nvPr/>
        </p:nvSpPr>
        <p:spPr>
          <a:xfrm flipH="false" flipV="false" rot="0">
            <a:off x="1304039" y="379120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1" id="51"/>
          <p:cNvGrpSpPr/>
          <p:nvPr/>
        </p:nvGrpSpPr>
        <p:grpSpPr>
          <a:xfrm rot="0">
            <a:off x="1536192" y="3803904"/>
            <a:ext cx="16020288" cy="768096"/>
            <a:chOff x="0" y="0"/>
            <a:chExt cx="21360384" cy="1024128"/>
          </a:xfrm>
        </p:grpSpPr>
        <p:sp>
          <p:nvSpPr>
            <p:cNvPr name="Freeform 52" id="52"/>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53" id="53"/>
          <p:cNvGrpSpPr/>
          <p:nvPr/>
        </p:nvGrpSpPr>
        <p:grpSpPr>
          <a:xfrm rot="0">
            <a:off x="1536192" y="3775329"/>
            <a:ext cx="16020288" cy="796671"/>
            <a:chOff x="0" y="0"/>
            <a:chExt cx="21360384" cy="1062228"/>
          </a:xfrm>
        </p:grpSpPr>
        <p:sp>
          <p:nvSpPr>
            <p:cNvPr name="Freeform 54" id="54"/>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55" id="55"/>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Un analista SOC recibe una alerta de múltiples intentos de login fallidos desde una IP extranjera. ¿Cuáles son los primeros pasos que debería seguir?</a:t>
              </a:r>
            </a:p>
          </p:txBody>
        </p:sp>
      </p:grpSp>
      <p:sp>
        <p:nvSpPr>
          <p:cNvPr name="Freeform 56" id="56"/>
          <p:cNvSpPr/>
          <p:nvPr/>
        </p:nvSpPr>
        <p:spPr>
          <a:xfrm flipH="false" flipV="false" rot="0">
            <a:off x="572519" y="479704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7" id="57"/>
          <p:cNvGrpSpPr/>
          <p:nvPr/>
        </p:nvGrpSpPr>
        <p:grpSpPr>
          <a:xfrm rot="0">
            <a:off x="585216" y="4809744"/>
            <a:ext cx="694944" cy="768096"/>
            <a:chOff x="0" y="0"/>
            <a:chExt cx="926592" cy="1024128"/>
          </a:xfrm>
        </p:grpSpPr>
        <p:sp>
          <p:nvSpPr>
            <p:cNvPr name="Freeform 58" id="58"/>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59" id="59"/>
          <p:cNvGrpSpPr/>
          <p:nvPr/>
        </p:nvGrpSpPr>
        <p:grpSpPr>
          <a:xfrm rot="0">
            <a:off x="585216" y="4774025"/>
            <a:ext cx="694944" cy="803815"/>
            <a:chOff x="0" y="0"/>
            <a:chExt cx="926592" cy="1071753"/>
          </a:xfrm>
        </p:grpSpPr>
        <p:sp>
          <p:nvSpPr>
            <p:cNvPr name="Freeform 60" id="60"/>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61" id="61"/>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4</a:t>
              </a:r>
            </a:p>
          </p:txBody>
        </p:sp>
      </p:grpSp>
      <p:sp>
        <p:nvSpPr>
          <p:cNvPr name="Freeform 62" id="62"/>
          <p:cNvSpPr/>
          <p:nvPr/>
        </p:nvSpPr>
        <p:spPr>
          <a:xfrm flipH="false" flipV="false" rot="0">
            <a:off x="1304039" y="479704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3" id="63"/>
          <p:cNvGrpSpPr/>
          <p:nvPr/>
        </p:nvGrpSpPr>
        <p:grpSpPr>
          <a:xfrm rot="0">
            <a:off x="1536192" y="4809744"/>
            <a:ext cx="16020288" cy="768096"/>
            <a:chOff x="0" y="0"/>
            <a:chExt cx="21360384" cy="1024128"/>
          </a:xfrm>
        </p:grpSpPr>
        <p:sp>
          <p:nvSpPr>
            <p:cNvPr name="Freeform 64" id="64"/>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65" id="65"/>
          <p:cNvGrpSpPr/>
          <p:nvPr/>
        </p:nvGrpSpPr>
        <p:grpSpPr>
          <a:xfrm rot="0">
            <a:off x="1536192" y="4781169"/>
            <a:ext cx="16020288" cy="796671"/>
            <a:chOff x="0" y="0"/>
            <a:chExt cx="21360384" cy="1062228"/>
          </a:xfrm>
        </p:grpSpPr>
        <p:sp>
          <p:nvSpPr>
            <p:cNvPr name="Freeform 66" id="66"/>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67" id="67"/>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 es la diferencia entre un log, un evento, una alerta y un incidente? Podés dar un ejemplo de cada uno.</a:t>
              </a:r>
            </a:p>
          </p:txBody>
        </p:sp>
      </p:grpSp>
      <p:sp>
        <p:nvSpPr>
          <p:cNvPr name="Freeform 68" id="68"/>
          <p:cNvSpPr/>
          <p:nvPr/>
        </p:nvSpPr>
        <p:spPr>
          <a:xfrm flipH="false" flipV="false" rot="0">
            <a:off x="572519" y="580288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9" id="69"/>
          <p:cNvGrpSpPr/>
          <p:nvPr/>
        </p:nvGrpSpPr>
        <p:grpSpPr>
          <a:xfrm rot="0">
            <a:off x="585216" y="5815584"/>
            <a:ext cx="694944" cy="768096"/>
            <a:chOff x="0" y="0"/>
            <a:chExt cx="926592" cy="1024128"/>
          </a:xfrm>
        </p:grpSpPr>
        <p:sp>
          <p:nvSpPr>
            <p:cNvPr name="Freeform 70" id="70"/>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71" id="71"/>
          <p:cNvGrpSpPr/>
          <p:nvPr/>
        </p:nvGrpSpPr>
        <p:grpSpPr>
          <a:xfrm rot="0">
            <a:off x="585216" y="5779865"/>
            <a:ext cx="694944" cy="803815"/>
            <a:chOff x="0" y="0"/>
            <a:chExt cx="926592" cy="1071753"/>
          </a:xfrm>
        </p:grpSpPr>
        <p:sp>
          <p:nvSpPr>
            <p:cNvPr name="Freeform 72" id="72"/>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73" id="73"/>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5</a:t>
              </a:r>
            </a:p>
          </p:txBody>
        </p:sp>
      </p:grpSp>
      <p:sp>
        <p:nvSpPr>
          <p:cNvPr name="Freeform 74" id="74"/>
          <p:cNvSpPr/>
          <p:nvPr/>
        </p:nvSpPr>
        <p:spPr>
          <a:xfrm flipH="false" flipV="false" rot="0">
            <a:off x="1304039" y="580288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75" id="75"/>
          <p:cNvGrpSpPr/>
          <p:nvPr/>
        </p:nvGrpSpPr>
        <p:grpSpPr>
          <a:xfrm rot="0">
            <a:off x="1536192" y="5815584"/>
            <a:ext cx="16020288" cy="768096"/>
            <a:chOff x="0" y="0"/>
            <a:chExt cx="21360384" cy="1024128"/>
          </a:xfrm>
        </p:grpSpPr>
        <p:sp>
          <p:nvSpPr>
            <p:cNvPr name="Freeform 76" id="76"/>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77" id="77"/>
          <p:cNvGrpSpPr/>
          <p:nvPr/>
        </p:nvGrpSpPr>
        <p:grpSpPr>
          <a:xfrm rot="0">
            <a:off x="1536192" y="5787009"/>
            <a:ext cx="16020288" cy="796671"/>
            <a:chOff x="0" y="0"/>
            <a:chExt cx="21360384" cy="1062228"/>
          </a:xfrm>
        </p:grpSpPr>
        <p:sp>
          <p:nvSpPr>
            <p:cNvPr name="Freeform 78" id="78"/>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79" id="79"/>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¿Por qué es importante documentar el análisis incluso cuando la alerta resulta ser un falso positivo?</a:t>
              </a:r>
            </a:p>
          </p:txBody>
        </p:sp>
      </p:grpSp>
      <p:sp>
        <p:nvSpPr>
          <p:cNvPr name="Freeform 80" id="80"/>
          <p:cNvSpPr/>
          <p:nvPr/>
        </p:nvSpPr>
        <p:spPr>
          <a:xfrm flipH="false" flipV="false" rot="0">
            <a:off x="572519" y="680872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1" id="81"/>
          <p:cNvGrpSpPr/>
          <p:nvPr/>
        </p:nvGrpSpPr>
        <p:grpSpPr>
          <a:xfrm rot="0">
            <a:off x="585216" y="6821424"/>
            <a:ext cx="694944" cy="768096"/>
            <a:chOff x="0" y="0"/>
            <a:chExt cx="926592" cy="1024128"/>
          </a:xfrm>
        </p:grpSpPr>
        <p:sp>
          <p:nvSpPr>
            <p:cNvPr name="Freeform 82" id="82"/>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83" id="83"/>
          <p:cNvGrpSpPr/>
          <p:nvPr/>
        </p:nvGrpSpPr>
        <p:grpSpPr>
          <a:xfrm rot="0">
            <a:off x="585216" y="6785705"/>
            <a:ext cx="694944" cy="803815"/>
            <a:chOff x="0" y="0"/>
            <a:chExt cx="926592" cy="1071753"/>
          </a:xfrm>
        </p:grpSpPr>
        <p:sp>
          <p:nvSpPr>
            <p:cNvPr name="Freeform 84" id="84"/>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85" id="85"/>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6</a:t>
              </a:r>
            </a:p>
          </p:txBody>
        </p:sp>
      </p:grpSp>
      <p:sp>
        <p:nvSpPr>
          <p:cNvPr name="Freeform 86" id="86"/>
          <p:cNvSpPr/>
          <p:nvPr/>
        </p:nvSpPr>
        <p:spPr>
          <a:xfrm flipH="false" flipV="false" rot="0">
            <a:off x="1304039" y="680872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7" id="87"/>
          <p:cNvGrpSpPr/>
          <p:nvPr/>
        </p:nvGrpSpPr>
        <p:grpSpPr>
          <a:xfrm rot="0">
            <a:off x="1536192" y="6821424"/>
            <a:ext cx="16020288" cy="768096"/>
            <a:chOff x="0" y="0"/>
            <a:chExt cx="21360384" cy="1024128"/>
          </a:xfrm>
        </p:grpSpPr>
        <p:sp>
          <p:nvSpPr>
            <p:cNvPr name="Freeform 88" id="88"/>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89" id="89"/>
          <p:cNvGrpSpPr/>
          <p:nvPr/>
        </p:nvGrpSpPr>
        <p:grpSpPr>
          <a:xfrm rot="0">
            <a:off x="1536192" y="6792849"/>
            <a:ext cx="16020288" cy="796671"/>
            <a:chOff x="0" y="0"/>
            <a:chExt cx="21360384" cy="1062228"/>
          </a:xfrm>
        </p:grpSpPr>
        <p:sp>
          <p:nvSpPr>
            <p:cNvPr name="Freeform 90" id="90"/>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91" id="91"/>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¿Qué información debe incluir un escalamiento para que sea útil y accionable?</a:t>
              </a:r>
            </a:p>
          </p:txBody>
        </p:sp>
      </p:grpSp>
      <p:sp>
        <p:nvSpPr>
          <p:cNvPr name="Freeform 92" id="92"/>
          <p:cNvSpPr/>
          <p:nvPr/>
        </p:nvSpPr>
        <p:spPr>
          <a:xfrm flipH="false" flipV="false" rot="0">
            <a:off x="572519" y="781456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3" id="93"/>
          <p:cNvGrpSpPr/>
          <p:nvPr/>
        </p:nvGrpSpPr>
        <p:grpSpPr>
          <a:xfrm rot="0">
            <a:off x="585216" y="7827264"/>
            <a:ext cx="694944" cy="768096"/>
            <a:chOff x="0" y="0"/>
            <a:chExt cx="926592" cy="1024128"/>
          </a:xfrm>
        </p:grpSpPr>
        <p:sp>
          <p:nvSpPr>
            <p:cNvPr name="Freeform 94" id="94"/>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95" id="95"/>
          <p:cNvGrpSpPr/>
          <p:nvPr/>
        </p:nvGrpSpPr>
        <p:grpSpPr>
          <a:xfrm rot="0">
            <a:off x="585216" y="7791545"/>
            <a:ext cx="694944" cy="803815"/>
            <a:chOff x="0" y="0"/>
            <a:chExt cx="926592" cy="1071753"/>
          </a:xfrm>
        </p:grpSpPr>
        <p:sp>
          <p:nvSpPr>
            <p:cNvPr name="Freeform 96" id="96"/>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97" id="97"/>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7</a:t>
              </a:r>
            </a:p>
          </p:txBody>
        </p:sp>
      </p:grpSp>
      <p:sp>
        <p:nvSpPr>
          <p:cNvPr name="Freeform 98" id="98"/>
          <p:cNvSpPr/>
          <p:nvPr/>
        </p:nvSpPr>
        <p:spPr>
          <a:xfrm flipH="false" flipV="false" rot="0">
            <a:off x="1304039" y="781456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99" id="99"/>
          <p:cNvGrpSpPr/>
          <p:nvPr/>
        </p:nvGrpSpPr>
        <p:grpSpPr>
          <a:xfrm rot="0">
            <a:off x="1536192" y="7827264"/>
            <a:ext cx="16020288" cy="768096"/>
            <a:chOff x="0" y="0"/>
            <a:chExt cx="21360384" cy="1024128"/>
          </a:xfrm>
        </p:grpSpPr>
        <p:sp>
          <p:nvSpPr>
            <p:cNvPr name="Freeform 100" id="100"/>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101" id="101"/>
          <p:cNvGrpSpPr/>
          <p:nvPr/>
        </p:nvGrpSpPr>
        <p:grpSpPr>
          <a:xfrm rot="0">
            <a:off x="1536192" y="7798689"/>
            <a:ext cx="16020288" cy="796671"/>
            <a:chOff x="0" y="0"/>
            <a:chExt cx="21360384" cy="1062228"/>
          </a:xfrm>
        </p:grpSpPr>
        <p:sp>
          <p:nvSpPr>
            <p:cNvPr name="Freeform 102" id="102"/>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103" id="103"/>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¿Por qué decimos que 'ver no significa tener permiso para divulgar'? ¿Qué implica esto en el trabajo diario?</a:t>
              </a:r>
            </a:p>
          </p:txBody>
        </p:sp>
      </p:grpSp>
      <p:sp>
        <p:nvSpPr>
          <p:cNvPr name="Freeform 104" id="104"/>
          <p:cNvSpPr/>
          <p:nvPr/>
        </p:nvSpPr>
        <p:spPr>
          <a:xfrm flipH="false" flipV="false" rot="0">
            <a:off x="572519" y="882040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5" id="105"/>
          <p:cNvGrpSpPr/>
          <p:nvPr/>
        </p:nvGrpSpPr>
        <p:grpSpPr>
          <a:xfrm rot="0">
            <a:off x="585216" y="8833104"/>
            <a:ext cx="694944" cy="768096"/>
            <a:chOff x="0" y="0"/>
            <a:chExt cx="926592" cy="1024128"/>
          </a:xfrm>
        </p:grpSpPr>
        <p:sp>
          <p:nvSpPr>
            <p:cNvPr name="Freeform 106" id="106"/>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107" id="107"/>
          <p:cNvGrpSpPr/>
          <p:nvPr/>
        </p:nvGrpSpPr>
        <p:grpSpPr>
          <a:xfrm rot="0">
            <a:off x="585216" y="8797385"/>
            <a:ext cx="694944" cy="803815"/>
            <a:chOff x="0" y="0"/>
            <a:chExt cx="926592" cy="1071753"/>
          </a:xfrm>
        </p:grpSpPr>
        <p:sp>
          <p:nvSpPr>
            <p:cNvPr name="Freeform 108" id="108"/>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109" id="109"/>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8</a:t>
              </a:r>
            </a:p>
          </p:txBody>
        </p:sp>
      </p:grpSp>
      <p:sp>
        <p:nvSpPr>
          <p:cNvPr name="Freeform 110" id="110"/>
          <p:cNvSpPr/>
          <p:nvPr/>
        </p:nvSpPr>
        <p:spPr>
          <a:xfrm flipH="false" flipV="false" rot="0">
            <a:off x="1304039" y="882040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1" id="111"/>
          <p:cNvGrpSpPr/>
          <p:nvPr/>
        </p:nvGrpSpPr>
        <p:grpSpPr>
          <a:xfrm rot="0">
            <a:off x="1536192" y="8833104"/>
            <a:ext cx="16020288" cy="768096"/>
            <a:chOff x="0" y="0"/>
            <a:chExt cx="21360384" cy="1024128"/>
          </a:xfrm>
        </p:grpSpPr>
        <p:sp>
          <p:nvSpPr>
            <p:cNvPr name="Freeform 112" id="112"/>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113" id="113"/>
          <p:cNvGrpSpPr/>
          <p:nvPr/>
        </p:nvGrpSpPr>
        <p:grpSpPr>
          <a:xfrm rot="0">
            <a:off x="1536192" y="8804529"/>
            <a:ext cx="16020288" cy="796671"/>
            <a:chOff x="0" y="0"/>
            <a:chExt cx="21360384" cy="1062228"/>
          </a:xfrm>
        </p:grpSpPr>
        <p:sp>
          <p:nvSpPr>
            <p:cNvPr name="Freeform 114" id="114"/>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115" id="115"/>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Mencioná al menos 3 rutas de especialización o crecimiento posibles a partir del SOC.</a:t>
              </a:r>
            </a:p>
          </p:txBody>
        </p:sp>
      </p:grpSp>
      <p:grpSp>
        <p:nvGrpSpPr>
          <p:cNvPr name="Group 116" id="116"/>
          <p:cNvGrpSpPr/>
          <p:nvPr/>
        </p:nvGrpSpPr>
        <p:grpSpPr>
          <a:xfrm rot="0">
            <a:off x="15983863" y="24203"/>
            <a:ext cx="1855079" cy="1855079"/>
            <a:chOff x="0" y="0"/>
            <a:chExt cx="5852160" cy="5852160"/>
          </a:xfrm>
        </p:grpSpPr>
        <p:sp>
          <p:nvSpPr>
            <p:cNvPr name="Freeform 117" id="11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5"/>
              <a:stretch>
                <a:fillRect l="0" t="0" r="0" b="0"/>
              </a:stretch>
            </a:blipFill>
          </p:spPr>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18313336" cy="10312337"/>
          </a:xfrm>
          <a:custGeom>
            <a:avLst/>
            <a:gdLst/>
            <a:ahLst/>
            <a:cxnLst/>
            <a:rect r="r" b="b" t="t" l="l"/>
            <a:pathLst>
              <a:path h="10312337" w="18313336">
                <a:moveTo>
                  <a:pt x="0" y="0"/>
                </a:moveTo>
                <a:lnTo>
                  <a:pt x="18313337" y="0"/>
                </a:lnTo>
                <a:lnTo>
                  <a:pt x="183133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8216903"/>
            <a:ext cx="18313336" cy="2219897"/>
          </a:xfrm>
          <a:custGeom>
            <a:avLst/>
            <a:gdLst/>
            <a:ahLst/>
            <a:cxnLst/>
            <a:rect r="r" b="b" t="t" l="l"/>
            <a:pathLst>
              <a:path h="2219897" w="18313336">
                <a:moveTo>
                  <a:pt x="0" y="0"/>
                </a:moveTo>
                <a:lnTo>
                  <a:pt x="18313337" y="0"/>
                </a:lnTo>
                <a:lnTo>
                  <a:pt x="18313337" y="2219897"/>
                </a:lnTo>
                <a:lnTo>
                  <a:pt x="0" y="22198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914400" y="576072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7">
                <a:alphaModFix amt="0"/>
              </a:blip>
              <a:stretch>
                <a:fillRect l="0" t="-242072" r="0" b="-242072"/>
              </a:stretch>
            </a:blipFill>
          </p:spPr>
        </p:sp>
      </p:grpSp>
      <p:grpSp>
        <p:nvGrpSpPr>
          <p:cNvPr name="Group 6" id="6"/>
          <p:cNvGrpSpPr/>
          <p:nvPr/>
        </p:nvGrpSpPr>
        <p:grpSpPr>
          <a:xfrm rot="0">
            <a:off x="914400" y="5703570"/>
            <a:ext cx="16459200" cy="1154430"/>
            <a:chOff x="0" y="0"/>
            <a:chExt cx="21945600" cy="1539240"/>
          </a:xfrm>
        </p:grpSpPr>
        <p:sp>
          <p:nvSpPr>
            <p:cNvPr name="Freeform 7" id="7"/>
            <p:cNvSpPr/>
            <p:nvPr/>
          </p:nvSpPr>
          <p:spPr>
            <a:xfrm flipH="false" flipV="false" rot="0">
              <a:off x="0" y="0"/>
              <a:ext cx="21945600" cy="1539240"/>
            </a:xfrm>
            <a:custGeom>
              <a:avLst/>
              <a:gdLst/>
              <a:ahLst/>
              <a:cxnLst/>
              <a:rect r="r" b="b" t="t" l="l"/>
              <a:pathLst>
                <a:path h="1539240" w="21945600">
                  <a:moveTo>
                    <a:pt x="0" y="0"/>
                  </a:moveTo>
                  <a:lnTo>
                    <a:pt x="21945600" y="0"/>
                  </a:lnTo>
                  <a:lnTo>
                    <a:pt x="21945600" y="1539240"/>
                  </a:lnTo>
                  <a:lnTo>
                    <a:pt x="0" y="1539240"/>
                  </a:lnTo>
                  <a:close/>
                </a:path>
              </a:pathLst>
            </a:custGeom>
            <a:blipFill>
              <a:blip r:embed="rId8">
                <a:alphaModFix amt="0"/>
              </a:blip>
              <a:stretch>
                <a:fillRect l="0" t="-227806" r="0" b="-227806"/>
              </a:stretch>
            </a:blipFill>
          </p:spPr>
        </p:sp>
        <p:sp>
          <p:nvSpPr>
            <p:cNvPr name="TextBox 8" id="8"/>
            <p:cNvSpPr txBox="true"/>
            <p:nvPr/>
          </p:nvSpPr>
          <p:spPr>
            <a:xfrm>
              <a:off x="0" y="-76200"/>
              <a:ext cx="21945600" cy="1615440"/>
            </a:xfrm>
            <a:prstGeom prst="rect">
              <a:avLst/>
            </a:prstGeom>
          </p:spPr>
          <p:txBody>
            <a:bodyPr anchor="ctr" rtlCol="false" tIns="0" lIns="0" bIns="0" rIns="0"/>
            <a:lstStyle/>
            <a:p>
              <a:pPr algn="ctr">
                <a:lnSpc>
                  <a:spcPts val="5280"/>
                </a:lnSpc>
              </a:pPr>
              <a:r>
                <a:rPr lang="en-US" b="true" sz="4400" spc="1199">
                  <a:solidFill>
                    <a:srgbClr val="FFFFFF"/>
                  </a:solidFill>
                  <a:latin typeface="Calibri (MS) Bold"/>
                  <a:ea typeface="Calibri (MS) Bold"/>
                  <a:cs typeface="Calibri (MS) Bold"/>
                  <a:sym typeface="Calibri (MS) Bold"/>
                </a:rPr>
                <a:t>HIDDEN SECURITY</a:t>
              </a:r>
            </a:p>
          </p:txBody>
        </p:sp>
      </p:grpSp>
      <p:grpSp>
        <p:nvGrpSpPr>
          <p:cNvPr name="Group 9" id="9"/>
          <p:cNvGrpSpPr/>
          <p:nvPr/>
        </p:nvGrpSpPr>
        <p:grpSpPr>
          <a:xfrm rot="0">
            <a:off x="914400" y="6949440"/>
            <a:ext cx="16459200" cy="731520"/>
            <a:chOff x="0" y="0"/>
            <a:chExt cx="21945600" cy="975360"/>
          </a:xfrm>
        </p:grpSpPr>
        <p:sp>
          <p:nvSpPr>
            <p:cNvPr name="Freeform 10" id="10"/>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7">
                <a:alphaModFix amt="0"/>
              </a:blip>
              <a:stretch>
                <a:fillRect l="0" t="-388108" r="0" b="-388109"/>
              </a:stretch>
            </a:blipFill>
          </p:spPr>
        </p:sp>
      </p:grpSp>
      <p:grpSp>
        <p:nvGrpSpPr>
          <p:cNvPr name="Group 11" id="11"/>
          <p:cNvGrpSpPr/>
          <p:nvPr/>
        </p:nvGrpSpPr>
        <p:grpSpPr>
          <a:xfrm rot="0">
            <a:off x="914400" y="6920865"/>
            <a:ext cx="16459200" cy="760095"/>
            <a:chOff x="0" y="0"/>
            <a:chExt cx="21945600" cy="1013460"/>
          </a:xfrm>
        </p:grpSpPr>
        <p:sp>
          <p:nvSpPr>
            <p:cNvPr name="Freeform 12" id="12"/>
            <p:cNvSpPr/>
            <p:nvPr/>
          </p:nvSpPr>
          <p:spPr>
            <a:xfrm flipH="false" flipV="false" rot="0">
              <a:off x="0" y="0"/>
              <a:ext cx="21945600" cy="1013460"/>
            </a:xfrm>
            <a:custGeom>
              <a:avLst/>
              <a:gdLst/>
              <a:ahLst/>
              <a:cxnLst/>
              <a:rect r="r" b="b" t="t" l="l"/>
              <a:pathLst>
                <a:path h="1013460" w="21945600">
                  <a:moveTo>
                    <a:pt x="0" y="0"/>
                  </a:moveTo>
                  <a:lnTo>
                    <a:pt x="21945600" y="0"/>
                  </a:lnTo>
                  <a:lnTo>
                    <a:pt x="21945600" y="1013460"/>
                  </a:lnTo>
                  <a:lnTo>
                    <a:pt x="0" y="1013460"/>
                  </a:lnTo>
                  <a:close/>
                </a:path>
              </a:pathLst>
            </a:custGeom>
            <a:blipFill>
              <a:blip r:embed="rId8">
                <a:alphaModFix amt="0"/>
              </a:blip>
              <a:stretch>
                <a:fillRect l="0" t="-371931" r="0" b="-371931"/>
              </a:stretch>
            </a:blipFill>
          </p:spPr>
        </p:sp>
        <p:sp>
          <p:nvSpPr>
            <p:cNvPr name="TextBox 13" id="13"/>
            <p:cNvSpPr txBox="true"/>
            <p:nvPr/>
          </p:nvSpPr>
          <p:spPr>
            <a:xfrm>
              <a:off x="0" y="-38100"/>
              <a:ext cx="21945600" cy="1051560"/>
            </a:xfrm>
            <a:prstGeom prst="rect">
              <a:avLst/>
            </a:prstGeom>
          </p:spPr>
          <p:txBody>
            <a:bodyPr anchor="ctr" rtlCol="false" tIns="0" lIns="0" bIns="0" rIns="0"/>
            <a:lstStyle/>
            <a:p>
              <a:pPr algn="ctr">
                <a:lnSpc>
                  <a:spcPts val="2878"/>
                </a:lnSpc>
              </a:pPr>
              <a:r>
                <a:rPr lang="en-US" sz="2400">
                  <a:solidFill>
                    <a:srgbClr val="AAAAAA"/>
                  </a:solidFill>
                  <a:latin typeface="Calibri (MS)"/>
                  <a:ea typeface="Calibri (MS)"/>
                  <a:cs typeface="Calibri (MS)"/>
                  <a:sym typeface="Calibri (MS)"/>
                </a:rPr>
                <a:t>Modern SOC Operations  —  Módulo 1</a:t>
              </a:r>
            </a:p>
          </p:txBody>
        </p:sp>
      </p:grpSp>
      <p:grpSp>
        <p:nvGrpSpPr>
          <p:cNvPr name="Group 14" id="14"/>
          <p:cNvGrpSpPr/>
          <p:nvPr/>
        </p:nvGrpSpPr>
        <p:grpSpPr>
          <a:xfrm rot="0">
            <a:off x="914400" y="8321040"/>
            <a:ext cx="16459200" cy="731520"/>
            <a:chOff x="0" y="0"/>
            <a:chExt cx="21945600" cy="975360"/>
          </a:xfrm>
        </p:grpSpPr>
        <p:sp>
          <p:nvSpPr>
            <p:cNvPr name="Freeform 15" id="15"/>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7">
                <a:alphaModFix amt="0"/>
              </a:blip>
              <a:stretch>
                <a:fillRect l="0" t="-388108" r="0" b="-388109"/>
              </a:stretch>
            </a:blipFill>
          </p:spPr>
        </p:sp>
      </p:grpSp>
      <p:grpSp>
        <p:nvGrpSpPr>
          <p:cNvPr name="Group 16" id="16"/>
          <p:cNvGrpSpPr/>
          <p:nvPr/>
        </p:nvGrpSpPr>
        <p:grpSpPr>
          <a:xfrm rot="0">
            <a:off x="914371" y="8795807"/>
            <a:ext cx="16459200" cy="767239"/>
            <a:chOff x="0" y="0"/>
            <a:chExt cx="21945600" cy="1022985"/>
          </a:xfrm>
        </p:grpSpPr>
        <p:sp>
          <p:nvSpPr>
            <p:cNvPr name="Freeform 17" id="17"/>
            <p:cNvSpPr/>
            <p:nvPr/>
          </p:nvSpPr>
          <p:spPr>
            <a:xfrm flipH="false" flipV="false" rot="0">
              <a:off x="0" y="0"/>
              <a:ext cx="21945600" cy="1022985"/>
            </a:xfrm>
            <a:custGeom>
              <a:avLst/>
              <a:gdLst/>
              <a:ahLst/>
              <a:cxnLst/>
              <a:rect r="r" b="b" t="t" l="l"/>
              <a:pathLst>
                <a:path h="1022985" w="21945600">
                  <a:moveTo>
                    <a:pt x="0" y="0"/>
                  </a:moveTo>
                  <a:lnTo>
                    <a:pt x="21945600" y="0"/>
                  </a:lnTo>
                  <a:lnTo>
                    <a:pt x="21945600" y="1022985"/>
                  </a:lnTo>
                  <a:lnTo>
                    <a:pt x="0" y="1022985"/>
                  </a:lnTo>
                  <a:close/>
                </a:path>
              </a:pathLst>
            </a:custGeom>
            <a:blipFill>
              <a:blip r:embed="rId8">
                <a:alphaModFix amt="0"/>
              </a:blip>
              <a:stretch>
                <a:fillRect l="0" t="-368003" r="0" b="-368003"/>
              </a:stretch>
            </a:blipFill>
          </p:spPr>
        </p:sp>
        <p:sp>
          <p:nvSpPr>
            <p:cNvPr name="TextBox 18" id="18"/>
            <p:cNvSpPr txBox="true"/>
            <p:nvPr/>
          </p:nvSpPr>
          <p:spPr>
            <a:xfrm>
              <a:off x="0" y="-47625"/>
              <a:ext cx="21945600" cy="1070610"/>
            </a:xfrm>
            <a:prstGeom prst="rect">
              <a:avLst/>
            </a:prstGeom>
          </p:spPr>
          <p:txBody>
            <a:bodyPr anchor="ctr" rtlCol="false" tIns="0" lIns="0" bIns="0" rIns="0"/>
            <a:lstStyle/>
            <a:p>
              <a:pPr algn="ctr">
                <a:lnSpc>
                  <a:spcPts val="2638"/>
                </a:lnSpc>
              </a:pPr>
              <a:r>
                <a:rPr lang="en-US" sz="2199" b="true">
                  <a:solidFill>
                    <a:srgbClr val="FFCCEE"/>
                  </a:solidFill>
                  <a:latin typeface="Calibri (MS) Bold"/>
                  <a:ea typeface="Calibri (MS) Bold"/>
                  <a:cs typeface="Calibri (MS) Bold"/>
                  <a:sym typeface="Calibri (MS) Bold"/>
                </a:rPr>
                <a:t>www.hidden-security.org  ·  2026</a:t>
              </a:r>
            </a:p>
          </p:txBody>
        </p:sp>
      </p:grpSp>
      <p:grpSp>
        <p:nvGrpSpPr>
          <p:cNvPr name="Group 19" id="19"/>
          <p:cNvGrpSpPr/>
          <p:nvPr/>
        </p:nvGrpSpPr>
        <p:grpSpPr>
          <a:xfrm rot="0">
            <a:off x="6669023" y="1529241"/>
            <a:ext cx="4949897" cy="4949897"/>
            <a:chOff x="0" y="0"/>
            <a:chExt cx="5852160" cy="5852160"/>
          </a:xfrm>
        </p:grpSpPr>
        <p:sp>
          <p:nvSpPr>
            <p:cNvPr name="Freeform 20" id="20"/>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9"/>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DAHTbVDi7pY</dc:identifier>
  <dcterms:modified xsi:type="dcterms:W3CDTF">2011-08-01T06:04:30Z</dcterms:modified>
  <cp:revision>1</cp:revision>
  <dc:title>Modulo 01 - Modern SOC Operations</dc:title>
</cp:coreProperties>
</file>