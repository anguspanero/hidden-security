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1"/>
  </p:notesMasterIdLst>
  <p:sldIdLst>
    <p:sldId id="256" r:id="rId6"/>
    <p:sldId id="257" r:id="rId7"/>
    <p:sldId id="258" r:id="rId8"/>
    <p:sldId id="259" r:id="rId9"/>
    <p:sldId id="260" r:id="rId10"/>
  </p:sldIdLst>
  <p:sldSz cx="18288000" cy="10287000"/>
  <p:notesSz cx="6858000" cy="9144000"/>
  <p:embeddedFontLst>
    <p:embeddedFont>
      <p:font typeface="Calibri (MS) Bold" charset="1" panose="020F0702030404030204"/>
      <p:regular r:id="rId14"/>
    </p:embeddedFont>
    <p:embeddedFont>
      <p:font typeface="Calibri (MS)" charset="1" panose="020F0502020204030204"/>
      <p:regular r:id="rId15"/>
    </p:embeddedFont>
    <p:embeddedFont>
      <p:font typeface="Calibri (MS) Italics" charset="1" panose="020F05020202040A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notesMasters/notesMaster1.xml" Type="http://schemas.openxmlformats.org/officeDocument/2006/relationships/notesMaster"/><Relationship Id="rId12" Target="theme/theme2.xml" Type="http://schemas.openxmlformats.org/officeDocument/2006/relationships/theme"/><Relationship Id="rId13" Target="notesSlides/notesSlide1.xml" Type="http://schemas.openxmlformats.org/officeDocument/2006/relationships/notesSlide"/><Relationship Id="rId14" Target="fonts/font14.fntdata" Type="http://schemas.openxmlformats.org/officeDocument/2006/relationships/font"/><Relationship Id="rId15" Target="fonts/font15.fntdata" Type="http://schemas.openxmlformats.org/officeDocument/2006/relationships/font"/><Relationship Id="rId16" Target="notesSlides/notesSlide2.xml" Type="http://schemas.openxmlformats.org/officeDocument/2006/relationships/notesSlide"/><Relationship Id="rId17" Target="notesSlides/notesSlide3.xml" Type="http://schemas.openxmlformats.org/officeDocument/2006/relationships/notesSlide"/><Relationship Id="rId18" Target="fonts/font18.fntdata" Type="http://schemas.openxmlformats.org/officeDocument/2006/relationships/font"/><Relationship Id="rId19" Target="notesSlides/notesSlide4.xml" Type="http://schemas.openxmlformats.org/officeDocument/2006/relationships/notesSlide"/><Relationship Id="rId2" Target="presProps.xml" Type="http://schemas.openxmlformats.org/officeDocument/2006/relationships/presProps"/><Relationship Id="rId20" Target="notesSlides/notesSlide5.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sección conecta todo lo visto hasta ahora: sabemos qué es el SOC, cuáles son los roles, cuáles son las responsabilidades del L1. Ahora vamos a ver cómo fluye la información en la práctica, desde que ocurre un evento hasta que se convierte (o no) en un incidente.</a:t>
            </a:r>
          </a:p>
          <a:p>
            <a:r>
              <a:rPr lang="en-US"/>
              <a:t>30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diagrama es fundamental para que el estudiante entienda su lugar en la cadena de valor. El L1 no crea los eventos ni las alertas, pero es quien decide si una alerta merece convertirse en incidente. Esa decisión tiene consecuencias reales para la organización.</a:t>
            </a:r>
          </a:p>
          <a:p>
            <a:r>
              <a:rPr lang="en-US"/>
              <a:t>31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distinción conceptual es crítica para el trabajo diario. Muchos analistas junior confunden eventos con incidentes, o cierran alertas sin completar el flujo correcto. Remarcá con fuerza: 'No toda alerta es un incidente. Tu trabajo es validar, no asumir.'</a:t>
            </a:r>
          </a:p>
          <a:p>
            <a:r>
              <a:rPr lang="en-US"/>
              <a:t>32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flujo WAF → SIEM → SOAR es uno de los más comunes. No es el único posible, pero ilustra bien cómo las herramientas se encadenan. El analista L1 principalmente interactúa con el SIEM; el SOAR puede hacer cosas automáticamente o puede ser activado manualmente por el analista.</a:t>
            </a:r>
          </a:p>
          <a:p>
            <a:r>
              <a:rPr lang="en-US"/>
              <a:t>33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Remarcá que un SOC no es una isla. Los incidentes de seguridad tienen impacto en legal, en comunicaciones, en RR.HH. Como analista L1, tu trabajo es documentar bien y escalar al nivel correcto, para que las personas indicadas puedan tomar las decisiones correctas.</a:t>
            </a:r>
          </a:p>
          <a:p>
            <a:r>
              <a:rPr lang="en-US"/>
              <a:t>34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16.png" Type="http://schemas.openxmlformats.org/officeDocument/2006/relationships/image"/><Relationship Id="rId14" Target="../media/image17.svg" Type="http://schemas.openxmlformats.org/officeDocument/2006/relationships/image"/><Relationship Id="rId15" Target="../media/image18.png" Type="http://schemas.openxmlformats.org/officeDocument/2006/relationships/image"/><Relationship Id="rId16" Target="../media/image19.svg" Type="http://schemas.openxmlformats.org/officeDocument/2006/relationships/image"/><Relationship Id="rId17" Target="../media/image20.png" Type="http://schemas.openxmlformats.org/officeDocument/2006/relationships/image"/><Relationship Id="rId18" Target="../media/image21.svg" Type="http://schemas.openxmlformats.org/officeDocument/2006/relationships/image"/><Relationship Id="rId19" Target="../media/image22.png" Type="http://schemas.openxmlformats.org/officeDocument/2006/relationships/image"/><Relationship Id="rId2" Target="../notesSlides/notesSlide2.xml" Type="http://schemas.openxmlformats.org/officeDocument/2006/relationships/notesSlide"/><Relationship Id="rId20" Target="../media/image23.svg" Type="http://schemas.openxmlformats.org/officeDocument/2006/relationships/image"/><Relationship Id="rId21" Target="../media/image24.png" Type="http://schemas.openxmlformats.org/officeDocument/2006/relationships/image"/><Relationship Id="rId22" Target="../media/image25.svg" Type="http://schemas.openxmlformats.org/officeDocument/2006/relationships/image"/><Relationship Id="rId23" Target="../media/image26.png" Type="http://schemas.openxmlformats.org/officeDocument/2006/relationships/image"/><Relationship Id="rId24" Target="../media/image27.svg" Type="http://schemas.openxmlformats.org/officeDocument/2006/relationships/image"/><Relationship Id="rId25"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13" Target="../media/image30.png" Type="http://schemas.openxmlformats.org/officeDocument/2006/relationships/image"/><Relationship Id="rId14" Target="../media/image31.svg" Type="http://schemas.openxmlformats.org/officeDocument/2006/relationships/image"/><Relationship Id="rId15" Target="../media/image32.png" Type="http://schemas.openxmlformats.org/officeDocument/2006/relationships/image"/><Relationship Id="rId16" Target="../media/image33.svg" Type="http://schemas.openxmlformats.org/officeDocument/2006/relationships/image"/><Relationship Id="rId17" Target="../media/image34.png" Type="http://schemas.openxmlformats.org/officeDocument/2006/relationships/image"/><Relationship Id="rId18" Target="../media/image35.svg" Type="http://schemas.openxmlformats.org/officeDocument/2006/relationships/image"/><Relationship Id="rId19" Target="../media/image36.png" Type="http://schemas.openxmlformats.org/officeDocument/2006/relationships/image"/><Relationship Id="rId2" Target="../notesSlides/notesSlide3.xml" Type="http://schemas.openxmlformats.org/officeDocument/2006/relationships/notesSlide"/><Relationship Id="rId20" Target="../media/image37.svg" Type="http://schemas.openxmlformats.org/officeDocument/2006/relationships/image"/><Relationship Id="rId21" Target="../media/image38.png" Type="http://schemas.openxmlformats.org/officeDocument/2006/relationships/image"/><Relationship Id="rId22" Target="../media/image39.svg" Type="http://schemas.openxmlformats.org/officeDocument/2006/relationships/image"/><Relationship Id="rId23"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sv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13" Target="../media/image46.png" Type="http://schemas.openxmlformats.org/officeDocument/2006/relationships/image"/><Relationship Id="rId14" Target="../media/image47.svg" Type="http://schemas.openxmlformats.org/officeDocument/2006/relationships/image"/><Relationship Id="rId15" Target="../media/image48.png" Type="http://schemas.openxmlformats.org/officeDocument/2006/relationships/image"/><Relationship Id="rId16" Target="../media/image49.svg" Type="http://schemas.openxmlformats.org/officeDocument/2006/relationships/image"/><Relationship Id="rId17" Target="../media/image9.png" Type="http://schemas.openxmlformats.org/officeDocument/2006/relationships/image"/><Relationship Id="rId2" Target="../notesSlides/notesSlide4.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50.png" Type="http://schemas.openxmlformats.org/officeDocument/2006/relationships/image"/><Relationship Id="rId12" Target="../media/image51.svg" Type="http://schemas.openxmlformats.org/officeDocument/2006/relationships/image"/><Relationship Id="rId13" Target="../media/image52.png" Type="http://schemas.openxmlformats.org/officeDocument/2006/relationships/image"/><Relationship Id="rId14" Target="../media/image53.svg" Type="http://schemas.openxmlformats.org/officeDocument/2006/relationships/image"/><Relationship Id="rId15" Target="../media/image54.png" Type="http://schemas.openxmlformats.org/officeDocument/2006/relationships/image"/><Relationship Id="rId16" Target="../media/image55.svg" Type="http://schemas.openxmlformats.org/officeDocument/2006/relationships/image"/><Relationship Id="rId17" Target="../media/image56.png" Type="http://schemas.openxmlformats.org/officeDocument/2006/relationships/image"/><Relationship Id="rId18" Target="../media/image57.svg" Type="http://schemas.openxmlformats.org/officeDocument/2006/relationships/image"/><Relationship Id="rId19" Target="../media/image58.png" Type="http://schemas.openxmlformats.org/officeDocument/2006/relationships/image"/><Relationship Id="rId2" Target="../notesSlides/notesSlide5.xml" Type="http://schemas.openxmlformats.org/officeDocument/2006/relationships/notesSlide"/><Relationship Id="rId20" Target="../media/image59.svg" Type="http://schemas.openxmlformats.org/officeDocument/2006/relationships/image"/><Relationship Id="rId21" Target="../media/image60.png" Type="http://schemas.openxmlformats.org/officeDocument/2006/relationships/image"/><Relationship Id="rId22" Target="../media/image61.svg" Type="http://schemas.openxmlformats.org/officeDocument/2006/relationships/image"/><Relationship Id="rId23" Target="../media/image62.png" Type="http://schemas.openxmlformats.org/officeDocument/2006/relationships/image"/><Relationship Id="rId24" Target="../media/image63.svg" Type="http://schemas.openxmlformats.org/officeDocument/2006/relationships/image"/><Relationship Id="rId25" Target="../media/image64.png" Type="http://schemas.openxmlformats.org/officeDocument/2006/relationships/image"/><Relationship Id="rId26" Target="../media/image65.svg" Type="http://schemas.openxmlformats.org/officeDocument/2006/relationships/image"/><Relationship Id="rId27"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939736" cy="10312337"/>
          </a:xfrm>
          <a:custGeom>
            <a:avLst/>
            <a:gdLst/>
            <a:ahLst/>
            <a:cxnLst/>
            <a:rect r="r" b="b" t="t" l="l"/>
            <a:pathLst>
              <a:path h="10312337" w="939736">
                <a:moveTo>
                  <a:pt x="0" y="0"/>
                </a:moveTo>
                <a:lnTo>
                  <a:pt x="939737" y="0"/>
                </a:lnTo>
                <a:lnTo>
                  <a:pt x="9397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6936743"/>
            <a:ext cx="18313336" cy="3682936"/>
          </a:xfrm>
          <a:custGeom>
            <a:avLst/>
            <a:gdLst/>
            <a:ahLst/>
            <a:cxnLst/>
            <a:rect r="r" b="b" t="t" l="l"/>
            <a:pathLst>
              <a:path h="3682936" w="18313336">
                <a:moveTo>
                  <a:pt x="0" y="0"/>
                </a:moveTo>
                <a:lnTo>
                  <a:pt x="18313337" y="0"/>
                </a:lnTo>
                <a:lnTo>
                  <a:pt x="18313337" y="3682937"/>
                </a:lnTo>
                <a:lnTo>
                  <a:pt x="0" y="36829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463040" y="1828800"/>
            <a:ext cx="14630400" cy="822960"/>
            <a:chOff x="0" y="0"/>
            <a:chExt cx="19507200" cy="1097280"/>
          </a:xfrm>
        </p:grpSpPr>
        <p:sp>
          <p:nvSpPr>
            <p:cNvPr name="Freeform 5" id="5"/>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7">
                <a:alphaModFix amt="0"/>
              </a:blip>
              <a:stretch>
                <a:fillRect l="0" t="-296159" r="0" b="-296159"/>
              </a:stretch>
            </a:blipFill>
          </p:spPr>
        </p:sp>
      </p:grpSp>
      <p:grpSp>
        <p:nvGrpSpPr>
          <p:cNvPr name="Group 6" id="6"/>
          <p:cNvGrpSpPr/>
          <p:nvPr/>
        </p:nvGrpSpPr>
        <p:grpSpPr>
          <a:xfrm rot="0">
            <a:off x="1463040" y="1785938"/>
            <a:ext cx="14630400" cy="865823"/>
            <a:chOff x="0" y="0"/>
            <a:chExt cx="19507200" cy="1154430"/>
          </a:xfrm>
        </p:grpSpPr>
        <p:sp>
          <p:nvSpPr>
            <p:cNvPr name="Freeform 7" id="7"/>
            <p:cNvSpPr/>
            <p:nvPr/>
          </p:nvSpPr>
          <p:spPr>
            <a:xfrm flipH="false" flipV="false" rot="0">
              <a:off x="0" y="0"/>
              <a:ext cx="19507200" cy="1154430"/>
            </a:xfrm>
            <a:custGeom>
              <a:avLst/>
              <a:gdLst/>
              <a:ahLst/>
              <a:cxnLst/>
              <a:rect r="r" b="b" t="t" l="l"/>
              <a:pathLst>
                <a:path h="1154430" w="19507200">
                  <a:moveTo>
                    <a:pt x="0" y="0"/>
                  </a:moveTo>
                  <a:lnTo>
                    <a:pt x="19507200" y="0"/>
                  </a:lnTo>
                  <a:lnTo>
                    <a:pt x="19507200" y="1154430"/>
                  </a:lnTo>
                  <a:lnTo>
                    <a:pt x="0" y="1154430"/>
                  </a:lnTo>
                  <a:close/>
                </a:path>
              </a:pathLst>
            </a:custGeom>
            <a:blipFill>
              <a:blip r:embed="rId8">
                <a:alphaModFix amt="0"/>
              </a:blip>
              <a:stretch>
                <a:fillRect l="0" t="-279252" r="0" b="-279252"/>
              </a:stretch>
            </a:blipFill>
          </p:spPr>
        </p:sp>
        <p:sp>
          <p:nvSpPr>
            <p:cNvPr name="TextBox 8" id="8"/>
            <p:cNvSpPr txBox="true"/>
            <p:nvPr/>
          </p:nvSpPr>
          <p:spPr>
            <a:xfrm>
              <a:off x="0" y="-57150"/>
              <a:ext cx="19507200" cy="1211580"/>
            </a:xfrm>
            <a:prstGeom prst="rect">
              <a:avLst/>
            </a:prstGeom>
          </p:spPr>
          <p:txBody>
            <a:bodyPr anchor="ctr" rtlCol="false" tIns="0" lIns="0" bIns="0" rIns="0"/>
            <a:lstStyle/>
            <a:p>
              <a:pPr algn="l">
                <a:lnSpc>
                  <a:spcPts val="3120"/>
                </a:lnSpc>
              </a:pPr>
              <a:r>
                <a:rPr lang="en-US" b="true" sz="2600" spc="799">
                  <a:solidFill>
                    <a:srgbClr val="8A004F"/>
                  </a:solidFill>
                  <a:latin typeface="Calibri (MS) Bold"/>
                  <a:ea typeface="Calibri (MS) Bold"/>
                  <a:cs typeface="Calibri (MS) Bold"/>
                  <a:sym typeface="Calibri (MS) Bold"/>
                </a:rPr>
                <a:t>SECCIÓN 1.4</a:t>
              </a:r>
            </a:p>
          </p:txBody>
        </p:sp>
      </p:grpSp>
      <p:grpSp>
        <p:nvGrpSpPr>
          <p:cNvPr name="Group 9" id="9"/>
          <p:cNvGrpSpPr/>
          <p:nvPr/>
        </p:nvGrpSpPr>
        <p:grpSpPr>
          <a:xfrm rot="0">
            <a:off x="1463040" y="2743200"/>
            <a:ext cx="15544800" cy="2560320"/>
            <a:chOff x="0" y="0"/>
            <a:chExt cx="20726400" cy="3413760"/>
          </a:xfrm>
        </p:grpSpPr>
        <p:sp>
          <p:nvSpPr>
            <p:cNvPr name="Freeform 10" id="10"/>
            <p:cNvSpPr/>
            <p:nvPr/>
          </p:nvSpPr>
          <p:spPr>
            <a:xfrm flipH="false" flipV="false" rot="0">
              <a:off x="0" y="0"/>
              <a:ext cx="20726400" cy="3413760"/>
            </a:xfrm>
            <a:custGeom>
              <a:avLst/>
              <a:gdLst/>
              <a:ahLst/>
              <a:cxnLst/>
              <a:rect r="r" b="b" t="t" l="l"/>
              <a:pathLst>
                <a:path h="3413760" w="20726400">
                  <a:moveTo>
                    <a:pt x="0" y="0"/>
                  </a:moveTo>
                  <a:lnTo>
                    <a:pt x="20726400" y="0"/>
                  </a:lnTo>
                  <a:lnTo>
                    <a:pt x="20726400" y="3413760"/>
                  </a:lnTo>
                  <a:lnTo>
                    <a:pt x="0" y="3413760"/>
                  </a:lnTo>
                  <a:close/>
                </a:path>
              </a:pathLst>
            </a:custGeom>
            <a:blipFill>
              <a:blip r:embed="rId7">
                <a:alphaModFix amt="0"/>
              </a:blip>
              <a:stretch>
                <a:fillRect l="0" t="-68219" r="0" b="-68219"/>
              </a:stretch>
            </a:blipFill>
          </p:spPr>
        </p:sp>
      </p:grpSp>
      <p:grpSp>
        <p:nvGrpSpPr>
          <p:cNvPr name="Group 11" id="11"/>
          <p:cNvGrpSpPr/>
          <p:nvPr/>
        </p:nvGrpSpPr>
        <p:grpSpPr>
          <a:xfrm rot="0">
            <a:off x="1463040" y="2636044"/>
            <a:ext cx="15544800" cy="2667476"/>
            <a:chOff x="0" y="0"/>
            <a:chExt cx="20726400" cy="3556635"/>
          </a:xfrm>
        </p:grpSpPr>
        <p:sp>
          <p:nvSpPr>
            <p:cNvPr name="Freeform 12" id="12"/>
            <p:cNvSpPr/>
            <p:nvPr/>
          </p:nvSpPr>
          <p:spPr>
            <a:xfrm flipH="false" flipV="false" rot="0">
              <a:off x="0" y="0"/>
              <a:ext cx="20726400" cy="3556635"/>
            </a:xfrm>
            <a:custGeom>
              <a:avLst/>
              <a:gdLst/>
              <a:ahLst/>
              <a:cxnLst/>
              <a:rect r="r" b="b" t="t" l="l"/>
              <a:pathLst>
                <a:path h="3556635" w="20726400">
                  <a:moveTo>
                    <a:pt x="0" y="0"/>
                  </a:moveTo>
                  <a:lnTo>
                    <a:pt x="20726400" y="0"/>
                  </a:lnTo>
                  <a:lnTo>
                    <a:pt x="20726400" y="3556635"/>
                  </a:lnTo>
                  <a:lnTo>
                    <a:pt x="0" y="3556635"/>
                  </a:lnTo>
                  <a:close/>
                </a:path>
              </a:pathLst>
            </a:custGeom>
            <a:blipFill>
              <a:blip r:embed="rId8">
                <a:alphaModFix amt="0"/>
              </a:blip>
              <a:stretch>
                <a:fillRect l="0" t="-63549" r="0" b="-63549"/>
              </a:stretch>
            </a:blipFill>
          </p:spPr>
        </p:sp>
        <p:sp>
          <p:nvSpPr>
            <p:cNvPr name="TextBox 13" id="13"/>
            <p:cNvSpPr txBox="true"/>
            <p:nvPr/>
          </p:nvSpPr>
          <p:spPr>
            <a:xfrm>
              <a:off x="0" y="-142875"/>
              <a:ext cx="20726400" cy="3699510"/>
            </a:xfrm>
            <a:prstGeom prst="rect">
              <a:avLst/>
            </a:prstGeom>
          </p:spPr>
          <p:txBody>
            <a:bodyPr anchor="ctr" rtlCol="false" tIns="0" lIns="0" bIns="0" rIns="0"/>
            <a:lstStyle/>
            <a:p>
              <a:pPr algn="l">
                <a:lnSpc>
                  <a:spcPts val="7678"/>
                </a:lnSpc>
              </a:pPr>
              <a:r>
                <a:rPr lang="en-US" sz="6398" b="true">
                  <a:solidFill>
                    <a:srgbClr val="FFFFFF"/>
                  </a:solidFill>
                  <a:latin typeface="Calibri (MS) Bold"/>
                  <a:ea typeface="Calibri (MS) Bold"/>
                  <a:cs typeface="Calibri (MS) Bold"/>
                  <a:sym typeface="Calibri (MS) Bold"/>
                </a:rPr>
                <a:t>Flujo de trabajo</a:t>
              </a:r>
            </a:p>
            <a:p>
              <a:pPr algn="l">
                <a:lnSpc>
                  <a:spcPts val="7678"/>
                </a:lnSpc>
              </a:pPr>
              <a:r>
                <a:rPr lang="en-US" sz="6398" b="true">
                  <a:solidFill>
                    <a:srgbClr val="FFFFFF"/>
                  </a:solidFill>
                  <a:latin typeface="Calibri (MS) Bold"/>
                  <a:ea typeface="Calibri (MS) Bold"/>
                  <a:cs typeface="Calibri (MS) Bold"/>
                  <a:sym typeface="Calibri (MS) Bold"/>
                </a:rPr>
                <a:t>dentro de un SOC</a:t>
              </a:r>
            </a:p>
          </p:txBody>
        </p:sp>
      </p:grpSp>
      <p:grpSp>
        <p:nvGrpSpPr>
          <p:cNvPr name="Group 14" id="14"/>
          <p:cNvGrpSpPr/>
          <p:nvPr/>
        </p:nvGrpSpPr>
        <p:grpSpPr>
          <a:xfrm rot="0">
            <a:off x="1463040" y="7040880"/>
            <a:ext cx="15544800" cy="585216"/>
            <a:chOff x="0" y="0"/>
            <a:chExt cx="20726400" cy="780288"/>
          </a:xfrm>
        </p:grpSpPr>
        <p:sp>
          <p:nvSpPr>
            <p:cNvPr name="Freeform 15" id="15"/>
            <p:cNvSpPr/>
            <p:nvPr/>
          </p:nvSpPr>
          <p:spPr>
            <a:xfrm flipH="false" flipV="false" rot="0">
              <a:off x="0" y="0"/>
              <a:ext cx="20726400" cy="780288"/>
            </a:xfrm>
            <a:custGeom>
              <a:avLst/>
              <a:gdLst/>
              <a:ahLst/>
              <a:cxnLst/>
              <a:rect r="r" b="b" t="t" l="l"/>
              <a:pathLst>
                <a:path h="780288" w="20726400">
                  <a:moveTo>
                    <a:pt x="0" y="0"/>
                  </a:moveTo>
                  <a:lnTo>
                    <a:pt x="20726400" y="0"/>
                  </a:lnTo>
                  <a:lnTo>
                    <a:pt x="20726400" y="780288"/>
                  </a:lnTo>
                  <a:lnTo>
                    <a:pt x="0" y="780288"/>
                  </a:lnTo>
                  <a:close/>
                </a:path>
              </a:pathLst>
            </a:custGeom>
            <a:blipFill>
              <a:blip r:embed="rId7">
                <a:alphaModFix amt="0"/>
              </a:blip>
              <a:stretch>
                <a:fillRect l="0" t="-467211" r="0" b="-467210"/>
              </a:stretch>
            </a:blipFill>
          </p:spPr>
        </p:sp>
      </p:grpSp>
      <p:grpSp>
        <p:nvGrpSpPr>
          <p:cNvPr name="Group 16" id="16"/>
          <p:cNvGrpSpPr/>
          <p:nvPr/>
        </p:nvGrpSpPr>
        <p:grpSpPr>
          <a:xfrm rot="0">
            <a:off x="1463040" y="7005161"/>
            <a:ext cx="15544800" cy="620935"/>
            <a:chOff x="0" y="0"/>
            <a:chExt cx="20726400" cy="827913"/>
          </a:xfrm>
        </p:grpSpPr>
        <p:sp>
          <p:nvSpPr>
            <p:cNvPr name="Freeform 17" id="17"/>
            <p:cNvSpPr/>
            <p:nvPr/>
          </p:nvSpPr>
          <p:spPr>
            <a:xfrm flipH="false" flipV="false" rot="0">
              <a:off x="0" y="0"/>
              <a:ext cx="20726400" cy="827913"/>
            </a:xfrm>
            <a:custGeom>
              <a:avLst/>
              <a:gdLst/>
              <a:ahLst/>
              <a:cxnLst/>
              <a:rect r="r" b="b" t="t" l="l"/>
              <a:pathLst>
                <a:path h="827913" w="20726400">
                  <a:moveTo>
                    <a:pt x="0" y="0"/>
                  </a:moveTo>
                  <a:lnTo>
                    <a:pt x="20726400" y="0"/>
                  </a:lnTo>
                  <a:lnTo>
                    <a:pt x="20726400" y="827913"/>
                  </a:lnTo>
                  <a:lnTo>
                    <a:pt x="0" y="827913"/>
                  </a:lnTo>
                  <a:close/>
                </a:path>
              </a:pathLst>
            </a:custGeom>
            <a:blipFill>
              <a:blip r:embed="rId8">
                <a:alphaModFix amt="0"/>
              </a:blip>
              <a:stretch>
                <a:fillRect l="0" t="-437798" r="0" b="-437798"/>
              </a:stretch>
            </a:blipFill>
          </p:spPr>
        </p:sp>
        <p:sp>
          <p:nvSpPr>
            <p:cNvPr name="TextBox 18" id="18"/>
            <p:cNvSpPr txBox="true"/>
            <p:nvPr/>
          </p:nvSpPr>
          <p:spPr>
            <a:xfrm>
              <a:off x="0" y="-47625"/>
              <a:ext cx="2072640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Temas de esta sección:</a:t>
              </a:r>
            </a:p>
          </p:txBody>
        </p:sp>
      </p:grpSp>
      <p:grpSp>
        <p:nvGrpSpPr>
          <p:cNvPr name="Group 19" id="19"/>
          <p:cNvGrpSpPr/>
          <p:nvPr/>
        </p:nvGrpSpPr>
        <p:grpSpPr>
          <a:xfrm rot="0">
            <a:off x="1463040" y="7680960"/>
            <a:ext cx="15544800" cy="2011680"/>
            <a:chOff x="0" y="0"/>
            <a:chExt cx="20726400" cy="2682240"/>
          </a:xfrm>
        </p:grpSpPr>
        <p:sp>
          <p:nvSpPr>
            <p:cNvPr name="Freeform 20" id="20"/>
            <p:cNvSpPr/>
            <p:nvPr/>
          </p:nvSpPr>
          <p:spPr>
            <a:xfrm flipH="false" flipV="false" rot="0">
              <a:off x="0" y="0"/>
              <a:ext cx="20726400" cy="2682240"/>
            </a:xfrm>
            <a:custGeom>
              <a:avLst/>
              <a:gdLst/>
              <a:ahLst/>
              <a:cxnLst/>
              <a:rect r="r" b="b" t="t" l="l"/>
              <a:pathLst>
                <a:path h="2682240" w="20726400">
                  <a:moveTo>
                    <a:pt x="0" y="0"/>
                  </a:moveTo>
                  <a:lnTo>
                    <a:pt x="20726400" y="0"/>
                  </a:lnTo>
                  <a:lnTo>
                    <a:pt x="20726400" y="2682240"/>
                  </a:lnTo>
                  <a:lnTo>
                    <a:pt x="0" y="2682240"/>
                  </a:lnTo>
                  <a:close/>
                </a:path>
              </a:pathLst>
            </a:custGeom>
            <a:blipFill>
              <a:blip r:embed="rId7">
                <a:alphaModFix amt="0"/>
              </a:blip>
              <a:stretch>
                <a:fillRect l="0" t="-100461" r="0" b="-100461"/>
              </a:stretch>
            </a:blipFill>
          </p:spPr>
        </p:sp>
      </p:grpSp>
      <p:grpSp>
        <p:nvGrpSpPr>
          <p:cNvPr name="Group 21" id="21"/>
          <p:cNvGrpSpPr/>
          <p:nvPr/>
        </p:nvGrpSpPr>
        <p:grpSpPr>
          <a:xfrm rot="0">
            <a:off x="1463040" y="7652385"/>
            <a:ext cx="15544800" cy="2040255"/>
            <a:chOff x="0" y="0"/>
            <a:chExt cx="20726400" cy="2720340"/>
          </a:xfrm>
        </p:grpSpPr>
        <p:sp>
          <p:nvSpPr>
            <p:cNvPr name="Freeform 22" id="22"/>
            <p:cNvSpPr/>
            <p:nvPr/>
          </p:nvSpPr>
          <p:spPr>
            <a:xfrm flipH="false" flipV="false" rot="0">
              <a:off x="0" y="0"/>
              <a:ext cx="20726400" cy="2720340"/>
            </a:xfrm>
            <a:custGeom>
              <a:avLst/>
              <a:gdLst/>
              <a:ahLst/>
              <a:cxnLst/>
              <a:rect r="r" b="b" t="t" l="l"/>
              <a:pathLst>
                <a:path h="2720340" w="20726400">
                  <a:moveTo>
                    <a:pt x="0" y="0"/>
                  </a:moveTo>
                  <a:lnTo>
                    <a:pt x="20726400" y="0"/>
                  </a:lnTo>
                  <a:lnTo>
                    <a:pt x="20726400" y="2720340"/>
                  </a:lnTo>
                  <a:lnTo>
                    <a:pt x="0" y="2720340"/>
                  </a:lnTo>
                  <a:close/>
                </a:path>
              </a:pathLst>
            </a:custGeom>
            <a:blipFill>
              <a:blip r:embed="rId8">
                <a:alphaModFix amt="0"/>
              </a:blip>
              <a:stretch>
                <a:fillRect l="0" t="-98457" r="0" b="-98457"/>
              </a:stretch>
            </a:blipFill>
          </p:spPr>
        </p:sp>
        <p:sp>
          <p:nvSpPr>
            <p:cNvPr name="TextBox 23" id="23"/>
            <p:cNvSpPr txBox="true"/>
            <p:nvPr/>
          </p:nvSpPr>
          <p:spPr>
            <a:xfrm>
              <a:off x="0" y="-38100"/>
              <a:ext cx="20726400" cy="2758440"/>
            </a:xfrm>
            <a:prstGeom prst="rect">
              <a:avLst/>
            </a:prstGeom>
          </p:spPr>
          <p:txBody>
            <a:bodyPr anchor="ctr" rtlCol="false" tIns="0" lIns="0" bIns="0" rIns="0"/>
            <a:lstStyle/>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Desde el evento al incidente: cómo fluye la información</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Diferencia entre log, evento, alerta e incidente</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Uso de herramientas habituales en un incidente (WAF → SIEM → SOAR)</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Coordinación entre niveles y con otras áreas de la organización</a:t>
              </a:r>
            </a:p>
          </p:txBody>
        </p:sp>
      </p:grpSp>
      <p:sp>
        <p:nvSpPr>
          <p:cNvPr name="Freeform 24" id="24"/>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548640" y="9784080"/>
            <a:ext cx="15544800" cy="512064"/>
            <a:chOff x="0" y="0"/>
            <a:chExt cx="20726400" cy="682752"/>
          </a:xfrm>
        </p:grpSpPr>
        <p:sp>
          <p:nvSpPr>
            <p:cNvPr name="Freeform 26" id="26"/>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27" id="27"/>
          <p:cNvGrpSpPr/>
          <p:nvPr/>
        </p:nvGrpSpPr>
        <p:grpSpPr>
          <a:xfrm rot="0">
            <a:off x="548640" y="9762649"/>
            <a:ext cx="15544800" cy="533495"/>
            <a:chOff x="0" y="0"/>
            <a:chExt cx="20726400" cy="711327"/>
          </a:xfrm>
        </p:grpSpPr>
        <p:sp>
          <p:nvSpPr>
            <p:cNvPr name="Freeform 28" id="28"/>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29" id="29"/>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30" id="30"/>
          <p:cNvGrpSpPr/>
          <p:nvPr/>
        </p:nvGrpSpPr>
        <p:grpSpPr>
          <a:xfrm rot="0">
            <a:off x="16824960" y="9784080"/>
            <a:ext cx="1280160" cy="512064"/>
            <a:chOff x="0" y="0"/>
            <a:chExt cx="1706880" cy="682752"/>
          </a:xfrm>
        </p:grpSpPr>
        <p:sp>
          <p:nvSpPr>
            <p:cNvPr name="Freeform 31" id="31"/>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32" id="32"/>
          <p:cNvGrpSpPr/>
          <p:nvPr/>
        </p:nvGrpSpPr>
        <p:grpSpPr>
          <a:xfrm rot="0">
            <a:off x="16824960" y="9762649"/>
            <a:ext cx="1280160" cy="533495"/>
            <a:chOff x="0" y="0"/>
            <a:chExt cx="1706880" cy="711327"/>
          </a:xfrm>
        </p:grpSpPr>
        <p:sp>
          <p:nvSpPr>
            <p:cNvPr name="Freeform 33" id="33"/>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34" id="34"/>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p.30</a:t>
              </a:r>
            </a:p>
          </p:txBody>
        </p:sp>
      </p:grpSp>
      <p:grpSp>
        <p:nvGrpSpPr>
          <p:cNvPr name="Group 35" id="35"/>
          <p:cNvGrpSpPr/>
          <p:nvPr/>
        </p:nvGrpSpPr>
        <p:grpSpPr>
          <a:xfrm rot="0">
            <a:off x="15076686" y="1046103"/>
            <a:ext cx="2388354" cy="2388354"/>
            <a:chOff x="0" y="0"/>
            <a:chExt cx="5852160" cy="5852160"/>
          </a:xfrm>
        </p:grpSpPr>
        <p:sp>
          <p:nvSpPr>
            <p:cNvPr name="Freeform 36" id="3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1"/>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p.31</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1.4  |  Desde el evento al incidente: cómo fluye la información</a:t>
              </a:r>
            </a:p>
          </p:txBody>
        </p:sp>
      </p:grpSp>
      <p:grpSp>
        <p:nvGrpSpPr>
          <p:cNvPr name="Group 20" id="20"/>
          <p:cNvGrpSpPr/>
          <p:nvPr/>
        </p:nvGrpSpPr>
        <p:grpSpPr>
          <a:xfrm rot="0">
            <a:off x="640080" y="1773936"/>
            <a:ext cx="17007840" cy="768096"/>
            <a:chOff x="0" y="0"/>
            <a:chExt cx="22677120" cy="1024128"/>
          </a:xfrm>
        </p:grpSpPr>
        <p:sp>
          <p:nvSpPr>
            <p:cNvPr name="Freeform 21" id="21"/>
            <p:cNvSpPr/>
            <p:nvPr/>
          </p:nvSpPr>
          <p:spPr>
            <a:xfrm flipH="false" flipV="false" rot="0">
              <a:off x="0" y="0"/>
              <a:ext cx="22677120" cy="1024128"/>
            </a:xfrm>
            <a:custGeom>
              <a:avLst/>
              <a:gdLst/>
              <a:ahLst/>
              <a:cxnLst/>
              <a:rect r="r" b="b" t="t" l="l"/>
              <a:pathLst>
                <a:path h="1024128" w="22677120">
                  <a:moveTo>
                    <a:pt x="0" y="0"/>
                  </a:moveTo>
                  <a:lnTo>
                    <a:pt x="22677120" y="0"/>
                  </a:lnTo>
                  <a:lnTo>
                    <a:pt x="22677120" y="1024128"/>
                  </a:lnTo>
                  <a:lnTo>
                    <a:pt x="0" y="1024128"/>
                  </a:lnTo>
                  <a:close/>
                </a:path>
              </a:pathLst>
            </a:custGeom>
            <a:blipFill>
              <a:blip r:embed="rId7">
                <a:alphaModFix amt="0"/>
              </a:blip>
              <a:stretch>
                <a:fillRect l="0" t="-381154" r="0" b="-381154"/>
              </a:stretch>
            </a:blipFill>
          </p:spPr>
        </p:sp>
      </p:grpSp>
      <p:grpSp>
        <p:nvGrpSpPr>
          <p:cNvPr name="Group 22" id="22"/>
          <p:cNvGrpSpPr/>
          <p:nvPr/>
        </p:nvGrpSpPr>
        <p:grpSpPr>
          <a:xfrm rot="0">
            <a:off x="707584" y="2037170"/>
            <a:ext cx="17007840" cy="803815"/>
            <a:chOff x="0" y="0"/>
            <a:chExt cx="22677120" cy="1071753"/>
          </a:xfrm>
        </p:grpSpPr>
        <p:sp>
          <p:nvSpPr>
            <p:cNvPr name="Freeform 23" id="23"/>
            <p:cNvSpPr/>
            <p:nvPr/>
          </p:nvSpPr>
          <p:spPr>
            <a:xfrm flipH="false" flipV="false" rot="0">
              <a:off x="0" y="0"/>
              <a:ext cx="22677120" cy="1071753"/>
            </a:xfrm>
            <a:custGeom>
              <a:avLst/>
              <a:gdLst/>
              <a:ahLst/>
              <a:cxnLst/>
              <a:rect r="r" b="b" t="t" l="l"/>
              <a:pathLst>
                <a:path h="1071753" w="22677120">
                  <a:moveTo>
                    <a:pt x="0" y="0"/>
                  </a:moveTo>
                  <a:lnTo>
                    <a:pt x="22677120" y="0"/>
                  </a:lnTo>
                  <a:lnTo>
                    <a:pt x="22677120" y="1071753"/>
                  </a:lnTo>
                  <a:lnTo>
                    <a:pt x="0" y="1071753"/>
                  </a:lnTo>
                  <a:close/>
                </a:path>
              </a:pathLst>
            </a:custGeom>
            <a:blipFill>
              <a:blip r:embed="rId8">
                <a:alphaModFix amt="0"/>
              </a:blip>
              <a:stretch>
                <a:fillRect l="0" t="-362282" r="0" b="-362282"/>
              </a:stretch>
            </a:blipFill>
          </p:spPr>
        </p:sp>
        <p:sp>
          <p:nvSpPr>
            <p:cNvPr name="TextBox 24" id="24"/>
            <p:cNvSpPr txBox="true"/>
            <p:nvPr/>
          </p:nvSpPr>
          <p:spPr>
            <a:xfrm>
              <a:off x="0" y="-47625"/>
              <a:ext cx="22677120" cy="1119378"/>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¿Cómo se transforma un simple evento en un incidente de seguridad? Este proceso tiene varias etapas clave:</a:t>
              </a:r>
            </a:p>
          </p:txBody>
        </p:sp>
      </p:grpSp>
      <p:sp>
        <p:nvSpPr>
          <p:cNvPr name="Freeform 25" id="25"/>
          <p:cNvSpPr/>
          <p:nvPr/>
        </p:nvSpPr>
        <p:spPr>
          <a:xfrm flipH="false" flipV="false" rot="0">
            <a:off x="1208216" y="3553343"/>
            <a:ext cx="2973776" cy="1018534"/>
          </a:xfrm>
          <a:custGeom>
            <a:avLst/>
            <a:gdLst/>
            <a:ahLst/>
            <a:cxnLst/>
            <a:rect r="r" b="b" t="t" l="l"/>
            <a:pathLst>
              <a:path h="1018534" w="2973776">
                <a:moveTo>
                  <a:pt x="0" y="0"/>
                </a:moveTo>
                <a:lnTo>
                  <a:pt x="2973775" y="0"/>
                </a:lnTo>
                <a:lnTo>
                  <a:pt x="2973775" y="1018534"/>
                </a:lnTo>
                <a:lnTo>
                  <a:pt x="0" y="101853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220124" y="3565251"/>
            <a:ext cx="548840" cy="994772"/>
            <a:chOff x="0" y="0"/>
            <a:chExt cx="780288" cy="1414272"/>
          </a:xfrm>
        </p:grpSpPr>
        <p:sp>
          <p:nvSpPr>
            <p:cNvPr name="Freeform 27" id="27"/>
            <p:cNvSpPr/>
            <p:nvPr/>
          </p:nvSpPr>
          <p:spPr>
            <a:xfrm flipH="false" flipV="false" rot="0">
              <a:off x="0" y="0"/>
              <a:ext cx="780288" cy="1414272"/>
            </a:xfrm>
            <a:custGeom>
              <a:avLst/>
              <a:gdLst/>
              <a:ahLst/>
              <a:cxnLst/>
              <a:rect r="r" b="b" t="t" l="l"/>
              <a:pathLst>
                <a:path h="1414272" w="780288">
                  <a:moveTo>
                    <a:pt x="0" y="0"/>
                  </a:moveTo>
                  <a:lnTo>
                    <a:pt x="780288" y="0"/>
                  </a:lnTo>
                  <a:lnTo>
                    <a:pt x="780288" y="1414272"/>
                  </a:lnTo>
                  <a:lnTo>
                    <a:pt x="0" y="1414272"/>
                  </a:lnTo>
                  <a:close/>
                </a:path>
              </a:pathLst>
            </a:custGeom>
            <a:blipFill>
              <a:blip r:embed="rId7">
                <a:alphaModFix amt="0"/>
              </a:blip>
              <a:stretch>
                <a:fillRect l="-182711" t="0" r="-182713" b="0"/>
              </a:stretch>
            </a:blipFill>
          </p:spPr>
        </p:sp>
      </p:grpSp>
      <p:grpSp>
        <p:nvGrpSpPr>
          <p:cNvPr name="Group 28" id="28"/>
          <p:cNvGrpSpPr/>
          <p:nvPr/>
        </p:nvGrpSpPr>
        <p:grpSpPr>
          <a:xfrm rot="0">
            <a:off x="1220124" y="3525053"/>
            <a:ext cx="548840" cy="1034970"/>
            <a:chOff x="0" y="0"/>
            <a:chExt cx="780288" cy="1471422"/>
          </a:xfrm>
        </p:grpSpPr>
        <p:sp>
          <p:nvSpPr>
            <p:cNvPr name="Freeform 29" id="29"/>
            <p:cNvSpPr/>
            <p:nvPr/>
          </p:nvSpPr>
          <p:spPr>
            <a:xfrm flipH="false" flipV="false" rot="0">
              <a:off x="0" y="0"/>
              <a:ext cx="780288" cy="1471422"/>
            </a:xfrm>
            <a:custGeom>
              <a:avLst/>
              <a:gdLst/>
              <a:ahLst/>
              <a:cxnLst/>
              <a:rect r="r" b="b" t="t" l="l"/>
              <a:pathLst>
                <a:path h="1471422" w="780288">
                  <a:moveTo>
                    <a:pt x="0" y="0"/>
                  </a:moveTo>
                  <a:lnTo>
                    <a:pt x="780288" y="0"/>
                  </a:lnTo>
                  <a:lnTo>
                    <a:pt x="780288" y="1471422"/>
                  </a:lnTo>
                  <a:lnTo>
                    <a:pt x="0" y="1471422"/>
                  </a:lnTo>
                  <a:close/>
                </a:path>
              </a:pathLst>
            </a:custGeom>
            <a:blipFill>
              <a:blip r:embed="rId8">
                <a:alphaModFix amt="0"/>
              </a:blip>
              <a:stretch>
                <a:fillRect l="-191947" t="0" r="-191947" b="0"/>
              </a:stretch>
            </a:blipFill>
          </p:spPr>
        </p:sp>
        <p:sp>
          <p:nvSpPr>
            <p:cNvPr name="TextBox 30" id="30"/>
            <p:cNvSpPr txBox="true"/>
            <p:nvPr/>
          </p:nvSpPr>
          <p:spPr>
            <a:xfrm>
              <a:off x="0" y="-57150"/>
              <a:ext cx="780288" cy="152857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1</a:t>
              </a:r>
            </a:p>
          </p:txBody>
        </p:sp>
      </p:grpSp>
      <p:grpSp>
        <p:nvGrpSpPr>
          <p:cNvPr name="Group 31" id="31"/>
          <p:cNvGrpSpPr/>
          <p:nvPr/>
        </p:nvGrpSpPr>
        <p:grpSpPr>
          <a:xfrm rot="0">
            <a:off x="1768963" y="3565251"/>
            <a:ext cx="2401174" cy="994772"/>
            <a:chOff x="0" y="0"/>
            <a:chExt cx="3413760" cy="1414272"/>
          </a:xfrm>
        </p:grpSpPr>
        <p:sp>
          <p:nvSpPr>
            <p:cNvPr name="Freeform 32" id="32"/>
            <p:cNvSpPr/>
            <p:nvPr/>
          </p:nvSpPr>
          <p:spPr>
            <a:xfrm flipH="false" flipV="false" rot="0">
              <a:off x="0" y="0"/>
              <a:ext cx="3413760" cy="1414272"/>
            </a:xfrm>
            <a:custGeom>
              <a:avLst/>
              <a:gdLst/>
              <a:ahLst/>
              <a:cxnLst/>
              <a:rect r="r" b="b" t="t" l="l"/>
              <a:pathLst>
                <a:path h="1414272" w="3413760">
                  <a:moveTo>
                    <a:pt x="0" y="0"/>
                  </a:moveTo>
                  <a:lnTo>
                    <a:pt x="3413760" y="0"/>
                  </a:lnTo>
                  <a:lnTo>
                    <a:pt x="3413760" y="1414272"/>
                  </a:lnTo>
                  <a:lnTo>
                    <a:pt x="0" y="1414272"/>
                  </a:lnTo>
                  <a:close/>
                </a:path>
              </a:pathLst>
            </a:custGeom>
            <a:blipFill>
              <a:blip r:embed="rId7">
                <a:alphaModFix amt="0"/>
              </a:blip>
              <a:stretch>
                <a:fillRect l="-3191" t="0" r="-3191" b="0"/>
              </a:stretch>
            </a:blipFill>
          </p:spPr>
        </p:sp>
      </p:grpSp>
      <p:grpSp>
        <p:nvGrpSpPr>
          <p:cNvPr name="Group 33" id="33"/>
          <p:cNvGrpSpPr/>
          <p:nvPr/>
        </p:nvGrpSpPr>
        <p:grpSpPr>
          <a:xfrm rot="0">
            <a:off x="1580300" y="3565251"/>
            <a:ext cx="2401174" cy="1021571"/>
            <a:chOff x="0" y="0"/>
            <a:chExt cx="3413760" cy="1452372"/>
          </a:xfrm>
        </p:grpSpPr>
        <p:sp>
          <p:nvSpPr>
            <p:cNvPr name="Freeform 34" id="34"/>
            <p:cNvSpPr/>
            <p:nvPr/>
          </p:nvSpPr>
          <p:spPr>
            <a:xfrm flipH="false" flipV="false" rot="0">
              <a:off x="0" y="0"/>
              <a:ext cx="3413760" cy="1452372"/>
            </a:xfrm>
            <a:custGeom>
              <a:avLst/>
              <a:gdLst/>
              <a:ahLst/>
              <a:cxnLst/>
              <a:rect r="r" b="b" t="t" l="l"/>
              <a:pathLst>
                <a:path h="1452372" w="3413760">
                  <a:moveTo>
                    <a:pt x="0" y="0"/>
                  </a:moveTo>
                  <a:lnTo>
                    <a:pt x="3413760" y="0"/>
                  </a:lnTo>
                  <a:lnTo>
                    <a:pt x="3413760" y="1452372"/>
                  </a:lnTo>
                  <a:lnTo>
                    <a:pt x="0" y="1452372"/>
                  </a:lnTo>
                  <a:close/>
                </a:path>
              </a:pathLst>
            </a:custGeom>
            <a:blipFill>
              <a:blip r:embed="rId8">
                <a:alphaModFix amt="0"/>
              </a:blip>
              <a:stretch>
                <a:fillRect l="-4586" t="0" r="-4586" b="0"/>
              </a:stretch>
            </a:blipFill>
          </p:spPr>
        </p:sp>
        <p:sp>
          <p:nvSpPr>
            <p:cNvPr name="TextBox 35" id="35"/>
            <p:cNvSpPr txBox="true"/>
            <p:nvPr/>
          </p:nvSpPr>
          <p:spPr>
            <a:xfrm>
              <a:off x="0" y="-38100"/>
              <a:ext cx="3413760" cy="149047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Evento</a:t>
              </a:r>
            </a:p>
            <a:p>
              <a:pPr algn="ctr">
                <a:lnSpc>
                  <a:spcPts val="2279"/>
                </a:lnSpc>
              </a:pPr>
              <a:r>
                <a:rPr lang="en-US" sz="1899" b="true">
                  <a:solidFill>
                    <a:srgbClr val="FFFFFF"/>
                  </a:solidFill>
                  <a:latin typeface="Calibri (MS) Bold"/>
                  <a:ea typeface="Calibri (MS) Bold"/>
                  <a:cs typeface="Calibri (MS) Bold"/>
                  <a:sym typeface="Calibri (MS) Bold"/>
                </a:rPr>
                <a:t>ocurre</a:t>
              </a:r>
            </a:p>
          </p:txBody>
        </p:sp>
      </p:grpSp>
      <p:sp>
        <p:nvSpPr>
          <p:cNvPr name="Freeform 36" id="36"/>
          <p:cNvSpPr/>
          <p:nvPr/>
        </p:nvSpPr>
        <p:spPr>
          <a:xfrm flipH="false" flipV="false" rot="0">
            <a:off x="1208216" y="4582418"/>
            <a:ext cx="2973776" cy="2682204"/>
          </a:xfrm>
          <a:custGeom>
            <a:avLst/>
            <a:gdLst/>
            <a:ahLst/>
            <a:cxnLst/>
            <a:rect r="r" b="b" t="t" l="l"/>
            <a:pathLst>
              <a:path h="2682204" w="2973776">
                <a:moveTo>
                  <a:pt x="0" y="0"/>
                </a:moveTo>
                <a:lnTo>
                  <a:pt x="2973775" y="0"/>
                </a:lnTo>
                <a:lnTo>
                  <a:pt x="2973775" y="2682204"/>
                </a:lnTo>
                <a:lnTo>
                  <a:pt x="0" y="26822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7" id="37"/>
          <p:cNvSpPr txBox="true"/>
          <p:nvPr/>
        </p:nvSpPr>
        <p:spPr>
          <a:xfrm rot="0">
            <a:off x="1443090" y="4783920"/>
            <a:ext cx="2538384" cy="1387786"/>
          </a:xfrm>
          <a:prstGeom prst="rect">
            <a:avLst/>
          </a:prstGeom>
        </p:spPr>
        <p:txBody>
          <a:bodyPr anchor="t" rtlCol="false" tIns="0" lIns="0" bIns="0" rIns="0">
            <a:spAutoFit/>
          </a:bodyPr>
          <a:lstStyle/>
          <a:p>
            <a:pPr algn="l">
              <a:lnSpc>
                <a:spcPts val="2760"/>
              </a:lnSpc>
            </a:pPr>
            <a:r>
              <a:rPr lang="en-US" sz="1780">
                <a:solidFill>
                  <a:srgbClr val="333333"/>
                </a:solidFill>
                <a:latin typeface="Calibri (MS)"/>
                <a:ea typeface="Calibri (MS)"/>
                <a:cs typeface="Calibri (MS)"/>
                <a:sym typeface="Calibri (MS)"/>
              </a:rPr>
              <a:t>Un intento de acceso, ejecución sospechosa, cambio en política de red, etc.</a:t>
            </a:r>
          </a:p>
        </p:txBody>
      </p:sp>
      <p:grpSp>
        <p:nvGrpSpPr>
          <p:cNvPr name="Group 38" id="38"/>
          <p:cNvGrpSpPr/>
          <p:nvPr/>
        </p:nvGrpSpPr>
        <p:grpSpPr>
          <a:xfrm rot="0">
            <a:off x="4204440" y="3565251"/>
            <a:ext cx="240117" cy="994772"/>
            <a:chOff x="0" y="0"/>
            <a:chExt cx="341376" cy="1414272"/>
          </a:xfrm>
        </p:grpSpPr>
        <p:sp>
          <p:nvSpPr>
            <p:cNvPr name="Freeform 39" id="39"/>
            <p:cNvSpPr/>
            <p:nvPr/>
          </p:nvSpPr>
          <p:spPr>
            <a:xfrm flipH="false" flipV="false" rot="0">
              <a:off x="0" y="0"/>
              <a:ext cx="341376" cy="1414272"/>
            </a:xfrm>
            <a:custGeom>
              <a:avLst/>
              <a:gdLst/>
              <a:ahLst/>
              <a:cxnLst/>
              <a:rect r="r" b="b" t="t" l="l"/>
              <a:pathLst>
                <a:path h="1414272" w="341376">
                  <a:moveTo>
                    <a:pt x="0" y="0"/>
                  </a:moveTo>
                  <a:lnTo>
                    <a:pt x="341376" y="0"/>
                  </a:lnTo>
                  <a:lnTo>
                    <a:pt x="341376" y="1414272"/>
                  </a:lnTo>
                  <a:lnTo>
                    <a:pt x="0" y="1414272"/>
                  </a:lnTo>
                  <a:close/>
                </a:path>
              </a:pathLst>
            </a:custGeom>
            <a:blipFill>
              <a:blip r:embed="rId7">
                <a:alphaModFix amt="0"/>
              </a:blip>
              <a:stretch>
                <a:fillRect l="-481912" t="0" r="-481915" b="0"/>
              </a:stretch>
            </a:blipFill>
          </p:spPr>
        </p:sp>
      </p:grpSp>
      <p:grpSp>
        <p:nvGrpSpPr>
          <p:cNvPr name="Group 40" id="40"/>
          <p:cNvGrpSpPr/>
          <p:nvPr/>
        </p:nvGrpSpPr>
        <p:grpSpPr>
          <a:xfrm rot="0">
            <a:off x="4204440" y="3538452"/>
            <a:ext cx="240117" cy="1021571"/>
            <a:chOff x="0" y="0"/>
            <a:chExt cx="341376" cy="1452372"/>
          </a:xfrm>
        </p:grpSpPr>
        <p:sp>
          <p:nvSpPr>
            <p:cNvPr name="Freeform 41" id="41"/>
            <p:cNvSpPr/>
            <p:nvPr/>
          </p:nvSpPr>
          <p:spPr>
            <a:xfrm flipH="false" flipV="false" rot="0">
              <a:off x="0" y="0"/>
              <a:ext cx="341376" cy="1452372"/>
            </a:xfrm>
            <a:custGeom>
              <a:avLst/>
              <a:gdLst/>
              <a:ahLst/>
              <a:cxnLst/>
              <a:rect r="r" b="b" t="t" l="l"/>
              <a:pathLst>
                <a:path h="1452372" w="341376">
                  <a:moveTo>
                    <a:pt x="0" y="0"/>
                  </a:moveTo>
                  <a:lnTo>
                    <a:pt x="341376" y="0"/>
                  </a:lnTo>
                  <a:lnTo>
                    <a:pt x="341376" y="1452372"/>
                  </a:lnTo>
                  <a:lnTo>
                    <a:pt x="0" y="1452372"/>
                  </a:lnTo>
                  <a:close/>
                </a:path>
              </a:pathLst>
            </a:custGeom>
            <a:blipFill>
              <a:blip r:embed="rId8">
                <a:alphaModFix amt="0"/>
              </a:blip>
              <a:stretch>
                <a:fillRect l="-495862" t="0" r="-495862" b="0"/>
              </a:stretch>
            </a:blipFill>
          </p:spPr>
        </p:sp>
        <p:sp>
          <p:nvSpPr>
            <p:cNvPr name="TextBox 42" id="42"/>
            <p:cNvSpPr txBox="true"/>
            <p:nvPr/>
          </p:nvSpPr>
          <p:spPr>
            <a:xfrm>
              <a:off x="0" y="-38100"/>
              <a:ext cx="341376" cy="1490472"/>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a:t>
              </a:r>
            </a:p>
          </p:txBody>
        </p:sp>
      </p:grpSp>
      <p:sp>
        <p:nvSpPr>
          <p:cNvPr name="Freeform 43" id="43"/>
          <p:cNvSpPr/>
          <p:nvPr/>
        </p:nvSpPr>
        <p:spPr>
          <a:xfrm flipH="false" flipV="false" rot="0">
            <a:off x="4432650" y="3553343"/>
            <a:ext cx="2973776" cy="1018534"/>
          </a:xfrm>
          <a:custGeom>
            <a:avLst/>
            <a:gdLst/>
            <a:ahLst/>
            <a:cxnLst/>
            <a:rect r="r" b="b" t="t" l="l"/>
            <a:pathLst>
              <a:path h="1018534" w="2973776">
                <a:moveTo>
                  <a:pt x="0" y="0"/>
                </a:moveTo>
                <a:lnTo>
                  <a:pt x="2973775" y="0"/>
                </a:lnTo>
                <a:lnTo>
                  <a:pt x="2973775" y="1018534"/>
                </a:lnTo>
                <a:lnTo>
                  <a:pt x="0" y="101853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4" id="44"/>
          <p:cNvGrpSpPr/>
          <p:nvPr/>
        </p:nvGrpSpPr>
        <p:grpSpPr>
          <a:xfrm rot="0">
            <a:off x="4444557" y="3565251"/>
            <a:ext cx="548840" cy="994772"/>
            <a:chOff x="0" y="0"/>
            <a:chExt cx="780288" cy="1414272"/>
          </a:xfrm>
        </p:grpSpPr>
        <p:sp>
          <p:nvSpPr>
            <p:cNvPr name="Freeform 45" id="45"/>
            <p:cNvSpPr/>
            <p:nvPr/>
          </p:nvSpPr>
          <p:spPr>
            <a:xfrm flipH="false" flipV="false" rot="0">
              <a:off x="0" y="0"/>
              <a:ext cx="780288" cy="1414272"/>
            </a:xfrm>
            <a:custGeom>
              <a:avLst/>
              <a:gdLst/>
              <a:ahLst/>
              <a:cxnLst/>
              <a:rect r="r" b="b" t="t" l="l"/>
              <a:pathLst>
                <a:path h="1414272" w="780288">
                  <a:moveTo>
                    <a:pt x="0" y="0"/>
                  </a:moveTo>
                  <a:lnTo>
                    <a:pt x="780288" y="0"/>
                  </a:lnTo>
                  <a:lnTo>
                    <a:pt x="780288" y="1414272"/>
                  </a:lnTo>
                  <a:lnTo>
                    <a:pt x="0" y="1414272"/>
                  </a:lnTo>
                  <a:close/>
                </a:path>
              </a:pathLst>
            </a:custGeom>
            <a:blipFill>
              <a:blip r:embed="rId7">
                <a:alphaModFix amt="0"/>
              </a:blip>
              <a:stretch>
                <a:fillRect l="-182711" t="0" r="-182713" b="0"/>
              </a:stretch>
            </a:blipFill>
          </p:spPr>
        </p:sp>
      </p:grpSp>
      <p:grpSp>
        <p:nvGrpSpPr>
          <p:cNvPr name="Group 46" id="46"/>
          <p:cNvGrpSpPr/>
          <p:nvPr/>
        </p:nvGrpSpPr>
        <p:grpSpPr>
          <a:xfrm rot="0">
            <a:off x="4444557" y="3525053"/>
            <a:ext cx="548840" cy="1034970"/>
            <a:chOff x="0" y="0"/>
            <a:chExt cx="780288" cy="1471422"/>
          </a:xfrm>
        </p:grpSpPr>
        <p:sp>
          <p:nvSpPr>
            <p:cNvPr name="Freeform 47" id="47"/>
            <p:cNvSpPr/>
            <p:nvPr/>
          </p:nvSpPr>
          <p:spPr>
            <a:xfrm flipH="false" flipV="false" rot="0">
              <a:off x="0" y="0"/>
              <a:ext cx="780288" cy="1471422"/>
            </a:xfrm>
            <a:custGeom>
              <a:avLst/>
              <a:gdLst/>
              <a:ahLst/>
              <a:cxnLst/>
              <a:rect r="r" b="b" t="t" l="l"/>
              <a:pathLst>
                <a:path h="1471422" w="780288">
                  <a:moveTo>
                    <a:pt x="0" y="0"/>
                  </a:moveTo>
                  <a:lnTo>
                    <a:pt x="780288" y="0"/>
                  </a:lnTo>
                  <a:lnTo>
                    <a:pt x="780288" y="1471422"/>
                  </a:lnTo>
                  <a:lnTo>
                    <a:pt x="0" y="1471422"/>
                  </a:lnTo>
                  <a:close/>
                </a:path>
              </a:pathLst>
            </a:custGeom>
            <a:blipFill>
              <a:blip r:embed="rId8">
                <a:alphaModFix amt="0"/>
              </a:blip>
              <a:stretch>
                <a:fillRect l="-191947" t="0" r="-191947" b="0"/>
              </a:stretch>
            </a:blipFill>
          </p:spPr>
        </p:sp>
        <p:sp>
          <p:nvSpPr>
            <p:cNvPr name="TextBox 48" id="48"/>
            <p:cNvSpPr txBox="true"/>
            <p:nvPr/>
          </p:nvSpPr>
          <p:spPr>
            <a:xfrm>
              <a:off x="0" y="-57150"/>
              <a:ext cx="780288" cy="152857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2</a:t>
              </a:r>
            </a:p>
          </p:txBody>
        </p:sp>
      </p:grpSp>
      <p:grpSp>
        <p:nvGrpSpPr>
          <p:cNvPr name="Group 49" id="49"/>
          <p:cNvGrpSpPr/>
          <p:nvPr/>
        </p:nvGrpSpPr>
        <p:grpSpPr>
          <a:xfrm rot="0">
            <a:off x="4993397" y="3565251"/>
            <a:ext cx="2401174" cy="994772"/>
            <a:chOff x="0" y="0"/>
            <a:chExt cx="3413760" cy="1414272"/>
          </a:xfrm>
        </p:grpSpPr>
        <p:sp>
          <p:nvSpPr>
            <p:cNvPr name="Freeform 50" id="50"/>
            <p:cNvSpPr/>
            <p:nvPr/>
          </p:nvSpPr>
          <p:spPr>
            <a:xfrm flipH="false" flipV="false" rot="0">
              <a:off x="0" y="0"/>
              <a:ext cx="3413760" cy="1414272"/>
            </a:xfrm>
            <a:custGeom>
              <a:avLst/>
              <a:gdLst/>
              <a:ahLst/>
              <a:cxnLst/>
              <a:rect r="r" b="b" t="t" l="l"/>
              <a:pathLst>
                <a:path h="1414272" w="3413760">
                  <a:moveTo>
                    <a:pt x="0" y="0"/>
                  </a:moveTo>
                  <a:lnTo>
                    <a:pt x="3413760" y="0"/>
                  </a:lnTo>
                  <a:lnTo>
                    <a:pt x="3413760" y="1414272"/>
                  </a:lnTo>
                  <a:lnTo>
                    <a:pt x="0" y="1414272"/>
                  </a:lnTo>
                  <a:close/>
                </a:path>
              </a:pathLst>
            </a:custGeom>
            <a:blipFill>
              <a:blip r:embed="rId7">
                <a:alphaModFix amt="0"/>
              </a:blip>
              <a:stretch>
                <a:fillRect l="-3191" t="0" r="-3191" b="0"/>
              </a:stretch>
            </a:blipFill>
          </p:spPr>
        </p:sp>
      </p:grpSp>
      <p:grpSp>
        <p:nvGrpSpPr>
          <p:cNvPr name="Group 51" id="51"/>
          <p:cNvGrpSpPr/>
          <p:nvPr/>
        </p:nvGrpSpPr>
        <p:grpSpPr>
          <a:xfrm rot="0">
            <a:off x="4804734" y="3565251"/>
            <a:ext cx="2401174" cy="1021571"/>
            <a:chOff x="0" y="0"/>
            <a:chExt cx="3413760" cy="1452372"/>
          </a:xfrm>
        </p:grpSpPr>
        <p:sp>
          <p:nvSpPr>
            <p:cNvPr name="Freeform 52" id="52"/>
            <p:cNvSpPr/>
            <p:nvPr/>
          </p:nvSpPr>
          <p:spPr>
            <a:xfrm flipH="false" flipV="false" rot="0">
              <a:off x="0" y="0"/>
              <a:ext cx="3413760" cy="1452372"/>
            </a:xfrm>
            <a:custGeom>
              <a:avLst/>
              <a:gdLst/>
              <a:ahLst/>
              <a:cxnLst/>
              <a:rect r="r" b="b" t="t" l="l"/>
              <a:pathLst>
                <a:path h="1452372" w="3413760">
                  <a:moveTo>
                    <a:pt x="0" y="0"/>
                  </a:moveTo>
                  <a:lnTo>
                    <a:pt x="3413760" y="0"/>
                  </a:lnTo>
                  <a:lnTo>
                    <a:pt x="3413760" y="1452372"/>
                  </a:lnTo>
                  <a:lnTo>
                    <a:pt x="0" y="1452372"/>
                  </a:lnTo>
                  <a:close/>
                </a:path>
              </a:pathLst>
            </a:custGeom>
            <a:blipFill>
              <a:blip r:embed="rId8">
                <a:alphaModFix amt="0"/>
              </a:blip>
              <a:stretch>
                <a:fillRect l="-4586" t="0" r="-4586" b="0"/>
              </a:stretch>
            </a:blipFill>
          </p:spPr>
        </p:sp>
        <p:sp>
          <p:nvSpPr>
            <p:cNvPr name="TextBox 53" id="53"/>
            <p:cNvSpPr txBox="true"/>
            <p:nvPr/>
          </p:nvSpPr>
          <p:spPr>
            <a:xfrm>
              <a:off x="0" y="-38100"/>
              <a:ext cx="3413760" cy="149047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Herramienta</a:t>
              </a:r>
            </a:p>
            <a:p>
              <a:pPr algn="ctr">
                <a:lnSpc>
                  <a:spcPts val="2279"/>
                </a:lnSpc>
              </a:pPr>
              <a:r>
                <a:rPr lang="en-US" sz="1899" b="true">
                  <a:solidFill>
                    <a:srgbClr val="FFFFFF"/>
                  </a:solidFill>
                  <a:latin typeface="Calibri (MS) Bold"/>
                  <a:ea typeface="Calibri (MS) Bold"/>
                  <a:cs typeface="Calibri (MS) Bold"/>
                  <a:sym typeface="Calibri (MS) Bold"/>
                </a:rPr>
                <a:t>registra</a:t>
              </a:r>
            </a:p>
          </p:txBody>
        </p:sp>
      </p:grpSp>
      <p:sp>
        <p:nvSpPr>
          <p:cNvPr name="Freeform 54" id="54"/>
          <p:cNvSpPr/>
          <p:nvPr/>
        </p:nvSpPr>
        <p:spPr>
          <a:xfrm flipH="false" flipV="false" rot="0">
            <a:off x="4432650" y="4582418"/>
            <a:ext cx="2973776" cy="2682204"/>
          </a:xfrm>
          <a:custGeom>
            <a:avLst/>
            <a:gdLst/>
            <a:ahLst/>
            <a:cxnLst/>
            <a:rect r="r" b="b" t="t" l="l"/>
            <a:pathLst>
              <a:path h="2682204" w="2973776">
                <a:moveTo>
                  <a:pt x="0" y="0"/>
                </a:moveTo>
                <a:lnTo>
                  <a:pt x="2973775" y="0"/>
                </a:lnTo>
                <a:lnTo>
                  <a:pt x="2973775" y="2682204"/>
                </a:lnTo>
                <a:lnTo>
                  <a:pt x="0" y="26822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5" id="55"/>
          <p:cNvSpPr txBox="true"/>
          <p:nvPr/>
        </p:nvSpPr>
        <p:spPr>
          <a:xfrm rot="0">
            <a:off x="4667524" y="4783920"/>
            <a:ext cx="2538384" cy="1387786"/>
          </a:xfrm>
          <a:prstGeom prst="rect">
            <a:avLst/>
          </a:prstGeom>
        </p:spPr>
        <p:txBody>
          <a:bodyPr anchor="t" rtlCol="false" tIns="0" lIns="0" bIns="0" rIns="0">
            <a:spAutoFit/>
          </a:bodyPr>
          <a:lstStyle/>
          <a:p>
            <a:pPr algn="l">
              <a:lnSpc>
                <a:spcPts val="2760"/>
              </a:lnSpc>
            </a:pPr>
            <a:r>
              <a:rPr lang="en-US" sz="1780">
                <a:solidFill>
                  <a:srgbClr val="333333"/>
                </a:solidFill>
                <a:latin typeface="Calibri (MS)"/>
                <a:ea typeface="Calibri (MS)"/>
                <a:cs typeface="Calibri (MS)"/>
                <a:sym typeface="Calibri (MS)"/>
              </a:rPr>
              <a:t>WAF detecta SQL injection. EDR registra script no autorizado. Firewall bloquea IP maliciosa.</a:t>
            </a:r>
          </a:p>
        </p:txBody>
      </p:sp>
      <p:grpSp>
        <p:nvGrpSpPr>
          <p:cNvPr name="Group 56" id="56"/>
          <p:cNvGrpSpPr/>
          <p:nvPr/>
        </p:nvGrpSpPr>
        <p:grpSpPr>
          <a:xfrm rot="0">
            <a:off x="7428874" y="3565251"/>
            <a:ext cx="240117" cy="994772"/>
            <a:chOff x="0" y="0"/>
            <a:chExt cx="341376" cy="1414272"/>
          </a:xfrm>
        </p:grpSpPr>
        <p:sp>
          <p:nvSpPr>
            <p:cNvPr name="Freeform 57" id="57"/>
            <p:cNvSpPr/>
            <p:nvPr/>
          </p:nvSpPr>
          <p:spPr>
            <a:xfrm flipH="false" flipV="false" rot="0">
              <a:off x="0" y="0"/>
              <a:ext cx="341376" cy="1414272"/>
            </a:xfrm>
            <a:custGeom>
              <a:avLst/>
              <a:gdLst/>
              <a:ahLst/>
              <a:cxnLst/>
              <a:rect r="r" b="b" t="t" l="l"/>
              <a:pathLst>
                <a:path h="1414272" w="341376">
                  <a:moveTo>
                    <a:pt x="0" y="0"/>
                  </a:moveTo>
                  <a:lnTo>
                    <a:pt x="341376" y="0"/>
                  </a:lnTo>
                  <a:lnTo>
                    <a:pt x="341376" y="1414272"/>
                  </a:lnTo>
                  <a:lnTo>
                    <a:pt x="0" y="1414272"/>
                  </a:lnTo>
                  <a:close/>
                </a:path>
              </a:pathLst>
            </a:custGeom>
            <a:blipFill>
              <a:blip r:embed="rId7">
                <a:alphaModFix amt="0"/>
              </a:blip>
              <a:stretch>
                <a:fillRect l="-481912" t="0" r="-481915" b="0"/>
              </a:stretch>
            </a:blipFill>
          </p:spPr>
        </p:sp>
      </p:grpSp>
      <p:grpSp>
        <p:nvGrpSpPr>
          <p:cNvPr name="Group 58" id="58"/>
          <p:cNvGrpSpPr/>
          <p:nvPr/>
        </p:nvGrpSpPr>
        <p:grpSpPr>
          <a:xfrm rot="0">
            <a:off x="7428874" y="3538452"/>
            <a:ext cx="240117" cy="1021571"/>
            <a:chOff x="0" y="0"/>
            <a:chExt cx="341376" cy="1452372"/>
          </a:xfrm>
        </p:grpSpPr>
        <p:sp>
          <p:nvSpPr>
            <p:cNvPr name="Freeform 59" id="59"/>
            <p:cNvSpPr/>
            <p:nvPr/>
          </p:nvSpPr>
          <p:spPr>
            <a:xfrm flipH="false" flipV="false" rot="0">
              <a:off x="0" y="0"/>
              <a:ext cx="341376" cy="1452372"/>
            </a:xfrm>
            <a:custGeom>
              <a:avLst/>
              <a:gdLst/>
              <a:ahLst/>
              <a:cxnLst/>
              <a:rect r="r" b="b" t="t" l="l"/>
              <a:pathLst>
                <a:path h="1452372" w="341376">
                  <a:moveTo>
                    <a:pt x="0" y="0"/>
                  </a:moveTo>
                  <a:lnTo>
                    <a:pt x="341376" y="0"/>
                  </a:lnTo>
                  <a:lnTo>
                    <a:pt x="341376" y="1452372"/>
                  </a:lnTo>
                  <a:lnTo>
                    <a:pt x="0" y="1452372"/>
                  </a:lnTo>
                  <a:close/>
                </a:path>
              </a:pathLst>
            </a:custGeom>
            <a:blipFill>
              <a:blip r:embed="rId8">
                <a:alphaModFix amt="0"/>
              </a:blip>
              <a:stretch>
                <a:fillRect l="-495862" t="0" r="-495862" b="0"/>
              </a:stretch>
            </a:blipFill>
          </p:spPr>
        </p:sp>
        <p:sp>
          <p:nvSpPr>
            <p:cNvPr name="TextBox 60" id="60"/>
            <p:cNvSpPr txBox="true"/>
            <p:nvPr/>
          </p:nvSpPr>
          <p:spPr>
            <a:xfrm>
              <a:off x="0" y="-38100"/>
              <a:ext cx="341376" cy="1490472"/>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a:t>
              </a:r>
            </a:p>
          </p:txBody>
        </p:sp>
      </p:grpSp>
      <p:sp>
        <p:nvSpPr>
          <p:cNvPr name="Freeform 61" id="61"/>
          <p:cNvSpPr/>
          <p:nvPr/>
        </p:nvSpPr>
        <p:spPr>
          <a:xfrm flipH="false" flipV="false" rot="0">
            <a:off x="7657084" y="3553343"/>
            <a:ext cx="2973776" cy="1018534"/>
          </a:xfrm>
          <a:custGeom>
            <a:avLst/>
            <a:gdLst/>
            <a:ahLst/>
            <a:cxnLst/>
            <a:rect r="r" b="b" t="t" l="l"/>
            <a:pathLst>
              <a:path h="1018534" w="2973776">
                <a:moveTo>
                  <a:pt x="0" y="0"/>
                </a:moveTo>
                <a:lnTo>
                  <a:pt x="2973775" y="0"/>
                </a:lnTo>
                <a:lnTo>
                  <a:pt x="2973775" y="1018534"/>
                </a:lnTo>
                <a:lnTo>
                  <a:pt x="0" y="101853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2" id="62"/>
          <p:cNvGrpSpPr/>
          <p:nvPr/>
        </p:nvGrpSpPr>
        <p:grpSpPr>
          <a:xfrm rot="0">
            <a:off x="7668991" y="3565251"/>
            <a:ext cx="548840" cy="994772"/>
            <a:chOff x="0" y="0"/>
            <a:chExt cx="780288" cy="1414272"/>
          </a:xfrm>
        </p:grpSpPr>
        <p:sp>
          <p:nvSpPr>
            <p:cNvPr name="Freeform 63" id="63"/>
            <p:cNvSpPr/>
            <p:nvPr/>
          </p:nvSpPr>
          <p:spPr>
            <a:xfrm flipH="false" flipV="false" rot="0">
              <a:off x="0" y="0"/>
              <a:ext cx="780288" cy="1414272"/>
            </a:xfrm>
            <a:custGeom>
              <a:avLst/>
              <a:gdLst/>
              <a:ahLst/>
              <a:cxnLst/>
              <a:rect r="r" b="b" t="t" l="l"/>
              <a:pathLst>
                <a:path h="1414272" w="780288">
                  <a:moveTo>
                    <a:pt x="0" y="0"/>
                  </a:moveTo>
                  <a:lnTo>
                    <a:pt x="780288" y="0"/>
                  </a:lnTo>
                  <a:lnTo>
                    <a:pt x="780288" y="1414272"/>
                  </a:lnTo>
                  <a:lnTo>
                    <a:pt x="0" y="1414272"/>
                  </a:lnTo>
                  <a:close/>
                </a:path>
              </a:pathLst>
            </a:custGeom>
            <a:blipFill>
              <a:blip r:embed="rId7">
                <a:alphaModFix amt="0"/>
              </a:blip>
              <a:stretch>
                <a:fillRect l="-182711" t="0" r="-182713" b="0"/>
              </a:stretch>
            </a:blipFill>
          </p:spPr>
        </p:sp>
      </p:grpSp>
      <p:grpSp>
        <p:nvGrpSpPr>
          <p:cNvPr name="Group 64" id="64"/>
          <p:cNvGrpSpPr/>
          <p:nvPr/>
        </p:nvGrpSpPr>
        <p:grpSpPr>
          <a:xfrm rot="0">
            <a:off x="7668991" y="3525053"/>
            <a:ext cx="548840" cy="1034970"/>
            <a:chOff x="0" y="0"/>
            <a:chExt cx="780288" cy="1471422"/>
          </a:xfrm>
        </p:grpSpPr>
        <p:sp>
          <p:nvSpPr>
            <p:cNvPr name="Freeform 65" id="65"/>
            <p:cNvSpPr/>
            <p:nvPr/>
          </p:nvSpPr>
          <p:spPr>
            <a:xfrm flipH="false" flipV="false" rot="0">
              <a:off x="0" y="0"/>
              <a:ext cx="780288" cy="1471422"/>
            </a:xfrm>
            <a:custGeom>
              <a:avLst/>
              <a:gdLst/>
              <a:ahLst/>
              <a:cxnLst/>
              <a:rect r="r" b="b" t="t" l="l"/>
              <a:pathLst>
                <a:path h="1471422" w="780288">
                  <a:moveTo>
                    <a:pt x="0" y="0"/>
                  </a:moveTo>
                  <a:lnTo>
                    <a:pt x="780288" y="0"/>
                  </a:lnTo>
                  <a:lnTo>
                    <a:pt x="780288" y="1471422"/>
                  </a:lnTo>
                  <a:lnTo>
                    <a:pt x="0" y="1471422"/>
                  </a:lnTo>
                  <a:close/>
                </a:path>
              </a:pathLst>
            </a:custGeom>
            <a:blipFill>
              <a:blip r:embed="rId8">
                <a:alphaModFix amt="0"/>
              </a:blip>
              <a:stretch>
                <a:fillRect l="-191947" t="0" r="-191947" b="0"/>
              </a:stretch>
            </a:blipFill>
          </p:spPr>
        </p:sp>
        <p:sp>
          <p:nvSpPr>
            <p:cNvPr name="TextBox 66" id="66"/>
            <p:cNvSpPr txBox="true"/>
            <p:nvPr/>
          </p:nvSpPr>
          <p:spPr>
            <a:xfrm>
              <a:off x="0" y="-57150"/>
              <a:ext cx="780288" cy="152857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3</a:t>
              </a:r>
            </a:p>
          </p:txBody>
        </p:sp>
      </p:grpSp>
      <p:grpSp>
        <p:nvGrpSpPr>
          <p:cNvPr name="Group 67" id="67"/>
          <p:cNvGrpSpPr/>
          <p:nvPr/>
        </p:nvGrpSpPr>
        <p:grpSpPr>
          <a:xfrm rot="0">
            <a:off x="8217831" y="3565251"/>
            <a:ext cx="2401174" cy="994772"/>
            <a:chOff x="0" y="0"/>
            <a:chExt cx="3413760" cy="1414272"/>
          </a:xfrm>
        </p:grpSpPr>
        <p:sp>
          <p:nvSpPr>
            <p:cNvPr name="Freeform 68" id="68"/>
            <p:cNvSpPr/>
            <p:nvPr/>
          </p:nvSpPr>
          <p:spPr>
            <a:xfrm flipH="false" flipV="false" rot="0">
              <a:off x="0" y="0"/>
              <a:ext cx="3413760" cy="1414272"/>
            </a:xfrm>
            <a:custGeom>
              <a:avLst/>
              <a:gdLst/>
              <a:ahLst/>
              <a:cxnLst/>
              <a:rect r="r" b="b" t="t" l="l"/>
              <a:pathLst>
                <a:path h="1414272" w="3413760">
                  <a:moveTo>
                    <a:pt x="0" y="0"/>
                  </a:moveTo>
                  <a:lnTo>
                    <a:pt x="3413760" y="0"/>
                  </a:lnTo>
                  <a:lnTo>
                    <a:pt x="3413760" y="1414272"/>
                  </a:lnTo>
                  <a:lnTo>
                    <a:pt x="0" y="1414272"/>
                  </a:lnTo>
                  <a:close/>
                </a:path>
              </a:pathLst>
            </a:custGeom>
            <a:blipFill>
              <a:blip r:embed="rId7">
                <a:alphaModFix amt="0"/>
              </a:blip>
              <a:stretch>
                <a:fillRect l="-3191" t="0" r="-3191" b="0"/>
              </a:stretch>
            </a:blipFill>
          </p:spPr>
        </p:sp>
      </p:grpSp>
      <p:grpSp>
        <p:nvGrpSpPr>
          <p:cNvPr name="Group 69" id="69"/>
          <p:cNvGrpSpPr/>
          <p:nvPr/>
        </p:nvGrpSpPr>
        <p:grpSpPr>
          <a:xfrm rot="0">
            <a:off x="8029167" y="3565251"/>
            <a:ext cx="2401174" cy="1021571"/>
            <a:chOff x="0" y="0"/>
            <a:chExt cx="3413760" cy="1452372"/>
          </a:xfrm>
        </p:grpSpPr>
        <p:sp>
          <p:nvSpPr>
            <p:cNvPr name="Freeform 70" id="70"/>
            <p:cNvSpPr/>
            <p:nvPr/>
          </p:nvSpPr>
          <p:spPr>
            <a:xfrm flipH="false" flipV="false" rot="0">
              <a:off x="0" y="0"/>
              <a:ext cx="3413760" cy="1452372"/>
            </a:xfrm>
            <a:custGeom>
              <a:avLst/>
              <a:gdLst/>
              <a:ahLst/>
              <a:cxnLst/>
              <a:rect r="r" b="b" t="t" l="l"/>
              <a:pathLst>
                <a:path h="1452372" w="3413760">
                  <a:moveTo>
                    <a:pt x="0" y="0"/>
                  </a:moveTo>
                  <a:lnTo>
                    <a:pt x="3413760" y="0"/>
                  </a:lnTo>
                  <a:lnTo>
                    <a:pt x="3413760" y="1452372"/>
                  </a:lnTo>
                  <a:lnTo>
                    <a:pt x="0" y="1452372"/>
                  </a:lnTo>
                  <a:close/>
                </a:path>
              </a:pathLst>
            </a:custGeom>
            <a:blipFill>
              <a:blip r:embed="rId8">
                <a:alphaModFix amt="0"/>
              </a:blip>
              <a:stretch>
                <a:fillRect l="-4586" t="0" r="-4586" b="0"/>
              </a:stretch>
            </a:blipFill>
          </p:spPr>
        </p:sp>
        <p:sp>
          <p:nvSpPr>
            <p:cNvPr name="TextBox 71" id="71"/>
            <p:cNvSpPr txBox="true"/>
            <p:nvPr/>
          </p:nvSpPr>
          <p:spPr>
            <a:xfrm>
              <a:off x="0" y="-38100"/>
              <a:ext cx="3413760" cy="149047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Log llega</a:t>
              </a:r>
            </a:p>
            <a:p>
              <a:pPr algn="ctr">
                <a:lnSpc>
                  <a:spcPts val="2279"/>
                </a:lnSpc>
              </a:pPr>
              <a:r>
                <a:rPr lang="en-US" sz="1899" b="true">
                  <a:solidFill>
                    <a:srgbClr val="FFFFFF"/>
                  </a:solidFill>
                  <a:latin typeface="Calibri (MS) Bold"/>
                  <a:ea typeface="Calibri (MS) Bold"/>
                  <a:cs typeface="Calibri (MS) Bold"/>
                  <a:sym typeface="Calibri (MS) Bold"/>
                </a:rPr>
                <a:t>al SIEM</a:t>
              </a:r>
            </a:p>
          </p:txBody>
        </p:sp>
      </p:grpSp>
      <p:sp>
        <p:nvSpPr>
          <p:cNvPr name="Freeform 72" id="72"/>
          <p:cNvSpPr/>
          <p:nvPr/>
        </p:nvSpPr>
        <p:spPr>
          <a:xfrm flipH="false" flipV="false" rot="0">
            <a:off x="7657084" y="4582418"/>
            <a:ext cx="2973776" cy="2682204"/>
          </a:xfrm>
          <a:custGeom>
            <a:avLst/>
            <a:gdLst/>
            <a:ahLst/>
            <a:cxnLst/>
            <a:rect r="r" b="b" t="t" l="l"/>
            <a:pathLst>
              <a:path h="2682204" w="2973776">
                <a:moveTo>
                  <a:pt x="0" y="0"/>
                </a:moveTo>
                <a:lnTo>
                  <a:pt x="2973775" y="0"/>
                </a:lnTo>
                <a:lnTo>
                  <a:pt x="2973775" y="2682204"/>
                </a:lnTo>
                <a:lnTo>
                  <a:pt x="0" y="26822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73" id="73"/>
          <p:cNvSpPr txBox="true"/>
          <p:nvPr/>
        </p:nvSpPr>
        <p:spPr>
          <a:xfrm rot="0">
            <a:off x="7891957" y="4783920"/>
            <a:ext cx="2538384" cy="1387786"/>
          </a:xfrm>
          <a:prstGeom prst="rect">
            <a:avLst/>
          </a:prstGeom>
        </p:spPr>
        <p:txBody>
          <a:bodyPr anchor="t" rtlCol="false" tIns="0" lIns="0" bIns="0" rIns="0">
            <a:spAutoFit/>
          </a:bodyPr>
          <a:lstStyle/>
          <a:p>
            <a:pPr algn="l">
              <a:lnSpc>
                <a:spcPts val="2760"/>
              </a:lnSpc>
            </a:pPr>
            <a:r>
              <a:rPr lang="en-US" sz="1780">
                <a:solidFill>
                  <a:srgbClr val="333333"/>
                </a:solidFill>
                <a:latin typeface="Calibri (MS)"/>
                <a:ea typeface="Calibri (MS)"/>
                <a:cs typeface="Calibri (MS)"/>
                <a:sym typeface="Calibri (MS)"/>
              </a:rPr>
              <a:t>El SIEM recibe, normaliza y correlaciona los datos. Si detecta patrón peligroso, genera una alerta.</a:t>
            </a:r>
          </a:p>
        </p:txBody>
      </p:sp>
      <p:grpSp>
        <p:nvGrpSpPr>
          <p:cNvPr name="Group 74" id="74"/>
          <p:cNvGrpSpPr/>
          <p:nvPr/>
        </p:nvGrpSpPr>
        <p:grpSpPr>
          <a:xfrm rot="0">
            <a:off x="10653308" y="3565251"/>
            <a:ext cx="240117" cy="994772"/>
            <a:chOff x="0" y="0"/>
            <a:chExt cx="341376" cy="1414272"/>
          </a:xfrm>
        </p:grpSpPr>
        <p:sp>
          <p:nvSpPr>
            <p:cNvPr name="Freeform 75" id="75"/>
            <p:cNvSpPr/>
            <p:nvPr/>
          </p:nvSpPr>
          <p:spPr>
            <a:xfrm flipH="false" flipV="false" rot="0">
              <a:off x="0" y="0"/>
              <a:ext cx="341376" cy="1414272"/>
            </a:xfrm>
            <a:custGeom>
              <a:avLst/>
              <a:gdLst/>
              <a:ahLst/>
              <a:cxnLst/>
              <a:rect r="r" b="b" t="t" l="l"/>
              <a:pathLst>
                <a:path h="1414272" w="341376">
                  <a:moveTo>
                    <a:pt x="0" y="0"/>
                  </a:moveTo>
                  <a:lnTo>
                    <a:pt x="341376" y="0"/>
                  </a:lnTo>
                  <a:lnTo>
                    <a:pt x="341376" y="1414272"/>
                  </a:lnTo>
                  <a:lnTo>
                    <a:pt x="0" y="1414272"/>
                  </a:lnTo>
                  <a:close/>
                </a:path>
              </a:pathLst>
            </a:custGeom>
            <a:blipFill>
              <a:blip r:embed="rId7">
                <a:alphaModFix amt="0"/>
              </a:blip>
              <a:stretch>
                <a:fillRect l="-481912" t="0" r="-481915" b="0"/>
              </a:stretch>
            </a:blipFill>
          </p:spPr>
        </p:sp>
      </p:grpSp>
      <p:grpSp>
        <p:nvGrpSpPr>
          <p:cNvPr name="Group 76" id="76"/>
          <p:cNvGrpSpPr/>
          <p:nvPr/>
        </p:nvGrpSpPr>
        <p:grpSpPr>
          <a:xfrm rot="0">
            <a:off x="10653308" y="3538452"/>
            <a:ext cx="240117" cy="1021571"/>
            <a:chOff x="0" y="0"/>
            <a:chExt cx="341376" cy="1452372"/>
          </a:xfrm>
        </p:grpSpPr>
        <p:sp>
          <p:nvSpPr>
            <p:cNvPr name="Freeform 77" id="77"/>
            <p:cNvSpPr/>
            <p:nvPr/>
          </p:nvSpPr>
          <p:spPr>
            <a:xfrm flipH="false" flipV="false" rot="0">
              <a:off x="0" y="0"/>
              <a:ext cx="341376" cy="1452372"/>
            </a:xfrm>
            <a:custGeom>
              <a:avLst/>
              <a:gdLst/>
              <a:ahLst/>
              <a:cxnLst/>
              <a:rect r="r" b="b" t="t" l="l"/>
              <a:pathLst>
                <a:path h="1452372" w="341376">
                  <a:moveTo>
                    <a:pt x="0" y="0"/>
                  </a:moveTo>
                  <a:lnTo>
                    <a:pt x="341376" y="0"/>
                  </a:lnTo>
                  <a:lnTo>
                    <a:pt x="341376" y="1452372"/>
                  </a:lnTo>
                  <a:lnTo>
                    <a:pt x="0" y="1452372"/>
                  </a:lnTo>
                  <a:close/>
                </a:path>
              </a:pathLst>
            </a:custGeom>
            <a:blipFill>
              <a:blip r:embed="rId8">
                <a:alphaModFix amt="0"/>
              </a:blip>
              <a:stretch>
                <a:fillRect l="-495862" t="0" r="-495862" b="0"/>
              </a:stretch>
            </a:blipFill>
          </p:spPr>
        </p:sp>
        <p:sp>
          <p:nvSpPr>
            <p:cNvPr name="TextBox 78" id="78"/>
            <p:cNvSpPr txBox="true"/>
            <p:nvPr/>
          </p:nvSpPr>
          <p:spPr>
            <a:xfrm>
              <a:off x="0" y="-38100"/>
              <a:ext cx="341376" cy="1490472"/>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a:t>
              </a:r>
            </a:p>
          </p:txBody>
        </p:sp>
      </p:grpSp>
      <p:sp>
        <p:nvSpPr>
          <p:cNvPr name="Freeform 79" id="79"/>
          <p:cNvSpPr/>
          <p:nvPr/>
        </p:nvSpPr>
        <p:spPr>
          <a:xfrm flipH="false" flipV="false" rot="0">
            <a:off x="10881517" y="3553343"/>
            <a:ext cx="2973776" cy="1018534"/>
          </a:xfrm>
          <a:custGeom>
            <a:avLst/>
            <a:gdLst/>
            <a:ahLst/>
            <a:cxnLst/>
            <a:rect r="r" b="b" t="t" l="l"/>
            <a:pathLst>
              <a:path h="1018534" w="2973776">
                <a:moveTo>
                  <a:pt x="0" y="0"/>
                </a:moveTo>
                <a:lnTo>
                  <a:pt x="2973776" y="0"/>
                </a:lnTo>
                <a:lnTo>
                  <a:pt x="2973776" y="1018534"/>
                </a:lnTo>
                <a:lnTo>
                  <a:pt x="0" y="101853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80" id="80"/>
          <p:cNvGrpSpPr/>
          <p:nvPr/>
        </p:nvGrpSpPr>
        <p:grpSpPr>
          <a:xfrm rot="0">
            <a:off x="10893425" y="3565251"/>
            <a:ext cx="548840" cy="994772"/>
            <a:chOff x="0" y="0"/>
            <a:chExt cx="780288" cy="1414272"/>
          </a:xfrm>
        </p:grpSpPr>
        <p:sp>
          <p:nvSpPr>
            <p:cNvPr name="Freeform 81" id="81"/>
            <p:cNvSpPr/>
            <p:nvPr/>
          </p:nvSpPr>
          <p:spPr>
            <a:xfrm flipH="false" flipV="false" rot="0">
              <a:off x="0" y="0"/>
              <a:ext cx="780288" cy="1414272"/>
            </a:xfrm>
            <a:custGeom>
              <a:avLst/>
              <a:gdLst/>
              <a:ahLst/>
              <a:cxnLst/>
              <a:rect r="r" b="b" t="t" l="l"/>
              <a:pathLst>
                <a:path h="1414272" w="780288">
                  <a:moveTo>
                    <a:pt x="0" y="0"/>
                  </a:moveTo>
                  <a:lnTo>
                    <a:pt x="780288" y="0"/>
                  </a:lnTo>
                  <a:lnTo>
                    <a:pt x="780288" y="1414272"/>
                  </a:lnTo>
                  <a:lnTo>
                    <a:pt x="0" y="1414272"/>
                  </a:lnTo>
                  <a:close/>
                </a:path>
              </a:pathLst>
            </a:custGeom>
            <a:blipFill>
              <a:blip r:embed="rId7">
                <a:alphaModFix amt="0"/>
              </a:blip>
              <a:stretch>
                <a:fillRect l="-182711" t="0" r="-182713" b="0"/>
              </a:stretch>
            </a:blipFill>
          </p:spPr>
        </p:sp>
      </p:grpSp>
      <p:grpSp>
        <p:nvGrpSpPr>
          <p:cNvPr name="Group 82" id="82"/>
          <p:cNvGrpSpPr/>
          <p:nvPr/>
        </p:nvGrpSpPr>
        <p:grpSpPr>
          <a:xfrm rot="0">
            <a:off x="10893425" y="3525053"/>
            <a:ext cx="548840" cy="1034970"/>
            <a:chOff x="0" y="0"/>
            <a:chExt cx="780288" cy="1471422"/>
          </a:xfrm>
        </p:grpSpPr>
        <p:sp>
          <p:nvSpPr>
            <p:cNvPr name="Freeform 83" id="83"/>
            <p:cNvSpPr/>
            <p:nvPr/>
          </p:nvSpPr>
          <p:spPr>
            <a:xfrm flipH="false" flipV="false" rot="0">
              <a:off x="0" y="0"/>
              <a:ext cx="780288" cy="1471422"/>
            </a:xfrm>
            <a:custGeom>
              <a:avLst/>
              <a:gdLst/>
              <a:ahLst/>
              <a:cxnLst/>
              <a:rect r="r" b="b" t="t" l="l"/>
              <a:pathLst>
                <a:path h="1471422" w="780288">
                  <a:moveTo>
                    <a:pt x="0" y="0"/>
                  </a:moveTo>
                  <a:lnTo>
                    <a:pt x="780288" y="0"/>
                  </a:lnTo>
                  <a:lnTo>
                    <a:pt x="780288" y="1471422"/>
                  </a:lnTo>
                  <a:lnTo>
                    <a:pt x="0" y="1471422"/>
                  </a:lnTo>
                  <a:close/>
                </a:path>
              </a:pathLst>
            </a:custGeom>
            <a:blipFill>
              <a:blip r:embed="rId8">
                <a:alphaModFix amt="0"/>
              </a:blip>
              <a:stretch>
                <a:fillRect l="-191947" t="0" r="-191947" b="0"/>
              </a:stretch>
            </a:blipFill>
          </p:spPr>
        </p:sp>
        <p:sp>
          <p:nvSpPr>
            <p:cNvPr name="TextBox 84" id="84"/>
            <p:cNvSpPr txBox="true"/>
            <p:nvPr/>
          </p:nvSpPr>
          <p:spPr>
            <a:xfrm>
              <a:off x="0" y="-57150"/>
              <a:ext cx="780288" cy="152857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4</a:t>
              </a:r>
            </a:p>
          </p:txBody>
        </p:sp>
      </p:grpSp>
      <p:grpSp>
        <p:nvGrpSpPr>
          <p:cNvPr name="Group 85" id="85"/>
          <p:cNvGrpSpPr/>
          <p:nvPr/>
        </p:nvGrpSpPr>
        <p:grpSpPr>
          <a:xfrm rot="0">
            <a:off x="11442265" y="3565251"/>
            <a:ext cx="2401174" cy="994772"/>
            <a:chOff x="0" y="0"/>
            <a:chExt cx="3413760" cy="1414272"/>
          </a:xfrm>
        </p:grpSpPr>
        <p:sp>
          <p:nvSpPr>
            <p:cNvPr name="Freeform 86" id="86"/>
            <p:cNvSpPr/>
            <p:nvPr/>
          </p:nvSpPr>
          <p:spPr>
            <a:xfrm flipH="false" flipV="false" rot="0">
              <a:off x="0" y="0"/>
              <a:ext cx="3413760" cy="1414272"/>
            </a:xfrm>
            <a:custGeom>
              <a:avLst/>
              <a:gdLst/>
              <a:ahLst/>
              <a:cxnLst/>
              <a:rect r="r" b="b" t="t" l="l"/>
              <a:pathLst>
                <a:path h="1414272" w="3413760">
                  <a:moveTo>
                    <a:pt x="0" y="0"/>
                  </a:moveTo>
                  <a:lnTo>
                    <a:pt x="3413760" y="0"/>
                  </a:lnTo>
                  <a:lnTo>
                    <a:pt x="3413760" y="1414272"/>
                  </a:lnTo>
                  <a:lnTo>
                    <a:pt x="0" y="1414272"/>
                  </a:lnTo>
                  <a:close/>
                </a:path>
              </a:pathLst>
            </a:custGeom>
            <a:blipFill>
              <a:blip r:embed="rId7">
                <a:alphaModFix amt="0"/>
              </a:blip>
              <a:stretch>
                <a:fillRect l="-3191" t="0" r="-3191" b="0"/>
              </a:stretch>
            </a:blipFill>
          </p:spPr>
        </p:sp>
      </p:grpSp>
      <p:grpSp>
        <p:nvGrpSpPr>
          <p:cNvPr name="Group 87" id="87"/>
          <p:cNvGrpSpPr/>
          <p:nvPr/>
        </p:nvGrpSpPr>
        <p:grpSpPr>
          <a:xfrm rot="0">
            <a:off x="11253601" y="3565251"/>
            <a:ext cx="2401174" cy="1021571"/>
            <a:chOff x="0" y="0"/>
            <a:chExt cx="3413760" cy="1452372"/>
          </a:xfrm>
        </p:grpSpPr>
        <p:sp>
          <p:nvSpPr>
            <p:cNvPr name="Freeform 88" id="88"/>
            <p:cNvSpPr/>
            <p:nvPr/>
          </p:nvSpPr>
          <p:spPr>
            <a:xfrm flipH="false" flipV="false" rot="0">
              <a:off x="0" y="0"/>
              <a:ext cx="3413760" cy="1452372"/>
            </a:xfrm>
            <a:custGeom>
              <a:avLst/>
              <a:gdLst/>
              <a:ahLst/>
              <a:cxnLst/>
              <a:rect r="r" b="b" t="t" l="l"/>
              <a:pathLst>
                <a:path h="1452372" w="3413760">
                  <a:moveTo>
                    <a:pt x="0" y="0"/>
                  </a:moveTo>
                  <a:lnTo>
                    <a:pt x="3413760" y="0"/>
                  </a:lnTo>
                  <a:lnTo>
                    <a:pt x="3413760" y="1452372"/>
                  </a:lnTo>
                  <a:lnTo>
                    <a:pt x="0" y="1452372"/>
                  </a:lnTo>
                  <a:close/>
                </a:path>
              </a:pathLst>
            </a:custGeom>
            <a:blipFill>
              <a:blip r:embed="rId8">
                <a:alphaModFix amt="0"/>
              </a:blip>
              <a:stretch>
                <a:fillRect l="-4586" t="0" r="-4586" b="0"/>
              </a:stretch>
            </a:blipFill>
          </p:spPr>
        </p:sp>
        <p:sp>
          <p:nvSpPr>
            <p:cNvPr name="TextBox 89" id="89"/>
            <p:cNvSpPr txBox="true"/>
            <p:nvPr/>
          </p:nvSpPr>
          <p:spPr>
            <a:xfrm>
              <a:off x="0" y="-38100"/>
              <a:ext cx="3413760" cy="149047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L1 recibe</a:t>
              </a:r>
            </a:p>
            <a:p>
              <a:pPr algn="ctr">
                <a:lnSpc>
                  <a:spcPts val="2279"/>
                </a:lnSpc>
              </a:pPr>
              <a:r>
                <a:rPr lang="en-US" sz="1899" b="true">
                  <a:solidFill>
                    <a:srgbClr val="FFFFFF"/>
                  </a:solidFill>
                  <a:latin typeface="Calibri (MS) Bold"/>
                  <a:ea typeface="Calibri (MS) Bold"/>
                  <a:cs typeface="Calibri (MS) Bold"/>
                  <a:sym typeface="Calibri (MS) Bold"/>
                </a:rPr>
                <a:t>la alerta</a:t>
              </a:r>
            </a:p>
          </p:txBody>
        </p:sp>
      </p:grpSp>
      <p:sp>
        <p:nvSpPr>
          <p:cNvPr name="Freeform 90" id="90"/>
          <p:cNvSpPr/>
          <p:nvPr/>
        </p:nvSpPr>
        <p:spPr>
          <a:xfrm flipH="false" flipV="false" rot="0">
            <a:off x="10881517" y="4582418"/>
            <a:ext cx="2973776" cy="2682204"/>
          </a:xfrm>
          <a:custGeom>
            <a:avLst/>
            <a:gdLst/>
            <a:ahLst/>
            <a:cxnLst/>
            <a:rect r="r" b="b" t="t" l="l"/>
            <a:pathLst>
              <a:path h="2682204" w="2973776">
                <a:moveTo>
                  <a:pt x="0" y="0"/>
                </a:moveTo>
                <a:lnTo>
                  <a:pt x="2973776" y="0"/>
                </a:lnTo>
                <a:lnTo>
                  <a:pt x="2973776" y="2682204"/>
                </a:lnTo>
                <a:lnTo>
                  <a:pt x="0" y="26822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91" id="91"/>
          <p:cNvSpPr txBox="true"/>
          <p:nvPr/>
        </p:nvSpPr>
        <p:spPr>
          <a:xfrm rot="0">
            <a:off x="11116391" y="4783920"/>
            <a:ext cx="2538384" cy="1387786"/>
          </a:xfrm>
          <a:prstGeom prst="rect">
            <a:avLst/>
          </a:prstGeom>
        </p:spPr>
        <p:txBody>
          <a:bodyPr anchor="t" rtlCol="false" tIns="0" lIns="0" bIns="0" rIns="0">
            <a:spAutoFit/>
          </a:bodyPr>
          <a:lstStyle/>
          <a:p>
            <a:pPr algn="l">
              <a:lnSpc>
                <a:spcPts val="2760"/>
              </a:lnSpc>
            </a:pPr>
            <a:r>
              <a:rPr lang="en-US" sz="1780">
                <a:solidFill>
                  <a:srgbClr val="333333"/>
                </a:solidFill>
                <a:latin typeface="Calibri (MS)"/>
                <a:ea typeface="Calibri (MS)"/>
                <a:cs typeface="Calibri (MS)"/>
                <a:sym typeface="Calibri (MS)"/>
              </a:rPr>
              <a:t>El analista L1 ve la alerta en su panel y comienza análisis siguiendo el playbook de triage.</a:t>
            </a:r>
          </a:p>
        </p:txBody>
      </p:sp>
      <p:grpSp>
        <p:nvGrpSpPr>
          <p:cNvPr name="Group 92" id="92"/>
          <p:cNvGrpSpPr/>
          <p:nvPr/>
        </p:nvGrpSpPr>
        <p:grpSpPr>
          <a:xfrm rot="0">
            <a:off x="13877742" y="3565251"/>
            <a:ext cx="240117" cy="994772"/>
            <a:chOff x="0" y="0"/>
            <a:chExt cx="341376" cy="1414272"/>
          </a:xfrm>
        </p:grpSpPr>
        <p:sp>
          <p:nvSpPr>
            <p:cNvPr name="Freeform 93" id="93"/>
            <p:cNvSpPr/>
            <p:nvPr/>
          </p:nvSpPr>
          <p:spPr>
            <a:xfrm flipH="false" flipV="false" rot="0">
              <a:off x="0" y="0"/>
              <a:ext cx="341376" cy="1414272"/>
            </a:xfrm>
            <a:custGeom>
              <a:avLst/>
              <a:gdLst/>
              <a:ahLst/>
              <a:cxnLst/>
              <a:rect r="r" b="b" t="t" l="l"/>
              <a:pathLst>
                <a:path h="1414272" w="341376">
                  <a:moveTo>
                    <a:pt x="0" y="0"/>
                  </a:moveTo>
                  <a:lnTo>
                    <a:pt x="341376" y="0"/>
                  </a:lnTo>
                  <a:lnTo>
                    <a:pt x="341376" y="1414272"/>
                  </a:lnTo>
                  <a:lnTo>
                    <a:pt x="0" y="1414272"/>
                  </a:lnTo>
                  <a:close/>
                </a:path>
              </a:pathLst>
            </a:custGeom>
            <a:blipFill>
              <a:blip r:embed="rId7">
                <a:alphaModFix amt="0"/>
              </a:blip>
              <a:stretch>
                <a:fillRect l="-481912" t="0" r="-481915" b="0"/>
              </a:stretch>
            </a:blipFill>
          </p:spPr>
        </p:sp>
      </p:grpSp>
      <p:grpSp>
        <p:nvGrpSpPr>
          <p:cNvPr name="Group 94" id="94"/>
          <p:cNvGrpSpPr/>
          <p:nvPr/>
        </p:nvGrpSpPr>
        <p:grpSpPr>
          <a:xfrm rot="0">
            <a:off x="13877742" y="3538452"/>
            <a:ext cx="240117" cy="1021571"/>
            <a:chOff x="0" y="0"/>
            <a:chExt cx="341376" cy="1452372"/>
          </a:xfrm>
        </p:grpSpPr>
        <p:sp>
          <p:nvSpPr>
            <p:cNvPr name="Freeform 95" id="95"/>
            <p:cNvSpPr/>
            <p:nvPr/>
          </p:nvSpPr>
          <p:spPr>
            <a:xfrm flipH="false" flipV="false" rot="0">
              <a:off x="0" y="0"/>
              <a:ext cx="341376" cy="1452372"/>
            </a:xfrm>
            <a:custGeom>
              <a:avLst/>
              <a:gdLst/>
              <a:ahLst/>
              <a:cxnLst/>
              <a:rect r="r" b="b" t="t" l="l"/>
              <a:pathLst>
                <a:path h="1452372" w="341376">
                  <a:moveTo>
                    <a:pt x="0" y="0"/>
                  </a:moveTo>
                  <a:lnTo>
                    <a:pt x="341376" y="0"/>
                  </a:lnTo>
                  <a:lnTo>
                    <a:pt x="341376" y="1452372"/>
                  </a:lnTo>
                  <a:lnTo>
                    <a:pt x="0" y="1452372"/>
                  </a:lnTo>
                  <a:close/>
                </a:path>
              </a:pathLst>
            </a:custGeom>
            <a:blipFill>
              <a:blip r:embed="rId8">
                <a:alphaModFix amt="0"/>
              </a:blip>
              <a:stretch>
                <a:fillRect l="-495862" t="0" r="-495862" b="0"/>
              </a:stretch>
            </a:blipFill>
          </p:spPr>
        </p:sp>
        <p:sp>
          <p:nvSpPr>
            <p:cNvPr name="TextBox 96" id="96"/>
            <p:cNvSpPr txBox="true"/>
            <p:nvPr/>
          </p:nvSpPr>
          <p:spPr>
            <a:xfrm>
              <a:off x="0" y="-38100"/>
              <a:ext cx="341376" cy="1490472"/>
            </a:xfrm>
            <a:prstGeom prst="rect">
              <a:avLst/>
            </a:prstGeom>
          </p:spPr>
          <p:txBody>
            <a:bodyPr anchor="ctr" rtlCol="false" tIns="0" lIns="0" bIns="0" rIns="0"/>
            <a:lstStyle/>
            <a:p>
              <a:pPr algn="ctr">
                <a:lnSpc>
                  <a:spcPts val="2400"/>
                </a:lnSpc>
              </a:pPr>
              <a:r>
                <a:rPr lang="en-US" sz="2000">
                  <a:solidFill>
                    <a:srgbClr val="6B6B6B"/>
                  </a:solidFill>
                  <a:latin typeface="Calibri (MS)"/>
                  <a:ea typeface="Calibri (MS)"/>
                  <a:cs typeface="Calibri (MS)"/>
                  <a:sym typeface="Calibri (MS)"/>
                </a:rPr>
                <a:t>→</a:t>
              </a:r>
            </a:p>
          </p:txBody>
        </p:sp>
      </p:grpSp>
      <p:sp>
        <p:nvSpPr>
          <p:cNvPr name="Freeform 97" id="97"/>
          <p:cNvSpPr/>
          <p:nvPr/>
        </p:nvSpPr>
        <p:spPr>
          <a:xfrm flipH="false" flipV="false" rot="0">
            <a:off x="14105951" y="3553343"/>
            <a:ext cx="2973776" cy="1018534"/>
          </a:xfrm>
          <a:custGeom>
            <a:avLst/>
            <a:gdLst/>
            <a:ahLst/>
            <a:cxnLst/>
            <a:rect r="r" b="b" t="t" l="l"/>
            <a:pathLst>
              <a:path h="1018534" w="2973776">
                <a:moveTo>
                  <a:pt x="0" y="0"/>
                </a:moveTo>
                <a:lnTo>
                  <a:pt x="2973776" y="0"/>
                </a:lnTo>
                <a:lnTo>
                  <a:pt x="2973776" y="1018534"/>
                </a:lnTo>
                <a:lnTo>
                  <a:pt x="0" y="101853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98" id="98"/>
          <p:cNvGrpSpPr/>
          <p:nvPr/>
        </p:nvGrpSpPr>
        <p:grpSpPr>
          <a:xfrm rot="0">
            <a:off x="14117859" y="3565251"/>
            <a:ext cx="548840" cy="994772"/>
            <a:chOff x="0" y="0"/>
            <a:chExt cx="780288" cy="1414272"/>
          </a:xfrm>
        </p:grpSpPr>
        <p:sp>
          <p:nvSpPr>
            <p:cNvPr name="Freeform 99" id="99"/>
            <p:cNvSpPr/>
            <p:nvPr/>
          </p:nvSpPr>
          <p:spPr>
            <a:xfrm flipH="false" flipV="false" rot="0">
              <a:off x="0" y="0"/>
              <a:ext cx="780288" cy="1414272"/>
            </a:xfrm>
            <a:custGeom>
              <a:avLst/>
              <a:gdLst/>
              <a:ahLst/>
              <a:cxnLst/>
              <a:rect r="r" b="b" t="t" l="l"/>
              <a:pathLst>
                <a:path h="1414272" w="780288">
                  <a:moveTo>
                    <a:pt x="0" y="0"/>
                  </a:moveTo>
                  <a:lnTo>
                    <a:pt x="780288" y="0"/>
                  </a:lnTo>
                  <a:lnTo>
                    <a:pt x="780288" y="1414272"/>
                  </a:lnTo>
                  <a:lnTo>
                    <a:pt x="0" y="1414272"/>
                  </a:lnTo>
                  <a:close/>
                </a:path>
              </a:pathLst>
            </a:custGeom>
            <a:blipFill>
              <a:blip r:embed="rId7">
                <a:alphaModFix amt="0"/>
              </a:blip>
              <a:stretch>
                <a:fillRect l="-182711" t="0" r="-182713" b="0"/>
              </a:stretch>
            </a:blipFill>
          </p:spPr>
        </p:sp>
      </p:grpSp>
      <p:grpSp>
        <p:nvGrpSpPr>
          <p:cNvPr name="Group 100" id="100"/>
          <p:cNvGrpSpPr/>
          <p:nvPr/>
        </p:nvGrpSpPr>
        <p:grpSpPr>
          <a:xfrm rot="0">
            <a:off x="14117859" y="3525053"/>
            <a:ext cx="548840" cy="1034970"/>
            <a:chOff x="0" y="0"/>
            <a:chExt cx="780288" cy="1471422"/>
          </a:xfrm>
        </p:grpSpPr>
        <p:sp>
          <p:nvSpPr>
            <p:cNvPr name="Freeform 101" id="101"/>
            <p:cNvSpPr/>
            <p:nvPr/>
          </p:nvSpPr>
          <p:spPr>
            <a:xfrm flipH="false" flipV="false" rot="0">
              <a:off x="0" y="0"/>
              <a:ext cx="780288" cy="1471422"/>
            </a:xfrm>
            <a:custGeom>
              <a:avLst/>
              <a:gdLst/>
              <a:ahLst/>
              <a:cxnLst/>
              <a:rect r="r" b="b" t="t" l="l"/>
              <a:pathLst>
                <a:path h="1471422" w="780288">
                  <a:moveTo>
                    <a:pt x="0" y="0"/>
                  </a:moveTo>
                  <a:lnTo>
                    <a:pt x="780288" y="0"/>
                  </a:lnTo>
                  <a:lnTo>
                    <a:pt x="780288" y="1471422"/>
                  </a:lnTo>
                  <a:lnTo>
                    <a:pt x="0" y="1471422"/>
                  </a:lnTo>
                  <a:close/>
                </a:path>
              </a:pathLst>
            </a:custGeom>
            <a:blipFill>
              <a:blip r:embed="rId8">
                <a:alphaModFix amt="0"/>
              </a:blip>
              <a:stretch>
                <a:fillRect l="-191947" t="0" r="-191947" b="0"/>
              </a:stretch>
            </a:blipFill>
          </p:spPr>
        </p:sp>
        <p:sp>
          <p:nvSpPr>
            <p:cNvPr name="TextBox 102" id="102"/>
            <p:cNvSpPr txBox="true"/>
            <p:nvPr/>
          </p:nvSpPr>
          <p:spPr>
            <a:xfrm>
              <a:off x="0" y="-57150"/>
              <a:ext cx="780288" cy="152857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5</a:t>
              </a:r>
            </a:p>
          </p:txBody>
        </p:sp>
      </p:grpSp>
      <p:grpSp>
        <p:nvGrpSpPr>
          <p:cNvPr name="Group 103" id="103"/>
          <p:cNvGrpSpPr/>
          <p:nvPr/>
        </p:nvGrpSpPr>
        <p:grpSpPr>
          <a:xfrm rot="0">
            <a:off x="14666699" y="3565251"/>
            <a:ext cx="2401174" cy="994772"/>
            <a:chOff x="0" y="0"/>
            <a:chExt cx="3413760" cy="1414272"/>
          </a:xfrm>
        </p:grpSpPr>
        <p:sp>
          <p:nvSpPr>
            <p:cNvPr name="Freeform 104" id="104"/>
            <p:cNvSpPr/>
            <p:nvPr/>
          </p:nvSpPr>
          <p:spPr>
            <a:xfrm flipH="false" flipV="false" rot="0">
              <a:off x="0" y="0"/>
              <a:ext cx="3413760" cy="1414272"/>
            </a:xfrm>
            <a:custGeom>
              <a:avLst/>
              <a:gdLst/>
              <a:ahLst/>
              <a:cxnLst/>
              <a:rect r="r" b="b" t="t" l="l"/>
              <a:pathLst>
                <a:path h="1414272" w="3413760">
                  <a:moveTo>
                    <a:pt x="0" y="0"/>
                  </a:moveTo>
                  <a:lnTo>
                    <a:pt x="3413760" y="0"/>
                  </a:lnTo>
                  <a:lnTo>
                    <a:pt x="3413760" y="1414272"/>
                  </a:lnTo>
                  <a:lnTo>
                    <a:pt x="0" y="1414272"/>
                  </a:lnTo>
                  <a:close/>
                </a:path>
              </a:pathLst>
            </a:custGeom>
            <a:blipFill>
              <a:blip r:embed="rId7">
                <a:alphaModFix amt="0"/>
              </a:blip>
              <a:stretch>
                <a:fillRect l="-3191" t="0" r="-3191" b="0"/>
              </a:stretch>
            </a:blipFill>
          </p:spPr>
        </p:sp>
      </p:grpSp>
      <p:grpSp>
        <p:nvGrpSpPr>
          <p:cNvPr name="Group 105" id="105"/>
          <p:cNvGrpSpPr/>
          <p:nvPr/>
        </p:nvGrpSpPr>
        <p:grpSpPr>
          <a:xfrm rot="0">
            <a:off x="14478035" y="3565251"/>
            <a:ext cx="2401174" cy="1021571"/>
            <a:chOff x="0" y="0"/>
            <a:chExt cx="3413760" cy="1452372"/>
          </a:xfrm>
        </p:grpSpPr>
        <p:sp>
          <p:nvSpPr>
            <p:cNvPr name="Freeform 106" id="106"/>
            <p:cNvSpPr/>
            <p:nvPr/>
          </p:nvSpPr>
          <p:spPr>
            <a:xfrm flipH="false" flipV="false" rot="0">
              <a:off x="0" y="0"/>
              <a:ext cx="3413760" cy="1452372"/>
            </a:xfrm>
            <a:custGeom>
              <a:avLst/>
              <a:gdLst/>
              <a:ahLst/>
              <a:cxnLst/>
              <a:rect r="r" b="b" t="t" l="l"/>
              <a:pathLst>
                <a:path h="1452372" w="3413760">
                  <a:moveTo>
                    <a:pt x="0" y="0"/>
                  </a:moveTo>
                  <a:lnTo>
                    <a:pt x="3413760" y="0"/>
                  </a:lnTo>
                  <a:lnTo>
                    <a:pt x="3413760" y="1452372"/>
                  </a:lnTo>
                  <a:lnTo>
                    <a:pt x="0" y="1452372"/>
                  </a:lnTo>
                  <a:close/>
                </a:path>
              </a:pathLst>
            </a:custGeom>
            <a:blipFill>
              <a:blip r:embed="rId8">
                <a:alphaModFix amt="0"/>
              </a:blip>
              <a:stretch>
                <a:fillRect l="-4586" t="0" r="-4586" b="0"/>
              </a:stretch>
            </a:blipFill>
          </p:spPr>
        </p:sp>
        <p:sp>
          <p:nvSpPr>
            <p:cNvPr name="TextBox 107" id="107"/>
            <p:cNvSpPr txBox="true"/>
            <p:nvPr/>
          </p:nvSpPr>
          <p:spPr>
            <a:xfrm>
              <a:off x="0" y="-38100"/>
              <a:ext cx="3413760" cy="149047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Se convierte</a:t>
              </a:r>
            </a:p>
            <a:p>
              <a:pPr algn="ctr">
                <a:lnSpc>
                  <a:spcPts val="2279"/>
                </a:lnSpc>
              </a:pPr>
              <a:r>
                <a:rPr lang="en-US" sz="1899" b="true">
                  <a:solidFill>
                    <a:srgbClr val="FFFFFF"/>
                  </a:solidFill>
                  <a:latin typeface="Calibri (MS) Bold"/>
                  <a:ea typeface="Calibri (MS) Bold"/>
                  <a:cs typeface="Calibri (MS) Bold"/>
                  <a:sym typeface="Calibri (MS) Bold"/>
                </a:rPr>
                <a:t>en incidente</a:t>
              </a:r>
            </a:p>
          </p:txBody>
        </p:sp>
      </p:grpSp>
      <p:sp>
        <p:nvSpPr>
          <p:cNvPr name="Freeform 108" id="108"/>
          <p:cNvSpPr/>
          <p:nvPr/>
        </p:nvSpPr>
        <p:spPr>
          <a:xfrm flipH="false" flipV="false" rot="0">
            <a:off x="14105951" y="4582418"/>
            <a:ext cx="2973776" cy="2682204"/>
          </a:xfrm>
          <a:custGeom>
            <a:avLst/>
            <a:gdLst/>
            <a:ahLst/>
            <a:cxnLst/>
            <a:rect r="r" b="b" t="t" l="l"/>
            <a:pathLst>
              <a:path h="2682204" w="2973776">
                <a:moveTo>
                  <a:pt x="0" y="0"/>
                </a:moveTo>
                <a:lnTo>
                  <a:pt x="2973776" y="0"/>
                </a:lnTo>
                <a:lnTo>
                  <a:pt x="2973776" y="2682204"/>
                </a:lnTo>
                <a:lnTo>
                  <a:pt x="0" y="26822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09" id="109"/>
          <p:cNvSpPr txBox="true"/>
          <p:nvPr/>
        </p:nvSpPr>
        <p:spPr>
          <a:xfrm rot="0">
            <a:off x="14340825" y="4783920"/>
            <a:ext cx="2538384" cy="1387786"/>
          </a:xfrm>
          <a:prstGeom prst="rect">
            <a:avLst/>
          </a:prstGeom>
        </p:spPr>
        <p:txBody>
          <a:bodyPr anchor="t" rtlCol="false" tIns="0" lIns="0" bIns="0" rIns="0">
            <a:spAutoFit/>
          </a:bodyPr>
          <a:lstStyle/>
          <a:p>
            <a:pPr algn="l">
              <a:lnSpc>
                <a:spcPts val="2760"/>
              </a:lnSpc>
            </a:pPr>
            <a:r>
              <a:rPr lang="en-US" sz="1780">
                <a:solidFill>
                  <a:srgbClr val="333333"/>
                </a:solidFill>
                <a:latin typeface="Calibri (MS)"/>
                <a:ea typeface="Calibri (MS)"/>
                <a:cs typeface="Calibri (MS)"/>
                <a:sym typeface="Calibri (MS)"/>
              </a:rPr>
              <a:t>Si la alerta es válida y crítica, se documenta, escala y activa el flujo en el SOAR.</a:t>
            </a:r>
          </a:p>
        </p:txBody>
      </p:sp>
      <p:sp>
        <p:nvSpPr>
          <p:cNvPr name="Freeform 110" id="110"/>
          <p:cNvSpPr/>
          <p:nvPr/>
        </p:nvSpPr>
        <p:spPr>
          <a:xfrm flipH="false" flipV="false" rot="0">
            <a:off x="2498513" y="8046483"/>
            <a:ext cx="13839868" cy="1024429"/>
          </a:xfrm>
          <a:custGeom>
            <a:avLst/>
            <a:gdLst/>
            <a:ahLst/>
            <a:cxnLst/>
            <a:rect r="r" b="b" t="t" l="l"/>
            <a:pathLst>
              <a:path h="1024429" w="13839868">
                <a:moveTo>
                  <a:pt x="0" y="0"/>
                </a:moveTo>
                <a:lnTo>
                  <a:pt x="13839868" y="0"/>
                </a:lnTo>
                <a:lnTo>
                  <a:pt x="13839868" y="1024429"/>
                </a:lnTo>
                <a:lnTo>
                  <a:pt x="0" y="102442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111" id="111"/>
          <p:cNvGrpSpPr/>
          <p:nvPr/>
        </p:nvGrpSpPr>
        <p:grpSpPr>
          <a:xfrm rot="0">
            <a:off x="914400" y="6986016"/>
            <a:ext cx="16459200" cy="1243584"/>
            <a:chOff x="0" y="0"/>
            <a:chExt cx="21945600" cy="1658112"/>
          </a:xfrm>
        </p:grpSpPr>
        <p:sp>
          <p:nvSpPr>
            <p:cNvPr name="Freeform 112" id="112"/>
            <p:cNvSpPr/>
            <p:nvPr/>
          </p:nvSpPr>
          <p:spPr>
            <a:xfrm flipH="false" flipV="false" rot="0">
              <a:off x="0" y="0"/>
              <a:ext cx="21945600" cy="1658112"/>
            </a:xfrm>
            <a:custGeom>
              <a:avLst/>
              <a:gdLst/>
              <a:ahLst/>
              <a:cxnLst/>
              <a:rect r="r" b="b" t="t" l="l"/>
              <a:pathLst>
                <a:path h="1658112" w="21945600">
                  <a:moveTo>
                    <a:pt x="0" y="0"/>
                  </a:moveTo>
                  <a:lnTo>
                    <a:pt x="21945600" y="0"/>
                  </a:lnTo>
                  <a:lnTo>
                    <a:pt x="21945600" y="1658112"/>
                  </a:lnTo>
                  <a:lnTo>
                    <a:pt x="0" y="1658112"/>
                  </a:lnTo>
                  <a:close/>
                </a:path>
              </a:pathLst>
            </a:custGeom>
            <a:blipFill>
              <a:blip r:embed="rId7">
                <a:alphaModFix amt="0"/>
              </a:blip>
              <a:stretch>
                <a:fillRect l="0" t="-207710" r="0" b="-207711"/>
              </a:stretch>
            </a:blipFill>
          </p:spPr>
        </p:sp>
      </p:grpSp>
      <p:grpSp>
        <p:nvGrpSpPr>
          <p:cNvPr name="Group 113" id="113"/>
          <p:cNvGrpSpPr/>
          <p:nvPr/>
        </p:nvGrpSpPr>
        <p:grpSpPr>
          <a:xfrm rot="0">
            <a:off x="2969579" y="7978997"/>
            <a:ext cx="12887098" cy="1279303"/>
            <a:chOff x="0" y="0"/>
            <a:chExt cx="17182797" cy="1705737"/>
          </a:xfrm>
        </p:grpSpPr>
        <p:sp>
          <p:nvSpPr>
            <p:cNvPr name="Freeform 114" id="114"/>
            <p:cNvSpPr/>
            <p:nvPr/>
          </p:nvSpPr>
          <p:spPr>
            <a:xfrm flipH="false" flipV="false" rot="0">
              <a:off x="0" y="0"/>
              <a:ext cx="17182796" cy="1705737"/>
            </a:xfrm>
            <a:custGeom>
              <a:avLst/>
              <a:gdLst/>
              <a:ahLst/>
              <a:cxnLst/>
              <a:rect r="r" b="b" t="t" l="l"/>
              <a:pathLst>
                <a:path h="1705737" w="17182796">
                  <a:moveTo>
                    <a:pt x="0" y="0"/>
                  </a:moveTo>
                  <a:lnTo>
                    <a:pt x="17182796" y="0"/>
                  </a:lnTo>
                  <a:lnTo>
                    <a:pt x="17182796" y="1705737"/>
                  </a:lnTo>
                  <a:lnTo>
                    <a:pt x="0" y="1705737"/>
                  </a:lnTo>
                  <a:close/>
                </a:path>
              </a:pathLst>
            </a:custGeom>
            <a:blipFill>
              <a:blip r:embed="rId8">
                <a:alphaModFix amt="0"/>
              </a:blip>
              <a:stretch>
                <a:fillRect l="0" t="-200689" r="-27718" b="-200689"/>
              </a:stretch>
            </a:blipFill>
          </p:spPr>
        </p:sp>
        <p:sp>
          <p:nvSpPr>
            <p:cNvPr name="TextBox 115" id="115"/>
            <p:cNvSpPr txBox="true"/>
            <p:nvPr/>
          </p:nvSpPr>
          <p:spPr>
            <a:xfrm>
              <a:off x="0" y="-38100"/>
              <a:ext cx="17182797" cy="1743837"/>
            </a:xfrm>
            <a:prstGeom prst="rect">
              <a:avLst/>
            </a:prstGeom>
          </p:spPr>
          <p:txBody>
            <a:bodyPr anchor="ctr" rtlCol="false" tIns="0" lIns="0" bIns="0" rIns="0"/>
            <a:lstStyle/>
            <a:p>
              <a:pPr algn="l">
                <a:lnSpc>
                  <a:spcPts val="2278"/>
                </a:lnSpc>
              </a:pPr>
              <a:r>
                <a:rPr lang="en-US" sz="1899" b="true">
                  <a:solidFill>
                    <a:srgbClr val="8A004F"/>
                  </a:solidFill>
                  <a:latin typeface="Calibri (MS) Bold"/>
                  <a:ea typeface="Calibri (MS) Bold"/>
                  <a:cs typeface="Calibri (MS) Bold"/>
                  <a:sym typeface="Calibri (MS) Bold"/>
                </a:rPr>
                <a:t>⚠️  Importante: </a:t>
              </a:r>
              <a:r>
                <a:rPr lang="en-US" sz="1899">
                  <a:solidFill>
                    <a:srgbClr val="333333"/>
                  </a:solidFill>
                  <a:latin typeface="Calibri (MS)"/>
                  <a:ea typeface="Calibri (MS)"/>
                  <a:cs typeface="Calibri (MS)"/>
                  <a:sym typeface="Calibri (MS)"/>
                </a:rPr>
                <a:t>no todo evento se convierte en alerta, y no toda alerta se convierte en incidente. El analista L1 es el filtro clave en esta cadena.</a:t>
              </a:r>
            </a:p>
          </p:txBody>
        </p:sp>
      </p:grpSp>
      <p:grpSp>
        <p:nvGrpSpPr>
          <p:cNvPr name="Group 116" id="116"/>
          <p:cNvGrpSpPr/>
          <p:nvPr/>
        </p:nvGrpSpPr>
        <p:grpSpPr>
          <a:xfrm rot="0">
            <a:off x="15983863" y="24203"/>
            <a:ext cx="1855079" cy="1855079"/>
            <a:chOff x="0" y="0"/>
            <a:chExt cx="5852160" cy="5852160"/>
          </a:xfrm>
        </p:grpSpPr>
        <p:sp>
          <p:nvSpPr>
            <p:cNvPr name="Freeform 117" id="117"/>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5"/>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p.32</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1.4  |  ¿Cuál es la diferencia entre log, evento, alerta e incidente?</a:t>
              </a:r>
            </a:p>
          </p:txBody>
        </p:sp>
      </p:grpSp>
      <p:grpSp>
        <p:nvGrpSpPr>
          <p:cNvPr name="Group 20" id="20"/>
          <p:cNvGrpSpPr/>
          <p:nvPr/>
        </p:nvGrpSpPr>
        <p:grpSpPr>
          <a:xfrm rot="0">
            <a:off x="640080" y="1773936"/>
            <a:ext cx="17007840" cy="822960"/>
            <a:chOff x="0" y="0"/>
            <a:chExt cx="22677120" cy="1097280"/>
          </a:xfrm>
        </p:grpSpPr>
        <p:sp>
          <p:nvSpPr>
            <p:cNvPr name="Freeform 21" id="21"/>
            <p:cNvSpPr/>
            <p:nvPr/>
          </p:nvSpPr>
          <p:spPr>
            <a:xfrm flipH="false" flipV="false" rot="0">
              <a:off x="0" y="0"/>
              <a:ext cx="22677120" cy="1097280"/>
            </a:xfrm>
            <a:custGeom>
              <a:avLst/>
              <a:gdLst/>
              <a:ahLst/>
              <a:cxnLst/>
              <a:rect r="r" b="b" t="t" l="l"/>
              <a:pathLst>
                <a:path h="1097280" w="22677120">
                  <a:moveTo>
                    <a:pt x="0" y="0"/>
                  </a:moveTo>
                  <a:lnTo>
                    <a:pt x="22677120" y="0"/>
                  </a:lnTo>
                  <a:lnTo>
                    <a:pt x="22677120" y="1097280"/>
                  </a:lnTo>
                  <a:lnTo>
                    <a:pt x="0" y="1097280"/>
                  </a:lnTo>
                  <a:close/>
                </a:path>
              </a:pathLst>
            </a:custGeom>
            <a:blipFill>
              <a:blip r:embed="rId7">
                <a:alphaModFix amt="0"/>
              </a:blip>
              <a:stretch>
                <a:fillRect l="0" t="-352410" r="0" b="-352410"/>
              </a:stretch>
            </a:blipFill>
          </p:spPr>
        </p:sp>
      </p:grpSp>
      <p:grpSp>
        <p:nvGrpSpPr>
          <p:cNvPr name="Group 22" id="22"/>
          <p:cNvGrpSpPr/>
          <p:nvPr/>
        </p:nvGrpSpPr>
        <p:grpSpPr>
          <a:xfrm rot="0">
            <a:off x="640080" y="2111586"/>
            <a:ext cx="17007840" cy="858679"/>
            <a:chOff x="0" y="0"/>
            <a:chExt cx="22677120" cy="1144905"/>
          </a:xfrm>
        </p:grpSpPr>
        <p:sp>
          <p:nvSpPr>
            <p:cNvPr name="Freeform 23" id="23"/>
            <p:cNvSpPr/>
            <p:nvPr/>
          </p:nvSpPr>
          <p:spPr>
            <a:xfrm flipH="false" flipV="false" rot="0">
              <a:off x="0" y="0"/>
              <a:ext cx="22677120" cy="1144905"/>
            </a:xfrm>
            <a:custGeom>
              <a:avLst/>
              <a:gdLst/>
              <a:ahLst/>
              <a:cxnLst/>
              <a:rect r="r" b="b" t="t" l="l"/>
              <a:pathLst>
                <a:path h="1144905" w="22677120">
                  <a:moveTo>
                    <a:pt x="0" y="0"/>
                  </a:moveTo>
                  <a:lnTo>
                    <a:pt x="22677120" y="0"/>
                  </a:lnTo>
                  <a:lnTo>
                    <a:pt x="22677120" y="1144905"/>
                  </a:lnTo>
                  <a:lnTo>
                    <a:pt x="0" y="1144905"/>
                  </a:lnTo>
                  <a:close/>
                </a:path>
              </a:pathLst>
            </a:custGeom>
            <a:blipFill>
              <a:blip r:embed="rId8">
                <a:alphaModFix amt="0"/>
              </a:blip>
              <a:stretch>
                <a:fillRect l="0" t="-335939" r="0" b="-335939"/>
              </a:stretch>
            </a:blipFill>
          </p:spPr>
        </p:sp>
        <p:sp>
          <p:nvSpPr>
            <p:cNvPr name="TextBox 24" id="24"/>
            <p:cNvSpPr txBox="true"/>
            <p:nvPr/>
          </p:nvSpPr>
          <p:spPr>
            <a:xfrm>
              <a:off x="0" y="-47625"/>
              <a:ext cx="22677120" cy="1192530"/>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Si no sabés distinguir qué estás viendo, corrés el riesgo de pasar por alto una amenaza real o de escalar innecesariamente algo que no representa un riesgo.</a:t>
              </a:r>
            </a:p>
          </p:txBody>
        </p:sp>
      </p:grpSp>
      <p:sp>
        <p:nvSpPr>
          <p:cNvPr name="Freeform 25" id="25"/>
          <p:cNvSpPr/>
          <p:nvPr/>
        </p:nvSpPr>
        <p:spPr>
          <a:xfrm flipH="false" flipV="false" rot="0">
            <a:off x="1714672" y="3219447"/>
            <a:ext cx="2311606" cy="1330625"/>
          </a:xfrm>
          <a:custGeom>
            <a:avLst/>
            <a:gdLst/>
            <a:ahLst/>
            <a:cxnLst/>
            <a:rect r="r" b="b" t="t" l="l"/>
            <a:pathLst>
              <a:path h="1330625" w="2311606">
                <a:moveTo>
                  <a:pt x="0" y="0"/>
                </a:moveTo>
                <a:lnTo>
                  <a:pt x="2311606" y="0"/>
                </a:lnTo>
                <a:lnTo>
                  <a:pt x="2311606" y="1330625"/>
                </a:lnTo>
                <a:lnTo>
                  <a:pt x="0" y="133062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726023" y="3230798"/>
            <a:ext cx="2288954" cy="1307974"/>
            <a:chOff x="0" y="0"/>
            <a:chExt cx="3413760" cy="1950720"/>
          </a:xfrm>
        </p:grpSpPr>
        <p:sp>
          <p:nvSpPr>
            <p:cNvPr name="Freeform 27" id="27"/>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7">
                <a:alphaModFix amt="0"/>
              </a:blip>
              <a:stretch>
                <a:fillRect l="-23367" t="0" r="-23367" b="0"/>
              </a:stretch>
            </a:blipFill>
          </p:spPr>
        </p:sp>
      </p:grpSp>
      <p:grpSp>
        <p:nvGrpSpPr>
          <p:cNvPr name="Group 28" id="28"/>
          <p:cNvGrpSpPr/>
          <p:nvPr/>
        </p:nvGrpSpPr>
        <p:grpSpPr>
          <a:xfrm rot="0">
            <a:off x="1726023" y="3198865"/>
            <a:ext cx="2288954" cy="1339907"/>
            <a:chOff x="0" y="0"/>
            <a:chExt cx="3413760" cy="1998345"/>
          </a:xfrm>
        </p:grpSpPr>
        <p:sp>
          <p:nvSpPr>
            <p:cNvPr name="Freeform 29" id="29"/>
            <p:cNvSpPr/>
            <p:nvPr/>
          </p:nvSpPr>
          <p:spPr>
            <a:xfrm flipH="false" flipV="false" rot="0">
              <a:off x="0" y="0"/>
              <a:ext cx="3413760" cy="1998345"/>
            </a:xfrm>
            <a:custGeom>
              <a:avLst/>
              <a:gdLst/>
              <a:ahLst/>
              <a:cxnLst/>
              <a:rect r="r" b="b" t="t" l="l"/>
              <a:pathLst>
                <a:path h="1998345" w="3413760">
                  <a:moveTo>
                    <a:pt x="0" y="0"/>
                  </a:moveTo>
                  <a:lnTo>
                    <a:pt x="3413760" y="0"/>
                  </a:lnTo>
                  <a:lnTo>
                    <a:pt x="3413760" y="1998345"/>
                  </a:lnTo>
                  <a:lnTo>
                    <a:pt x="0" y="1998345"/>
                  </a:lnTo>
                  <a:close/>
                </a:path>
              </a:pathLst>
            </a:custGeom>
            <a:blipFill>
              <a:blip r:embed="rId8">
                <a:alphaModFix amt="0"/>
              </a:blip>
              <a:stretch>
                <a:fillRect l="-25106" t="0" r="-25106" b="0"/>
              </a:stretch>
            </a:blipFill>
          </p:spPr>
        </p:sp>
        <p:sp>
          <p:nvSpPr>
            <p:cNvPr name="TextBox 30" id="30"/>
            <p:cNvSpPr txBox="true"/>
            <p:nvPr/>
          </p:nvSpPr>
          <p:spPr>
            <a:xfrm>
              <a:off x="0" y="-47625"/>
              <a:ext cx="3413760" cy="20459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LOG</a:t>
              </a:r>
            </a:p>
          </p:txBody>
        </p:sp>
      </p:grpSp>
      <p:sp>
        <p:nvSpPr>
          <p:cNvPr name="Freeform 31" id="31"/>
          <p:cNvSpPr/>
          <p:nvPr/>
        </p:nvSpPr>
        <p:spPr>
          <a:xfrm flipH="false" flipV="false" rot="0">
            <a:off x="4036326" y="3219447"/>
            <a:ext cx="7903194" cy="1330625"/>
          </a:xfrm>
          <a:custGeom>
            <a:avLst/>
            <a:gdLst/>
            <a:ahLst/>
            <a:cxnLst/>
            <a:rect r="r" b="b" t="t" l="l"/>
            <a:pathLst>
              <a:path h="1330625" w="7903194">
                <a:moveTo>
                  <a:pt x="0" y="0"/>
                </a:moveTo>
                <a:lnTo>
                  <a:pt x="7903194" y="0"/>
                </a:lnTo>
                <a:lnTo>
                  <a:pt x="7903194" y="1330625"/>
                </a:lnTo>
                <a:lnTo>
                  <a:pt x="0" y="13306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2" id="32"/>
          <p:cNvGrpSpPr/>
          <p:nvPr/>
        </p:nvGrpSpPr>
        <p:grpSpPr>
          <a:xfrm rot="0">
            <a:off x="4276572" y="3230798"/>
            <a:ext cx="7553550" cy="1307974"/>
            <a:chOff x="0" y="0"/>
            <a:chExt cx="11265408" cy="1950720"/>
          </a:xfrm>
        </p:grpSpPr>
        <p:sp>
          <p:nvSpPr>
            <p:cNvPr name="Freeform 33" id="33"/>
            <p:cNvSpPr/>
            <p:nvPr/>
          </p:nvSpPr>
          <p:spPr>
            <a:xfrm flipH="false" flipV="false" rot="0">
              <a:off x="0" y="0"/>
              <a:ext cx="11265408" cy="1950720"/>
            </a:xfrm>
            <a:custGeom>
              <a:avLst/>
              <a:gdLst/>
              <a:ahLst/>
              <a:cxnLst/>
              <a:rect r="r" b="b" t="t" l="l"/>
              <a:pathLst>
                <a:path h="1950720" w="11265408">
                  <a:moveTo>
                    <a:pt x="0" y="0"/>
                  </a:moveTo>
                  <a:lnTo>
                    <a:pt x="11265408" y="0"/>
                  </a:lnTo>
                  <a:lnTo>
                    <a:pt x="11265408" y="1950720"/>
                  </a:lnTo>
                  <a:lnTo>
                    <a:pt x="0" y="1950720"/>
                  </a:lnTo>
                  <a:close/>
                </a:path>
              </a:pathLst>
            </a:custGeom>
            <a:blipFill>
              <a:blip r:embed="rId7">
                <a:alphaModFix amt="0"/>
              </a:blip>
              <a:stretch>
                <a:fillRect l="0" t="-62447" r="0" b="-62447"/>
              </a:stretch>
            </a:blipFill>
          </p:spPr>
        </p:sp>
      </p:grpSp>
      <p:grpSp>
        <p:nvGrpSpPr>
          <p:cNvPr name="Group 34" id="34"/>
          <p:cNvGrpSpPr/>
          <p:nvPr/>
        </p:nvGrpSpPr>
        <p:grpSpPr>
          <a:xfrm rot="0">
            <a:off x="4276572" y="3205251"/>
            <a:ext cx="7553550" cy="1333520"/>
            <a:chOff x="0" y="0"/>
            <a:chExt cx="11265408" cy="1988820"/>
          </a:xfrm>
        </p:grpSpPr>
        <p:sp>
          <p:nvSpPr>
            <p:cNvPr name="Freeform 35" id="35"/>
            <p:cNvSpPr/>
            <p:nvPr/>
          </p:nvSpPr>
          <p:spPr>
            <a:xfrm flipH="false" flipV="false" rot="0">
              <a:off x="0" y="0"/>
              <a:ext cx="11265408" cy="1988820"/>
            </a:xfrm>
            <a:custGeom>
              <a:avLst/>
              <a:gdLst/>
              <a:ahLst/>
              <a:cxnLst/>
              <a:rect r="r" b="b" t="t" l="l"/>
              <a:pathLst>
                <a:path h="1988820" w="11265408">
                  <a:moveTo>
                    <a:pt x="0" y="0"/>
                  </a:moveTo>
                  <a:lnTo>
                    <a:pt x="11265408" y="0"/>
                  </a:lnTo>
                  <a:lnTo>
                    <a:pt x="11265408" y="1988820"/>
                  </a:lnTo>
                  <a:lnTo>
                    <a:pt x="0" y="1988820"/>
                  </a:lnTo>
                  <a:close/>
                </a:path>
              </a:pathLst>
            </a:custGeom>
            <a:blipFill>
              <a:blip r:embed="rId8">
                <a:alphaModFix amt="0"/>
              </a:blip>
              <a:stretch>
                <a:fillRect l="0" t="-60370" r="0" b="-60370"/>
              </a:stretch>
            </a:blipFill>
          </p:spPr>
        </p:sp>
        <p:sp>
          <p:nvSpPr>
            <p:cNvPr name="TextBox 36" id="36"/>
            <p:cNvSpPr txBox="true"/>
            <p:nvPr/>
          </p:nvSpPr>
          <p:spPr>
            <a:xfrm>
              <a:off x="0" y="-38100"/>
              <a:ext cx="11265408" cy="2026920"/>
            </a:xfrm>
            <a:prstGeom prst="rect">
              <a:avLst/>
            </a:prstGeom>
          </p:spPr>
          <p:txBody>
            <a:bodyPr anchor="ctr" rtlCol="false" tIns="0" lIns="0" bIns="0" rIns="0"/>
            <a:lstStyle/>
            <a:p>
              <a:pPr algn="l">
                <a:lnSpc>
                  <a:spcPts val="2400"/>
                </a:lnSpc>
              </a:pPr>
              <a:r>
                <a:rPr lang="en-US" sz="2000">
                  <a:solidFill>
                    <a:srgbClr val="333333"/>
                  </a:solidFill>
                  <a:latin typeface="Calibri (MS)"/>
                  <a:ea typeface="Calibri (MS)"/>
                  <a:cs typeface="Calibri (MS)"/>
                  <a:sym typeface="Calibri (MS)"/>
                </a:rPr>
                <a:t>El dato crudo. Registro generado automáticamente por sistemas, aplicaciones o dispositivos sobre lo que ocurre.</a:t>
              </a:r>
            </a:p>
          </p:txBody>
        </p:sp>
      </p:grpSp>
      <p:sp>
        <p:nvSpPr>
          <p:cNvPr name="Freeform 37" id="37"/>
          <p:cNvSpPr/>
          <p:nvPr/>
        </p:nvSpPr>
        <p:spPr>
          <a:xfrm flipH="false" flipV="false" rot="0">
            <a:off x="11949568" y="3219447"/>
            <a:ext cx="5091050" cy="1330625"/>
          </a:xfrm>
          <a:custGeom>
            <a:avLst/>
            <a:gdLst/>
            <a:ahLst/>
            <a:cxnLst/>
            <a:rect r="r" b="b" t="t" l="l"/>
            <a:pathLst>
              <a:path h="1330625" w="5091050">
                <a:moveTo>
                  <a:pt x="0" y="0"/>
                </a:moveTo>
                <a:lnTo>
                  <a:pt x="5091051" y="0"/>
                </a:lnTo>
                <a:lnTo>
                  <a:pt x="5091051" y="1330625"/>
                </a:lnTo>
                <a:lnTo>
                  <a:pt x="0" y="13306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8" id="38"/>
          <p:cNvGrpSpPr/>
          <p:nvPr/>
        </p:nvGrpSpPr>
        <p:grpSpPr>
          <a:xfrm rot="0">
            <a:off x="12157116" y="3230798"/>
            <a:ext cx="4741406" cy="1307974"/>
            <a:chOff x="0" y="0"/>
            <a:chExt cx="7071360" cy="1950720"/>
          </a:xfrm>
        </p:grpSpPr>
        <p:sp>
          <p:nvSpPr>
            <p:cNvPr name="Freeform 39" id="39"/>
            <p:cNvSpPr/>
            <p:nvPr/>
          </p:nvSpPr>
          <p:spPr>
            <a:xfrm flipH="false" flipV="false" rot="0">
              <a:off x="0" y="0"/>
              <a:ext cx="7071360" cy="1950720"/>
            </a:xfrm>
            <a:custGeom>
              <a:avLst/>
              <a:gdLst/>
              <a:ahLst/>
              <a:cxnLst/>
              <a:rect r="r" b="b" t="t" l="l"/>
              <a:pathLst>
                <a:path h="1950720" w="7071360">
                  <a:moveTo>
                    <a:pt x="0" y="0"/>
                  </a:moveTo>
                  <a:lnTo>
                    <a:pt x="7071360" y="0"/>
                  </a:lnTo>
                  <a:lnTo>
                    <a:pt x="7071360" y="1950720"/>
                  </a:lnTo>
                  <a:lnTo>
                    <a:pt x="0" y="1950720"/>
                  </a:lnTo>
                  <a:close/>
                </a:path>
              </a:pathLst>
            </a:custGeom>
            <a:blipFill>
              <a:blip r:embed="rId7">
                <a:alphaModFix amt="0"/>
              </a:blip>
              <a:stretch>
                <a:fillRect l="0" t="-20583" r="0" b="-20583"/>
              </a:stretch>
            </a:blipFill>
          </p:spPr>
        </p:sp>
      </p:grpSp>
      <p:grpSp>
        <p:nvGrpSpPr>
          <p:cNvPr name="Group 40" id="40"/>
          <p:cNvGrpSpPr/>
          <p:nvPr/>
        </p:nvGrpSpPr>
        <p:grpSpPr>
          <a:xfrm rot="0">
            <a:off x="12157116" y="3205251"/>
            <a:ext cx="4741406" cy="1333520"/>
            <a:chOff x="0" y="0"/>
            <a:chExt cx="7071360" cy="1988820"/>
          </a:xfrm>
        </p:grpSpPr>
        <p:sp>
          <p:nvSpPr>
            <p:cNvPr name="Freeform 41" id="41"/>
            <p:cNvSpPr/>
            <p:nvPr/>
          </p:nvSpPr>
          <p:spPr>
            <a:xfrm flipH="false" flipV="false" rot="0">
              <a:off x="0" y="0"/>
              <a:ext cx="7071360" cy="1988820"/>
            </a:xfrm>
            <a:custGeom>
              <a:avLst/>
              <a:gdLst/>
              <a:ahLst/>
              <a:cxnLst/>
              <a:rect r="r" b="b" t="t" l="l"/>
              <a:pathLst>
                <a:path h="1988820" w="7071360">
                  <a:moveTo>
                    <a:pt x="0" y="0"/>
                  </a:moveTo>
                  <a:lnTo>
                    <a:pt x="7071360" y="0"/>
                  </a:lnTo>
                  <a:lnTo>
                    <a:pt x="7071360" y="1988820"/>
                  </a:lnTo>
                  <a:lnTo>
                    <a:pt x="0" y="1988820"/>
                  </a:lnTo>
                  <a:close/>
                </a:path>
              </a:pathLst>
            </a:custGeom>
            <a:blipFill>
              <a:blip r:embed="rId8">
                <a:alphaModFix amt="0"/>
              </a:blip>
              <a:stretch>
                <a:fillRect l="0" t="-19280" r="0" b="-19280"/>
              </a:stretch>
            </a:blipFill>
          </p:spPr>
        </p:sp>
        <p:sp>
          <p:nvSpPr>
            <p:cNvPr name="TextBox 42" id="42"/>
            <p:cNvSpPr txBox="true"/>
            <p:nvPr/>
          </p:nvSpPr>
          <p:spPr>
            <a:xfrm>
              <a:off x="0" y="-38100"/>
              <a:ext cx="7071360" cy="2026920"/>
            </a:xfrm>
            <a:prstGeom prst="rect">
              <a:avLst/>
            </a:prstGeom>
          </p:spPr>
          <p:txBody>
            <a:bodyPr anchor="ctr" rtlCol="false" tIns="0" lIns="0" bIns="0" rIns="0"/>
            <a:lstStyle/>
            <a:p>
              <a:pPr algn="l">
                <a:lnSpc>
                  <a:spcPts val="2279"/>
                </a:lnSpc>
              </a:pPr>
              <a:r>
                <a:rPr lang="en-US" sz="1899" i="true">
                  <a:solidFill>
                    <a:srgbClr val="555555"/>
                  </a:solidFill>
                  <a:latin typeface="Calibri (MS) Italics"/>
                  <a:ea typeface="Calibri (MS) Italics"/>
                  <a:cs typeface="Calibri (MS) Italics"/>
                  <a:sym typeface="Calibri (MS) Italics"/>
                </a:rPr>
                <a:t>"Usuario j.doe falló 5 veces el login en 2 minutos"</a:t>
              </a:r>
            </a:p>
          </p:txBody>
        </p:sp>
      </p:grpSp>
      <p:sp>
        <p:nvSpPr>
          <p:cNvPr name="Freeform 43" id="43"/>
          <p:cNvSpPr/>
          <p:nvPr/>
        </p:nvSpPr>
        <p:spPr>
          <a:xfrm flipH="false" flipV="false" rot="0">
            <a:off x="1714672" y="4756316"/>
            <a:ext cx="2311606" cy="1330625"/>
          </a:xfrm>
          <a:custGeom>
            <a:avLst/>
            <a:gdLst/>
            <a:ahLst/>
            <a:cxnLst/>
            <a:rect r="r" b="b" t="t" l="l"/>
            <a:pathLst>
              <a:path h="1330625" w="2311606">
                <a:moveTo>
                  <a:pt x="0" y="0"/>
                </a:moveTo>
                <a:lnTo>
                  <a:pt x="2311606" y="0"/>
                </a:lnTo>
                <a:lnTo>
                  <a:pt x="2311606" y="1330625"/>
                </a:lnTo>
                <a:lnTo>
                  <a:pt x="0" y="133062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4" id="44"/>
          <p:cNvGrpSpPr/>
          <p:nvPr/>
        </p:nvGrpSpPr>
        <p:grpSpPr>
          <a:xfrm rot="0">
            <a:off x="1726023" y="4767667"/>
            <a:ext cx="2288954" cy="1307974"/>
            <a:chOff x="0" y="0"/>
            <a:chExt cx="3413760" cy="1950720"/>
          </a:xfrm>
        </p:grpSpPr>
        <p:sp>
          <p:nvSpPr>
            <p:cNvPr name="Freeform 45" id="45"/>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7">
                <a:alphaModFix amt="0"/>
              </a:blip>
              <a:stretch>
                <a:fillRect l="-23367" t="0" r="-23367" b="0"/>
              </a:stretch>
            </a:blipFill>
          </p:spPr>
        </p:sp>
      </p:grpSp>
      <p:grpSp>
        <p:nvGrpSpPr>
          <p:cNvPr name="Group 46" id="46"/>
          <p:cNvGrpSpPr/>
          <p:nvPr/>
        </p:nvGrpSpPr>
        <p:grpSpPr>
          <a:xfrm rot="0">
            <a:off x="1726023" y="4735734"/>
            <a:ext cx="2288954" cy="1339907"/>
            <a:chOff x="0" y="0"/>
            <a:chExt cx="3413760" cy="1998345"/>
          </a:xfrm>
        </p:grpSpPr>
        <p:sp>
          <p:nvSpPr>
            <p:cNvPr name="Freeform 47" id="47"/>
            <p:cNvSpPr/>
            <p:nvPr/>
          </p:nvSpPr>
          <p:spPr>
            <a:xfrm flipH="false" flipV="false" rot="0">
              <a:off x="0" y="0"/>
              <a:ext cx="3413760" cy="1998345"/>
            </a:xfrm>
            <a:custGeom>
              <a:avLst/>
              <a:gdLst/>
              <a:ahLst/>
              <a:cxnLst/>
              <a:rect r="r" b="b" t="t" l="l"/>
              <a:pathLst>
                <a:path h="1998345" w="3413760">
                  <a:moveTo>
                    <a:pt x="0" y="0"/>
                  </a:moveTo>
                  <a:lnTo>
                    <a:pt x="3413760" y="0"/>
                  </a:lnTo>
                  <a:lnTo>
                    <a:pt x="3413760" y="1998345"/>
                  </a:lnTo>
                  <a:lnTo>
                    <a:pt x="0" y="1998345"/>
                  </a:lnTo>
                  <a:close/>
                </a:path>
              </a:pathLst>
            </a:custGeom>
            <a:blipFill>
              <a:blip r:embed="rId8">
                <a:alphaModFix amt="0"/>
              </a:blip>
              <a:stretch>
                <a:fillRect l="-25106" t="0" r="-25106" b="0"/>
              </a:stretch>
            </a:blipFill>
          </p:spPr>
        </p:sp>
        <p:sp>
          <p:nvSpPr>
            <p:cNvPr name="TextBox 48" id="48"/>
            <p:cNvSpPr txBox="true"/>
            <p:nvPr/>
          </p:nvSpPr>
          <p:spPr>
            <a:xfrm>
              <a:off x="0" y="-47625"/>
              <a:ext cx="3413760" cy="20459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EVENTO</a:t>
              </a:r>
            </a:p>
          </p:txBody>
        </p:sp>
      </p:grpSp>
      <p:sp>
        <p:nvSpPr>
          <p:cNvPr name="Freeform 49" id="49"/>
          <p:cNvSpPr/>
          <p:nvPr/>
        </p:nvSpPr>
        <p:spPr>
          <a:xfrm flipH="false" flipV="false" rot="0">
            <a:off x="4036326" y="4756316"/>
            <a:ext cx="7903194" cy="1330625"/>
          </a:xfrm>
          <a:custGeom>
            <a:avLst/>
            <a:gdLst/>
            <a:ahLst/>
            <a:cxnLst/>
            <a:rect r="r" b="b" t="t" l="l"/>
            <a:pathLst>
              <a:path h="1330625" w="7903194">
                <a:moveTo>
                  <a:pt x="0" y="0"/>
                </a:moveTo>
                <a:lnTo>
                  <a:pt x="7903194" y="0"/>
                </a:lnTo>
                <a:lnTo>
                  <a:pt x="7903194" y="1330625"/>
                </a:lnTo>
                <a:lnTo>
                  <a:pt x="0" y="13306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0" id="50"/>
          <p:cNvGrpSpPr/>
          <p:nvPr/>
        </p:nvGrpSpPr>
        <p:grpSpPr>
          <a:xfrm rot="0">
            <a:off x="4276572" y="4767667"/>
            <a:ext cx="7553550" cy="1307974"/>
            <a:chOff x="0" y="0"/>
            <a:chExt cx="11265408" cy="1950720"/>
          </a:xfrm>
        </p:grpSpPr>
        <p:sp>
          <p:nvSpPr>
            <p:cNvPr name="Freeform 51" id="51"/>
            <p:cNvSpPr/>
            <p:nvPr/>
          </p:nvSpPr>
          <p:spPr>
            <a:xfrm flipH="false" flipV="false" rot="0">
              <a:off x="0" y="0"/>
              <a:ext cx="11265408" cy="1950720"/>
            </a:xfrm>
            <a:custGeom>
              <a:avLst/>
              <a:gdLst/>
              <a:ahLst/>
              <a:cxnLst/>
              <a:rect r="r" b="b" t="t" l="l"/>
              <a:pathLst>
                <a:path h="1950720" w="11265408">
                  <a:moveTo>
                    <a:pt x="0" y="0"/>
                  </a:moveTo>
                  <a:lnTo>
                    <a:pt x="11265408" y="0"/>
                  </a:lnTo>
                  <a:lnTo>
                    <a:pt x="11265408" y="1950720"/>
                  </a:lnTo>
                  <a:lnTo>
                    <a:pt x="0" y="1950720"/>
                  </a:lnTo>
                  <a:close/>
                </a:path>
              </a:pathLst>
            </a:custGeom>
            <a:blipFill>
              <a:blip r:embed="rId7">
                <a:alphaModFix amt="0"/>
              </a:blip>
              <a:stretch>
                <a:fillRect l="0" t="-62447" r="0" b="-62447"/>
              </a:stretch>
            </a:blipFill>
          </p:spPr>
        </p:sp>
      </p:grpSp>
      <p:grpSp>
        <p:nvGrpSpPr>
          <p:cNvPr name="Group 52" id="52"/>
          <p:cNvGrpSpPr/>
          <p:nvPr/>
        </p:nvGrpSpPr>
        <p:grpSpPr>
          <a:xfrm rot="0">
            <a:off x="4276572" y="4742121"/>
            <a:ext cx="7553550" cy="1333520"/>
            <a:chOff x="0" y="0"/>
            <a:chExt cx="11265408" cy="1988820"/>
          </a:xfrm>
        </p:grpSpPr>
        <p:sp>
          <p:nvSpPr>
            <p:cNvPr name="Freeform 53" id="53"/>
            <p:cNvSpPr/>
            <p:nvPr/>
          </p:nvSpPr>
          <p:spPr>
            <a:xfrm flipH="false" flipV="false" rot="0">
              <a:off x="0" y="0"/>
              <a:ext cx="11265408" cy="1988820"/>
            </a:xfrm>
            <a:custGeom>
              <a:avLst/>
              <a:gdLst/>
              <a:ahLst/>
              <a:cxnLst/>
              <a:rect r="r" b="b" t="t" l="l"/>
              <a:pathLst>
                <a:path h="1988820" w="11265408">
                  <a:moveTo>
                    <a:pt x="0" y="0"/>
                  </a:moveTo>
                  <a:lnTo>
                    <a:pt x="11265408" y="0"/>
                  </a:lnTo>
                  <a:lnTo>
                    <a:pt x="11265408" y="1988820"/>
                  </a:lnTo>
                  <a:lnTo>
                    <a:pt x="0" y="1988820"/>
                  </a:lnTo>
                  <a:close/>
                </a:path>
              </a:pathLst>
            </a:custGeom>
            <a:blipFill>
              <a:blip r:embed="rId8">
                <a:alphaModFix amt="0"/>
              </a:blip>
              <a:stretch>
                <a:fillRect l="0" t="-60370" r="0" b="-60370"/>
              </a:stretch>
            </a:blipFill>
          </p:spPr>
        </p:sp>
        <p:sp>
          <p:nvSpPr>
            <p:cNvPr name="TextBox 54" id="54"/>
            <p:cNvSpPr txBox="true"/>
            <p:nvPr/>
          </p:nvSpPr>
          <p:spPr>
            <a:xfrm>
              <a:off x="0" y="-38100"/>
              <a:ext cx="11265408" cy="2026920"/>
            </a:xfrm>
            <a:prstGeom prst="rect">
              <a:avLst/>
            </a:prstGeom>
          </p:spPr>
          <p:txBody>
            <a:bodyPr anchor="ctr" rtlCol="false" tIns="0" lIns="0" bIns="0" rIns="0"/>
            <a:lstStyle/>
            <a:p>
              <a:pPr algn="l">
                <a:lnSpc>
                  <a:spcPts val="2400"/>
                </a:lnSpc>
              </a:pPr>
              <a:r>
                <a:rPr lang="en-US" sz="2000">
                  <a:solidFill>
                    <a:srgbClr val="333333"/>
                  </a:solidFill>
                  <a:latin typeface="Calibri (MS)"/>
                  <a:ea typeface="Calibri (MS)"/>
                  <a:cs typeface="Calibri (MS)"/>
                  <a:sym typeface="Calibri (MS)"/>
                </a:rPr>
                <a:t>El log procesado con contexto. Una actividad observable que puede o no ser relevante para la seguridad.</a:t>
              </a:r>
            </a:p>
          </p:txBody>
        </p:sp>
      </p:grpSp>
      <p:sp>
        <p:nvSpPr>
          <p:cNvPr name="Freeform 55" id="55"/>
          <p:cNvSpPr/>
          <p:nvPr/>
        </p:nvSpPr>
        <p:spPr>
          <a:xfrm flipH="false" flipV="false" rot="0">
            <a:off x="11949568" y="4756316"/>
            <a:ext cx="5091050" cy="1330625"/>
          </a:xfrm>
          <a:custGeom>
            <a:avLst/>
            <a:gdLst/>
            <a:ahLst/>
            <a:cxnLst/>
            <a:rect r="r" b="b" t="t" l="l"/>
            <a:pathLst>
              <a:path h="1330625" w="5091050">
                <a:moveTo>
                  <a:pt x="0" y="0"/>
                </a:moveTo>
                <a:lnTo>
                  <a:pt x="5091051" y="0"/>
                </a:lnTo>
                <a:lnTo>
                  <a:pt x="5091051" y="1330625"/>
                </a:lnTo>
                <a:lnTo>
                  <a:pt x="0" y="13306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56" id="56"/>
          <p:cNvGrpSpPr/>
          <p:nvPr/>
        </p:nvGrpSpPr>
        <p:grpSpPr>
          <a:xfrm rot="0">
            <a:off x="12157116" y="4767667"/>
            <a:ext cx="4741406" cy="1307974"/>
            <a:chOff x="0" y="0"/>
            <a:chExt cx="7071360" cy="1950720"/>
          </a:xfrm>
        </p:grpSpPr>
        <p:sp>
          <p:nvSpPr>
            <p:cNvPr name="Freeform 57" id="57"/>
            <p:cNvSpPr/>
            <p:nvPr/>
          </p:nvSpPr>
          <p:spPr>
            <a:xfrm flipH="false" flipV="false" rot="0">
              <a:off x="0" y="0"/>
              <a:ext cx="7071360" cy="1950720"/>
            </a:xfrm>
            <a:custGeom>
              <a:avLst/>
              <a:gdLst/>
              <a:ahLst/>
              <a:cxnLst/>
              <a:rect r="r" b="b" t="t" l="l"/>
              <a:pathLst>
                <a:path h="1950720" w="7071360">
                  <a:moveTo>
                    <a:pt x="0" y="0"/>
                  </a:moveTo>
                  <a:lnTo>
                    <a:pt x="7071360" y="0"/>
                  </a:lnTo>
                  <a:lnTo>
                    <a:pt x="7071360" y="1950720"/>
                  </a:lnTo>
                  <a:lnTo>
                    <a:pt x="0" y="1950720"/>
                  </a:lnTo>
                  <a:close/>
                </a:path>
              </a:pathLst>
            </a:custGeom>
            <a:blipFill>
              <a:blip r:embed="rId7">
                <a:alphaModFix amt="0"/>
              </a:blip>
              <a:stretch>
                <a:fillRect l="0" t="-20583" r="0" b="-20583"/>
              </a:stretch>
            </a:blipFill>
          </p:spPr>
        </p:sp>
      </p:grpSp>
      <p:grpSp>
        <p:nvGrpSpPr>
          <p:cNvPr name="Group 58" id="58"/>
          <p:cNvGrpSpPr/>
          <p:nvPr/>
        </p:nvGrpSpPr>
        <p:grpSpPr>
          <a:xfrm rot="0">
            <a:off x="12157116" y="4742121"/>
            <a:ext cx="4741406" cy="1333520"/>
            <a:chOff x="0" y="0"/>
            <a:chExt cx="7071360" cy="1988820"/>
          </a:xfrm>
        </p:grpSpPr>
        <p:sp>
          <p:nvSpPr>
            <p:cNvPr name="Freeform 59" id="59"/>
            <p:cNvSpPr/>
            <p:nvPr/>
          </p:nvSpPr>
          <p:spPr>
            <a:xfrm flipH="false" flipV="false" rot="0">
              <a:off x="0" y="0"/>
              <a:ext cx="7071360" cy="1988820"/>
            </a:xfrm>
            <a:custGeom>
              <a:avLst/>
              <a:gdLst/>
              <a:ahLst/>
              <a:cxnLst/>
              <a:rect r="r" b="b" t="t" l="l"/>
              <a:pathLst>
                <a:path h="1988820" w="7071360">
                  <a:moveTo>
                    <a:pt x="0" y="0"/>
                  </a:moveTo>
                  <a:lnTo>
                    <a:pt x="7071360" y="0"/>
                  </a:lnTo>
                  <a:lnTo>
                    <a:pt x="7071360" y="1988820"/>
                  </a:lnTo>
                  <a:lnTo>
                    <a:pt x="0" y="1988820"/>
                  </a:lnTo>
                  <a:close/>
                </a:path>
              </a:pathLst>
            </a:custGeom>
            <a:blipFill>
              <a:blip r:embed="rId8">
                <a:alphaModFix amt="0"/>
              </a:blip>
              <a:stretch>
                <a:fillRect l="0" t="-19280" r="0" b="-19280"/>
              </a:stretch>
            </a:blipFill>
          </p:spPr>
        </p:sp>
        <p:sp>
          <p:nvSpPr>
            <p:cNvPr name="TextBox 60" id="60"/>
            <p:cNvSpPr txBox="true"/>
            <p:nvPr/>
          </p:nvSpPr>
          <p:spPr>
            <a:xfrm>
              <a:off x="0" y="-38100"/>
              <a:ext cx="7071360" cy="2026920"/>
            </a:xfrm>
            <a:prstGeom prst="rect">
              <a:avLst/>
            </a:prstGeom>
          </p:spPr>
          <p:txBody>
            <a:bodyPr anchor="ctr" rtlCol="false" tIns="0" lIns="0" bIns="0" rIns="0"/>
            <a:lstStyle/>
            <a:p>
              <a:pPr algn="l">
                <a:lnSpc>
                  <a:spcPts val="2279"/>
                </a:lnSpc>
              </a:pPr>
              <a:r>
                <a:rPr lang="en-US" sz="1899" i="true">
                  <a:solidFill>
                    <a:srgbClr val="555555"/>
                  </a:solidFill>
                  <a:latin typeface="Calibri (MS) Italics"/>
                  <a:ea typeface="Calibri (MS) Italics"/>
                  <a:cs typeface="Calibri (MS) Italics"/>
                  <a:sym typeface="Calibri (MS) Italics"/>
                </a:rPr>
                <a:t>"Intentos fallidos de autenticación detectados en host X"</a:t>
              </a:r>
            </a:p>
          </p:txBody>
        </p:sp>
      </p:grpSp>
      <p:sp>
        <p:nvSpPr>
          <p:cNvPr name="Freeform 61" id="61"/>
          <p:cNvSpPr/>
          <p:nvPr/>
        </p:nvSpPr>
        <p:spPr>
          <a:xfrm flipH="false" flipV="false" rot="0">
            <a:off x="1714672" y="6293185"/>
            <a:ext cx="2311606" cy="1330625"/>
          </a:xfrm>
          <a:custGeom>
            <a:avLst/>
            <a:gdLst/>
            <a:ahLst/>
            <a:cxnLst/>
            <a:rect r="r" b="b" t="t" l="l"/>
            <a:pathLst>
              <a:path h="1330625" w="2311606">
                <a:moveTo>
                  <a:pt x="0" y="0"/>
                </a:moveTo>
                <a:lnTo>
                  <a:pt x="2311606" y="0"/>
                </a:lnTo>
                <a:lnTo>
                  <a:pt x="2311606" y="1330626"/>
                </a:lnTo>
                <a:lnTo>
                  <a:pt x="0" y="133062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62" id="62"/>
          <p:cNvGrpSpPr/>
          <p:nvPr/>
        </p:nvGrpSpPr>
        <p:grpSpPr>
          <a:xfrm rot="0">
            <a:off x="1726023" y="6304537"/>
            <a:ext cx="2288954" cy="1307974"/>
            <a:chOff x="0" y="0"/>
            <a:chExt cx="3413760" cy="1950720"/>
          </a:xfrm>
        </p:grpSpPr>
        <p:sp>
          <p:nvSpPr>
            <p:cNvPr name="Freeform 63" id="63"/>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7">
                <a:alphaModFix amt="0"/>
              </a:blip>
              <a:stretch>
                <a:fillRect l="-23367" t="0" r="-23367" b="0"/>
              </a:stretch>
            </a:blipFill>
          </p:spPr>
        </p:sp>
      </p:grpSp>
      <p:grpSp>
        <p:nvGrpSpPr>
          <p:cNvPr name="Group 64" id="64"/>
          <p:cNvGrpSpPr/>
          <p:nvPr/>
        </p:nvGrpSpPr>
        <p:grpSpPr>
          <a:xfrm rot="0">
            <a:off x="1726023" y="6272604"/>
            <a:ext cx="2288954" cy="1339907"/>
            <a:chOff x="0" y="0"/>
            <a:chExt cx="3413760" cy="1998345"/>
          </a:xfrm>
        </p:grpSpPr>
        <p:sp>
          <p:nvSpPr>
            <p:cNvPr name="Freeform 65" id="65"/>
            <p:cNvSpPr/>
            <p:nvPr/>
          </p:nvSpPr>
          <p:spPr>
            <a:xfrm flipH="false" flipV="false" rot="0">
              <a:off x="0" y="0"/>
              <a:ext cx="3413760" cy="1998345"/>
            </a:xfrm>
            <a:custGeom>
              <a:avLst/>
              <a:gdLst/>
              <a:ahLst/>
              <a:cxnLst/>
              <a:rect r="r" b="b" t="t" l="l"/>
              <a:pathLst>
                <a:path h="1998345" w="3413760">
                  <a:moveTo>
                    <a:pt x="0" y="0"/>
                  </a:moveTo>
                  <a:lnTo>
                    <a:pt x="3413760" y="0"/>
                  </a:lnTo>
                  <a:lnTo>
                    <a:pt x="3413760" y="1998345"/>
                  </a:lnTo>
                  <a:lnTo>
                    <a:pt x="0" y="1998345"/>
                  </a:lnTo>
                  <a:close/>
                </a:path>
              </a:pathLst>
            </a:custGeom>
            <a:blipFill>
              <a:blip r:embed="rId8">
                <a:alphaModFix amt="0"/>
              </a:blip>
              <a:stretch>
                <a:fillRect l="-25106" t="0" r="-25106" b="0"/>
              </a:stretch>
            </a:blipFill>
          </p:spPr>
        </p:sp>
        <p:sp>
          <p:nvSpPr>
            <p:cNvPr name="TextBox 66" id="66"/>
            <p:cNvSpPr txBox="true"/>
            <p:nvPr/>
          </p:nvSpPr>
          <p:spPr>
            <a:xfrm>
              <a:off x="0" y="-47625"/>
              <a:ext cx="3413760" cy="20459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ALERTA</a:t>
              </a:r>
            </a:p>
          </p:txBody>
        </p:sp>
      </p:grpSp>
      <p:sp>
        <p:nvSpPr>
          <p:cNvPr name="Freeform 67" id="67"/>
          <p:cNvSpPr/>
          <p:nvPr/>
        </p:nvSpPr>
        <p:spPr>
          <a:xfrm flipH="false" flipV="false" rot="0">
            <a:off x="4036326" y="6293185"/>
            <a:ext cx="7903194" cy="1330625"/>
          </a:xfrm>
          <a:custGeom>
            <a:avLst/>
            <a:gdLst/>
            <a:ahLst/>
            <a:cxnLst/>
            <a:rect r="r" b="b" t="t" l="l"/>
            <a:pathLst>
              <a:path h="1330625" w="7903194">
                <a:moveTo>
                  <a:pt x="0" y="0"/>
                </a:moveTo>
                <a:lnTo>
                  <a:pt x="7903194" y="0"/>
                </a:lnTo>
                <a:lnTo>
                  <a:pt x="7903194" y="1330626"/>
                </a:lnTo>
                <a:lnTo>
                  <a:pt x="0" y="133062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68" id="68"/>
          <p:cNvGrpSpPr/>
          <p:nvPr/>
        </p:nvGrpSpPr>
        <p:grpSpPr>
          <a:xfrm rot="0">
            <a:off x="4276572" y="6304537"/>
            <a:ext cx="7553550" cy="1307974"/>
            <a:chOff x="0" y="0"/>
            <a:chExt cx="11265408" cy="1950720"/>
          </a:xfrm>
        </p:grpSpPr>
        <p:sp>
          <p:nvSpPr>
            <p:cNvPr name="Freeform 69" id="69"/>
            <p:cNvSpPr/>
            <p:nvPr/>
          </p:nvSpPr>
          <p:spPr>
            <a:xfrm flipH="false" flipV="false" rot="0">
              <a:off x="0" y="0"/>
              <a:ext cx="11265408" cy="1950720"/>
            </a:xfrm>
            <a:custGeom>
              <a:avLst/>
              <a:gdLst/>
              <a:ahLst/>
              <a:cxnLst/>
              <a:rect r="r" b="b" t="t" l="l"/>
              <a:pathLst>
                <a:path h="1950720" w="11265408">
                  <a:moveTo>
                    <a:pt x="0" y="0"/>
                  </a:moveTo>
                  <a:lnTo>
                    <a:pt x="11265408" y="0"/>
                  </a:lnTo>
                  <a:lnTo>
                    <a:pt x="11265408" y="1950720"/>
                  </a:lnTo>
                  <a:lnTo>
                    <a:pt x="0" y="1950720"/>
                  </a:lnTo>
                  <a:close/>
                </a:path>
              </a:pathLst>
            </a:custGeom>
            <a:blipFill>
              <a:blip r:embed="rId7">
                <a:alphaModFix amt="0"/>
              </a:blip>
              <a:stretch>
                <a:fillRect l="0" t="-62447" r="0" b="-62447"/>
              </a:stretch>
            </a:blipFill>
          </p:spPr>
        </p:sp>
      </p:grpSp>
      <p:grpSp>
        <p:nvGrpSpPr>
          <p:cNvPr name="Group 70" id="70"/>
          <p:cNvGrpSpPr/>
          <p:nvPr/>
        </p:nvGrpSpPr>
        <p:grpSpPr>
          <a:xfrm rot="0">
            <a:off x="4276572" y="6278990"/>
            <a:ext cx="7553550" cy="1333520"/>
            <a:chOff x="0" y="0"/>
            <a:chExt cx="11265408" cy="1988820"/>
          </a:xfrm>
        </p:grpSpPr>
        <p:sp>
          <p:nvSpPr>
            <p:cNvPr name="Freeform 71" id="71"/>
            <p:cNvSpPr/>
            <p:nvPr/>
          </p:nvSpPr>
          <p:spPr>
            <a:xfrm flipH="false" flipV="false" rot="0">
              <a:off x="0" y="0"/>
              <a:ext cx="11265408" cy="1988820"/>
            </a:xfrm>
            <a:custGeom>
              <a:avLst/>
              <a:gdLst/>
              <a:ahLst/>
              <a:cxnLst/>
              <a:rect r="r" b="b" t="t" l="l"/>
              <a:pathLst>
                <a:path h="1988820" w="11265408">
                  <a:moveTo>
                    <a:pt x="0" y="0"/>
                  </a:moveTo>
                  <a:lnTo>
                    <a:pt x="11265408" y="0"/>
                  </a:lnTo>
                  <a:lnTo>
                    <a:pt x="11265408" y="1988820"/>
                  </a:lnTo>
                  <a:lnTo>
                    <a:pt x="0" y="1988820"/>
                  </a:lnTo>
                  <a:close/>
                </a:path>
              </a:pathLst>
            </a:custGeom>
            <a:blipFill>
              <a:blip r:embed="rId8">
                <a:alphaModFix amt="0"/>
              </a:blip>
              <a:stretch>
                <a:fillRect l="0" t="-60370" r="0" b="-60370"/>
              </a:stretch>
            </a:blipFill>
          </p:spPr>
        </p:sp>
        <p:sp>
          <p:nvSpPr>
            <p:cNvPr name="TextBox 72" id="72"/>
            <p:cNvSpPr txBox="true"/>
            <p:nvPr/>
          </p:nvSpPr>
          <p:spPr>
            <a:xfrm>
              <a:off x="0" y="-38100"/>
              <a:ext cx="11265408" cy="2026920"/>
            </a:xfrm>
            <a:prstGeom prst="rect">
              <a:avLst/>
            </a:prstGeom>
          </p:spPr>
          <p:txBody>
            <a:bodyPr anchor="ctr" rtlCol="false" tIns="0" lIns="0" bIns="0" rIns="0"/>
            <a:lstStyle/>
            <a:p>
              <a:pPr algn="l">
                <a:lnSpc>
                  <a:spcPts val="2400"/>
                </a:lnSpc>
              </a:pPr>
              <a:r>
                <a:rPr lang="en-US" sz="2000">
                  <a:solidFill>
                    <a:srgbClr val="333333"/>
                  </a:solidFill>
                  <a:latin typeface="Calibri (MS)"/>
                  <a:ea typeface="Calibri (MS)"/>
                  <a:cs typeface="Calibri (MS)"/>
                  <a:sym typeface="Calibri (MS)"/>
                </a:rPr>
                <a:t>Notificación generada por el SIEM u otras herramientas cuando se detecta un patrón que coincide con una regla de detección.</a:t>
              </a:r>
            </a:p>
          </p:txBody>
        </p:sp>
      </p:grpSp>
      <p:sp>
        <p:nvSpPr>
          <p:cNvPr name="Freeform 73" id="73"/>
          <p:cNvSpPr/>
          <p:nvPr/>
        </p:nvSpPr>
        <p:spPr>
          <a:xfrm flipH="false" flipV="false" rot="0">
            <a:off x="11949568" y="6293185"/>
            <a:ext cx="5091050" cy="1330625"/>
          </a:xfrm>
          <a:custGeom>
            <a:avLst/>
            <a:gdLst/>
            <a:ahLst/>
            <a:cxnLst/>
            <a:rect r="r" b="b" t="t" l="l"/>
            <a:pathLst>
              <a:path h="1330625" w="5091050">
                <a:moveTo>
                  <a:pt x="0" y="0"/>
                </a:moveTo>
                <a:lnTo>
                  <a:pt x="5091051" y="0"/>
                </a:lnTo>
                <a:lnTo>
                  <a:pt x="5091051" y="1330626"/>
                </a:lnTo>
                <a:lnTo>
                  <a:pt x="0" y="13306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74" id="74"/>
          <p:cNvGrpSpPr/>
          <p:nvPr/>
        </p:nvGrpSpPr>
        <p:grpSpPr>
          <a:xfrm rot="0">
            <a:off x="12157116" y="6304537"/>
            <a:ext cx="4741406" cy="1307974"/>
            <a:chOff x="0" y="0"/>
            <a:chExt cx="7071360" cy="1950720"/>
          </a:xfrm>
        </p:grpSpPr>
        <p:sp>
          <p:nvSpPr>
            <p:cNvPr name="Freeform 75" id="75"/>
            <p:cNvSpPr/>
            <p:nvPr/>
          </p:nvSpPr>
          <p:spPr>
            <a:xfrm flipH="false" flipV="false" rot="0">
              <a:off x="0" y="0"/>
              <a:ext cx="7071360" cy="1950720"/>
            </a:xfrm>
            <a:custGeom>
              <a:avLst/>
              <a:gdLst/>
              <a:ahLst/>
              <a:cxnLst/>
              <a:rect r="r" b="b" t="t" l="l"/>
              <a:pathLst>
                <a:path h="1950720" w="7071360">
                  <a:moveTo>
                    <a:pt x="0" y="0"/>
                  </a:moveTo>
                  <a:lnTo>
                    <a:pt x="7071360" y="0"/>
                  </a:lnTo>
                  <a:lnTo>
                    <a:pt x="7071360" y="1950720"/>
                  </a:lnTo>
                  <a:lnTo>
                    <a:pt x="0" y="1950720"/>
                  </a:lnTo>
                  <a:close/>
                </a:path>
              </a:pathLst>
            </a:custGeom>
            <a:blipFill>
              <a:blip r:embed="rId7">
                <a:alphaModFix amt="0"/>
              </a:blip>
              <a:stretch>
                <a:fillRect l="0" t="-20583" r="0" b="-20583"/>
              </a:stretch>
            </a:blipFill>
          </p:spPr>
        </p:sp>
      </p:grpSp>
      <p:grpSp>
        <p:nvGrpSpPr>
          <p:cNvPr name="Group 76" id="76"/>
          <p:cNvGrpSpPr/>
          <p:nvPr/>
        </p:nvGrpSpPr>
        <p:grpSpPr>
          <a:xfrm rot="0">
            <a:off x="12157116" y="6278990"/>
            <a:ext cx="4741406" cy="1333520"/>
            <a:chOff x="0" y="0"/>
            <a:chExt cx="7071360" cy="1988820"/>
          </a:xfrm>
        </p:grpSpPr>
        <p:sp>
          <p:nvSpPr>
            <p:cNvPr name="Freeform 77" id="77"/>
            <p:cNvSpPr/>
            <p:nvPr/>
          </p:nvSpPr>
          <p:spPr>
            <a:xfrm flipH="false" flipV="false" rot="0">
              <a:off x="0" y="0"/>
              <a:ext cx="7071360" cy="1988820"/>
            </a:xfrm>
            <a:custGeom>
              <a:avLst/>
              <a:gdLst/>
              <a:ahLst/>
              <a:cxnLst/>
              <a:rect r="r" b="b" t="t" l="l"/>
              <a:pathLst>
                <a:path h="1988820" w="7071360">
                  <a:moveTo>
                    <a:pt x="0" y="0"/>
                  </a:moveTo>
                  <a:lnTo>
                    <a:pt x="7071360" y="0"/>
                  </a:lnTo>
                  <a:lnTo>
                    <a:pt x="7071360" y="1988820"/>
                  </a:lnTo>
                  <a:lnTo>
                    <a:pt x="0" y="1988820"/>
                  </a:lnTo>
                  <a:close/>
                </a:path>
              </a:pathLst>
            </a:custGeom>
            <a:blipFill>
              <a:blip r:embed="rId8">
                <a:alphaModFix amt="0"/>
              </a:blip>
              <a:stretch>
                <a:fillRect l="0" t="-19280" r="0" b="-19280"/>
              </a:stretch>
            </a:blipFill>
          </p:spPr>
        </p:sp>
        <p:sp>
          <p:nvSpPr>
            <p:cNvPr name="TextBox 78" id="78"/>
            <p:cNvSpPr txBox="true"/>
            <p:nvPr/>
          </p:nvSpPr>
          <p:spPr>
            <a:xfrm>
              <a:off x="0" y="-38100"/>
              <a:ext cx="7071360" cy="2026920"/>
            </a:xfrm>
            <a:prstGeom prst="rect">
              <a:avLst/>
            </a:prstGeom>
          </p:spPr>
          <p:txBody>
            <a:bodyPr anchor="ctr" rtlCol="false" tIns="0" lIns="0" bIns="0" rIns="0"/>
            <a:lstStyle/>
            <a:p>
              <a:pPr algn="l">
                <a:lnSpc>
                  <a:spcPts val="2279"/>
                </a:lnSpc>
              </a:pPr>
              <a:r>
                <a:rPr lang="en-US" sz="1899" i="true">
                  <a:solidFill>
                    <a:srgbClr val="555555"/>
                  </a:solidFill>
                  <a:latin typeface="Calibri (MS) Italics"/>
                  <a:ea typeface="Calibri (MS) Italics"/>
                  <a:cs typeface="Calibri (MS) Italics"/>
                  <a:sym typeface="Calibri (MS) Italics"/>
                </a:rPr>
                <a:t>"Posible fuerza bruta desde IP 188.67.23.10 – severidad media"</a:t>
              </a:r>
            </a:p>
          </p:txBody>
        </p:sp>
      </p:grpSp>
      <p:sp>
        <p:nvSpPr>
          <p:cNvPr name="Freeform 79" id="79"/>
          <p:cNvSpPr/>
          <p:nvPr/>
        </p:nvSpPr>
        <p:spPr>
          <a:xfrm flipH="false" flipV="false" rot="0">
            <a:off x="1714672" y="7830055"/>
            <a:ext cx="2311606" cy="1330625"/>
          </a:xfrm>
          <a:custGeom>
            <a:avLst/>
            <a:gdLst/>
            <a:ahLst/>
            <a:cxnLst/>
            <a:rect r="r" b="b" t="t" l="l"/>
            <a:pathLst>
              <a:path h="1330625" w="2311606">
                <a:moveTo>
                  <a:pt x="0" y="0"/>
                </a:moveTo>
                <a:lnTo>
                  <a:pt x="2311606" y="0"/>
                </a:lnTo>
                <a:lnTo>
                  <a:pt x="2311606" y="1330625"/>
                </a:lnTo>
                <a:lnTo>
                  <a:pt x="0" y="133062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80" id="80"/>
          <p:cNvGrpSpPr/>
          <p:nvPr/>
        </p:nvGrpSpPr>
        <p:grpSpPr>
          <a:xfrm rot="0">
            <a:off x="1726023" y="7841406"/>
            <a:ext cx="2288954" cy="1307974"/>
            <a:chOff x="0" y="0"/>
            <a:chExt cx="3413760" cy="1950720"/>
          </a:xfrm>
        </p:grpSpPr>
        <p:sp>
          <p:nvSpPr>
            <p:cNvPr name="Freeform 81" id="81"/>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7">
                <a:alphaModFix amt="0"/>
              </a:blip>
              <a:stretch>
                <a:fillRect l="-23367" t="0" r="-23367" b="0"/>
              </a:stretch>
            </a:blipFill>
          </p:spPr>
        </p:sp>
      </p:grpSp>
      <p:grpSp>
        <p:nvGrpSpPr>
          <p:cNvPr name="Group 82" id="82"/>
          <p:cNvGrpSpPr/>
          <p:nvPr/>
        </p:nvGrpSpPr>
        <p:grpSpPr>
          <a:xfrm rot="0">
            <a:off x="1726023" y="7809473"/>
            <a:ext cx="2288954" cy="1339907"/>
            <a:chOff x="0" y="0"/>
            <a:chExt cx="3413760" cy="1998345"/>
          </a:xfrm>
        </p:grpSpPr>
        <p:sp>
          <p:nvSpPr>
            <p:cNvPr name="Freeform 83" id="83"/>
            <p:cNvSpPr/>
            <p:nvPr/>
          </p:nvSpPr>
          <p:spPr>
            <a:xfrm flipH="false" flipV="false" rot="0">
              <a:off x="0" y="0"/>
              <a:ext cx="3413760" cy="1998345"/>
            </a:xfrm>
            <a:custGeom>
              <a:avLst/>
              <a:gdLst/>
              <a:ahLst/>
              <a:cxnLst/>
              <a:rect r="r" b="b" t="t" l="l"/>
              <a:pathLst>
                <a:path h="1998345" w="3413760">
                  <a:moveTo>
                    <a:pt x="0" y="0"/>
                  </a:moveTo>
                  <a:lnTo>
                    <a:pt x="3413760" y="0"/>
                  </a:lnTo>
                  <a:lnTo>
                    <a:pt x="3413760" y="1998345"/>
                  </a:lnTo>
                  <a:lnTo>
                    <a:pt x="0" y="1998345"/>
                  </a:lnTo>
                  <a:close/>
                </a:path>
              </a:pathLst>
            </a:custGeom>
            <a:blipFill>
              <a:blip r:embed="rId8">
                <a:alphaModFix amt="0"/>
              </a:blip>
              <a:stretch>
                <a:fillRect l="-25106" t="0" r="-25106" b="0"/>
              </a:stretch>
            </a:blipFill>
          </p:spPr>
        </p:sp>
        <p:sp>
          <p:nvSpPr>
            <p:cNvPr name="TextBox 84" id="84"/>
            <p:cNvSpPr txBox="true"/>
            <p:nvPr/>
          </p:nvSpPr>
          <p:spPr>
            <a:xfrm>
              <a:off x="0" y="-47625"/>
              <a:ext cx="3413760" cy="2045970"/>
            </a:xfrm>
            <a:prstGeom prst="rect">
              <a:avLst/>
            </a:prstGeom>
          </p:spPr>
          <p:txBody>
            <a:bodyPr anchor="ctr" rtlCol="false" tIns="0" lIns="0" bIns="0" rIns="0"/>
            <a:lstStyle/>
            <a:p>
              <a:pPr algn="ctr">
                <a:lnSpc>
                  <a:spcPts val="2998"/>
                </a:lnSpc>
              </a:pPr>
              <a:r>
                <a:rPr lang="en-US" sz="2499" b="true">
                  <a:solidFill>
                    <a:srgbClr val="FFFFFF"/>
                  </a:solidFill>
                  <a:latin typeface="Calibri (MS) Bold"/>
                  <a:ea typeface="Calibri (MS) Bold"/>
                  <a:cs typeface="Calibri (MS) Bold"/>
                  <a:sym typeface="Calibri (MS) Bold"/>
                </a:rPr>
                <a:t>INCIDENTE</a:t>
              </a:r>
            </a:p>
          </p:txBody>
        </p:sp>
      </p:grpSp>
      <p:sp>
        <p:nvSpPr>
          <p:cNvPr name="Freeform 85" id="85"/>
          <p:cNvSpPr/>
          <p:nvPr/>
        </p:nvSpPr>
        <p:spPr>
          <a:xfrm flipH="false" flipV="false" rot="0">
            <a:off x="4036326" y="7830055"/>
            <a:ext cx="7903194" cy="1330625"/>
          </a:xfrm>
          <a:custGeom>
            <a:avLst/>
            <a:gdLst/>
            <a:ahLst/>
            <a:cxnLst/>
            <a:rect r="r" b="b" t="t" l="l"/>
            <a:pathLst>
              <a:path h="1330625" w="7903194">
                <a:moveTo>
                  <a:pt x="0" y="0"/>
                </a:moveTo>
                <a:lnTo>
                  <a:pt x="7903194" y="0"/>
                </a:lnTo>
                <a:lnTo>
                  <a:pt x="7903194" y="1330625"/>
                </a:lnTo>
                <a:lnTo>
                  <a:pt x="0" y="13306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86" id="86"/>
          <p:cNvGrpSpPr/>
          <p:nvPr/>
        </p:nvGrpSpPr>
        <p:grpSpPr>
          <a:xfrm rot="0">
            <a:off x="4276572" y="7841406"/>
            <a:ext cx="7553550" cy="1307974"/>
            <a:chOff x="0" y="0"/>
            <a:chExt cx="11265408" cy="1950720"/>
          </a:xfrm>
        </p:grpSpPr>
        <p:sp>
          <p:nvSpPr>
            <p:cNvPr name="Freeform 87" id="87"/>
            <p:cNvSpPr/>
            <p:nvPr/>
          </p:nvSpPr>
          <p:spPr>
            <a:xfrm flipH="false" flipV="false" rot="0">
              <a:off x="0" y="0"/>
              <a:ext cx="11265408" cy="1950720"/>
            </a:xfrm>
            <a:custGeom>
              <a:avLst/>
              <a:gdLst/>
              <a:ahLst/>
              <a:cxnLst/>
              <a:rect r="r" b="b" t="t" l="l"/>
              <a:pathLst>
                <a:path h="1950720" w="11265408">
                  <a:moveTo>
                    <a:pt x="0" y="0"/>
                  </a:moveTo>
                  <a:lnTo>
                    <a:pt x="11265408" y="0"/>
                  </a:lnTo>
                  <a:lnTo>
                    <a:pt x="11265408" y="1950720"/>
                  </a:lnTo>
                  <a:lnTo>
                    <a:pt x="0" y="1950720"/>
                  </a:lnTo>
                  <a:close/>
                </a:path>
              </a:pathLst>
            </a:custGeom>
            <a:blipFill>
              <a:blip r:embed="rId7">
                <a:alphaModFix amt="0"/>
              </a:blip>
              <a:stretch>
                <a:fillRect l="0" t="-62447" r="0" b="-62447"/>
              </a:stretch>
            </a:blipFill>
          </p:spPr>
        </p:sp>
      </p:grpSp>
      <p:grpSp>
        <p:nvGrpSpPr>
          <p:cNvPr name="Group 88" id="88"/>
          <p:cNvGrpSpPr/>
          <p:nvPr/>
        </p:nvGrpSpPr>
        <p:grpSpPr>
          <a:xfrm rot="0">
            <a:off x="4276572" y="7815860"/>
            <a:ext cx="7553550" cy="1333520"/>
            <a:chOff x="0" y="0"/>
            <a:chExt cx="11265408" cy="1988820"/>
          </a:xfrm>
        </p:grpSpPr>
        <p:sp>
          <p:nvSpPr>
            <p:cNvPr name="Freeform 89" id="89"/>
            <p:cNvSpPr/>
            <p:nvPr/>
          </p:nvSpPr>
          <p:spPr>
            <a:xfrm flipH="false" flipV="false" rot="0">
              <a:off x="0" y="0"/>
              <a:ext cx="11265408" cy="1988820"/>
            </a:xfrm>
            <a:custGeom>
              <a:avLst/>
              <a:gdLst/>
              <a:ahLst/>
              <a:cxnLst/>
              <a:rect r="r" b="b" t="t" l="l"/>
              <a:pathLst>
                <a:path h="1988820" w="11265408">
                  <a:moveTo>
                    <a:pt x="0" y="0"/>
                  </a:moveTo>
                  <a:lnTo>
                    <a:pt x="11265408" y="0"/>
                  </a:lnTo>
                  <a:lnTo>
                    <a:pt x="11265408" y="1988820"/>
                  </a:lnTo>
                  <a:lnTo>
                    <a:pt x="0" y="1988820"/>
                  </a:lnTo>
                  <a:close/>
                </a:path>
              </a:pathLst>
            </a:custGeom>
            <a:blipFill>
              <a:blip r:embed="rId8">
                <a:alphaModFix amt="0"/>
              </a:blip>
              <a:stretch>
                <a:fillRect l="0" t="-60370" r="0" b="-60370"/>
              </a:stretch>
            </a:blipFill>
          </p:spPr>
        </p:sp>
        <p:sp>
          <p:nvSpPr>
            <p:cNvPr name="TextBox 90" id="90"/>
            <p:cNvSpPr txBox="true"/>
            <p:nvPr/>
          </p:nvSpPr>
          <p:spPr>
            <a:xfrm>
              <a:off x="0" y="-38100"/>
              <a:ext cx="11265408" cy="2026920"/>
            </a:xfrm>
            <a:prstGeom prst="rect">
              <a:avLst/>
            </a:prstGeom>
          </p:spPr>
          <p:txBody>
            <a:bodyPr anchor="ctr" rtlCol="false" tIns="0" lIns="0" bIns="0" rIns="0"/>
            <a:lstStyle/>
            <a:p>
              <a:pPr algn="l">
                <a:lnSpc>
                  <a:spcPts val="2400"/>
                </a:lnSpc>
              </a:pPr>
              <a:r>
                <a:rPr lang="en-US" sz="2000">
                  <a:solidFill>
                    <a:srgbClr val="333333"/>
                  </a:solidFill>
                  <a:latin typeface="Calibri (MS)"/>
                  <a:ea typeface="Calibri (MS)"/>
                  <a:cs typeface="Calibri (MS)"/>
                  <a:sym typeface="Calibri (MS)"/>
                </a:rPr>
                <a:t>Alerta confirmada como real que requiere investigación, documentación, contención o escalamiento según su severidad.</a:t>
              </a:r>
            </a:p>
          </p:txBody>
        </p:sp>
      </p:grpSp>
      <p:sp>
        <p:nvSpPr>
          <p:cNvPr name="Freeform 91" id="91"/>
          <p:cNvSpPr/>
          <p:nvPr/>
        </p:nvSpPr>
        <p:spPr>
          <a:xfrm flipH="false" flipV="false" rot="0">
            <a:off x="11949568" y="7830055"/>
            <a:ext cx="5091050" cy="1330625"/>
          </a:xfrm>
          <a:custGeom>
            <a:avLst/>
            <a:gdLst/>
            <a:ahLst/>
            <a:cxnLst/>
            <a:rect r="r" b="b" t="t" l="l"/>
            <a:pathLst>
              <a:path h="1330625" w="5091050">
                <a:moveTo>
                  <a:pt x="0" y="0"/>
                </a:moveTo>
                <a:lnTo>
                  <a:pt x="5091051" y="0"/>
                </a:lnTo>
                <a:lnTo>
                  <a:pt x="5091051" y="1330625"/>
                </a:lnTo>
                <a:lnTo>
                  <a:pt x="0" y="13306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92" id="92"/>
          <p:cNvGrpSpPr/>
          <p:nvPr/>
        </p:nvGrpSpPr>
        <p:grpSpPr>
          <a:xfrm rot="0">
            <a:off x="12157116" y="7841406"/>
            <a:ext cx="4741406" cy="1307974"/>
            <a:chOff x="0" y="0"/>
            <a:chExt cx="7071360" cy="1950720"/>
          </a:xfrm>
        </p:grpSpPr>
        <p:sp>
          <p:nvSpPr>
            <p:cNvPr name="Freeform 93" id="93"/>
            <p:cNvSpPr/>
            <p:nvPr/>
          </p:nvSpPr>
          <p:spPr>
            <a:xfrm flipH="false" flipV="false" rot="0">
              <a:off x="0" y="0"/>
              <a:ext cx="7071360" cy="1950720"/>
            </a:xfrm>
            <a:custGeom>
              <a:avLst/>
              <a:gdLst/>
              <a:ahLst/>
              <a:cxnLst/>
              <a:rect r="r" b="b" t="t" l="l"/>
              <a:pathLst>
                <a:path h="1950720" w="7071360">
                  <a:moveTo>
                    <a:pt x="0" y="0"/>
                  </a:moveTo>
                  <a:lnTo>
                    <a:pt x="7071360" y="0"/>
                  </a:lnTo>
                  <a:lnTo>
                    <a:pt x="7071360" y="1950720"/>
                  </a:lnTo>
                  <a:lnTo>
                    <a:pt x="0" y="1950720"/>
                  </a:lnTo>
                  <a:close/>
                </a:path>
              </a:pathLst>
            </a:custGeom>
            <a:blipFill>
              <a:blip r:embed="rId7">
                <a:alphaModFix amt="0"/>
              </a:blip>
              <a:stretch>
                <a:fillRect l="0" t="-20583" r="0" b="-20583"/>
              </a:stretch>
            </a:blipFill>
          </p:spPr>
        </p:sp>
      </p:grpSp>
      <p:grpSp>
        <p:nvGrpSpPr>
          <p:cNvPr name="Group 94" id="94"/>
          <p:cNvGrpSpPr/>
          <p:nvPr/>
        </p:nvGrpSpPr>
        <p:grpSpPr>
          <a:xfrm rot="0">
            <a:off x="12157116" y="7815860"/>
            <a:ext cx="4741406" cy="1333520"/>
            <a:chOff x="0" y="0"/>
            <a:chExt cx="7071360" cy="1988820"/>
          </a:xfrm>
        </p:grpSpPr>
        <p:sp>
          <p:nvSpPr>
            <p:cNvPr name="Freeform 95" id="95"/>
            <p:cNvSpPr/>
            <p:nvPr/>
          </p:nvSpPr>
          <p:spPr>
            <a:xfrm flipH="false" flipV="false" rot="0">
              <a:off x="0" y="0"/>
              <a:ext cx="7071360" cy="1988820"/>
            </a:xfrm>
            <a:custGeom>
              <a:avLst/>
              <a:gdLst/>
              <a:ahLst/>
              <a:cxnLst/>
              <a:rect r="r" b="b" t="t" l="l"/>
              <a:pathLst>
                <a:path h="1988820" w="7071360">
                  <a:moveTo>
                    <a:pt x="0" y="0"/>
                  </a:moveTo>
                  <a:lnTo>
                    <a:pt x="7071360" y="0"/>
                  </a:lnTo>
                  <a:lnTo>
                    <a:pt x="7071360" y="1988820"/>
                  </a:lnTo>
                  <a:lnTo>
                    <a:pt x="0" y="1988820"/>
                  </a:lnTo>
                  <a:close/>
                </a:path>
              </a:pathLst>
            </a:custGeom>
            <a:blipFill>
              <a:blip r:embed="rId8">
                <a:alphaModFix amt="0"/>
              </a:blip>
              <a:stretch>
                <a:fillRect l="0" t="-19280" r="0" b="-19280"/>
              </a:stretch>
            </a:blipFill>
          </p:spPr>
        </p:sp>
        <p:sp>
          <p:nvSpPr>
            <p:cNvPr name="TextBox 96" id="96"/>
            <p:cNvSpPr txBox="true"/>
            <p:nvPr/>
          </p:nvSpPr>
          <p:spPr>
            <a:xfrm>
              <a:off x="0" y="-38100"/>
              <a:ext cx="7071360" cy="2026920"/>
            </a:xfrm>
            <a:prstGeom prst="rect">
              <a:avLst/>
            </a:prstGeom>
          </p:spPr>
          <p:txBody>
            <a:bodyPr anchor="ctr" rtlCol="false" tIns="0" lIns="0" bIns="0" rIns="0"/>
            <a:lstStyle/>
            <a:p>
              <a:pPr algn="l">
                <a:lnSpc>
                  <a:spcPts val="2279"/>
                </a:lnSpc>
              </a:pPr>
              <a:r>
                <a:rPr lang="en-US" sz="1899" i="true">
                  <a:solidFill>
                    <a:srgbClr val="555555"/>
                  </a:solidFill>
                  <a:latin typeface="Calibri (MS) Italics"/>
                  <a:ea typeface="Calibri (MS) Italics"/>
                  <a:cs typeface="Calibri (MS) Italics"/>
                  <a:sym typeface="Calibri (MS) Italics"/>
                </a:rPr>
                <a:t>Confirmado: el usuario fue comprometido y accedieron a datos sensibles</a:t>
              </a:r>
            </a:p>
          </p:txBody>
        </p:sp>
      </p:grpSp>
      <p:grpSp>
        <p:nvGrpSpPr>
          <p:cNvPr name="Group 97" id="97"/>
          <p:cNvGrpSpPr/>
          <p:nvPr/>
        </p:nvGrpSpPr>
        <p:grpSpPr>
          <a:xfrm rot="0">
            <a:off x="15983863" y="24203"/>
            <a:ext cx="1855079" cy="1855079"/>
            <a:chOff x="0" y="0"/>
            <a:chExt cx="5852160" cy="5852160"/>
          </a:xfrm>
        </p:grpSpPr>
        <p:sp>
          <p:nvSpPr>
            <p:cNvPr name="Freeform 98" id="98"/>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3"/>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p.33</a:t>
              </a:r>
            </a:p>
          </p:txBody>
        </p:sp>
      </p:grpSp>
      <p:sp>
        <p:nvSpPr>
          <p:cNvPr name="Freeform 13" id="13"/>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6824960" cy="1645920"/>
            <a:chOff x="0" y="0"/>
            <a:chExt cx="22433280" cy="2194560"/>
          </a:xfrm>
        </p:grpSpPr>
        <p:sp>
          <p:nvSpPr>
            <p:cNvPr name="Freeform 15" id="15"/>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5">
                <a:alphaModFix amt="0"/>
              </a:blip>
              <a:stretch>
                <a:fillRect l="0" t="-149041" r="0" b="-149042"/>
              </a:stretch>
            </a:blipFill>
          </p:spPr>
        </p:sp>
      </p:grpSp>
      <p:grpSp>
        <p:nvGrpSpPr>
          <p:cNvPr name="Group 16" id="16"/>
          <p:cNvGrpSpPr/>
          <p:nvPr/>
        </p:nvGrpSpPr>
        <p:grpSpPr>
          <a:xfrm rot="0">
            <a:off x="731520" y="-50006"/>
            <a:ext cx="16824960" cy="1695926"/>
            <a:chOff x="0" y="0"/>
            <a:chExt cx="22433280" cy="2261235"/>
          </a:xfrm>
        </p:grpSpPr>
        <p:sp>
          <p:nvSpPr>
            <p:cNvPr name="Freeform 17" id="17"/>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6">
                <a:alphaModFix amt="0"/>
              </a:blip>
              <a:stretch>
                <a:fillRect l="0" t="-143307" r="0" b="-143307"/>
              </a:stretch>
            </a:blipFill>
          </p:spPr>
        </p:sp>
        <p:sp>
          <p:nvSpPr>
            <p:cNvPr name="TextBox 18" id="18"/>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1.4  |  Flujo típico de herramientas en un incidente real</a:t>
              </a:r>
            </a:p>
          </p:txBody>
        </p:sp>
      </p:grpSp>
      <p:sp>
        <p:nvSpPr>
          <p:cNvPr name="Freeform 19" id="19"/>
          <p:cNvSpPr/>
          <p:nvPr/>
        </p:nvSpPr>
        <p:spPr>
          <a:xfrm flipH="false" flipV="false" rot="0">
            <a:off x="1216434" y="2432572"/>
            <a:ext cx="4856560" cy="941327"/>
          </a:xfrm>
          <a:custGeom>
            <a:avLst/>
            <a:gdLst/>
            <a:ahLst/>
            <a:cxnLst/>
            <a:rect r="r" b="b" t="t" l="l"/>
            <a:pathLst>
              <a:path h="941327" w="4856560">
                <a:moveTo>
                  <a:pt x="0" y="0"/>
                </a:moveTo>
                <a:lnTo>
                  <a:pt x="4856560" y="0"/>
                </a:lnTo>
                <a:lnTo>
                  <a:pt x="4856560" y="941327"/>
                </a:lnTo>
                <a:lnTo>
                  <a:pt x="0" y="94132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0" id="20"/>
          <p:cNvGrpSpPr/>
          <p:nvPr/>
        </p:nvGrpSpPr>
        <p:grpSpPr>
          <a:xfrm rot="0">
            <a:off x="1227439" y="2443577"/>
            <a:ext cx="4834600" cy="919367"/>
            <a:chOff x="0" y="0"/>
            <a:chExt cx="7437120" cy="1414272"/>
          </a:xfrm>
        </p:grpSpPr>
        <p:sp>
          <p:nvSpPr>
            <p:cNvPr name="Freeform 21" id="21"/>
            <p:cNvSpPr/>
            <p:nvPr/>
          </p:nvSpPr>
          <p:spPr>
            <a:xfrm flipH="false" flipV="false" rot="0">
              <a:off x="0" y="0"/>
              <a:ext cx="7437120" cy="1414272"/>
            </a:xfrm>
            <a:custGeom>
              <a:avLst/>
              <a:gdLst/>
              <a:ahLst/>
              <a:cxnLst/>
              <a:rect r="r" b="b" t="t" l="l"/>
              <a:pathLst>
                <a:path h="1414272" w="7437120">
                  <a:moveTo>
                    <a:pt x="0" y="0"/>
                  </a:moveTo>
                  <a:lnTo>
                    <a:pt x="7437120" y="0"/>
                  </a:lnTo>
                  <a:lnTo>
                    <a:pt x="7437120" y="1414272"/>
                  </a:lnTo>
                  <a:lnTo>
                    <a:pt x="0" y="1414272"/>
                  </a:lnTo>
                  <a:close/>
                </a:path>
              </a:pathLst>
            </a:custGeom>
            <a:blipFill>
              <a:blip r:embed="rId5">
                <a:alphaModFix amt="0"/>
              </a:blip>
              <a:stretch>
                <a:fillRect l="0" t="-52393" r="0" b="-52393"/>
              </a:stretch>
            </a:blipFill>
          </p:spPr>
        </p:sp>
      </p:grpSp>
      <p:grpSp>
        <p:nvGrpSpPr>
          <p:cNvPr name="Group 22" id="22"/>
          <p:cNvGrpSpPr/>
          <p:nvPr/>
        </p:nvGrpSpPr>
        <p:grpSpPr>
          <a:xfrm rot="0">
            <a:off x="1227439" y="2400234"/>
            <a:ext cx="4834600" cy="962710"/>
            <a:chOff x="0" y="0"/>
            <a:chExt cx="7437120" cy="1480947"/>
          </a:xfrm>
        </p:grpSpPr>
        <p:sp>
          <p:nvSpPr>
            <p:cNvPr name="Freeform 23" id="23"/>
            <p:cNvSpPr/>
            <p:nvPr/>
          </p:nvSpPr>
          <p:spPr>
            <a:xfrm flipH="false" flipV="false" rot="0">
              <a:off x="0" y="0"/>
              <a:ext cx="7437120" cy="1480947"/>
            </a:xfrm>
            <a:custGeom>
              <a:avLst/>
              <a:gdLst/>
              <a:ahLst/>
              <a:cxnLst/>
              <a:rect r="r" b="b" t="t" l="l"/>
              <a:pathLst>
                <a:path h="1480947" w="7437120">
                  <a:moveTo>
                    <a:pt x="0" y="0"/>
                  </a:moveTo>
                  <a:lnTo>
                    <a:pt x="7437120" y="0"/>
                  </a:lnTo>
                  <a:lnTo>
                    <a:pt x="7437120" y="1480947"/>
                  </a:lnTo>
                  <a:lnTo>
                    <a:pt x="0" y="1480947"/>
                  </a:lnTo>
                  <a:close/>
                </a:path>
              </a:pathLst>
            </a:custGeom>
            <a:blipFill>
              <a:blip r:embed="rId6">
                <a:alphaModFix amt="0"/>
              </a:blip>
              <a:stretch>
                <a:fillRect l="0" t="-47851" r="0" b="-47851"/>
              </a:stretch>
            </a:blipFill>
          </p:spPr>
        </p:sp>
        <p:sp>
          <p:nvSpPr>
            <p:cNvPr name="TextBox 24" id="24"/>
            <p:cNvSpPr txBox="true"/>
            <p:nvPr/>
          </p:nvSpPr>
          <p:spPr>
            <a:xfrm>
              <a:off x="0" y="-66675"/>
              <a:ext cx="7437120" cy="1547622"/>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WAF</a:t>
              </a:r>
            </a:p>
          </p:txBody>
        </p:sp>
      </p:grpSp>
      <p:sp>
        <p:nvSpPr>
          <p:cNvPr name="Freeform 25" id="25"/>
          <p:cNvSpPr/>
          <p:nvPr/>
        </p:nvSpPr>
        <p:spPr>
          <a:xfrm flipH="false" flipV="false" rot="0">
            <a:off x="1216434" y="3383641"/>
            <a:ext cx="4856560" cy="5252839"/>
          </a:xfrm>
          <a:custGeom>
            <a:avLst/>
            <a:gdLst/>
            <a:ahLst/>
            <a:cxnLst/>
            <a:rect r="r" b="b" t="t" l="l"/>
            <a:pathLst>
              <a:path h="5252839" w="4856560">
                <a:moveTo>
                  <a:pt x="0" y="0"/>
                </a:moveTo>
                <a:lnTo>
                  <a:pt x="4856560" y="0"/>
                </a:lnTo>
                <a:lnTo>
                  <a:pt x="4856560" y="5252839"/>
                </a:lnTo>
                <a:lnTo>
                  <a:pt x="0" y="525283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6" id="26"/>
          <p:cNvSpPr txBox="true"/>
          <p:nvPr/>
        </p:nvSpPr>
        <p:spPr>
          <a:xfrm rot="0">
            <a:off x="1473132" y="3592193"/>
            <a:ext cx="4343214" cy="2238046"/>
          </a:xfrm>
          <a:prstGeom prst="rect">
            <a:avLst/>
          </a:prstGeom>
        </p:spPr>
        <p:txBody>
          <a:bodyPr anchor="t" rtlCol="false" tIns="0" lIns="0" bIns="0" rIns="0">
            <a:spAutoFit/>
          </a:bodyPr>
          <a:lstStyle/>
          <a:p>
            <a:pPr algn="l">
              <a:lnSpc>
                <a:spcPts val="2981"/>
              </a:lnSpc>
            </a:pPr>
            <a:r>
              <a:rPr lang="en-US" sz="1733">
                <a:solidFill>
                  <a:srgbClr val="DDDDDD"/>
                </a:solidFill>
                <a:latin typeface="Calibri (MS)"/>
                <a:ea typeface="Calibri (MS)"/>
                <a:cs typeface="Calibri (MS)"/>
                <a:sym typeface="Calibri (MS)"/>
              </a:rPr>
              <a:t>Detecta actividad sospechosa en una aplicación web. Por ejemplo, un intento de SQL injection o múltiples peticiones anómalas a un formulario de login.</a:t>
            </a:r>
          </a:p>
          <a:p>
            <a:pPr algn="l">
              <a:lnSpc>
                <a:spcPts val="2981"/>
              </a:lnSpc>
            </a:pPr>
          </a:p>
          <a:p>
            <a:pPr algn="l">
              <a:lnSpc>
                <a:spcPts val="2981"/>
              </a:lnSpc>
            </a:pPr>
            <a:r>
              <a:rPr lang="en-US" sz="1733">
                <a:solidFill>
                  <a:srgbClr val="DDDDDD"/>
                </a:solidFill>
                <a:latin typeface="Calibri (MS)"/>
                <a:ea typeface="Calibri (MS)"/>
                <a:cs typeface="Calibri (MS)"/>
                <a:sym typeface="Calibri (MS)"/>
              </a:rPr>
              <a:t>El WAF registra el evento y genera un log.</a:t>
            </a:r>
          </a:p>
        </p:txBody>
      </p:sp>
      <p:grpSp>
        <p:nvGrpSpPr>
          <p:cNvPr name="Group 27" id="27"/>
          <p:cNvGrpSpPr/>
          <p:nvPr/>
        </p:nvGrpSpPr>
        <p:grpSpPr>
          <a:xfrm rot="0">
            <a:off x="6520669" y="2443577"/>
            <a:ext cx="206065" cy="919367"/>
            <a:chOff x="0" y="0"/>
            <a:chExt cx="316992" cy="1414272"/>
          </a:xfrm>
        </p:grpSpPr>
        <p:sp>
          <p:nvSpPr>
            <p:cNvPr name="Freeform 28" id="28"/>
            <p:cNvSpPr/>
            <p:nvPr/>
          </p:nvSpPr>
          <p:spPr>
            <a:xfrm flipH="false" flipV="false" rot="0">
              <a:off x="0" y="0"/>
              <a:ext cx="316992" cy="1414272"/>
            </a:xfrm>
            <a:custGeom>
              <a:avLst/>
              <a:gdLst/>
              <a:ahLst/>
              <a:cxnLst/>
              <a:rect r="r" b="b" t="t" l="l"/>
              <a:pathLst>
                <a:path h="1414272" w="316992">
                  <a:moveTo>
                    <a:pt x="0" y="0"/>
                  </a:moveTo>
                  <a:lnTo>
                    <a:pt x="316992" y="0"/>
                  </a:lnTo>
                  <a:lnTo>
                    <a:pt x="316992" y="1414272"/>
                  </a:lnTo>
                  <a:lnTo>
                    <a:pt x="0" y="1414272"/>
                  </a:lnTo>
                  <a:close/>
                </a:path>
              </a:pathLst>
            </a:custGeom>
            <a:blipFill>
              <a:blip r:embed="rId5">
                <a:alphaModFix amt="0"/>
              </a:blip>
              <a:stretch>
                <a:fillRect l="-522828" t="0" r="-522832" b="0"/>
              </a:stretch>
            </a:blipFill>
          </p:spPr>
        </p:sp>
      </p:grpSp>
      <p:grpSp>
        <p:nvGrpSpPr>
          <p:cNvPr name="Group 29" id="29"/>
          <p:cNvGrpSpPr/>
          <p:nvPr/>
        </p:nvGrpSpPr>
        <p:grpSpPr>
          <a:xfrm rot="0">
            <a:off x="6168043" y="2464910"/>
            <a:ext cx="441683" cy="962710"/>
            <a:chOff x="0" y="0"/>
            <a:chExt cx="679445" cy="1480947"/>
          </a:xfrm>
        </p:grpSpPr>
        <p:sp>
          <p:nvSpPr>
            <p:cNvPr name="Freeform 30" id="30"/>
            <p:cNvSpPr/>
            <p:nvPr/>
          </p:nvSpPr>
          <p:spPr>
            <a:xfrm flipH="false" flipV="false" rot="0">
              <a:off x="0" y="0"/>
              <a:ext cx="679445" cy="1480947"/>
            </a:xfrm>
            <a:custGeom>
              <a:avLst/>
              <a:gdLst/>
              <a:ahLst/>
              <a:cxnLst/>
              <a:rect r="r" b="b" t="t" l="l"/>
              <a:pathLst>
                <a:path h="1480947" w="679445">
                  <a:moveTo>
                    <a:pt x="0" y="0"/>
                  </a:moveTo>
                  <a:lnTo>
                    <a:pt x="679445" y="0"/>
                  </a:lnTo>
                  <a:lnTo>
                    <a:pt x="679445" y="1480947"/>
                  </a:lnTo>
                  <a:lnTo>
                    <a:pt x="0" y="1480947"/>
                  </a:lnTo>
                  <a:close/>
                </a:path>
              </a:pathLst>
            </a:custGeom>
            <a:blipFill>
              <a:blip r:embed="rId6">
                <a:alphaModFix amt="0"/>
              </a:blip>
              <a:stretch>
                <a:fillRect l="-256328" t="0" r="-202982" b="0"/>
              </a:stretch>
            </a:blipFill>
          </p:spPr>
        </p:sp>
        <p:sp>
          <p:nvSpPr>
            <p:cNvPr name="TextBox 31" id="31"/>
            <p:cNvSpPr txBox="true"/>
            <p:nvPr/>
          </p:nvSpPr>
          <p:spPr>
            <a:xfrm>
              <a:off x="0" y="-66675"/>
              <a:ext cx="679445" cy="1547622"/>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32" id="32"/>
          <p:cNvSpPr/>
          <p:nvPr/>
        </p:nvSpPr>
        <p:spPr>
          <a:xfrm flipH="false" flipV="false" rot="0">
            <a:off x="6715729" y="2432572"/>
            <a:ext cx="4856560" cy="941327"/>
          </a:xfrm>
          <a:custGeom>
            <a:avLst/>
            <a:gdLst/>
            <a:ahLst/>
            <a:cxnLst/>
            <a:rect r="r" b="b" t="t" l="l"/>
            <a:pathLst>
              <a:path h="941327" w="4856560">
                <a:moveTo>
                  <a:pt x="0" y="0"/>
                </a:moveTo>
                <a:lnTo>
                  <a:pt x="4856561" y="0"/>
                </a:lnTo>
                <a:lnTo>
                  <a:pt x="4856561" y="941327"/>
                </a:lnTo>
                <a:lnTo>
                  <a:pt x="0" y="94132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3" id="33"/>
          <p:cNvGrpSpPr/>
          <p:nvPr/>
        </p:nvGrpSpPr>
        <p:grpSpPr>
          <a:xfrm rot="0">
            <a:off x="6726734" y="2443577"/>
            <a:ext cx="4834600" cy="919367"/>
            <a:chOff x="0" y="0"/>
            <a:chExt cx="7437120" cy="1414272"/>
          </a:xfrm>
        </p:grpSpPr>
        <p:sp>
          <p:nvSpPr>
            <p:cNvPr name="Freeform 34" id="34"/>
            <p:cNvSpPr/>
            <p:nvPr/>
          </p:nvSpPr>
          <p:spPr>
            <a:xfrm flipH="false" flipV="false" rot="0">
              <a:off x="0" y="0"/>
              <a:ext cx="7437120" cy="1414272"/>
            </a:xfrm>
            <a:custGeom>
              <a:avLst/>
              <a:gdLst/>
              <a:ahLst/>
              <a:cxnLst/>
              <a:rect r="r" b="b" t="t" l="l"/>
              <a:pathLst>
                <a:path h="1414272" w="7437120">
                  <a:moveTo>
                    <a:pt x="0" y="0"/>
                  </a:moveTo>
                  <a:lnTo>
                    <a:pt x="7437120" y="0"/>
                  </a:lnTo>
                  <a:lnTo>
                    <a:pt x="7437120" y="1414272"/>
                  </a:lnTo>
                  <a:lnTo>
                    <a:pt x="0" y="1414272"/>
                  </a:lnTo>
                  <a:close/>
                </a:path>
              </a:pathLst>
            </a:custGeom>
            <a:blipFill>
              <a:blip r:embed="rId5">
                <a:alphaModFix amt="0"/>
              </a:blip>
              <a:stretch>
                <a:fillRect l="0" t="-52393" r="0" b="-52393"/>
              </a:stretch>
            </a:blipFill>
          </p:spPr>
        </p:sp>
      </p:grpSp>
      <p:grpSp>
        <p:nvGrpSpPr>
          <p:cNvPr name="Group 35" id="35"/>
          <p:cNvGrpSpPr/>
          <p:nvPr/>
        </p:nvGrpSpPr>
        <p:grpSpPr>
          <a:xfrm rot="0">
            <a:off x="6726734" y="2400234"/>
            <a:ext cx="4834600" cy="962710"/>
            <a:chOff x="0" y="0"/>
            <a:chExt cx="7437120" cy="1480947"/>
          </a:xfrm>
        </p:grpSpPr>
        <p:sp>
          <p:nvSpPr>
            <p:cNvPr name="Freeform 36" id="36"/>
            <p:cNvSpPr/>
            <p:nvPr/>
          </p:nvSpPr>
          <p:spPr>
            <a:xfrm flipH="false" flipV="false" rot="0">
              <a:off x="0" y="0"/>
              <a:ext cx="7437120" cy="1480947"/>
            </a:xfrm>
            <a:custGeom>
              <a:avLst/>
              <a:gdLst/>
              <a:ahLst/>
              <a:cxnLst/>
              <a:rect r="r" b="b" t="t" l="l"/>
              <a:pathLst>
                <a:path h="1480947" w="7437120">
                  <a:moveTo>
                    <a:pt x="0" y="0"/>
                  </a:moveTo>
                  <a:lnTo>
                    <a:pt x="7437120" y="0"/>
                  </a:lnTo>
                  <a:lnTo>
                    <a:pt x="7437120" y="1480947"/>
                  </a:lnTo>
                  <a:lnTo>
                    <a:pt x="0" y="1480947"/>
                  </a:lnTo>
                  <a:close/>
                </a:path>
              </a:pathLst>
            </a:custGeom>
            <a:blipFill>
              <a:blip r:embed="rId6">
                <a:alphaModFix amt="0"/>
              </a:blip>
              <a:stretch>
                <a:fillRect l="0" t="-47851" r="0" b="-47851"/>
              </a:stretch>
            </a:blipFill>
          </p:spPr>
        </p:sp>
        <p:sp>
          <p:nvSpPr>
            <p:cNvPr name="TextBox 37" id="37"/>
            <p:cNvSpPr txBox="true"/>
            <p:nvPr/>
          </p:nvSpPr>
          <p:spPr>
            <a:xfrm>
              <a:off x="0" y="-66675"/>
              <a:ext cx="7437120" cy="1547622"/>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SIEM</a:t>
              </a:r>
            </a:p>
          </p:txBody>
        </p:sp>
      </p:grpSp>
      <p:sp>
        <p:nvSpPr>
          <p:cNvPr name="Freeform 38" id="38"/>
          <p:cNvSpPr/>
          <p:nvPr/>
        </p:nvSpPr>
        <p:spPr>
          <a:xfrm flipH="false" flipV="false" rot="0">
            <a:off x="6715729" y="3383641"/>
            <a:ext cx="4856560" cy="5252839"/>
          </a:xfrm>
          <a:custGeom>
            <a:avLst/>
            <a:gdLst/>
            <a:ahLst/>
            <a:cxnLst/>
            <a:rect r="r" b="b" t="t" l="l"/>
            <a:pathLst>
              <a:path h="5252839" w="4856560">
                <a:moveTo>
                  <a:pt x="0" y="0"/>
                </a:moveTo>
                <a:lnTo>
                  <a:pt x="4856561" y="0"/>
                </a:lnTo>
                <a:lnTo>
                  <a:pt x="4856561" y="5252839"/>
                </a:lnTo>
                <a:lnTo>
                  <a:pt x="0" y="525283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9" id="39"/>
          <p:cNvSpPr txBox="true"/>
          <p:nvPr/>
        </p:nvSpPr>
        <p:spPr>
          <a:xfrm rot="0">
            <a:off x="6972364" y="3577906"/>
            <a:ext cx="4343214" cy="2238046"/>
          </a:xfrm>
          <a:prstGeom prst="rect">
            <a:avLst/>
          </a:prstGeom>
        </p:spPr>
        <p:txBody>
          <a:bodyPr anchor="t" rtlCol="false" tIns="0" lIns="0" bIns="0" rIns="0">
            <a:spAutoFit/>
          </a:bodyPr>
          <a:lstStyle/>
          <a:p>
            <a:pPr algn="l">
              <a:lnSpc>
                <a:spcPts val="2981"/>
              </a:lnSpc>
            </a:pPr>
            <a:r>
              <a:rPr lang="en-US" sz="1733">
                <a:solidFill>
                  <a:srgbClr val="DDDDDD"/>
                </a:solidFill>
                <a:latin typeface="Calibri (MS)"/>
                <a:ea typeface="Calibri (MS)"/>
                <a:cs typeface="Calibri (MS)"/>
                <a:sym typeface="Calibri (MS)"/>
              </a:rPr>
              <a:t>Ese log es enviado al SIEM, que lo correlaciona con otros eventos: múltiples intentos desde la misma IP en distintos sistemas.</a:t>
            </a:r>
          </a:p>
          <a:p>
            <a:pPr algn="l">
              <a:lnSpc>
                <a:spcPts val="2981"/>
              </a:lnSpc>
            </a:pPr>
          </a:p>
          <a:p>
            <a:pPr algn="l">
              <a:lnSpc>
                <a:spcPts val="2981"/>
              </a:lnSpc>
            </a:pPr>
            <a:r>
              <a:rPr lang="en-US" sz="1733">
                <a:solidFill>
                  <a:srgbClr val="DDDDDD"/>
                </a:solidFill>
                <a:latin typeface="Calibri (MS)"/>
                <a:ea typeface="Calibri (MS)"/>
                <a:cs typeface="Calibri (MS)"/>
                <a:sym typeface="Calibri (MS)"/>
              </a:rPr>
              <a:t>Al detectar ese patrón, genera una alerta en el panel del analista L1.</a:t>
            </a:r>
          </a:p>
        </p:txBody>
      </p:sp>
      <p:grpSp>
        <p:nvGrpSpPr>
          <p:cNvPr name="Group 40" id="40"/>
          <p:cNvGrpSpPr/>
          <p:nvPr/>
        </p:nvGrpSpPr>
        <p:grpSpPr>
          <a:xfrm rot="0">
            <a:off x="11593037" y="2443577"/>
            <a:ext cx="206065" cy="919367"/>
            <a:chOff x="0" y="0"/>
            <a:chExt cx="316992" cy="1414272"/>
          </a:xfrm>
        </p:grpSpPr>
        <p:sp>
          <p:nvSpPr>
            <p:cNvPr name="Freeform 41" id="41"/>
            <p:cNvSpPr/>
            <p:nvPr/>
          </p:nvSpPr>
          <p:spPr>
            <a:xfrm flipH="false" flipV="false" rot="0">
              <a:off x="0" y="0"/>
              <a:ext cx="316992" cy="1414272"/>
            </a:xfrm>
            <a:custGeom>
              <a:avLst/>
              <a:gdLst/>
              <a:ahLst/>
              <a:cxnLst/>
              <a:rect r="r" b="b" t="t" l="l"/>
              <a:pathLst>
                <a:path h="1414272" w="316992">
                  <a:moveTo>
                    <a:pt x="0" y="0"/>
                  </a:moveTo>
                  <a:lnTo>
                    <a:pt x="316992" y="0"/>
                  </a:lnTo>
                  <a:lnTo>
                    <a:pt x="316992" y="1414272"/>
                  </a:lnTo>
                  <a:lnTo>
                    <a:pt x="0" y="1414272"/>
                  </a:lnTo>
                  <a:close/>
                </a:path>
              </a:pathLst>
            </a:custGeom>
            <a:blipFill>
              <a:blip r:embed="rId5">
                <a:alphaModFix amt="0"/>
              </a:blip>
              <a:stretch>
                <a:fillRect l="-522828" t="0" r="-522832" b="0"/>
              </a:stretch>
            </a:blipFill>
          </p:spPr>
        </p:sp>
      </p:grpSp>
      <p:grpSp>
        <p:nvGrpSpPr>
          <p:cNvPr name="Group 42" id="42"/>
          <p:cNvGrpSpPr/>
          <p:nvPr/>
        </p:nvGrpSpPr>
        <p:grpSpPr>
          <a:xfrm rot="0">
            <a:off x="11660857" y="2454219"/>
            <a:ext cx="497352" cy="962710"/>
            <a:chOff x="0" y="0"/>
            <a:chExt cx="765083" cy="1480947"/>
          </a:xfrm>
        </p:grpSpPr>
        <p:sp>
          <p:nvSpPr>
            <p:cNvPr name="Freeform 43" id="43"/>
            <p:cNvSpPr/>
            <p:nvPr/>
          </p:nvSpPr>
          <p:spPr>
            <a:xfrm flipH="false" flipV="false" rot="0">
              <a:off x="0" y="0"/>
              <a:ext cx="765083" cy="1480947"/>
            </a:xfrm>
            <a:custGeom>
              <a:avLst/>
              <a:gdLst/>
              <a:ahLst/>
              <a:cxnLst/>
              <a:rect r="r" b="b" t="t" l="l"/>
              <a:pathLst>
                <a:path h="1480947" w="765083">
                  <a:moveTo>
                    <a:pt x="0" y="0"/>
                  </a:moveTo>
                  <a:lnTo>
                    <a:pt x="765083" y="0"/>
                  </a:lnTo>
                  <a:lnTo>
                    <a:pt x="765083" y="1480947"/>
                  </a:lnTo>
                  <a:lnTo>
                    <a:pt x="0" y="1480947"/>
                  </a:lnTo>
                  <a:close/>
                </a:path>
              </a:pathLst>
            </a:custGeom>
            <a:blipFill>
              <a:blip r:embed="rId6">
                <a:alphaModFix amt="0"/>
              </a:blip>
              <a:stretch>
                <a:fillRect l="-227637" t="0" r="-169069" b="0"/>
              </a:stretch>
            </a:blipFill>
          </p:spPr>
        </p:sp>
        <p:sp>
          <p:nvSpPr>
            <p:cNvPr name="TextBox 44" id="44"/>
            <p:cNvSpPr txBox="true"/>
            <p:nvPr/>
          </p:nvSpPr>
          <p:spPr>
            <a:xfrm>
              <a:off x="0" y="-66675"/>
              <a:ext cx="765083" cy="1547622"/>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45" id="45"/>
          <p:cNvSpPr/>
          <p:nvPr/>
        </p:nvSpPr>
        <p:spPr>
          <a:xfrm flipH="false" flipV="false" rot="0">
            <a:off x="12246776" y="2464910"/>
            <a:ext cx="4856560" cy="941327"/>
          </a:xfrm>
          <a:custGeom>
            <a:avLst/>
            <a:gdLst/>
            <a:ahLst/>
            <a:cxnLst/>
            <a:rect r="r" b="b" t="t" l="l"/>
            <a:pathLst>
              <a:path h="941327" w="4856560">
                <a:moveTo>
                  <a:pt x="0" y="0"/>
                </a:moveTo>
                <a:lnTo>
                  <a:pt x="4856561" y="0"/>
                </a:lnTo>
                <a:lnTo>
                  <a:pt x="4856561" y="941327"/>
                </a:lnTo>
                <a:lnTo>
                  <a:pt x="0" y="94132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6" id="46"/>
          <p:cNvGrpSpPr/>
          <p:nvPr/>
        </p:nvGrpSpPr>
        <p:grpSpPr>
          <a:xfrm rot="0">
            <a:off x="12257781" y="2475915"/>
            <a:ext cx="4834600" cy="919367"/>
            <a:chOff x="0" y="0"/>
            <a:chExt cx="7437120" cy="1414272"/>
          </a:xfrm>
        </p:grpSpPr>
        <p:sp>
          <p:nvSpPr>
            <p:cNvPr name="Freeform 47" id="47"/>
            <p:cNvSpPr/>
            <p:nvPr/>
          </p:nvSpPr>
          <p:spPr>
            <a:xfrm flipH="false" flipV="false" rot="0">
              <a:off x="0" y="0"/>
              <a:ext cx="7437120" cy="1414272"/>
            </a:xfrm>
            <a:custGeom>
              <a:avLst/>
              <a:gdLst/>
              <a:ahLst/>
              <a:cxnLst/>
              <a:rect r="r" b="b" t="t" l="l"/>
              <a:pathLst>
                <a:path h="1414272" w="7437120">
                  <a:moveTo>
                    <a:pt x="0" y="0"/>
                  </a:moveTo>
                  <a:lnTo>
                    <a:pt x="7437120" y="0"/>
                  </a:lnTo>
                  <a:lnTo>
                    <a:pt x="7437120" y="1414272"/>
                  </a:lnTo>
                  <a:lnTo>
                    <a:pt x="0" y="1414272"/>
                  </a:lnTo>
                  <a:close/>
                </a:path>
              </a:pathLst>
            </a:custGeom>
            <a:blipFill>
              <a:blip r:embed="rId5">
                <a:alphaModFix amt="0"/>
              </a:blip>
              <a:stretch>
                <a:fillRect l="0" t="-52393" r="0" b="-52393"/>
              </a:stretch>
            </a:blipFill>
          </p:spPr>
        </p:sp>
      </p:grpSp>
      <p:grpSp>
        <p:nvGrpSpPr>
          <p:cNvPr name="Group 48" id="48"/>
          <p:cNvGrpSpPr/>
          <p:nvPr/>
        </p:nvGrpSpPr>
        <p:grpSpPr>
          <a:xfrm rot="0">
            <a:off x="12257781" y="2432572"/>
            <a:ext cx="4834600" cy="962710"/>
            <a:chOff x="0" y="0"/>
            <a:chExt cx="7437120" cy="1480947"/>
          </a:xfrm>
        </p:grpSpPr>
        <p:sp>
          <p:nvSpPr>
            <p:cNvPr name="Freeform 49" id="49"/>
            <p:cNvSpPr/>
            <p:nvPr/>
          </p:nvSpPr>
          <p:spPr>
            <a:xfrm flipH="false" flipV="false" rot="0">
              <a:off x="0" y="0"/>
              <a:ext cx="7437120" cy="1480947"/>
            </a:xfrm>
            <a:custGeom>
              <a:avLst/>
              <a:gdLst/>
              <a:ahLst/>
              <a:cxnLst/>
              <a:rect r="r" b="b" t="t" l="l"/>
              <a:pathLst>
                <a:path h="1480947" w="7437120">
                  <a:moveTo>
                    <a:pt x="0" y="0"/>
                  </a:moveTo>
                  <a:lnTo>
                    <a:pt x="7437120" y="0"/>
                  </a:lnTo>
                  <a:lnTo>
                    <a:pt x="7437120" y="1480947"/>
                  </a:lnTo>
                  <a:lnTo>
                    <a:pt x="0" y="1480947"/>
                  </a:lnTo>
                  <a:close/>
                </a:path>
              </a:pathLst>
            </a:custGeom>
            <a:blipFill>
              <a:blip r:embed="rId6">
                <a:alphaModFix amt="0"/>
              </a:blip>
              <a:stretch>
                <a:fillRect l="0" t="-47851" r="0" b="-47851"/>
              </a:stretch>
            </a:blipFill>
          </p:spPr>
        </p:sp>
        <p:sp>
          <p:nvSpPr>
            <p:cNvPr name="TextBox 50" id="50"/>
            <p:cNvSpPr txBox="true"/>
            <p:nvPr/>
          </p:nvSpPr>
          <p:spPr>
            <a:xfrm>
              <a:off x="0" y="-66675"/>
              <a:ext cx="7437120" cy="1547622"/>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SOAR</a:t>
              </a:r>
            </a:p>
          </p:txBody>
        </p:sp>
      </p:grpSp>
      <p:sp>
        <p:nvSpPr>
          <p:cNvPr name="Freeform 51" id="51"/>
          <p:cNvSpPr/>
          <p:nvPr/>
        </p:nvSpPr>
        <p:spPr>
          <a:xfrm flipH="false" flipV="false" rot="0">
            <a:off x="12246776" y="3415979"/>
            <a:ext cx="4856560" cy="5252839"/>
          </a:xfrm>
          <a:custGeom>
            <a:avLst/>
            <a:gdLst/>
            <a:ahLst/>
            <a:cxnLst/>
            <a:rect r="r" b="b" t="t" l="l"/>
            <a:pathLst>
              <a:path h="5252839" w="4856560">
                <a:moveTo>
                  <a:pt x="0" y="0"/>
                </a:moveTo>
                <a:lnTo>
                  <a:pt x="4856561" y="0"/>
                </a:lnTo>
                <a:lnTo>
                  <a:pt x="4856561" y="5252839"/>
                </a:lnTo>
                <a:lnTo>
                  <a:pt x="0" y="525283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52" id="52"/>
          <p:cNvSpPr txBox="true"/>
          <p:nvPr/>
        </p:nvSpPr>
        <p:spPr>
          <a:xfrm rot="0">
            <a:off x="12568189" y="3577906"/>
            <a:ext cx="4343214" cy="2609496"/>
          </a:xfrm>
          <a:prstGeom prst="rect">
            <a:avLst/>
          </a:prstGeom>
        </p:spPr>
        <p:txBody>
          <a:bodyPr anchor="t" rtlCol="false" tIns="0" lIns="0" bIns="0" rIns="0">
            <a:spAutoFit/>
          </a:bodyPr>
          <a:lstStyle/>
          <a:p>
            <a:pPr algn="l">
              <a:lnSpc>
                <a:spcPts val="2981"/>
              </a:lnSpc>
            </a:pPr>
            <a:r>
              <a:rPr lang="en-US" sz="1733">
                <a:solidFill>
                  <a:srgbClr val="DDDDDD"/>
                </a:solidFill>
                <a:latin typeface="Calibri (MS)"/>
                <a:ea typeface="Calibri (MS)"/>
                <a:cs typeface="Calibri (MS)"/>
                <a:sym typeface="Calibri (MS)"/>
              </a:rPr>
              <a:t>Cuando el analista confirma el incidente, puede activar un playbook en el SOAR que:</a:t>
            </a:r>
          </a:p>
          <a:p>
            <a:pPr algn="l">
              <a:lnSpc>
                <a:spcPts val="2981"/>
              </a:lnSpc>
            </a:pPr>
            <a:r>
              <a:rPr lang="en-US" sz="1733">
                <a:solidFill>
                  <a:srgbClr val="DDDDDD"/>
                </a:solidFill>
                <a:latin typeface="Calibri (MS)"/>
                <a:ea typeface="Calibri (MS)"/>
                <a:cs typeface="Calibri (MS)"/>
                <a:sym typeface="Calibri (MS)"/>
              </a:rPr>
              <a:t>• Bloquea la IP desde el firewall automáticamente</a:t>
            </a:r>
          </a:p>
          <a:p>
            <a:pPr algn="l">
              <a:lnSpc>
                <a:spcPts val="2981"/>
              </a:lnSpc>
            </a:pPr>
            <a:r>
              <a:rPr lang="en-US" sz="1733">
                <a:solidFill>
                  <a:srgbClr val="DDDDDD"/>
                </a:solidFill>
                <a:latin typeface="Calibri (MS)"/>
                <a:ea typeface="Calibri (MS)"/>
                <a:cs typeface="Calibri (MS)"/>
                <a:sym typeface="Calibri (MS)"/>
              </a:rPr>
              <a:t>• Notifica al equipo de infraestructura</a:t>
            </a:r>
          </a:p>
          <a:p>
            <a:pPr algn="l">
              <a:lnSpc>
                <a:spcPts val="2981"/>
              </a:lnSpc>
            </a:pPr>
            <a:r>
              <a:rPr lang="en-US" sz="1733">
                <a:solidFill>
                  <a:srgbClr val="DDDDDD"/>
                </a:solidFill>
                <a:latin typeface="Calibri (MS)"/>
                <a:ea typeface="Calibri (MS)"/>
                <a:cs typeface="Calibri (MS)"/>
                <a:sym typeface="Calibri (MS)"/>
              </a:rPr>
              <a:t>• Crea un ticket de seguimiento</a:t>
            </a:r>
          </a:p>
          <a:p>
            <a:pPr algn="l">
              <a:lnSpc>
                <a:spcPts val="2981"/>
              </a:lnSpc>
            </a:pPr>
            <a:r>
              <a:rPr lang="en-US" sz="1733">
                <a:solidFill>
                  <a:srgbClr val="DDDDDD"/>
                </a:solidFill>
                <a:latin typeface="Calibri (MS)"/>
                <a:ea typeface="Calibri (MS)"/>
                <a:cs typeface="Calibri (MS)"/>
                <a:sym typeface="Calibri (MS)"/>
              </a:rPr>
              <a:t>• Guarda evidencia para análisis forense</a:t>
            </a:r>
          </a:p>
        </p:txBody>
      </p:sp>
      <p:grpSp>
        <p:nvGrpSpPr>
          <p:cNvPr name="Group 53" id="53"/>
          <p:cNvGrpSpPr/>
          <p:nvPr/>
        </p:nvGrpSpPr>
        <p:grpSpPr>
          <a:xfrm rot="0">
            <a:off x="640090" y="9052570"/>
            <a:ext cx="17007840" cy="640080"/>
            <a:chOff x="0" y="0"/>
            <a:chExt cx="22677120" cy="853440"/>
          </a:xfrm>
        </p:grpSpPr>
        <p:sp>
          <p:nvSpPr>
            <p:cNvPr name="Freeform 54" id="54"/>
            <p:cNvSpPr/>
            <p:nvPr/>
          </p:nvSpPr>
          <p:spPr>
            <a:xfrm flipH="false" flipV="false" rot="0">
              <a:off x="0" y="0"/>
              <a:ext cx="22677120" cy="853440"/>
            </a:xfrm>
            <a:custGeom>
              <a:avLst/>
              <a:gdLst/>
              <a:ahLst/>
              <a:cxnLst/>
              <a:rect r="r" b="b" t="t" l="l"/>
              <a:pathLst>
                <a:path h="853440" w="22677120">
                  <a:moveTo>
                    <a:pt x="0" y="0"/>
                  </a:moveTo>
                  <a:lnTo>
                    <a:pt x="22677120" y="0"/>
                  </a:lnTo>
                  <a:lnTo>
                    <a:pt x="22677120" y="853440"/>
                  </a:lnTo>
                  <a:lnTo>
                    <a:pt x="0" y="853440"/>
                  </a:lnTo>
                  <a:close/>
                </a:path>
              </a:pathLst>
            </a:custGeom>
            <a:blipFill>
              <a:blip r:embed="rId5">
                <a:alphaModFix amt="0"/>
              </a:blip>
              <a:stretch>
                <a:fillRect l="0" t="-467385" r="0" b="-467385"/>
              </a:stretch>
            </a:blipFill>
          </p:spPr>
        </p:sp>
      </p:grpSp>
      <p:grpSp>
        <p:nvGrpSpPr>
          <p:cNvPr name="Group 55" id="55"/>
          <p:cNvGrpSpPr/>
          <p:nvPr/>
        </p:nvGrpSpPr>
        <p:grpSpPr>
          <a:xfrm rot="0">
            <a:off x="640114" y="8881406"/>
            <a:ext cx="17007840" cy="668655"/>
            <a:chOff x="0" y="0"/>
            <a:chExt cx="22677120" cy="891540"/>
          </a:xfrm>
        </p:grpSpPr>
        <p:sp>
          <p:nvSpPr>
            <p:cNvPr name="Freeform 56" id="56"/>
            <p:cNvSpPr/>
            <p:nvPr/>
          </p:nvSpPr>
          <p:spPr>
            <a:xfrm flipH="false" flipV="false" rot="0">
              <a:off x="0" y="0"/>
              <a:ext cx="22677120" cy="891540"/>
            </a:xfrm>
            <a:custGeom>
              <a:avLst/>
              <a:gdLst/>
              <a:ahLst/>
              <a:cxnLst/>
              <a:rect r="r" b="b" t="t" l="l"/>
              <a:pathLst>
                <a:path h="891540" w="22677120">
                  <a:moveTo>
                    <a:pt x="0" y="0"/>
                  </a:moveTo>
                  <a:lnTo>
                    <a:pt x="22677120" y="0"/>
                  </a:lnTo>
                  <a:lnTo>
                    <a:pt x="22677120" y="891540"/>
                  </a:lnTo>
                  <a:lnTo>
                    <a:pt x="0" y="891540"/>
                  </a:lnTo>
                  <a:close/>
                </a:path>
              </a:pathLst>
            </a:custGeom>
            <a:blipFill>
              <a:blip r:embed="rId6">
                <a:alphaModFix amt="0"/>
              </a:blip>
              <a:stretch>
                <a:fillRect l="0" t="-445619" r="0" b="-445619"/>
              </a:stretch>
            </a:blipFill>
          </p:spPr>
        </p:sp>
        <p:sp>
          <p:nvSpPr>
            <p:cNvPr name="TextBox 57" id="57"/>
            <p:cNvSpPr txBox="true"/>
            <p:nvPr/>
          </p:nvSpPr>
          <p:spPr>
            <a:xfrm>
              <a:off x="0" y="-38100"/>
              <a:ext cx="22677120" cy="929640"/>
            </a:xfrm>
            <a:prstGeom prst="rect">
              <a:avLst/>
            </a:prstGeom>
          </p:spPr>
          <p:txBody>
            <a:bodyPr anchor="ctr" rtlCol="false" tIns="0" lIns="0" bIns="0" rIns="0"/>
            <a:lstStyle/>
            <a:p>
              <a:pPr algn="ctr">
                <a:lnSpc>
                  <a:spcPts val="2400"/>
                </a:lnSpc>
              </a:pPr>
              <a:r>
                <a:rPr lang="en-US" sz="2000" i="true">
                  <a:solidFill>
                    <a:srgbClr val="888888"/>
                  </a:solidFill>
                  <a:latin typeface="Calibri (MS) Italics"/>
                  <a:ea typeface="Calibri (MS) Italics"/>
                  <a:cs typeface="Calibri (MS) Italics"/>
                  <a:sym typeface="Calibri (MS) Italics"/>
                </a:rPr>
                <a:t>Lógica constante: Detección → Correlación → Análisis → Respuesta coordinada</a:t>
              </a:r>
            </a:p>
          </p:txBody>
        </p:sp>
      </p:grpSp>
      <p:grpSp>
        <p:nvGrpSpPr>
          <p:cNvPr name="Group 58" id="58"/>
          <p:cNvGrpSpPr/>
          <p:nvPr/>
        </p:nvGrpSpPr>
        <p:grpSpPr>
          <a:xfrm rot="0">
            <a:off x="15983863" y="24203"/>
            <a:ext cx="1855079" cy="1855079"/>
            <a:chOff x="0" y="0"/>
            <a:chExt cx="5852160" cy="5852160"/>
          </a:xfrm>
        </p:grpSpPr>
        <p:sp>
          <p:nvSpPr>
            <p:cNvPr name="Freeform 59" id="59"/>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7"/>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p.34</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1.4  |  Coordinación entre niveles y con otras áreas de la organización</a:t>
              </a:r>
            </a:p>
          </p:txBody>
        </p:sp>
      </p:grpSp>
      <p:grpSp>
        <p:nvGrpSpPr>
          <p:cNvPr name="Group 20" id="20"/>
          <p:cNvGrpSpPr/>
          <p:nvPr/>
        </p:nvGrpSpPr>
        <p:grpSpPr>
          <a:xfrm rot="0">
            <a:off x="640080" y="1773936"/>
            <a:ext cx="17007840" cy="585216"/>
            <a:chOff x="0" y="0"/>
            <a:chExt cx="22677120" cy="780288"/>
          </a:xfrm>
        </p:grpSpPr>
        <p:sp>
          <p:nvSpPr>
            <p:cNvPr name="Freeform 21" id="21"/>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22" id="22"/>
          <p:cNvGrpSpPr/>
          <p:nvPr/>
        </p:nvGrpSpPr>
        <p:grpSpPr>
          <a:xfrm rot="0">
            <a:off x="640080" y="1943961"/>
            <a:ext cx="17007840" cy="620935"/>
            <a:chOff x="0" y="0"/>
            <a:chExt cx="22677120" cy="827913"/>
          </a:xfrm>
        </p:grpSpPr>
        <p:sp>
          <p:nvSpPr>
            <p:cNvPr name="Freeform 23" id="23"/>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24" id="24"/>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Escalamiento interno dentro del SOC:</a:t>
              </a:r>
            </a:p>
          </p:txBody>
        </p:sp>
      </p:grpSp>
      <p:sp>
        <p:nvSpPr>
          <p:cNvPr name="Freeform 25" id="25"/>
          <p:cNvSpPr/>
          <p:nvPr/>
        </p:nvSpPr>
        <p:spPr>
          <a:xfrm flipH="false" flipV="false" rot="0">
            <a:off x="1117978" y="2815333"/>
            <a:ext cx="4692609" cy="1629403"/>
          </a:xfrm>
          <a:custGeom>
            <a:avLst/>
            <a:gdLst/>
            <a:ahLst/>
            <a:cxnLst/>
            <a:rect r="r" b="b" t="t" l="l"/>
            <a:pathLst>
              <a:path h="1629403" w="4692609">
                <a:moveTo>
                  <a:pt x="0" y="0"/>
                </a:moveTo>
                <a:lnTo>
                  <a:pt x="4692609" y="0"/>
                </a:lnTo>
                <a:lnTo>
                  <a:pt x="4692609" y="1629402"/>
                </a:lnTo>
                <a:lnTo>
                  <a:pt x="0" y="162940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1128611" y="2825966"/>
            <a:ext cx="4671390" cy="1608184"/>
            <a:chOff x="0" y="0"/>
            <a:chExt cx="7437120" cy="2560320"/>
          </a:xfrm>
        </p:grpSpPr>
        <p:sp>
          <p:nvSpPr>
            <p:cNvPr name="Freeform 27" id="27"/>
            <p:cNvSpPr/>
            <p:nvPr/>
          </p:nvSpPr>
          <p:spPr>
            <a:xfrm flipH="false" flipV="false" rot="0">
              <a:off x="0" y="0"/>
              <a:ext cx="7437120" cy="2560320"/>
            </a:xfrm>
            <a:custGeom>
              <a:avLst/>
              <a:gdLst/>
              <a:ahLst/>
              <a:cxnLst/>
              <a:rect r="r" b="b" t="t" l="l"/>
              <a:pathLst>
                <a:path h="2560320" w="7437120">
                  <a:moveTo>
                    <a:pt x="0" y="0"/>
                  </a:moveTo>
                  <a:lnTo>
                    <a:pt x="7437120" y="0"/>
                  </a:lnTo>
                  <a:lnTo>
                    <a:pt x="7437120" y="2560320"/>
                  </a:lnTo>
                  <a:lnTo>
                    <a:pt x="0" y="2560320"/>
                  </a:lnTo>
                  <a:close/>
                </a:path>
              </a:pathLst>
            </a:custGeom>
            <a:blipFill>
              <a:blip r:embed="rId7">
                <a:alphaModFix amt="0"/>
              </a:blip>
              <a:stretch>
                <a:fillRect l="0" t="-6560" r="0" b="-6560"/>
              </a:stretch>
            </a:blipFill>
          </p:spPr>
        </p:sp>
      </p:grpSp>
      <p:grpSp>
        <p:nvGrpSpPr>
          <p:cNvPr name="Group 28" id="28"/>
          <p:cNvGrpSpPr/>
          <p:nvPr/>
        </p:nvGrpSpPr>
        <p:grpSpPr>
          <a:xfrm rot="0">
            <a:off x="1128611" y="2796052"/>
            <a:ext cx="4671390" cy="1638098"/>
            <a:chOff x="0" y="0"/>
            <a:chExt cx="7437120" cy="2607945"/>
          </a:xfrm>
        </p:grpSpPr>
        <p:sp>
          <p:nvSpPr>
            <p:cNvPr name="Freeform 29" id="29"/>
            <p:cNvSpPr/>
            <p:nvPr/>
          </p:nvSpPr>
          <p:spPr>
            <a:xfrm flipH="false" flipV="false" rot="0">
              <a:off x="0" y="0"/>
              <a:ext cx="7437120" cy="2607945"/>
            </a:xfrm>
            <a:custGeom>
              <a:avLst/>
              <a:gdLst/>
              <a:ahLst/>
              <a:cxnLst/>
              <a:rect r="r" b="b" t="t" l="l"/>
              <a:pathLst>
                <a:path h="2607945" w="7437120">
                  <a:moveTo>
                    <a:pt x="0" y="0"/>
                  </a:moveTo>
                  <a:lnTo>
                    <a:pt x="7437120" y="0"/>
                  </a:lnTo>
                  <a:lnTo>
                    <a:pt x="7437120" y="2607945"/>
                  </a:lnTo>
                  <a:lnTo>
                    <a:pt x="0" y="2607945"/>
                  </a:lnTo>
                  <a:close/>
                </a:path>
              </a:pathLst>
            </a:custGeom>
            <a:blipFill>
              <a:blip r:embed="rId8">
                <a:alphaModFix amt="0"/>
              </a:blip>
              <a:stretch>
                <a:fillRect l="0" t="-5565" r="0" b="-5565"/>
              </a:stretch>
            </a:blipFill>
          </p:spPr>
        </p:sp>
        <p:sp>
          <p:nvSpPr>
            <p:cNvPr name="TextBox 30" id="30"/>
            <p:cNvSpPr txBox="true"/>
            <p:nvPr/>
          </p:nvSpPr>
          <p:spPr>
            <a:xfrm>
              <a:off x="0" y="-47625"/>
              <a:ext cx="7437120" cy="265557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L1</a:t>
              </a:r>
            </a:p>
            <a:p>
              <a:pPr algn="ctr">
                <a:lnSpc>
                  <a:spcPts val="2520"/>
                </a:lnSpc>
              </a:pPr>
              <a:r>
                <a:rPr lang="en-US" sz="2100" b="true">
                  <a:solidFill>
                    <a:srgbClr val="FFFFFF"/>
                  </a:solidFill>
                  <a:latin typeface="Calibri (MS) Bold"/>
                  <a:ea typeface="Calibri (MS) Bold"/>
                  <a:cs typeface="Calibri (MS) Bold"/>
                  <a:sym typeface="Calibri (MS) Bold"/>
                </a:rPr>
                <a:t>Identifica amenaza</a:t>
              </a:r>
            </a:p>
            <a:p>
              <a:pPr algn="ctr">
                <a:lnSpc>
                  <a:spcPts val="2520"/>
                </a:lnSpc>
              </a:pPr>
              <a:r>
                <a:rPr lang="en-US" sz="2100" b="true">
                  <a:solidFill>
                    <a:srgbClr val="FFFFFF"/>
                  </a:solidFill>
                  <a:latin typeface="Calibri (MS) Bold"/>
                  <a:ea typeface="Calibri (MS) Bold"/>
                  <a:cs typeface="Calibri (MS) Bold"/>
                  <a:sym typeface="Calibri (MS) Bold"/>
                </a:rPr>
                <a:t>escala si es necesario</a:t>
              </a:r>
            </a:p>
          </p:txBody>
        </p:sp>
      </p:grpSp>
      <p:grpSp>
        <p:nvGrpSpPr>
          <p:cNvPr name="Group 31" id="31"/>
          <p:cNvGrpSpPr/>
          <p:nvPr/>
        </p:nvGrpSpPr>
        <p:grpSpPr>
          <a:xfrm rot="0">
            <a:off x="6538299" y="2816326"/>
            <a:ext cx="199108" cy="1608184"/>
            <a:chOff x="0" y="0"/>
            <a:chExt cx="316992" cy="2560320"/>
          </a:xfrm>
        </p:grpSpPr>
        <p:sp>
          <p:nvSpPr>
            <p:cNvPr name="Freeform 32" id="32"/>
            <p:cNvSpPr/>
            <p:nvPr/>
          </p:nvSpPr>
          <p:spPr>
            <a:xfrm flipH="false" flipV="false" rot="0">
              <a:off x="0" y="0"/>
              <a:ext cx="316992" cy="2560320"/>
            </a:xfrm>
            <a:custGeom>
              <a:avLst/>
              <a:gdLst/>
              <a:ahLst/>
              <a:cxnLst/>
              <a:rect r="r" b="b" t="t" l="l"/>
              <a:pathLst>
                <a:path h="2560320" w="316992">
                  <a:moveTo>
                    <a:pt x="0" y="0"/>
                  </a:moveTo>
                  <a:lnTo>
                    <a:pt x="316992" y="0"/>
                  </a:lnTo>
                  <a:lnTo>
                    <a:pt x="316992" y="2560320"/>
                  </a:lnTo>
                  <a:lnTo>
                    <a:pt x="0" y="2560320"/>
                  </a:lnTo>
                  <a:close/>
                </a:path>
              </a:pathLst>
            </a:custGeom>
            <a:blipFill>
              <a:blip r:embed="rId7">
                <a:alphaModFix amt="0"/>
              </a:blip>
              <a:stretch>
                <a:fillRect l="-987019" t="0" r="-987019" b="0"/>
              </a:stretch>
            </a:blipFill>
          </p:spPr>
        </p:sp>
      </p:grpSp>
      <p:grpSp>
        <p:nvGrpSpPr>
          <p:cNvPr name="Group 33" id="33"/>
          <p:cNvGrpSpPr/>
          <p:nvPr/>
        </p:nvGrpSpPr>
        <p:grpSpPr>
          <a:xfrm rot="0">
            <a:off x="6090944" y="2774446"/>
            <a:ext cx="355473" cy="1650063"/>
            <a:chOff x="0" y="0"/>
            <a:chExt cx="565933" cy="2626995"/>
          </a:xfrm>
        </p:grpSpPr>
        <p:sp>
          <p:nvSpPr>
            <p:cNvPr name="Freeform 34" id="34"/>
            <p:cNvSpPr/>
            <p:nvPr/>
          </p:nvSpPr>
          <p:spPr>
            <a:xfrm flipH="false" flipV="false" rot="0">
              <a:off x="0" y="0"/>
              <a:ext cx="565933" cy="2626995"/>
            </a:xfrm>
            <a:custGeom>
              <a:avLst/>
              <a:gdLst/>
              <a:ahLst/>
              <a:cxnLst/>
              <a:rect r="r" b="b" t="t" l="l"/>
              <a:pathLst>
                <a:path h="2626995" w="565933">
                  <a:moveTo>
                    <a:pt x="0" y="0"/>
                  </a:moveTo>
                  <a:lnTo>
                    <a:pt x="565933" y="0"/>
                  </a:lnTo>
                  <a:lnTo>
                    <a:pt x="565933" y="2626995"/>
                  </a:lnTo>
                  <a:lnTo>
                    <a:pt x="0" y="2626995"/>
                  </a:lnTo>
                  <a:close/>
                </a:path>
              </a:pathLst>
            </a:custGeom>
            <a:blipFill>
              <a:blip r:embed="rId8">
                <a:alphaModFix amt="0"/>
              </a:blip>
              <a:stretch>
                <a:fillRect l="-567563" t="0" r="-523576" b="0"/>
              </a:stretch>
            </a:blipFill>
          </p:spPr>
        </p:sp>
        <p:sp>
          <p:nvSpPr>
            <p:cNvPr name="TextBox 35" id="35"/>
            <p:cNvSpPr txBox="true"/>
            <p:nvPr/>
          </p:nvSpPr>
          <p:spPr>
            <a:xfrm>
              <a:off x="0" y="-66675"/>
              <a:ext cx="565933" cy="2693670"/>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36" id="36"/>
          <p:cNvSpPr/>
          <p:nvPr/>
        </p:nvSpPr>
        <p:spPr>
          <a:xfrm flipH="false" flipV="false" rot="0">
            <a:off x="6726774" y="2805692"/>
            <a:ext cx="4692609" cy="1629403"/>
          </a:xfrm>
          <a:custGeom>
            <a:avLst/>
            <a:gdLst/>
            <a:ahLst/>
            <a:cxnLst/>
            <a:rect r="r" b="b" t="t" l="l"/>
            <a:pathLst>
              <a:path h="1629403" w="4692609">
                <a:moveTo>
                  <a:pt x="0" y="0"/>
                </a:moveTo>
                <a:lnTo>
                  <a:pt x="4692609" y="0"/>
                </a:lnTo>
                <a:lnTo>
                  <a:pt x="4692609" y="1629403"/>
                </a:lnTo>
                <a:lnTo>
                  <a:pt x="0" y="162940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7" id="37"/>
          <p:cNvGrpSpPr/>
          <p:nvPr/>
        </p:nvGrpSpPr>
        <p:grpSpPr>
          <a:xfrm rot="0">
            <a:off x="6737408" y="2816326"/>
            <a:ext cx="4671390" cy="1608184"/>
            <a:chOff x="0" y="0"/>
            <a:chExt cx="7437120" cy="2560320"/>
          </a:xfrm>
        </p:grpSpPr>
        <p:sp>
          <p:nvSpPr>
            <p:cNvPr name="Freeform 38" id="38"/>
            <p:cNvSpPr/>
            <p:nvPr/>
          </p:nvSpPr>
          <p:spPr>
            <a:xfrm flipH="false" flipV="false" rot="0">
              <a:off x="0" y="0"/>
              <a:ext cx="7437120" cy="2560320"/>
            </a:xfrm>
            <a:custGeom>
              <a:avLst/>
              <a:gdLst/>
              <a:ahLst/>
              <a:cxnLst/>
              <a:rect r="r" b="b" t="t" l="l"/>
              <a:pathLst>
                <a:path h="2560320" w="7437120">
                  <a:moveTo>
                    <a:pt x="0" y="0"/>
                  </a:moveTo>
                  <a:lnTo>
                    <a:pt x="7437120" y="0"/>
                  </a:lnTo>
                  <a:lnTo>
                    <a:pt x="7437120" y="2560320"/>
                  </a:lnTo>
                  <a:lnTo>
                    <a:pt x="0" y="2560320"/>
                  </a:lnTo>
                  <a:close/>
                </a:path>
              </a:pathLst>
            </a:custGeom>
            <a:blipFill>
              <a:blip r:embed="rId7">
                <a:alphaModFix amt="0"/>
              </a:blip>
              <a:stretch>
                <a:fillRect l="0" t="-6560" r="0" b="-6560"/>
              </a:stretch>
            </a:blipFill>
          </p:spPr>
        </p:sp>
      </p:grpSp>
      <p:grpSp>
        <p:nvGrpSpPr>
          <p:cNvPr name="Group 39" id="39"/>
          <p:cNvGrpSpPr/>
          <p:nvPr/>
        </p:nvGrpSpPr>
        <p:grpSpPr>
          <a:xfrm rot="0">
            <a:off x="6737408" y="2786412"/>
            <a:ext cx="4671390" cy="1638098"/>
            <a:chOff x="0" y="0"/>
            <a:chExt cx="7437120" cy="2607945"/>
          </a:xfrm>
        </p:grpSpPr>
        <p:sp>
          <p:nvSpPr>
            <p:cNvPr name="Freeform 40" id="40"/>
            <p:cNvSpPr/>
            <p:nvPr/>
          </p:nvSpPr>
          <p:spPr>
            <a:xfrm flipH="false" flipV="false" rot="0">
              <a:off x="0" y="0"/>
              <a:ext cx="7437120" cy="2607945"/>
            </a:xfrm>
            <a:custGeom>
              <a:avLst/>
              <a:gdLst/>
              <a:ahLst/>
              <a:cxnLst/>
              <a:rect r="r" b="b" t="t" l="l"/>
              <a:pathLst>
                <a:path h="2607945" w="7437120">
                  <a:moveTo>
                    <a:pt x="0" y="0"/>
                  </a:moveTo>
                  <a:lnTo>
                    <a:pt x="7437120" y="0"/>
                  </a:lnTo>
                  <a:lnTo>
                    <a:pt x="7437120" y="2607945"/>
                  </a:lnTo>
                  <a:lnTo>
                    <a:pt x="0" y="2607945"/>
                  </a:lnTo>
                  <a:close/>
                </a:path>
              </a:pathLst>
            </a:custGeom>
            <a:blipFill>
              <a:blip r:embed="rId8">
                <a:alphaModFix amt="0"/>
              </a:blip>
              <a:stretch>
                <a:fillRect l="0" t="-5565" r="0" b="-5565"/>
              </a:stretch>
            </a:blipFill>
          </p:spPr>
        </p:sp>
        <p:sp>
          <p:nvSpPr>
            <p:cNvPr name="TextBox 41" id="41"/>
            <p:cNvSpPr txBox="true"/>
            <p:nvPr/>
          </p:nvSpPr>
          <p:spPr>
            <a:xfrm>
              <a:off x="0" y="-47625"/>
              <a:ext cx="7437120" cy="265557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L2</a:t>
              </a:r>
            </a:p>
            <a:p>
              <a:pPr algn="ctr">
                <a:lnSpc>
                  <a:spcPts val="2520"/>
                </a:lnSpc>
              </a:pPr>
              <a:r>
                <a:rPr lang="en-US" sz="2100" b="true">
                  <a:solidFill>
                    <a:srgbClr val="FFFFFF"/>
                  </a:solidFill>
                  <a:latin typeface="Calibri (MS) Bold"/>
                  <a:ea typeface="Calibri (MS) Bold"/>
                  <a:cs typeface="Calibri (MS) Bold"/>
                  <a:sym typeface="Calibri (MS) Bold"/>
                </a:rPr>
                <a:t>Investiga y responde</a:t>
              </a:r>
            </a:p>
            <a:p>
              <a:pPr algn="ctr">
                <a:lnSpc>
                  <a:spcPts val="2520"/>
                </a:lnSpc>
              </a:pPr>
              <a:r>
                <a:rPr lang="en-US" sz="2100" b="true">
                  <a:solidFill>
                    <a:srgbClr val="FFFFFF"/>
                  </a:solidFill>
                  <a:latin typeface="Calibri (MS) Bold"/>
                  <a:ea typeface="Calibri (MS) Bold"/>
                  <a:cs typeface="Calibri (MS) Bold"/>
                  <a:sym typeface="Calibri (MS) Bold"/>
                </a:rPr>
                <a:t>escala si es avanzada</a:t>
              </a:r>
            </a:p>
          </p:txBody>
        </p:sp>
      </p:grpSp>
      <p:grpSp>
        <p:nvGrpSpPr>
          <p:cNvPr name="Group 42" id="42"/>
          <p:cNvGrpSpPr/>
          <p:nvPr/>
        </p:nvGrpSpPr>
        <p:grpSpPr>
          <a:xfrm rot="0">
            <a:off x="11439430" y="2816326"/>
            <a:ext cx="199108" cy="1608184"/>
            <a:chOff x="0" y="0"/>
            <a:chExt cx="316992" cy="2560320"/>
          </a:xfrm>
        </p:grpSpPr>
        <p:sp>
          <p:nvSpPr>
            <p:cNvPr name="Freeform 43" id="43"/>
            <p:cNvSpPr/>
            <p:nvPr/>
          </p:nvSpPr>
          <p:spPr>
            <a:xfrm flipH="false" flipV="false" rot="0">
              <a:off x="0" y="0"/>
              <a:ext cx="316992" cy="2560320"/>
            </a:xfrm>
            <a:custGeom>
              <a:avLst/>
              <a:gdLst/>
              <a:ahLst/>
              <a:cxnLst/>
              <a:rect r="r" b="b" t="t" l="l"/>
              <a:pathLst>
                <a:path h="2560320" w="316992">
                  <a:moveTo>
                    <a:pt x="0" y="0"/>
                  </a:moveTo>
                  <a:lnTo>
                    <a:pt x="316992" y="0"/>
                  </a:lnTo>
                  <a:lnTo>
                    <a:pt x="316992" y="2560320"/>
                  </a:lnTo>
                  <a:lnTo>
                    <a:pt x="0" y="2560320"/>
                  </a:lnTo>
                  <a:close/>
                </a:path>
              </a:pathLst>
            </a:custGeom>
            <a:blipFill>
              <a:blip r:embed="rId7">
                <a:alphaModFix amt="0"/>
              </a:blip>
              <a:stretch>
                <a:fillRect l="-987019" t="0" r="-987019" b="0"/>
              </a:stretch>
            </a:blipFill>
          </p:spPr>
        </p:sp>
      </p:grpSp>
      <p:grpSp>
        <p:nvGrpSpPr>
          <p:cNvPr name="Group 44" id="44"/>
          <p:cNvGrpSpPr/>
          <p:nvPr/>
        </p:nvGrpSpPr>
        <p:grpSpPr>
          <a:xfrm rot="0">
            <a:off x="11733788" y="2796052"/>
            <a:ext cx="467399" cy="1650063"/>
            <a:chOff x="0" y="0"/>
            <a:chExt cx="744127" cy="2626995"/>
          </a:xfrm>
        </p:grpSpPr>
        <p:sp>
          <p:nvSpPr>
            <p:cNvPr name="Freeform 45" id="45"/>
            <p:cNvSpPr/>
            <p:nvPr/>
          </p:nvSpPr>
          <p:spPr>
            <a:xfrm flipH="false" flipV="false" rot="0">
              <a:off x="0" y="0"/>
              <a:ext cx="744126" cy="2626995"/>
            </a:xfrm>
            <a:custGeom>
              <a:avLst/>
              <a:gdLst/>
              <a:ahLst/>
              <a:cxnLst/>
              <a:rect r="r" b="b" t="t" l="l"/>
              <a:pathLst>
                <a:path h="2626995" w="744126">
                  <a:moveTo>
                    <a:pt x="0" y="0"/>
                  </a:moveTo>
                  <a:lnTo>
                    <a:pt x="744126" y="0"/>
                  </a:lnTo>
                  <a:lnTo>
                    <a:pt x="744126" y="2626995"/>
                  </a:lnTo>
                  <a:lnTo>
                    <a:pt x="0" y="2626995"/>
                  </a:lnTo>
                  <a:close/>
                </a:path>
              </a:pathLst>
            </a:custGeom>
            <a:blipFill>
              <a:blip r:embed="rId8">
                <a:alphaModFix amt="0"/>
              </a:blip>
              <a:stretch>
                <a:fillRect l="-431651" t="0" r="-374250" b="0"/>
              </a:stretch>
            </a:blipFill>
          </p:spPr>
        </p:sp>
        <p:sp>
          <p:nvSpPr>
            <p:cNvPr name="TextBox 46" id="46"/>
            <p:cNvSpPr txBox="true"/>
            <p:nvPr/>
          </p:nvSpPr>
          <p:spPr>
            <a:xfrm>
              <a:off x="0" y="-66675"/>
              <a:ext cx="744127" cy="2693670"/>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47" id="47"/>
          <p:cNvSpPr/>
          <p:nvPr/>
        </p:nvSpPr>
        <p:spPr>
          <a:xfrm flipH="false" flipV="false" rot="0">
            <a:off x="12477413" y="2784202"/>
            <a:ext cx="4692609" cy="1629403"/>
          </a:xfrm>
          <a:custGeom>
            <a:avLst/>
            <a:gdLst/>
            <a:ahLst/>
            <a:cxnLst/>
            <a:rect r="r" b="b" t="t" l="l"/>
            <a:pathLst>
              <a:path h="1629403" w="4692609">
                <a:moveTo>
                  <a:pt x="0" y="0"/>
                </a:moveTo>
                <a:lnTo>
                  <a:pt x="4692609" y="0"/>
                </a:lnTo>
                <a:lnTo>
                  <a:pt x="4692609" y="1629402"/>
                </a:lnTo>
                <a:lnTo>
                  <a:pt x="0" y="162940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8" id="48"/>
          <p:cNvGrpSpPr/>
          <p:nvPr/>
        </p:nvGrpSpPr>
        <p:grpSpPr>
          <a:xfrm rot="0">
            <a:off x="12488046" y="2794835"/>
            <a:ext cx="4671390" cy="1608184"/>
            <a:chOff x="0" y="0"/>
            <a:chExt cx="7437120" cy="2560320"/>
          </a:xfrm>
        </p:grpSpPr>
        <p:sp>
          <p:nvSpPr>
            <p:cNvPr name="Freeform 49" id="49"/>
            <p:cNvSpPr/>
            <p:nvPr/>
          </p:nvSpPr>
          <p:spPr>
            <a:xfrm flipH="false" flipV="false" rot="0">
              <a:off x="0" y="0"/>
              <a:ext cx="7437120" cy="2560320"/>
            </a:xfrm>
            <a:custGeom>
              <a:avLst/>
              <a:gdLst/>
              <a:ahLst/>
              <a:cxnLst/>
              <a:rect r="r" b="b" t="t" l="l"/>
              <a:pathLst>
                <a:path h="2560320" w="7437120">
                  <a:moveTo>
                    <a:pt x="0" y="0"/>
                  </a:moveTo>
                  <a:lnTo>
                    <a:pt x="7437120" y="0"/>
                  </a:lnTo>
                  <a:lnTo>
                    <a:pt x="7437120" y="2560320"/>
                  </a:lnTo>
                  <a:lnTo>
                    <a:pt x="0" y="2560320"/>
                  </a:lnTo>
                  <a:close/>
                </a:path>
              </a:pathLst>
            </a:custGeom>
            <a:blipFill>
              <a:blip r:embed="rId7">
                <a:alphaModFix amt="0"/>
              </a:blip>
              <a:stretch>
                <a:fillRect l="0" t="-6560" r="0" b="-6560"/>
              </a:stretch>
            </a:blipFill>
          </p:spPr>
        </p:sp>
      </p:grpSp>
      <p:grpSp>
        <p:nvGrpSpPr>
          <p:cNvPr name="Group 50" id="50"/>
          <p:cNvGrpSpPr/>
          <p:nvPr/>
        </p:nvGrpSpPr>
        <p:grpSpPr>
          <a:xfrm rot="0">
            <a:off x="12488046" y="2764921"/>
            <a:ext cx="4671390" cy="1638098"/>
            <a:chOff x="0" y="0"/>
            <a:chExt cx="7437120" cy="2607945"/>
          </a:xfrm>
        </p:grpSpPr>
        <p:sp>
          <p:nvSpPr>
            <p:cNvPr name="Freeform 51" id="51"/>
            <p:cNvSpPr/>
            <p:nvPr/>
          </p:nvSpPr>
          <p:spPr>
            <a:xfrm flipH="false" flipV="false" rot="0">
              <a:off x="0" y="0"/>
              <a:ext cx="7437120" cy="2607945"/>
            </a:xfrm>
            <a:custGeom>
              <a:avLst/>
              <a:gdLst/>
              <a:ahLst/>
              <a:cxnLst/>
              <a:rect r="r" b="b" t="t" l="l"/>
              <a:pathLst>
                <a:path h="2607945" w="7437120">
                  <a:moveTo>
                    <a:pt x="0" y="0"/>
                  </a:moveTo>
                  <a:lnTo>
                    <a:pt x="7437120" y="0"/>
                  </a:lnTo>
                  <a:lnTo>
                    <a:pt x="7437120" y="2607945"/>
                  </a:lnTo>
                  <a:lnTo>
                    <a:pt x="0" y="2607945"/>
                  </a:lnTo>
                  <a:close/>
                </a:path>
              </a:pathLst>
            </a:custGeom>
            <a:blipFill>
              <a:blip r:embed="rId8">
                <a:alphaModFix amt="0"/>
              </a:blip>
              <a:stretch>
                <a:fillRect l="0" t="-5565" r="0" b="-5565"/>
              </a:stretch>
            </a:blipFill>
          </p:spPr>
        </p:sp>
        <p:sp>
          <p:nvSpPr>
            <p:cNvPr name="TextBox 52" id="52"/>
            <p:cNvSpPr txBox="true"/>
            <p:nvPr/>
          </p:nvSpPr>
          <p:spPr>
            <a:xfrm>
              <a:off x="0" y="-47625"/>
              <a:ext cx="7437120" cy="265557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L3</a:t>
              </a:r>
            </a:p>
            <a:p>
              <a:pPr algn="ctr">
                <a:lnSpc>
                  <a:spcPts val="2520"/>
                </a:lnSpc>
              </a:pPr>
              <a:r>
                <a:rPr lang="en-US" sz="2100" b="true">
                  <a:solidFill>
                    <a:srgbClr val="FFFFFF"/>
                  </a:solidFill>
                  <a:latin typeface="Calibri (MS) Bold"/>
                  <a:ea typeface="Calibri (MS) Bold"/>
                  <a:cs typeface="Calibri (MS) Bold"/>
                  <a:sym typeface="Calibri (MS) Bold"/>
                </a:rPr>
                <a:t>Hunting avanzado</a:t>
              </a:r>
            </a:p>
            <a:p>
              <a:pPr algn="ctr">
                <a:lnSpc>
                  <a:spcPts val="2520"/>
                </a:lnSpc>
              </a:pPr>
              <a:r>
                <a:rPr lang="en-US" sz="2100" b="true">
                  <a:solidFill>
                    <a:srgbClr val="FFFFFF"/>
                  </a:solidFill>
                  <a:latin typeface="Calibri (MS) Bold"/>
                  <a:ea typeface="Calibri (MS) Bold"/>
                  <a:cs typeface="Calibri (MS) Bold"/>
                  <a:sym typeface="Calibri (MS) Bold"/>
                </a:rPr>
                <a:t>activa playbooks y SOAR</a:t>
              </a:r>
            </a:p>
          </p:txBody>
        </p:sp>
      </p:grpSp>
      <p:grpSp>
        <p:nvGrpSpPr>
          <p:cNvPr name="Group 53" id="53"/>
          <p:cNvGrpSpPr/>
          <p:nvPr/>
        </p:nvGrpSpPr>
        <p:grpSpPr>
          <a:xfrm rot="0">
            <a:off x="640080" y="4718304"/>
            <a:ext cx="17007840" cy="585216"/>
            <a:chOff x="0" y="0"/>
            <a:chExt cx="22677120" cy="780288"/>
          </a:xfrm>
        </p:grpSpPr>
        <p:sp>
          <p:nvSpPr>
            <p:cNvPr name="Freeform 54" id="54"/>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55" id="55"/>
          <p:cNvGrpSpPr/>
          <p:nvPr/>
        </p:nvGrpSpPr>
        <p:grpSpPr>
          <a:xfrm rot="0">
            <a:off x="640080" y="4792821"/>
            <a:ext cx="17007840" cy="620935"/>
            <a:chOff x="0" y="0"/>
            <a:chExt cx="22677120" cy="827913"/>
          </a:xfrm>
        </p:grpSpPr>
        <p:sp>
          <p:nvSpPr>
            <p:cNvPr name="Freeform 56" id="56"/>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57" id="57"/>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Coordinación con otras áreas cuando el incidente supera lo técnico:</a:t>
              </a:r>
            </a:p>
          </p:txBody>
        </p:sp>
      </p:grpSp>
      <p:sp>
        <p:nvSpPr>
          <p:cNvPr name="Freeform 58" id="58"/>
          <p:cNvSpPr/>
          <p:nvPr/>
        </p:nvSpPr>
        <p:spPr>
          <a:xfrm flipH="false" flipV="false" rot="0">
            <a:off x="1245510" y="5625845"/>
            <a:ext cx="2740157" cy="1551630"/>
          </a:xfrm>
          <a:custGeom>
            <a:avLst/>
            <a:gdLst/>
            <a:ahLst/>
            <a:cxnLst/>
            <a:rect r="r" b="b" t="t" l="l"/>
            <a:pathLst>
              <a:path h="1551630" w="2740157">
                <a:moveTo>
                  <a:pt x="0" y="0"/>
                </a:moveTo>
                <a:lnTo>
                  <a:pt x="2740157" y="0"/>
                </a:lnTo>
                <a:lnTo>
                  <a:pt x="2740157" y="1551629"/>
                </a:lnTo>
                <a:lnTo>
                  <a:pt x="0" y="155162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59" id="59"/>
          <p:cNvGrpSpPr/>
          <p:nvPr/>
        </p:nvGrpSpPr>
        <p:grpSpPr>
          <a:xfrm rot="0">
            <a:off x="1257298" y="5637633"/>
            <a:ext cx="2716634" cy="1528107"/>
            <a:chOff x="0" y="0"/>
            <a:chExt cx="3901440" cy="2194560"/>
          </a:xfrm>
        </p:grpSpPr>
        <p:sp>
          <p:nvSpPr>
            <p:cNvPr name="Freeform 60" id="60"/>
            <p:cNvSpPr/>
            <p:nvPr/>
          </p:nvSpPr>
          <p:spPr>
            <a:xfrm flipH="false" flipV="false" rot="0">
              <a:off x="0" y="0"/>
              <a:ext cx="3901440" cy="2194560"/>
            </a:xfrm>
            <a:custGeom>
              <a:avLst/>
              <a:gdLst/>
              <a:ahLst/>
              <a:cxnLst/>
              <a:rect r="r" b="b" t="t" l="l"/>
              <a:pathLst>
                <a:path h="2194560" w="3901440">
                  <a:moveTo>
                    <a:pt x="0" y="0"/>
                  </a:moveTo>
                  <a:lnTo>
                    <a:pt x="3901440" y="0"/>
                  </a:lnTo>
                  <a:lnTo>
                    <a:pt x="3901440" y="2194560"/>
                  </a:lnTo>
                  <a:lnTo>
                    <a:pt x="0" y="2194560"/>
                  </a:lnTo>
                  <a:close/>
                </a:path>
              </a:pathLst>
            </a:custGeom>
            <a:blipFill>
              <a:blip r:embed="rId7">
                <a:alphaModFix amt="0"/>
              </a:blip>
              <a:stretch>
                <a:fillRect l="-22221" t="0" r="-22221" b="0"/>
              </a:stretch>
            </a:blipFill>
          </p:spPr>
        </p:sp>
      </p:grpSp>
      <p:grpSp>
        <p:nvGrpSpPr>
          <p:cNvPr name="Group 61" id="61"/>
          <p:cNvGrpSpPr/>
          <p:nvPr/>
        </p:nvGrpSpPr>
        <p:grpSpPr>
          <a:xfrm rot="0">
            <a:off x="1257298" y="5611103"/>
            <a:ext cx="2716634" cy="1554636"/>
            <a:chOff x="0" y="0"/>
            <a:chExt cx="3901440" cy="2232660"/>
          </a:xfrm>
        </p:grpSpPr>
        <p:sp>
          <p:nvSpPr>
            <p:cNvPr name="Freeform 62" id="62"/>
            <p:cNvSpPr/>
            <p:nvPr/>
          </p:nvSpPr>
          <p:spPr>
            <a:xfrm flipH="false" flipV="false" rot="0">
              <a:off x="0" y="0"/>
              <a:ext cx="3901440" cy="2232660"/>
            </a:xfrm>
            <a:custGeom>
              <a:avLst/>
              <a:gdLst/>
              <a:ahLst/>
              <a:cxnLst/>
              <a:rect r="r" b="b" t="t" l="l"/>
              <a:pathLst>
                <a:path h="2232660" w="3901440">
                  <a:moveTo>
                    <a:pt x="0" y="0"/>
                  </a:moveTo>
                  <a:lnTo>
                    <a:pt x="3901440" y="0"/>
                  </a:lnTo>
                  <a:lnTo>
                    <a:pt x="3901440" y="2232660"/>
                  </a:lnTo>
                  <a:lnTo>
                    <a:pt x="0" y="2232660"/>
                  </a:lnTo>
                  <a:close/>
                </a:path>
              </a:pathLst>
            </a:custGeom>
            <a:blipFill>
              <a:blip r:embed="rId8">
                <a:alphaModFix amt="0"/>
              </a:blip>
              <a:stretch>
                <a:fillRect l="-23423" t="0" r="-23423" b="0"/>
              </a:stretch>
            </a:blipFill>
          </p:spPr>
        </p:sp>
        <p:sp>
          <p:nvSpPr>
            <p:cNvPr name="TextBox 63" id="63"/>
            <p:cNvSpPr txBox="true"/>
            <p:nvPr/>
          </p:nvSpPr>
          <p:spPr>
            <a:xfrm>
              <a:off x="0" y="-38100"/>
              <a:ext cx="3901440" cy="22707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Infraestructura / IT</a:t>
              </a:r>
            </a:p>
          </p:txBody>
        </p:sp>
      </p:grpSp>
      <p:sp>
        <p:nvSpPr>
          <p:cNvPr name="Freeform 64" id="64"/>
          <p:cNvSpPr/>
          <p:nvPr/>
        </p:nvSpPr>
        <p:spPr>
          <a:xfrm flipH="false" flipV="false" rot="0">
            <a:off x="3996102" y="5625845"/>
            <a:ext cx="5032317" cy="1551630"/>
          </a:xfrm>
          <a:custGeom>
            <a:avLst/>
            <a:gdLst/>
            <a:ahLst/>
            <a:cxnLst/>
            <a:rect r="r" b="b" t="t" l="l"/>
            <a:pathLst>
              <a:path h="1551630" w="5032317">
                <a:moveTo>
                  <a:pt x="0" y="0"/>
                </a:moveTo>
                <a:lnTo>
                  <a:pt x="5032317" y="0"/>
                </a:lnTo>
                <a:lnTo>
                  <a:pt x="5032317" y="1551629"/>
                </a:lnTo>
                <a:lnTo>
                  <a:pt x="0" y="155162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65" id="65"/>
          <p:cNvGrpSpPr/>
          <p:nvPr/>
        </p:nvGrpSpPr>
        <p:grpSpPr>
          <a:xfrm rot="0">
            <a:off x="4177680" y="5637633"/>
            <a:ext cx="4754110" cy="1528107"/>
            <a:chOff x="0" y="0"/>
            <a:chExt cx="6827520" cy="2194560"/>
          </a:xfrm>
        </p:grpSpPr>
        <p:sp>
          <p:nvSpPr>
            <p:cNvPr name="Freeform 66" id="66"/>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7">
                <a:alphaModFix amt="0"/>
              </a:blip>
              <a:stretch>
                <a:fillRect l="0" t="-10578" r="0" b="-10577"/>
              </a:stretch>
            </a:blipFill>
          </p:spPr>
        </p:sp>
      </p:grpSp>
      <p:grpSp>
        <p:nvGrpSpPr>
          <p:cNvPr name="Group 67" id="67"/>
          <p:cNvGrpSpPr/>
          <p:nvPr/>
        </p:nvGrpSpPr>
        <p:grpSpPr>
          <a:xfrm rot="0">
            <a:off x="4177680" y="5611103"/>
            <a:ext cx="4754110" cy="1554636"/>
            <a:chOff x="0" y="0"/>
            <a:chExt cx="6827520" cy="2232660"/>
          </a:xfrm>
        </p:grpSpPr>
        <p:sp>
          <p:nvSpPr>
            <p:cNvPr name="Freeform 68" id="68"/>
            <p:cNvSpPr/>
            <p:nvPr/>
          </p:nvSpPr>
          <p:spPr>
            <a:xfrm flipH="false" flipV="false" rot="0">
              <a:off x="0" y="0"/>
              <a:ext cx="6827520" cy="2232660"/>
            </a:xfrm>
            <a:custGeom>
              <a:avLst/>
              <a:gdLst/>
              <a:ahLst/>
              <a:cxnLst/>
              <a:rect r="r" b="b" t="t" l="l"/>
              <a:pathLst>
                <a:path h="2232660" w="6827520">
                  <a:moveTo>
                    <a:pt x="0" y="0"/>
                  </a:moveTo>
                  <a:lnTo>
                    <a:pt x="6827520" y="0"/>
                  </a:lnTo>
                  <a:lnTo>
                    <a:pt x="6827520" y="2232660"/>
                  </a:lnTo>
                  <a:lnTo>
                    <a:pt x="0" y="2232660"/>
                  </a:lnTo>
                  <a:close/>
                </a:path>
              </a:pathLst>
            </a:custGeom>
            <a:blipFill>
              <a:blip r:embed="rId8">
                <a:alphaModFix amt="0"/>
              </a:blip>
              <a:stretch>
                <a:fillRect l="0" t="-9585" r="0" b="-9585"/>
              </a:stretch>
            </a:blipFill>
          </p:spPr>
        </p:sp>
        <p:sp>
          <p:nvSpPr>
            <p:cNvPr name="TextBox 69" id="69"/>
            <p:cNvSpPr txBox="true"/>
            <p:nvPr/>
          </p:nvSpPr>
          <p:spPr>
            <a:xfrm>
              <a:off x="0" y="-38100"/>
              <a:ext cx="6827520" cy="2270760"/>
            </a:xfrm>
            <a:prstGeom prst="rect">
              <a:avLst/>
            </a:prstGeom>
          </p:spPr>
          <p:txBody>
            <a:bodyPr anchor="ctr" rtlCol="false" tIns="0" lIns="0" bIns="0" rIns="0"/>
            <a:lstStyle/>
            <a:p>
              <a:pPr algn="l">
                <a:lnSpc>
                  <a:spcPts val="2279"/>
                </a:lnSpc>
              </a:pPr>
              <a:r>
                <a:rPr lang="en-US" sz="1899">
                  <a:solidFill>
                    <a:srgbClr val="333333"/>
                  </a:solidFill>
                  <a:latin typeface="Calibri (MS)"/>
                  <a:ea typeface="Calibri (MS)"/>
                  <a:cs typeface="Calibri (MS)"/>
                  <a:sym typeface="Calibri (MS)"/>
                </a:rPr>
                <a:t>Aplica parches, reconfigura redes, revoca accesos, recupera servicios. Colabora en contención y recuperación técnica.</a:t>
              </a:r>
            </a:p>
          </p:txBody>
        </p:sp>
      </p:grpSp>
      <p:sp>
        <p:nvSpPr>
          <p:cNvPr name="Freeform 70" id="70"/>
          <p:cNvSpPr/>
          <p:nvPr/>
        </p:nvSpPr>
        <p:spPr>
          <a:xfrm flipH="false" flipV="false" rot="0">
            <a:off x="9259581" y="5625845"/>
            <a:ext cx="2740157" cy="1551630"/>
          </a:xfrm>
          <a:custGeom>
            <a:avLst/>
            <a:gdLst/>
            <a:ahLst/>
            <a:cxnLst/>
            <a:rect r="r" b="b" t="t" l="l"/>
            <a:pathLst>
              <a:path h="1551630" w="2740157">
                <a:moveTo>
                  <a:pt x="0" y="0"/>
                </a:moveTo>
                <a:lnTo>
                  <a:pt x="2740157" y="0"/>
                </a:lnTo>
                <a:lnTo>
                  <a:pt x="2740157" y="1551629"/>
                </a:lnTo>
                <a:lnTo>
                  <a:pt x="0" y="1551629"/>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71" id="71"/>
          <p:cNvGrpSpPr/>
          <p:nvPr/>
        </p:nvGrpSpPr>
        <p:grpSpPr>
          <a:xfrm rot="0">
            <a:off x="9271369" y="5637633"/>
            <a:ext cx="2716634" cy="1528107"/>
            <a:chOff x="0" y="0"/>
            <a:chExt cx="3901440" cy="2194560"/>
          </a:xfrm>
        </p:grpSpPr>
        <p:sp>
          <p:nvSpPr>
            <p:cNvPr name="Freeform 72" id="72"/>
            <p:cNvSpPr/>
            <p:nvPr/>
          </p:nvSpPr>
          <p:spPr>
            <a:xfrm flipH="false" flipV="false" rot="0">
              <a:off x="0" y="0"/>
              <a:ext cx="3901440" cy="2194560"/>
            </a:xfrm>
            <a:custGeom>
              <a:avLst/>
              <a:gdLst/>
              <a:ahLst/>
              <a:cxnLst/>
              <a:rect r="r" b="b" t="t" l="l"/>
              <a:pathLst>
                <a:path h="2194560" w="3901440">
                  <a:moveTo>
                    <a:pt x="0" y="0"/>
                  </a:moveTo>
                  <a:lnTo>
                    <a:pt x="3901440" y="0"/>
                  </a:lnTo>
                  <a:lnTo>
                    <a:pt x="3901440" y="2194560"/>
                  </a:lnTo>
                  <a:lnTo>
                    <a:pt x="0" y="2194560"/>
                  </a:lnTo>
                  <a:close/>
                </a:path>
              </a:pathLst>
            </a:custGeom>
            <a:blipFill>
              <a:blip r:embed="rId7">
                <a:alphaModFix amt="0"/>
              </a:blip>
              <a:stretch>
                <a:fillRect l="-22221" t="0" r="-22221" b="0"/>
              </a:stretch>
            </a:blipFill>
          </p:spPr>
        </p:sp>
      </p:grpSp>
      <p:grpSp>
        <p:nvGrpSpPr>
          <p:cNvPr name="Group 73" id="73"/>
          <p:cNvGrpSpPr/>
          <p:nvPr/>
        </p:nvGrpSpPr>
        <p:grpSpPr>
          <a:xfrm rot="0">
            <a:off x="9271369" y="5611103"/>
            <a:ext cx="2716634" cy="1554636"/>
            <a:chOff x="0" y="0"/>
            <a:chExt cx="3901440" cy="2232660"/>
          </a:xfrm>
        </p:grpSpPr>
        <p:sp>
          <p:nvSpPr>
            <p:cNvPr name="Freeform 74" id="74"/>
            <p:cNvSpPr/>
            <p:nvPr/>
          </p:nvSpPr>
          <p:spPr>
            <a:xfrm flipH="false" flipV="false" rot="0">
              <a:off x="0" y="0"/>
              <a:ext cx="3901440" cy="2232660"/>
            </a:xfrm>
            <a:custGeom>
              <a:avLst/>
              <a:gdLst/>
              <a:ahLst/>
              <a:cxnLst/>
              <a:rect r="r" b="b" t="t" l="l"/>
              <a:pathLst>
                <a:path h="2232660" w="3901440">
                  <a:moveTo>
                    <a:pt x="0" y="0"/>
                  </a:moveTo>
                  <a:lnTo>
                    <a:pt x="3901440" y="0"/>
                  </a:lnTo>
                  <a:lnTo>
                    <a:pt x="3901440" y="2232660"/>
                  </a:lnTo>
                  <a:lnTo>
                    <a:pt x="0" y="2232660"/>
                  </a:lnTo>
                  <a:close/>
                </a:path>
              </a:pathLst>
            </a:custGeom>
            <a:blipFill>
              <a:blip r:embed="rId8">
                <a:alphaModFix amt="0"/>
              </a:blip>
              <a:stretch>
                <a:fillRect l="-23423" t="0" r="-23423" b="0"/>
              </a:stretch>
            </a:blipFill>
          </p:spPr>
        </p:sp>
        <p:sp>
          <p:nvSpPr>
            <p:cNvPr name="TextBox 75" id="75"/>
            <p:cNvSpPr txBox="true"/>
            <p:nvPr/>
          </p:nvSpPr>
          <p:spPr>
            <a:xfrm>
              <a:off x="0" y="-38100"/>
              <a:ext cx="3901440" cy="22707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Legal / Compliance</a:t>
              </a:r>
            </a:p>
          </p:txBody>
        </p:sp>
      </p:grpSp>
      <p:sp>
        <p:nvSpPr>
          <p:cNvPr name="Freeform 76" id="76"/>
          <p:cNvSpPr/>
          <p:nvPr/>
        </p:nvSpPr>
        <p:spPr>
          <a:xfrm flipH="false" flipV="false" rot="0">
            <a:off x="12010173" y="5625845"/>
            <a:ext cx="5032317" cy="1551630"/>
          </a:xfrm>
          <a:custGeom>
            <a:avLst/>
            <a:gdLst/>
            <a:ahLst/>
            <a:cxnLst/>
            <a:rect r="r" b="b" t="t" l="l"/>
            <a:pathLst>
              <a:path h="1551630" w="5032317">
                <a:moveTo>
                  <a:pt x="0" y="0"/>
                </a:moveTo>
                <a:lnTo>
                  <a:pt x="5032317" y="0"/>
                </a:lnTo>
                <a:lnTo>
                  <a:pt x="5032317" y="1551629"/>
                </a:lnTo>
                <a:lnTo>
                  <a:pt x="0" y="155162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77" id="77"/>
          <p:cNvGrpSpPr/>
          <p:nvPr/>
        </p:nvGrpSpPr>
        <p:grpSpPr>
          <a:xfrm rot="0">
            <a:off x="12191750" y="5637633"/>
            <a:ext cx="4754110" cy="1528107"/>
            <a:chOff x="0" y="0"/>
            <a:chExt cx="6827520" cy="2194560"/>
          </a:xfrm>
        </p:grpSpPr>
        <p:sp>
          <p:nvSpPr>
            <p:cNvPr name="Freeform 78" id="78"/>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7">
                <a:alphaModFix amt="0"/>
              </a:blip>
              <a:stretch>
                <a:fillRect l="0" t="-10578" r="0" b="-10577"/>
              </a:stretch>
            </a:blipFill>
          </p:spPr>
        </p:sp>
      </p:grpSp>
      <p:grpSp>
        <p:nvGrpSpPr>
          <p:cNvPr name="Group 79" id="79"/>
          <p:cNvGrpSpPr/>
          <p:nvPr/>
        </p:nvGrpSpPr>
        <p:grpSpPr>
          <a:xfrm rot="0">
            <a:off x="12191750" y="5611103"/>
            <a:ext cx="4754110" cy="1554636"/>
            <a:chOff x="0" y="0"/>
            <a:chExt cx="6827520" cy="2232660"/>
          </a:xfrm>
        </p:grpSpPr>
        <p:sp>
          <p:nvSpPr>
            <p:cNvPr name="Freeform 80" id="80"/>
            <p:cNvSpPr/>
            <p:nvPr/>
          </p:nvSpPr>
          <p:spPr>
            <a:xfrm flipH="false" flipV="false" rot="0">
              <a:off x="0" y="0"/>
              <a:ext cx="6827520" cy="2232660"/>
            </a:xfrm>
            <a:custGeom>
              <a:avLst/>
              <a:gdLst/>
              <a:ahLst/>
              <a:cxnLst/>
              <a:rect r="r" b="b" t="t" l="l"/>
              <a:pathLst>
                <a:path h="2232660" w="6827520">
                  <a:moveTo>
                    <a:pt x="0" y="0"/>
                  </a:moveTo>
                  <a:lnTo>
                    <a:pt x="6827520" y="0"/>
                  </a:lnTo>
                  <a:lnTo>
                    <a:pt x="6827520" y="2232660"/>
                  </a:lnTo>
                  <a:lnTo>
                    <a:pt x="0" y="2232660"/>
                  </a:lnTo>
                  <a:close/>
                </a:path>
              </a:pathLst>
            </a:custGeom>
            <a:blipFill>
              <a:blip r:embed="rId8">
                <a:alphaModFix amt="0"/>
              </a:blip>
              <a:stretch>
                <a:fillRect l="0" t="-9585" r="0" b="-9585"/>
              </a:stretch>
            </a:blipFill>
          </p:spPr>
        </p:sp>
        <p:sp>
          <p:nvSpPr>
            <p:cNvPr name="TextBox 81" id="81"/>
            <p:cNvSpPr txBox="true"/>
            <p:nvPr/>
          </p:nvSpPr>
          <p:spPr>
            <a:xfrm>
              <a:off x="0" y="-38100"/>
              <a:ext cx="6827520" cy="2270760"/>
            </a:xfrm>
            <a:prstGeom prst="rect">
              <a:avLst/>
            </a:prstGeom>
          </p:spPr>
          <p:txBody>
            <a:bodyPr anchor="ctr" rtlCol="false" tIns="0" lIns="0" bIns="0" rIns="0"/>
            <a:lstStyle/>
            <a:p>
              <a:pPr algn="l">
                <a:lnSpc>
                  <a:spcPts val="2279"/>
                </a:lnSpc>
              </a:pPr>
              <a:r>
                <a:rPr lang="en-US" sz="1899">
                  <a:solidFill>
                    <a:srgbClr val="333333"/>
                  </a:solidFill>
                  <a:latin typeface="Calibri (MS)"/>
                  <a:ea typeface="Calibri (MS)"/>
                  <a:cs typeface="Calibri (MS)"/>
                  <a:sym typeface="Calibri (MS)"/>
                </a:rPr>
                <a:t>Evalúa impacto normativo. Define si se deben notificar reguladores o clientes. Actúa ante fugas de datos personales.</a:t>
              </a:r>
            </a:p>
          </p:txBody>
        </p:sp>
      </p:grpSp>
      <p:sp>
        <p:nvSpPr>
          <p:cNvPr name="Freeform 82" id="82"/>
          <p:cNvSpPr/>
          <p:nvPr/>
        </p:nvSpPr>
        <p:spPr>
          <a:xfrm flipH="false" flipV="false" rot="0">
            <a:off x="1245510" y="7493531"/>
            <a:ext cx="2740157" cy="1551630"/>
          </a:xfrm>
          <a:custGeom>
            <a:avLst/>
            <a:gdLst/>
            <a:ahLst/>
            <a:cxnLst/>
            <a:rect r="r" b="b" t="t" l="l"/>
            <a:pathLst>
              <a:path h="1551630" w="2740157">
                <a:moveTo>
                  <a:pt x="0" y="0"/>
                </a:moveTo>
                <a:lnTo>
                  <a:pt x="2740157" y="0"/>
                </a:lnTo>
                <a:lnTo>
                  <a:pt x="2740157" y="1551629"/>
                </a:lnTo>
                <a:lnTo>
                  <a:pt x="0" y="155162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83" id="83"/>
          <p:cNvGrpSpPr/>
          <p:nvPr/>
        </p:nvGrpSpPr>
        <p:grpSpPr>
          <a:xfrm rot="0">
            <a:off x="1257298" y="7505319"/>
            <a:ext cx="2716634" cy="1528107"/>
            <a:chOff x="0" y="0"/>
            <a:chExt cx="3901440" cy="2194560"/>
          </a:xfrm>
        </p:grpSpPr>
        <p:sp>
          <p:nvSpPr>
            <p:cNvPr name="Freeform 84" id="84"/>
            <p:cNvSpPr/>
            <p:nvPr/>
          </p:nvSpPr>
          <p:spPr>
            <a:xfrm flipH="false" flipV="false" rot="0">
              <a:off x="0" y="0"/>
              <a:ext cx="3901440" cy="2194560"/>
            </a:xfrm>
            <a:custGeom>
              <a:avLst/>
              <a:gdLst/>
              <a:ahLst/>
              <a:cxnLst/>
              <a:rect r="r" b="b" t="t" l="l"/>
              <a:pathLst>
                <a:path h="2194560" w="3901440">
                  <a:moveTo>
                    <a:pt x="0" y="0"/>
                  </a:moveTo>
                  <a:lnTo>
                    <a:pt x="3901440" y="0"/>
                  </a:lnTo>
                  <a:lnTo>
                    <a:pt x="3901440" y="2194560"/>
                  </a:lnTo>
                  <a:lnTo>
                    <a:pt x="0" y="2194560"/>
                  </a:lnTo>
                  <a:close/>
                </a:path>
              </a:pathLst>
            </a:custGeom>
            <a:blipFill>
              <a:blip r:embed="rId7">
                <a:alphaModFix amt="0"/>
              </a:blip>
              <a:stretch>
                <a:fillRect l="-22221" t="0" r="-22221" b="0"/>
              </a:stretch>
            </a:blipFill>
          </p:spPr>
        </p:sp>
      </p:grpSp>
      <p:grpSp>
        <p:nvGrpSpPr>
          <p:cNvPr name="Group 85" id="85"/>
          <p:cNvGrpSpPr/>
          <p:nvPr/>
        </p:nvGrpSpPr>
        <p:grpSpPr>
          <a:xfrm rot="0">
            <a:off x="1257298" y="7478789"/>
            <a:ext cx="2716634" cy="1554636"/>
            <a:chOff x="0" y="0"/>
            <a:chExt cx="3901440" cy="2232660"/>
          </a:xfrm>
        </p:grpSpPr>
        <p:sp>
          <p:nvSpPr>
            <p:cNvPr name="Freeform 86" id="86"/>
            <p:cNvSpPr/>
            <p:nvPr/>
          </p:nvSpPr>
          <p:spPr>
            <a:xfrm flipH="false" flipV="false" rot="0">
              <a:off x="0" y="0"/>
              <a:ext cx="3901440" cy="2232660"/>
            </a:xfrm>
            <a:custGeom>
              <a:avLst/>
              <a:gdLst/>
              <a:ahLst/>
              <a:cxnLst/>
              <a:rect r="r" b="b" t="t" l="l"/>
              <a:pathLst>
                <a:path h="2232660" w="3901440">
                  <a:moveTo>
                    <a:pt x="0" y="0"/>
                  </a:moveTo>
                  <a:lnTo>
                    <a:pt x="3901440" y="0"/>
                  </a:lnTo>
                  <a:lnTo>
                    <a:pt x="3901440" y="2232660"/>
                  </a:lnTo>
                  <a:lnTo>
                    <a:pt x="0" y="2232660"/>
                  </a:lnTo>
                  <a:close/>
                </a:path>
              </a:pathLst>
            </a:custGeom>
            <a:blipFill>
              <a:blip r:embed="rId8">
                <a:alphaModFix amt="0"/>
              </a:blip>
              <a:stretch>
                <a:fillRect l="-23423" t="0" r="-23423" b="0"/>
              </a:stretch>
            </a:blipFill>
          </p:spPr>
        </p:sp>
        <p:sp>
          <p:nvSpPr>
            <p:cNvPr name="TextBox 87" id="87"/>
            <p:cNvSpPr txBox="true"/>
            <p:nvPr/>
          </p:nvSpPr>
          <p:spPr>
            <a:xfrm>
              <a:off x="0" y="-38100"/>
              <a:ext cx="3901440" cy="22707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Comunicación / Gestión</a:t>
              </a:r>
            </a:p>
          </p:txBody>
        </p:sp>
      </p:grpSp>
      <p:sp>
        <p:nvSpPr>
          <p:cNvPr name="Freeform 88" id="88"/>
          <p:cNvSpPr/>
          <p:nvPr/>
        </p:nvSpPr>
        <p:spPr>
          <a:xfrm flipH="false" flipV="false" rot="0">
            <a:off x="3996102" y="7493531"/>
            <a:ext cx="5032317" cy="1551630"/>
          </a:xfrm>
          <a:custGeom>
            <a:avLst/>
            <a:gdLst/>
            <a:ahLst/>
            <a:cxnLst/>
            <a:rect r="r" b="b" t="t" l="l"/>
            <a:pathLst>
              <a:path h="1551630" w="5032317">
                <a:moveTo>
                  <a:pt x="0" y="0"/>
                </a:moveTo>
                <a:lnTo>
                  <a:pt x="5032317" y="0"/>
                </a:lnTo>
                <a:lnTo>
                  <a:pt x="5032317" y="1551629"/>
                </a:lnTo>
                <a:lnTo>
                  <a:pt x="0" y="155162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89" id="89"/>
          <p:cNvGrpSpPr/>
          <p:nvPr/>
        </p:nvGrpSpPr>
        <p:grpSpPr>
          <a:xfrm rot="0">
            <a:off x="4177680" y="7505319"/>
            <a:ext cx="4754110" cy="1528107"/>
            <a:chOff x="0" y="0"/>
            <a:chExt cx="6827520" cy="2194560"/>
          </a:xfrm>
        </p:grpSpPr>
        <p:sp>
          <p:nvSpPr>
            <p:cNvPr name="Freeform 90" id="90"/>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7">
                <a:alphaModFix amt="0"/>
              </a:blip>
              <a:stretch>
                <a:fillRect l="0" t="-10578" r="0" b="-10577"/>
              </a:stretch>
            </a:blipFill>
          </p:spPr>
        </p:sp>
      </p:grpSp>
      <p:grpSp>
        <p:nvGrpSpPr>
          <p:cNvPr name="Group 91" id="91"/>
          <p:cNvGrpSpPr/>
          <p:nvPr/>
        </p:nvGrpSpPr>
        <p:grpSpPr>
          <a:xfrm rot="0">
            <a:off x="4177680" y="7478789"/>
            <a:ext cx="4754110" cy="1554636"/>
            <a:chOff x="0" y="0"/>
            <a:chExt cx="6827520" cy="2232660"/>
          </a:xfrm>
        </p:grpSpPr>
        <p:sp>
          <p:nvSpPr>
            <p:cNvPr name="Freeform 92" id="92"/>
            <p:cNvSpPr/>
            <p:nvPr/>
          </p:nvSpPr>
          <p:spPr>
            <a:xfrm flipH="false" flipV="false" rot="0">
              <a:off x="0" y="0"/>
              <a:ext cx="6827520" cy="2232660"/>
            </a:xfrm>
            <a:custGeom>
              <a:avLst/>
              <a:gdLst/>
              <a:ahLst/>
              <a:cxnLst/>
              <a:rect r="r" b="b" t="t" l="l"/>
              <a:pathLst>
                <a:path h="2232660" w="6827520">
                  <a:moveTo>
                    <a:pt x="0" y="0"/>
                  </a:moveTo>
                  <a:lnTo>
                    <a:pt x="6827520" y="0"/>
                  </a:lnTo>
                  <a:lnTo>
                    <a:pt x="6827520" y="2232660"/>
                  </a:lnTo>
                  <a:lnTo>
                    <a:pt x="0" y="2232660"/>
                  </a:lnTo>
                  <a:close/>
                </a:path>
              </a:pathLst>
            </a:custGeom>
            <a:blipFill>
              <a:blip r:embed="rId8">
                <a:alphaModFix amt="0"/>
              </a:blip>
              <a:stretch>
                <a:fillRect l="0" t="-9585" r="0" b="-9585"/>
              </a:stretch>
            </a:blipFill>
          </p:spPr>
        </p:sp>
        <p:sp>
          <p:nvSpPr>
            <p:cNvPr name="TextBox 93" id="93"/>
            <p:cNvSpPr txBox="true"/>
            <p:nvPr/>
          </p:nvSpPr>
          <p:spPr>
            <a:xfrm>
              <a:off x="0" y="-38100"/>
              <a:ext cx="6827520" cy="2270760"/>
            </a:xfrm>
            <a:prstGeom prst="rect">
              <a:avLst/>
            </a:prstGeom>
          </p:spPr>
          <p:txBody>
            <a:bodyPr anchor="ctr" rtlCol="false" tIns="0" lIns="0" bIns="0" rIns="0"/>
            <a:lstStyle/>
            <a:p>
              <a:pPr algn="l">
                <a:lnSpc>
                  <a:spcPts val="2279"/>
                </a:lnSpc>
              </a:pPr>
              <a:r>
                <a:rPr lang="en-US" sz="1899">
                  <a:solidFill>
                    <a:srgbClr val="333333"/>
                  </a:solidFill>
                  <a:latin typeface="Calibri (MS)"/>
                  <a:ea typeface="Calibri (MS)"/>
                  <a:cs typeface="Calibri (MS)"/>
                  <a:sym typeface="Calibri (MS)"/>
                </a:rPr>
                <a:t>Informa a líderes del negocio. Evalúa impacto reputacional. Prepara mensajes públicos si es necesario.</a:t>
              </a:r>
            </a:p>
          </p:txBody>
        </p:sp>
      </p:grpSp>
      <p:sp>
        <p:nvSpPr>
          <p:cNvPr name="Freeform 94" id="94"/>
          <p:cNvSpPr/>
          <p:nvPr/>
        </p:nvSpPr>
        <p:spPr>
          <a:xfrm flipH="false" flipV="false" rot="0">
            <a:off x="9259581" y="7493531"/>
            <a:ext cx="2740157" cy="1551630"/>
          </a:xfrm>
          <a:custGeom>
            <a:avLst/>
            <a:gdLst/>
            <a:ahLst/>
            <a:cxnLst/>
            <a:rect r="r" b="b" t="t" l="l"/>
            <a:pathLst>
              <a:path h="1551630" w="2740157">
                <a:moveTo>
                  <a:pt x="0" y="0"/>
                </a:moveTo>
                <a:lnTo>
                  <a:pt x="2740157" y="0"/>
                </a:lnTo>
                <a:lnTo>
                  <a:pt x="2740157" y="1551629"/>
                </a:lnTo>
                <a:lnTo>
                  <a:pt x="0" y="155162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95" id="95"/>
          <p:cNvGrpSpPr/>
          <p:nvPr/>
        </p:nvGrpSpPr>
        <p:grpSpPr>
          <a:xfrm rot="0">
            <a:off x="9271369" y="7505319"/>
            <a:ext cx="2716634" cy="1528107"/>
            <a:chOff x="0" y="0"/>
            <a:chExt cx="3901440" cy="2194560"/>
          </a:xfrm>
        </p:grpSpPr>
        <p:sp>
          <p:nvSpPr>
            <p:cNvPr name="Freeform 96" id="96"/>
            <p:cNvSpPr/>
            <p:nvPr/>
          </p:nvSpPr>
          <p:spPr>
            <a:xfrm flipH="false" flipV="false" rot="0">
              <a:off x="0" y="0"/>
              <a:ext cx="3901440" cy="2194560"/>
            </a:xfrm>
            <a:custGeom>
              <a:avLst/>
              <a:gdLst/>
              <a:ahLst/>
              <a:cxnLst/>
              <a:rect r="r" b="b" t="t" l="l"/>
              <a:pathLst>
                <a:path h="2194560" w="3901440">
                  <a:moveTo>
                    <a:pt x="0" y="0"/>
                  </a:moveTo>
                  <a:lnTo>
                    <a:pt x="3901440" y="0"/>
                  </a:lnTo>
                  <a:lnTo>
                    <a:pt x="3901440" y="2194560"/>
                  </a:lnTo>
                  <a:lnTo>
                    <a:pt x="0" y="2194560"/>
                  </a:lnTo>
                  <a:close/>
                </a:path>
              </a:pathLst>
            </a:custGeom>
            <a:blipFill>
              <a:blip r:embed="rId7">
                <a:alphaModFix amt="0"/>
              </a:blip>
              <a:stretch>
                <a:fillRect l="-22221" t="0" r="-22221" b="0"/>
              </a:stretch>
            </a:blipFill>
          </p:spPr>
        </p:sp>
      </p:grpSp>
      <p:grpSp>
        <p:nvGrpSpPr>
          <p:cNvPr name="Group 97" id="97"/>
          <p:cNvGrpSpPr/>
          <p:nvPr/>
        </p:nvGrpSpPr>
        <p:grpSpPr>
          <a:xfrm rot="0">
            <a:off x="9271369" y="7478789"/>
            <a:ext cx="2716634" cy="1554636"/>
            <a:chOff x="0" y="0"/>
            <a:chExt cx="3901440" cy="2232660"/>
          </a:xfrm>
        </p:grpSpPr>
        <p:sp>
          <p:nvSpPr>
            <p:cNvPr name="Freeform 98" id="98"/>
            <p:cNvSpPr/>
            <p:nvPr/>
          </p:nvSpPr>
          <p:spPr>
            <a:xfrm flipH="false" flipV="false" rot="0">
              <a:off x="0" y="0"/>
              <a:ext cx="3901440" cy="2232660"/>
            </a:xfrm>
            <a:custGeom>
              <a:avLst/>
              <a:gdLst/>
              <a:ahLst/>
              <a:cxnLst/>
              <a:rect r="r" b="b" t="t" l="l"/>
              <a:pathLst>
                <a:path h="2232660" w="3901440">
                  <a:moveTo>
                    <a:pt x="0" y="0"/>
                  </a:moveTo>
                  <a:lnTo>
                    <a:pt x="3901440" y="0"/>
                  </a:lnTo>
                  <a:lnTo>
                    <a:pt x="3901440" y="2232660"/>
                  </a:lnTo>
                  <a:lnTo>
                    <a:pt x="0" y="2232660"/>
                  </a:lnTo>
                  <a:close/>
                </a:path>
              </a:pathLst>
            </a:custGeom>
            <a:blipFill>
              <a:blip r:embed="rId8">
                <a:alphaModFix amt="0"/>
              </a:blip>
              <a:stretch>
                <a:fillRect l="-23423" t="0" r="-23423" b="0"/>
              </a:stretch>
            </a:blipFill>
          </p:spPr>
        </p:sp>
        <p:sp>
          <p:nvSpPr>
            <p:cNvPr name="TextBox 99" id="99"/>
            <p:cNvSpPr txBox="true"/>
            <p:nvPr/>
          </p:nvSpPr>
          <p:spPr>
            <a:xfrm>
              <a:off x="0" y="-38100"/>
              <a:ext cx="3901440" cy="227076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Recursos Humanos</a:t>
              </a:r>
            </a:p>
          </p:txBody>
        </p:sp>
      </p:grpSp>
      <p:sp>
        <p:nvSpPr>
          <p:cNvPr name="Freeform 100" id="100"/>
          <p:cNvSpPr/>
          <p:nvPr/>
        </p:nvSpPr>
        <p:spPr>
          <a:xfrm flipH="false" flipV="false" rot="0">
            <a:off x="12010173" y="7493531"/>
            <a:ext cx="5032317" cy="1551630"/>
          </a:xfrm>
          <a:custGeom>
            <a:avLst/>
            <a:gdLst/>
            <a:ahLst/>
            <a:cxnLst/>
            <a:rect r="r" b="b" t="t" l="l"/>
            <a:pathLst>
              <a:path h="1551630" w="5032317">
                <a:moveTo>
                  <a:pt x="0" y="0"/>
                </a:moveTo>
                <a:lnTo>
                  <a:pt x="5032317" y="0"/>
                </a:lnTo>
                <a:lnTo>
                  <a:pt x="5032317" y="1551629"/>
                </a:lnTo>
                <a:lnTo>
                  <a:pt x="0" y="155162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101" id="101"/>
          <p:cNvGrpSpPr/>
          <p:nvPr/>
        </p:nvGrpSpPr>
        <p:grpSpPr>
          <a:xfrm rot="0">
            <a:off x="12191750" y="7505319"/>
            <a:ext cx="4754110" cy="1528107"/>
            <a:chOff x="0" y="0"/>
            <a:chExt cx="6827520" cy="2194560"/>
          </a:xfrm>
        </p:grpSpPr>
        <p:sp>
          <p:nvSpPr>
            <p:cNvPr name="Freeform 102" id="102"/>
            <p:cNvSpPr/>
            <p:nvPr/>
          </p:nvSpPr>
          <p:spPr>
            <a:xfrm flipH="false" flipV="false" rot="0">
              <a:off x="0" y="0"/>
              <a:ext cx="6827520" cy="2194560"/>
            </a:xfrm>
            <a:custGeom>
              <a:avLst/>
              <a:gdLst/>
              <a:ahLst/>
              <a:cxnLst/>
              <a:rect r="r" b="b" t="t" l="l"/>
              <a:pathLst>
                <a:path h="2194560" w="6827520">
                  <a:moveTo>
                    <a:pt x="0" y="0"/>
                  </a:moveTo>
                  <a:lnTo>
                    <a:pt x="6827520" y="0"/>
                  </a:lnTo>
                  <a:lnTo>
                    <a:pt x="6827520" y="2194560"/>
                  </a:lnTo>
                  <a:lnTo>
                    <a:pt x="0" y="2194560"/>
                  </a:lnTo>
                  <a:close/>
                </a:path>
              </a:pathLst>
            </a:custGeom>
            <a:blipFill>
              <a:blip r:embed="rId7">
                <a:alphaModFix amt="0"/>
              </a:blip>
              <a:stretch>
                <a:fillRect l="0" t="-10578" r="0" b="-10577"/>
              </a:stretch>
            </a:blipFill>
          </p:spPr>
        </p:sp>
      </p:grpSp>
      <p:grpSp>
        <p:nvGrpSpPr>
          <p:cNvPr name="Group 103" id="103"/>
          <p:cNvGrpSpPr/>
          <p:nvPr/>
        </p:nvGrpSpPr>
        <p:grpSpPr>
          <a:xfrm rot="0">
            <a:off x="12191750" y="7478789"/>
            <a:ext cx="4754110" cy="1554636"/>
            <a:chOff x="0" y="0"/>
            <a:chExt cx="6827520" cy="2232660"/>
          </a:xfrm>
        </p:grpSpPr>
        <p:sp>
          <p:nvSpPr>
            <p:cNvPr name="Freeform 104" id="104"/>
            <p:cNvSpPr/>
            <p:nvPr/>
          </p:nvSpPr>
          <p:spPr>
            <a:xfrm flipH="false" flipV="false" rot="0">
              <a:off x="0" y="0"/>
              <a:ext cx="6827520" cy="2232660"/>
            </a:xfrm>
            <a:custGeom>
              <a:avLst/>
              <a:gdLst/>
              <a:ahLst/>
              <a:cxnLst/>
              <a:rect r="r" b="b" t="t" l="l"/>
              <a:pathLst>
                <a:path h="2232660" w="6827520">
                  <a:moveTo>
                    <a:pt x="0" y="0"/>
                  </a:moveTo>
                  <a:lnTo>
                    <a:pt x="6827520" y="0"/>
                  </a:lnTo>
                  <a:lnTo>
                    <a:pt x="6827520" y="2232660"/>
                  </a:lnTo>
                  <a:lnTo>
                    <a:pt x="0" y="2232660"/>
                  </a:lnTo>
                  <a:close/>
                </a:path>
              </a:pathLst>
            </a:custGeom>
            <a:blipFill>
              <a:blip r:embed="rId8">
                <a:alphaModFix amt="0"/>
              </a:blip>
              <a:stretch>
                <a:fillRect l="0" t="-9585" r="0" b="-9585"/>
              </a:stretch>
            </a:blipFill>
          </p:spPr>
        </p:sp>
        <p:sp>
          <p:nvSpPr>
            <p:cNvPr name="TextBox 105" id="105"/>
            <p:cNvSpPr txBox="true"/>
            <p:nvPr/>
          </p:nvSpPr>
          <p:spPr>
            <a:xfrm>
              <a:off x="0" y="-38100"/>
              <a:ext cx="6827520" cy="2270760"/>
            </a:xfrm>
            <a:prstGeom prst="rect">
              <a:avLst/>
            </a:prstGeom>
          </p:spPr>
          <p:txBody>
            <a:bodyPr anchor="ctr" rtlCol="false" tIns="0" lIns="0" bIns="0" rIns="0"/>
            <a:lstStyle/>
            <a:p>
              <a:pPr algn="l">
                <a:lnSpc>
                  <a:spcPts val="2279"/>
                </a:lnSpc>
              </a:pPr>
              <a:r>
                <a:rPr lang="en-US" sz="1899">
                  <a:solidFill>
                    <a:srgbClr val="333333"/>
                  </a:solidFill>
                  <a:latin typeface="Calibri (MS)"/>
                  <a:ea typeface="Calibri (MS)"/>
                  <a:cs typeface="Calibri (MS)"/>
                  <a:sym typeface="Calibri (MS)"/>
                </a:rPr>
                <a:t>Interviene si el incidente involucra a un empleado. Puede participar en medidas disciplinarias o correctivas.</a:t>
              </a:r>
            </a:p>
          </p:txBody>
        </p:sp>
      </p:grpSp>
      <p:grpSp>
        <p:nvGrpSpPr>
          <p:cNvPr name="Group 106" id="106"/>
          <p:cNvGrpSpPr/>
          <p:nvPr/>
        </p:nvGrpSpPr>
        <p:grpSpPr>
          <a:xfrm rot="0">
            <a:off x="15983863" y="24203"/>
            <a:ext cx="1855079" cy="1855079"/>
            <a:chOff x="0" y="0"/>
            <a:chExt cx="5852160" cy="5852160"/>
          </a:xfrm>
        </p:grpSpPr>
        <p:sp>
          <p:nvSpPr>
            <p:cNvPr name="Freeform 107" id="107"/>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7"/>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DAHTbVDi7pY</dc:identifier>
  <dcterms:modified xsi:type="dcterms:W3CDTF">2011-08-01T06:04:30Z</dcterms:modified>
  <cp:revision>1</cp:revision>
  <dc:title>Modulo 01 - Modern SOC Operations</dc:title>
</cp:coreProperties>
</file>