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"/>
  </p:notes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Calibri (MS) Bold" charset="1" panose="020F0702030404030204"/>
      <p:regular r:id="rId12"/>
    </p:embeddedFont>
    <p:embeddedFont>
      <p:font typeface="Calibri (MS)" charset="1" panose="020F05020202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2.xml" Type="http://schemas.openxmlformats.org/officeDocument/2006/relationships/theme"/><Relationship Id="rId11" Target="notesSlides/notesSlide1.xml" Type="http://schemas.openxmlformats.org/officeDocument/2006/relationships/notes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notesSlides/notesSlide2.xml" Type="http://schemas.openxmlformats.org/officeDocument/2006/relationships/notesSlide"/><Relationship Id="rId15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PORTADA. Esta es la diapositiva de apertura del Módulo 1. Presentá el nombre del módulo, el curso y la marca. Podés dar una bienvenida breve, presentarte si es una clase en vivo, y mencionar que este módulo es el punto de partida para entender dónde va a trabajar el analista SOC y cuál es su rol real en el día a día.</a:t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Repasá brevemente los objetivos del módulo. No los leas uno a uno. Podés decir: 'En este módulo vamos a cubrir todo lo que necesitás saber para entender dónde estás parado como analista SOC Level 1: qué es un SOC, cómo funciona por dentro, qué se espera de vos y cómo podés crecer desde este rol.'</a:t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Mostrá el mapa de secciones del módulo. Esto le da al estudiante una visión general del recorrido. Podés decir: 'Este módulo tiene 6 secciones. Vamos de lo más conceptual —qué es un SOC— hasta lo más práctico: cómo fluye el trabajo y cómo podés crecer en este rol.'</a:t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jpeg" Type="http://schemas.openxmlformats.org/officeDocument/2006/relationships/image"/><Relationship Id="rId13" Target="../media/image11.jpe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7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0.jpeg" Type="http://schemas.openxmlformats.org/officeDocument/2006/relationships/image"/><Relationship Id="rId8" Target="../media/image11.jpe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7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7097" y="6388103"/>
            <a:ext cx="20142136" cy="5511736"/>
          </a:xfrm>
          <a:custGeom>
            <a:avLst/>
            <a:gdLst/>
            <a:ahLst/>
            <a:cxnLst/>
            <a:rect r="r" b="b" t="t" l="l"/>
            <a:pathLst>
              <a:path h="5511736" w="20142136">
                <a:moveTo>
                  <a:pt x="0" y="0"/>
                </a:moveTo>
                <a:lnTo>
                  <a:pt x="20142137" y="0"/>
                </a:lnTo>
                <a:lnTo>
                  <a:pt x="20142137" y="5511737"/>
                </a:lnTo>
                <a:lnTo>
                  <a:pt x="0" y="551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74503" y="-927097"/>
            <a:ext cx="7340536" cy="12826937"/>
          </a:xfrm>
          <a:custGeom>
            <a:avLst/>
            <a:gdLst/>
            <a:ahLst/>
            <a:cxnLst/>
            <a:rect r="r" b="b" t="t" l="l"/>
            <a:pathLst>
              <a:path h="12826937" w="7340536">
                <a:moveTo>
                  <a:pt x="0" y="0"/>
                </a:moveTo>
                <a:lnTo>
                  <a:pt x="7340537" y="0"/>
                </a:lnTo>
                <a:lnTo>
                  <a:pt x="7340537" y="12826937"/>
                </a:lnTo>
                <a:lnTo>
                  <a:pt x="0" y="12826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40263" y="-12697"/>
            <a:ext cx="98488" cy="10312337"/>
          </a:xfrm>
          <a:custGeom>
            <a:avLst/>
            <a:gdLst/>
            <a:ahLst/>
            <a:cxnLst/>
            <a:rect r="r" b="b" t="t" l="l"/>
            <a:pathLst>
              <a:path h="10312337" w="98488">
                <a:moveTo>
                  <a:pt x="0" y="0"/>
                </a:moveTo>
                <a:lnTo>
                  <a:pt x="98489" y="0"/>
                </a:lnTo>
                <a:lnTo>
                  <a:pt x="98489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67905" y="1097251"/>
            <a:ext cx="4389120" cy="4389120"/>
            <a:chOff x="0" y="0"/>
            <a:chExt cx="5852160" cy="5852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993143"/>
            <a:ext cx="5145976" cy="683704"/>
          </a:xfrm>
          <a:custGeom>
            <a:avLst/>
            <a:gdLst/>
            <a:ahLst/>
            <a:cxnLst/>
            <a:rect r="r" b="b" t="t" l="l"/>
            <a:pathLst>
              <a:path h="683704" w="5145976">
                <a:moveTo>
                  <a:pt x="0" y="0"/>
                </a:moveTo>
                <a:lnTo>
                  <a:pt x="5145977" y="0"/>
                </a:lnTo>
                <a:lnTo>
                  <a:pt x="5145977" y="683705"/>
                </a:lnTo>
                <a:lnTo>
                  <a:pt x="0" y="6837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400" y="1005840"/>
            <a:ext cx="5120640" cy="658368"/>
            <a:chOff x="0" y="0"/>
            <a:chExt cx="6827520" cy="877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20" cy="877824"/>
            </a:xfrm>
            <a:custGeom>
              <a:avLst/>
              <a:gdLst/>
              <a:ahLst/>
              <a:cxnLst/>
              <a:rect r="r" b="b" t="t" l="l"/>
              <a:pathLst>
                <a:path h="87782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101445" r="0" b="-10144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77265"/>
            <a:ext cx="5120640" cy="686943"/>
            <a:chOff x="0" y="0"/>
            <a:chExt cx="6827520" cy="9159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27520" cy="915924"/>
            </a:xfrm>
            <a:custGeom>
              <a:avLst/>
              <a:gdLst/>
              <a:ahLst/>
              <a:cxnLst/>
              <a:rect r="r" b="b" t="t" l="l"/>
              <a:pathLst>
                <a:path h="91592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15924"/>
                  </a:lnTo>
                  <a:lnTo>
                    <a:pt x="0" y="915924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95246" r="0" b="-952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827520" cy="9540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MODERN SOC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103120"/>
            <a:ext cx="10607040" cy="914400"/>
            <a:chOff x="0" y="0"/>
            <a:chExt cx="1414272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175868" r="0" b="-17586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060258"/>
            <a:ext cx="10607040" cy="957262"/>
            <a:chOff x="0" y="0"/>
            <a:chExt cx="14142720" cy="1276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42720" cy="1276350"/>
            </a:xfrm>
            <a:custGeom>
              <a:avLst/>
              <a:gdLst/>
              <a:ahLst/>
              <a:cxnLst/>
              <a:rect r="r" b="b" t="t" l="l"/>
              <a:pathLst>
                <a:path h="127635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76350"/>
                  </a:lnTo>
                  <a:lnTo>
                    <a:pt x="0" y="127635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65905" r="0" b="-1659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14272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999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MÓDULO 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3017520"/>
            <a:ext cx="10607040" cy="2011680"/>
            <a:chOff x="0" y="0"/>
            <a:chExt cx="1414272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427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52667" r="0" b="-5266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910364"/>
            <a:ext cx="10607040" cy="2118836"/>
            <a:chOff x="0" y="0"/>
            <a:chExt cx="14142720" cy="28251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42720" cy="2825115"/>
            </a:xfrm>
            <a:custGeom>
              <a:avLst/>
              <a:gdLst/>
              <a:ahLst/>
              <a:cxnLst/>
              <a:rect r="r" b="b" t="t" l="l"/>
              <a:pathLst>
                <a:path h="2825115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825115"/>
                  </a:lnTo>
                  <a:lnTo>
                    <a:pt x="0" y="2825115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47543" r="0" b="-475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42875"/>
              <a:ext cx="14142720" cy="2967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Introducción al Rol SOC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01703" y="5071367"/>
            <a:ext cx="4597336" cy="116776"/>
          </a:xfrm>
          <a:custGeom>
            <a:avLst/>
            <a:gdLst/>
            <a:ahLst/>
            <a:cxnLst/>
            <a:rect r="r" b="b" t="t" l="l"/>
            <a:pathLst>
              <a:path h="116776" w="4597336">
                <a:moveTo>
                  <a:pt x="0" y="0"/>
                </a:moveTo>
                <a:lnTo>
                  <a:pt x="4597337" y="0"/>
                </a:lnTo>
                <a:lnTo>
                  <a:pt x="4597337" y="116777"/>
                </a:lnTo>
                <a:lnTo>
                  <a:pt x="0" y="1167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5840" y="5345430"/>
            <a:ext cx="10607040" cy="72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¿Qué es un SOC?  ·  Estructura y Roles  ·  El Rol de SOC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CCCCC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de Trabajo  ·  Ética y Confidencialidad  ·  Proyección Profesional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" y="8626792"/>
            <a:ext cx="5486400" cy="668655"/>
            <a:chOff x="0" y="0"/>
            <a:chExt cx="7315200" cy="8915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891540"/>
            </a:xfrm>
            <a:custGeom>
              <a:avLst/>
              <a:gdLst/>
              <a:ahLst/>
              <a:cxnLst/>
              <a:rect r="r" b="b" t="t" l="l"/>
              <a:pathLst>
                <a:path h="8915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109877" r="0" b="-10987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3152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Hidden Security  ®  2026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01600" y="8961120"/>
            <a:ext cx="4937760" cy="640080"/>
            <a:chOff x="0" y="0"/>
            <a:chExt cx="658368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100208" r="0" b="-10020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893585" y="8961120"/>
            <a:ext cx="4937760" cy="668655"/>
            <a:chOff x="0" y="0"/>
            <a:chExt cx="6583680" cy="891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891540"/>
            </a:xfrm>
            <a:custGeom>
              <a:avLst/>
              <a:gdLst/>
              <a:ahLst/>
              <a:cxnLst/>
              <a:rect r="r" b="b" t="t" l="l"/>
              <a:pathLst>
                <a:path h="8915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l="0" t="-93889" r="0" b="-938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58368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www.hidden-security.org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00697" cy="1852857"/>
          </a:xfrm>
          <a:custGeom>
            <a:avLst/>
            <a:gdLst/>
            <a:ahLst/>
            <a:cxnLst/>
            <a:rect r="r" b="b" t="t" l="l"/>
            <a:pathLst>
              <a:path h="1852857" w="18300697">
                <a:moveTo>
                  <a:pt x="0" y="0"/>
                </a:moveTo>
                <a:lnTo>
                  <a:pt x="18300697" y="0"/>
                </a:lnTo>
                <a:lnTo>
                  <a:pt x="18300697" y="1852857"/>
                </a:lnTo>
                <a:lnTo>
                  <a:pt x="0" y="18528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5544800" cy="1828800"/>
            <a:chOff x="0" y="0"/>
            <a:chExt cx="20726400" cy="243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72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5507" r="0" b="-11550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33814"/>
            <a:ext cx="15544800" cy="1893094"/>
            <a:chOff x="0" y="0"/>
            <a:chExt cx="20726400" cy="25241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2524125"/>
            </a:xfrm>
            <a:custGeom>
              <a:avLst/>
              <a:gdLst/>
              <a:ahLst/>
              <a:cxnLst/>
              <a:rect r="r" b="b" t="t" l="l"/>
              <a:pathLst>
                <a:path h="252412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524125"/>
                  </a:lnTo>
                  <a:lnTo>
                    <a:pt x="0" y="252412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997" r="0" b="-1099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20726400" cy="2609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DEL MÓDULO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2103120"/>
            <a:ext cx="16459200" cy="694944"/>
            <a:chOff x="0" y="0"/>
            <a:chExt cx="219456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11166" r="0" b="-41116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060258"/>
            <a:ext cx="16459200" cy="737806"/>
            <a:chOff x="0" y="0"/>
            <a:chExt cx="21945600" cy="9837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983742"/>
            </a:xfrm>
            <a:custGeom>
              <a:avLst/>
              <a:gdLst/>
              <a:ahLst/>
              <a:cxnLst/>
              <a:rect r="r" b="b" t="t" l="l"/>
              <a:pathLst>
                <a:path h="9837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4677" r="0" b="-38467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2194560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 finalizar este módulo, vas a ser capaz de: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27383" y="2968247"/>
            <a:ext cx="573976" cy="866585"/>
          </a:xfrm>
          <a:custGeom>
            <a:avLst/>
            <a:gdLst/>
            <a:ahLst/>
            <a:cxnLst/>
            <a:rect r="r" b="b" t="t" l="l"/>
            <a:pathLst>
              <a:path h="866585" w="573976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40080" y="2980944"/>
            <a:ext cx="548640" cy="841248"/>
            <a:chOff x="0" y="0"/>
            <a:chExt cx="731520" cy="1121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2952369"/>
            <a:ext cx="548640" cy="869823"/>
            <a:chOff x="0" y="0"/>
            <a:chExt cx="731520" cy="11597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176023" y="296824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335024" y="2980944"/>
            <a:ext cx="7827264" cy="841248"/>
            <a:chOff x="0" y="0"/>
            <a:chExt cx="10436352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5024" y="2952369"/>
            <a:ext cx="7827264" cy="869823"/>
            <a:chOff x="0" y="0"/>
            <a:chExt cx="10436352" cy="11597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Comprender qué es un SOC, sus objetivos y su importancia en la estrategia de seguridad corporativa.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497063" y="2968247"/>
            <a:ext cx="573977" cy="866585"/>
          </a:xfrm>
          <a:custGeom>
            <a:avLst/>
            <a:gdLst/>
            <a:ahLst/>
            <a:cxnLst/>
            <a:rect r="r" b="b" t="t" l="l"/>
            <a:pathLst>
              <a:path h="866585" w="573977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509760" y="2980944"/>
            <a:ext cx="548640" cy="841248"/>
            <a:chOff x="0" y="0"/>
            <a:chExt cx="731520" cy="1121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09760" y="2952369"/>
            <a:ext cx="548640" cy="869823"/>
            <a:chOff x="0" y="0"/>
            <a:chExt cx="731520" cy="11597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045703" y="296824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0204704" y="2980944"/>
            <a:ext cx="7827264" cy="841248"/>
            <a:chOff x="0" y="0"/>
            <a:chExt cx="10436352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04704" y="2952369"/>
            <a:ext cx="7827264" cy="869823"/>
            <a:chOff x="0" y="0"/>
            <a:chExt cx="10436352" cy="11597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Identificar los distintos tipos de SOC y la diferencia con equipos como NOC, CSIRT y CERT.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27383" y="3974087"/>
            <a:ext cx="573976" cy="866585"/>
          </a:xfrm>
          <a:custGeom>
            <a:avLst/>
            <a:gdLst/>
            <a:ahLst/>
            <a:cxnLst/>
            <a:rect r="r" b="b" t="t" l="l"/>
            <a:pathLst>
              <a:path h="866585" w="573976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40080" y="3986784"/>
            <a:ext cx="548640" cy="841248"/>
            <a:chOff x="0" y="0"/>
            <a:chExt cx="731520" cy="1121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0080" y="3958209"/>
            <a:ext cx="548640" cy="869823"/>
            <a:chOff x="0" y="0"/>
            <a:chExt cx="731520" cy="11597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176023" y="397408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335024" y="3986784"/>
            <a:ext cx="7827264" cy="841248"/>
            <a:chOff x="0" y="0"/>
            <a:chExt cx="10436352" cy="11216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35024" y="3958209"/>
            <a:ext cx="7827264" cy="869823"/>
            <a:chOff x="0" y="0"/>
            <a:chExt cx="10436352" cy="11597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Conocer la estructura interna del SOC por niveles (L1, L2, L3) y los roles especializados.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497063" y="3974087"/>
            <a:ext cx="573977" cy="866585"/>
          </a:xfrm>
          <a:custGeom>
            <a:avLst/>
            <a:gdLst/>
            <a:ahLst/>
            <a:cxnLst/>
            <a:rect r="r" b="b" t="t" l="l"/>
            <a:pathLst>
              <a:path h="866585" w="573977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9509760" y="3986784"/>
            <a:ext cx="548640" cy="841248"/>
            <a:chOff x="0" y="0"/>
            <a:chExt cx="731520" cy="1121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09760" y="3958209"/>
            <a:ext cx="548640" cy="869823"/>
            <a:chOff x="0" y="0"/>
            <a:chExt cx="731520" cy="11597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045703" y="397408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204704" y="3986784"/>
            <a:ext cx="7827264" cy="841248"/>
            <a:chOff x="0" y="0"/>
            <a:chExt cx="10436352" cy="11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204704" y="3958209"/>
            <a:ext cx="7827264" cy="869823"/>
            <a:chOff x="0" y="0"/>
            <a:chExt cx="10436352" cy="11597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Comprender el rol del analista SOC moderno: criterio, herramientas, contexto y toma de decisiones.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627383" y="4979927"/>
            <a:ext cx="573976" cy="866585"/>
          </a:xfrm>
          <a:custGeom>
            <a:avLst/>
            <a:gdLst/>
            <a:ahLst/>
            <a:cxnLst/>
            <a:rect r="r" b="b" t="t" l="l"/>
            <a:pathLst>
              <a:path h="866585" w="573976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640080" y="4992624"/>
            <a:ext cx="548640" cy="841248"/>
            <a:chOff x="0" y="0"/>
            <a:chExt cx="731520" cy="112166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4964049"/>
            <a:ext cx="548640" cy="869823"/>
            <a:chOff x="0" y="0"/>
            <a:chExt cx="731520" cy="11597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176023" y="497992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335024" y="4992624"/>
            <a:ext cx="7827264" cy="841248"/>
            <a:chOff x="0" y="0"/>
            <a:chExt cx="10436352" cy="1121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35024" y="4964049"/>
            <a:ext cx="7827264" cy="869823"/>
            <a:chOff x="0" y="0"/>
            <a:chExt cx="10436352" cy="11597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Seguir el flujo desde un evento hasta un incidente, y cómo se coordinan los equipos en un SOC moderno.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9497063" y="4979927"/>
            <a:ext cx="573977" cy="866585"/>
          </a:xfrm>
          <a:custGeom>
            <a:avLst/>
            <a:gdLst/>
            <a:ahLst/>
            <a:cxnLst/>
            <a:rect r="r" b="b" t="t" l="l"/>
            <a:pathLst>
              <a:path h="866585" w="573977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9509760" y="4992624"/>
            <a:ext cx="548640" cy="841248"/>
            <a:chOff x="0" y="0"/>
            <a:chExt cx="731520" cy="11216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509760" y="4964049"/>
            <a:ext cx="548640" cy="869823"/>
            <a:chOff x="0" y="0"/>
            <a:chExt cx="731520" cy="11597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0045703" y="497992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0204704" y="4992624"/>
            <a:ext cx="7827264" cy="841248"/>
            <a:chOff x="0" y="0"/>
            <a:chExt cx="10436352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204704" y="4964049"/>
            <a:ext cx="7827264" cy="869823"/>
            <a:chOff x="0" y="0"/>
            <a:chExt cx="10436352" cy="11597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Aplicar principios de ética, confidencialidad y trazabilidad en el trabajo diario.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627383" y="5985767"/>
            <a:ext cx="573976" cy="866585"/>
          </a:xfrm>
          <a:custGeom>
            <a:avLst/>
            <a:gdLst/>
            <a:ahLst/>
            <a:cxnLst/>
            <a:rect r="r" b="b" t="t" l="l"/>
            <a:pathLst>
              <a:path h="866585" w="573976">
                <a:moveTo>
                  <a:pt x="0" y="0"/>
                </a:moveTo>
                <a:lnTo>
                  <a:pt x="573977" y="0"/>
                </a:lnTo>
                <a:lnTo>
                  <a:pt x="57397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640080" y="5998464"/>
            <a:ext cx="548640" cy="841248"/>
            <a:chOff x="0" y="0"/>
            <a:chExt cx="731520" cy="11216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15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46869" t="0" r="-146868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40080" y="5969889"/>
            <a:ext cx="548640" cy="869823"/>
            <a:chOff x="0" y="0"/>
            <a:chExt cx="731520" cy="115976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31520" cy="1159764"/>
            </a:xfrm>
            <a:custGeom>
              <a:avLst/>
              <a:gdLst/>
              <a:ahLst/>
              <a:cxnLst/>
              <a:rect r="r" b="b" t="t" l="l"/>
              <a:pathLst>
                <a:path h="115976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414" t="0" r="-153414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31520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1176023" y="5985767"/>
            <a:ext cx="8072056" cy="866585"/>
          </a:xfrm>
          <a:custGeom>
            <a:avLst/>
            <a:gdLst/>
            <a:ahLst/>
            <a:cxnLst/>
            <a:rect r="r" b="b" t="t" l="l"/>
            <a:pathLst>
              <a:path h="866585" w="8072056">
                <a:moveTo>
                  <a:pt x="0" y="0"/>
                </a:moveTo>
                <a:lnTo>
                  <a:pt x="8072057" y="0"/>
                </a:lnTo>
                <a:lnTo>
                  <a:pt x="8072057" y="866585"/>
                </a:lnTo>
                <a:lnTo>
                  <a:pt x="0" y="86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1335024" y="5998464"/>
            <a:ext cx="7827264" cy="841248"/>
            <a:chOff x="0" y="0"/>
            <a:chExt cx="10436352" cy="11216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3635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169" r="0" b="-131169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35024" y="5969889"/>
            <a:ext cx="7827264" cy="869823"/>
            <a:chOff x="0" y="0"/>
            <a:chExt cx="10436352" cy="115976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36352" cy="1159764"/>
            </a:xfrm>
            <a:custGeom>
              <a:avLst/>
              <a:gdLst/>
              <a:ahLst/>
              <a:cxnLst/>
              <a:rect r="r" b="b" t="t" l="l"/>
              <a:pathLst>
                <a:path h="115976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159764"/>
                  </a:lnTo>
                  <a:lnTo>
                    <a:pt x="0" y="1159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39" r="0" b="-125339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0436352" cy="119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Explorar rutas de crecimiento, certificaciones y salidas laborales en ciberseguridad.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697" y="-12697"/>
            <a:ext cx="18313336" cy="1854136"/>
          </a:xfrm>
          <a:custGeom>
            <a:avLst/>
            <a:gdLst/>
            <a:ahLst/>
            <a:cxnLst/>
            <a:rect r="r" b="b" t="t" l="l"/>
            <a:pathLst>
              <a:path h="1854136" w="18313336">
                <a:moveTo>
                  <a:pt x="0" y="0"/>
                </a:moveTo>
                <a:lnTo>
                  <a:pt x="18313337" y="0"/>
                </a:lnTo>
                <a:lnTo>
                  <a:pt x="18313337" y="1854137"/>
                </a:lnTo>
                <a:lnTo>
                  <a:pt x="0" y="18541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1520" y="0"/>
            <a:ext cx="15544800" cy="1828800"/>
            <a:chOff x="0" y="0"/>
            <a:chExt cx="207264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507" r="0" b="-11550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0"/>
            <a:ext cx="15544800" cy="1893094"/>
            <a:chOff x="0" y="0"/>
            <a:chExt cx="20726400" cy="25241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2524125"/>
            </a:xfrm>
            <a:custGeom>
              <a:avLst/>
              <a:gdLst/>
              <a:ahLst/>
              <a:cxnLst/>
              <a:rect r="r" b="b" t="t" l="l"/>
              <a:pathLst>
                <a:path h="252412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524125"/>
                  </a:lnTo>
                  <a:lnTo>
                    <a:pt x="0" y="25241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9997" r="0" b="-1099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20726400" cy="2609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8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 DEL MÓDULO 1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380486" y="2145287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93182" y="2157984"/>
            <a:ext cx="1005840" cy="987552"/>
            <a:chOff x="0" y="0"/>
            <a:chExt cx="1341120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93182" y="2129409"/>
            <a:ext cx="1005840" cy="1016127"/>
            <a:chOff x="0" y="0"/>
            <a:chExt cx="1341120" cy="13548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1.1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22902" y="2145287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828800" y="2048256"/>
            <a:ext cx="10058400" cy="548640"/>
            <a:chOff x="0" y="0"/>
            <a:chExt cx="134112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73342" y="2048256"/>
            <a:ext cx="10058400" cy="584359"/>
            <a:chOff x="0" y="0"/>
            <a:chExt cx="13411200" cy="7791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es un SOC y por qué es clave en Ciberseguridad?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64782" y="2621280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Definición, objetivos, tipos y encaje estratégico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80486" y="3407159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393182" y="3419856"/>
            <a:ext cx="1005840" cy="987552"/>
            <a:chOff x="0" y="0"/>
            <a:chExt cx="1341120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93182" y="3391281"/>
            <a:ext cx="1005840" cy="1016127"/>
            <a:chOff x="0" y="0"/>
            <a:chExt cx="1341120" cy="13548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1.2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422902" y="3407159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673342" y="3419856"/>
            <a:ext cx="10058400" cy="548640"/>
            <a:chOff x="0" y="0"/>
            <a:chExt cx="134112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73342" y="3384137"/>
            <a:ext cx="10058400" cy="584359"/>
            <a:chOff x="0" y="0"/>
            <a:chExt cx="13411200" cy="7791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Estructura y roles dentro de un SOC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764782" y="3883152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Niveles L1/L2/L3, roles especializados, turnos y jerarquías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380486" y="4669031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393182" y="4681728"/>
            <a:ext cx="1005840" cy="987552"/>
            <a:chOff x="0" y="0"/>
            <a:chExt cx="1341120" cy="1316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93182" y="4653153"/>
            <a:ext cx="1005840" cy="1016127"/>
            <a:chOff x="0" y="0"/>
            <a:chExt cx="1341120" cy="13548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422902" y="4669031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673342" y="4681728"/>
            <a:ext cx="10058400" cy="548640"/>
            <a:chOff x="0" y="0"/>
            <a:chExt cx="13411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73342" y="4646009"/>
            <a:ext cx="10058400" cy="584359"/>
            <a:chOff x="0" y="0"/>
            <a:chExt cx="13411200" cy="7791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Rol del Analista SOC en el SOC Moderno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764782" y="5145024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Criterio operativo, habilidades, herramientas y automatización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380486" y="5930903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393182" y="5943600"/>
            <a:ext cx="1005840" cy="987552"/>
            <a:chOff x="0" y="0"/>
            <a:chExt cx="134112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393182" y="5915025"/>
            <a:ext cx="1005840" cy="1016127"/>
            <a:chOff x="0" y="0"/>
            <a:chExt cx="1341120" cy="13548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1.4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422902" y="5930903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673342" y="5943600"/>
            <a:ext cx="10058400" cy="548640"/>
            <a:chOff x="0" y="0"/>
            <a:chExt cx="1341120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73342" y="5907881"/>
            <a:ext cx="10058400" cy="584359"/>
            <a:chOff x="0" y="0"/>
            <a:chExt cx="13411200" cy="7791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Flujo de trabajo dentro de un SOC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764782" y="6406896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Del evento al incidente, herramientas y coordinación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380486" y="7192775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393182" y="7205472"/>
            <a:ext cx="1005840" cy="987552"/>
            <a:chOff x="0" y="0"/>
            <a:chExt cx="134112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393182" y="7176897"/>
            <a:ext cx="1005840" cy="1016127"/>
            <a:chOff x="0" y="0"/>
            <a:chExt cx="1341120" cy="13548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422902" y="7192775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673342" y="7205472"/>
            <a:ext cx="10058400" cy="548640"/>
            <a:chOff x="0" y="0"/>
            <a:chExt cx="13411200" cy="7315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73342" y="7169753"/>
            <a:ext cx="10058400" cy="584359"/>
            <a:chOff x="0" y="0"/>
            <a:chExt cx="13411200" cy="7791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Ética, confidencialidad y responsabilidad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764782" y="7668768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Manejo seguro de información y trazabilidad</a:t>
            </a:r>
          </a:p>
        </p:txBody>
      </p:sp>
      <p:sp>
        <p:nvSpPr>
          <p:cNvPr name="Freeform 84" id="84"/>
          <p:cNvSpPr/>
          <p:nvPr/>
        </p:nvSpPr>
        <p:spPr>
          <a:xfrm flipH="false" flipV="false" rot="0">
            <a:off x="380486" y="8454647"/>
            <a:ext cx="1031177" cy="1012888"/>
          </a:xfrm>
          <a:custGeom>
            <a:avLst/>
            <a:gdLst/>
            <a:ahLst/>
            <a:cxnLst/>
            <a:rect r="r" b="b" t="t" l="l"/>
            <a:pathLst>
              <a:path h="1012888" w="1031177">
                <a:moveTo>
                  <a:pt x="0" y="0"/>
                </a:moveTo>
                <a:lnTo>
                  <a:pt x="1031176" y="0"/>
                </a:lnTo>
                <a:lnTo>
                  <a:pt x="103117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393182" y="8467344"/>
            <a:ext cx="1005840" cy="987552"/>
            <a:chOff x="0" y="0"/>
            <a:chExt cx="1341120" cy="13167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58" t="0" r="-76057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393182" y="8438769"/>
            <a:ext cx="1005840" cy="1016127"/>
            <a:chOff x="0" y="0"/>
            <a:chExt cx="1341120" cy="13548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41120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54836"/>
                  </a:lnTo>
                  <a:lnTo>
                    <a:pt x="0" y="13548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615" t="0" r="-79615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341120" cy="139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1.6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1422902" y="8454647"/>
            <a:ext cx="16484537" cy="1012888"/>
          </a:xfrm>
          <a:custGeom>
            <a:avLst/>
            <a:gdLst/>
            <a:ahLst/>
            <a:cxnLst/>
            <a:rect r="r" b="b" t="t" l="l"/>
            <a:pathLst>
              <a:path h="1012888" w="16484537">
                <a:moveTo>
                  <a:pt x="0" y="0"/>
                </a:moveTo>
                <a:lnTo>
                  <a:pt x="16484536" y="0"/>
                </a:lnTo>
                <a:lnTo>
                  <a:pt x="16484536" y="1012889"/>
                </a:lnTo>
                <a:lnTo>
                  <a:pt x="0" y="1012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1673342" y="8467344"/>
            <a:ext cx="10058400" cy="548640"/>
            <a:chOff x="0" y="0"/>
            <a:chExt cx="1341120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73342" y="8431625"/>
            <a:ext cx="10058400" cy="584359"/>
            <a:chOff x="0" y="0"/>
            <a:chExt cx="13411200" cy="77914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411200" cy="779145"/>
            </a:xfrm>
            <a:custGeom>
              <a:avLst/>
              <a:gdLst/>
              <a:ahLst/>
              <a:cxnLst/>
              <a:rect r="r" b="b" t="t" l="l"/>
              <a:pathLst>
                <a:path h="779145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5390" r="0" b="-28539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13411200" cy="826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Proyección profesional y desarrollo en el SOC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764782" y="8930640"/>
            <a:ext cx="1444752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AAAAA"/>
                </a:solidFill>
                <a:latin typeface="Calibri (MS)"/>
                <a:ea typeface="Calibri (MS)"/>
                <a:cs typeface="Calibri (MS)"/>
                <a:sym typeface="Calibri (MS)"/>
              </a:rPr>
              <a:t>Crecimiento, certificaciones y salidas laborales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DAHTbVDi7pY</dc:identifier>
  <dcterms:modified xsi:type="dcterms:W3CDTF">2011-08-01T06:04:30Z</dcterms:modified>
  <cp:revision>1</cp:revision>
  <dc:title>Modulo 01 - Modern SOC Operations</dc:title>
</cp:coreProperties>
</file>